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đề tài" id="{6ed5c82c-f9c2-7469-7b7f-1e978a5d53f7}">
          <p14:sldIdLst>
            <p14:sldId id="256"/>
            <p14:sldId id="257"/>
          </p14:sldIdLst>
        </p14:section>
        <p14:section name="Dữ liệu và phương pháp" id="{04982414-9c4b-ae78-d126-ce731a9f1bcc}">
          <p14:sldIdLst>
            <p14:sldId id="258"/>
            <p14:sldId id="259"/>
            <p14:sldId id="260"/>
            <p14:sldId id="261"/>
            <p14:sldId id="262"/>
          </p14:sldIdLst>
        </p14:section>
        <p14:section name="Đánh giá và kết quả" id="{b8d28282-3e9b-4224-c167-379cdcdd267f}">
          <p14:sldIdLst>
            <p14:sldId id="263"/>
            <p14:sldId id="264"/>
            <p14:sldId id="265"/>
            <p14:sldId id="266"/>
            <p14:sldId id="267"/>
            <p14:sldId id="268"/>
          </p14:sldIdLst>
        </p14:section>
        <p14:section name="Website và điểm nhấn" id="{0a04454c-36dd-66b9-3de6-0a69039e4a6b}">
          <p14:sldIdLst>
            <p14:sldId id="269"/>
            <p14:sldId id="270"/>
          </p14:sldIdLst>
        </p14:section>
        <p14:section name="Hạn chế và kết luận" id="{e4e1d04d-5501-8b20-05aa-08ebbd2dfb8f}">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Macro-F1</c:v>
                </c:pt>
              </c:strCache>
            </c:strRef>
          </c:tx>
          <c:spPr>
            <a:solidFill>
              <a:srgbClr val="8FA6C6"/>
            </a:solidFill>
            <a:effectLst/>
          </c:spPr>
          <c:invertIfNegative val="0"/>
          <c:dLbls>
            <c:numFmt formatCode="0.0" sourceLinked="0"/>
            <c:txPr>
              <a:bodyPr/>
              <a:lstStyle/>
              <a:p>
                <a:pPr>
                  <a:defRPr b="1" i="0" strike="noStrike" sz="1500" u="none">
                    <a:solidFill>
                      <a:srgbClr val="0B1B33"/>
                    </a:solidFill>
                    <a:latin typeface="+mn-lt"/>
                  </a:defRPr>
                </a:pPr>
              </a:p>
            </c:txPr>
            <c:showLegendKey val="0"/>
            <c:showVal val="1"/>
            <c:showCatName val="0"/>
            <c:showSerName val="0"/>
            <c:showPercent val="0"/>
            <c:showBubbleSize val="0"/>
            <c:showLeaderLines val="0"/>
          </c:dLbls>
          <c:dPt>
            <c:idx val="0"/>
            <c:invertIfNegative val="0"/>
            <c:bubble3D val="0"/>
            <c:spPr>
              <a:solidFill>
                <a:srgbClr val="8FA6C6"/>
              </a:solidFill>
              <a:effectLst/>
            </c:spPr>
          </c:dPt>
          <c:dPt>
            <c:idx val="1"/>
            <c:invertIfNegative val="0"/>
            <c:bubble3D val="0"/>
            <c:spPr>
              <a:solidFill>
                <a:srgbClr val="8FA6C6"/>
              </a:solidFill>
              <a:effectLst/>
            </c:spPr>
          </c:dPt>
          <c:dPt>
            <c:idx val="2"/>
            <c:invertIfNegative val="0"/>
            <c:bubble3D val="0"/>
            <c:spPr>
              <a:solidFill>
                <a:srgbClr val="0B1B33"/>
              </a:solidFill>
              <a:effectLst/>
            </c:spPr>
          </c:dPt>
          <c:dPt>
            <c:idx val="3"/>
            <c:invertIfNegative val="0"/>
            <c:bubble3D val="0"/>
            <c:spPr>
              <a:solidFill>
                <a:srgbClr val="0B1B33"/>
              </a:solidFill>
              <a:effectLst/>
            </c:spPr>
          </c:dPt>
          <c:cat>
            <c:multiLvlStrRef>
              <c:f>Sheet1!$A$2:$A$5</c:f>
              <c:multiLvlStrCache>
                <c:ptCount val="4"/>
                <c:lvl>
                  <c:pt idx="0">
                    <c:v>Chỉ tiêu đề</c:v>
                  </c:pt>
                  <c:pt idx="1">
                    <c:v>Tiêu đề + sapo</c:v>
                  </c:pt>
                  <c:pt idx="2">
                    <c:v>Chỉ nội dung</c:v>
                  </c:pt>
                  <c:pt idx="3">
                    <c:v>Cả ba (chuẩn)</c:v>
                  </c:pt>
                </c:lvl>
              </c:multiLvlStrCache>
            </c:multiLvlStrRef>
          </c:cat>
          <c:val>
            <c:numRef>
              <c:f>Sheet1!$B$2:$B$5</c:f>
              <c:numCache>
                <c:formatCode>General</c:formatCode>
                <c:ptCount val="4"/>
                <c:pt idx="0">
                  <c:v>71.8</c:v>
                </c:pt>
                <c:pt idx="1">
                  <c:v>81.5</c:v>
                </c:pt>
                <c:pt idx="2">
                  <c:v>89.1</c:v>
                </c:pt>
                <c:pt idx="3">
                  <c:v>89</c:v>
                </c:pt>
              </c:numCache>
            </c:numRef>
          </c:val>
        </c:ser>
        <c:dLbls>
          <c:numFmt formatCode="0.0" sourceLinked="0"/>
          <c:txPr>
            <a:bodyPr/>
            <a:lstStyle/>
            <a:p>
              <a:pPr>
                <a:defRPr b="1" i="0" strike="noStrike" sz="1500" u="none">
                  <a:solidFill>
                    <a:srgbClr val="0B1B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26354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C9D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6B85"/>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F1</c:v>
                </c:pt>
              </c:strCache>
            </c:strRef>
          </c:tx>
          <c:spPr>
            <a:solidFill>
              <a:srgbClr val="0B1B33"/>
            </a:solidFill>
            <a:effectLst/>
          </c:spPr>
          <c:invertIfNegative val="0"/>
          <c:dLbls>
            <c:numFmt formatCode="0.000" sourceLinked="0"/>
            <c:txPr>
              <a:bodyPr/>
              <a:lstStyle/>
              <a:p>
                <a:pPr>
                  <a:defRPr b="1" i="0" strike="noStrike" sz="1300" u="none">
                    <a:solidFill>
                      <a:srgbClr val="0B1B33"/>
                    </a:solidFill>
                    <a:latin typeface="+mn-lt"/>
                  </a:defRPr>
                </a:pPr>
              </a:p>
            </c:txPr>
            <c:showLegendKey val="0"/>
            <c:showVal val="1"/>
            <c:showCatName val="0"/>
            <c:showSerName val="0"/>
            <c:showPercent val="0"/>
            <c:showBubbleSize val="0"/>
            <c:showLeaderLines val="0"/>
          </c:dLbls>
          <c:cat>
            <c:multiLvlStrRef>
              <c:f>Sheet1!$A$2:$A$12</c:f>
              <c:multiLvlStrCache>
                <c:ptCount val="11"/>
                <c:lvl>
                  <c:pt idx="0">
                    <c:v>Thể thao</c:v>
                  </c:pt>
                  <c:pt idx="1">
                    <c:v>Sức khỏe</c:v>
                  </c:pt>
                  <c:pt idx="2">
                    <c:v>Xe</c:v>
                  </c:pt>
                  <c:pt idx="3">
                    <c:v>Giải trí</c:v>
                  </c:pt>
                  <c:pt idx="4">
                    <c:v>Pháp luật</c:v>
                  </c:pt>
                  <c:pt idx="5">
                    <c:v>Khoa học</c:v>
                  </c:pt>
                  <c:pt idx="6">
                    <c:v>Giáo dục</c:v>
                  </c:pt>
                  <c:pt idx="7">
                    <c:v>Thế giới</c:v>
                  </c:pt>
                  <c:pt idx="8">
                    <c:v>Kinh doanh</c:v>
                  </c:pt>
                  <c:pt idx="9">
                    <c:v>Đời sống</c:v>
                  </c:pt>
                  <c:pt idx="10">
                    <c:v>Thời sự</c:v>
                  </c:pt>
                </c:lvl>
              </c:multiLvlStrCache>
            </c:multiLvlStrRef>
          </c:cat>
          <c:val>
            <c:numRef>
              <c:f>Sheet1!$B$2:$B$12</c:f>
              <c:numCache>
                <c:formatCode>General</c:formatCode>
                <c:ptCount val="11"/>
                <c:pt idx="0">
                  <c:v>0.973</c:v>
                </c:pt>
                <c:pt idx="1">
                  <c:v>0.947</c:v>
                </c:pt>
                <c:pt idx="2">
                  <c:v>0.934</c:v>
                </c:pt>
                <c:pt idx="3">
                  <c:v>0.926</c:v>
                </c:pt>
                <c:pt idx="4">
                  <c:v>0.924</c:v>
                </c:pt>
                <c:pt idx="5">
                  <c:v>0.91</c:v>
                </c:pt>
                <c:pt idx="6">
                  <c:v>0.874</c:v>
                </c:pt>
                <c:pt idx="7">
                  <c:v>0.859</c:v>
                </c:pt>
                <c:pt idx="8">
                  <c:v>0.852</c:v>
                </c:pt>
                <c:pt idx="9">
                  <c:v>0.846</c:v>
                </c:pt>
                <c:pt idx="10">
                  <c:v>0.776</c:v>
                </c:pt>
              </c:numCache>
            </c:numRef>
          </c:val>
        </c:ser>
        <c:dLbls>
          <c:numFmt formatCode="0.000" sourceLinked="0"/>
          <c:txPr>
            <a:bodyPr/>
            <a:lstStyle/>
            <a:p>
              <a:pPr>
                <a:defRPr b="1" i="0" strike="noStrike" sz="1300" u="none">
                  <a:solidFill>
                    <a:srgbClr val="0B1B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6354D"/>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C9D8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6B85"/>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Nhóm trưởng
Nói: Chào thầy/cô và các bạn. Em là [tên], nhóm trưởng. Nhóm em gồm năm bạn: [tên các thành viên]. Hôm nay nhóm em trình bày đồ án phân loại tin tức tiếng Việt bằng học máy, khoảng 20 phút, mỗi bạn khoảng 3 đến 5 phút: các bạn lần lượt trình bày đề tài, dữ liệu, phương pháp, cách đánh giá, kết quả và website; còn em sẽ trình bày điểm nhấn của nhóm là AI giải thích được, rồi hạn chế và kết luận. Đề tài của nhóm em là cho máy tự đọc một bài báo và xếp vào đúng chuyên mục.
Chuyển: Bạn Thành viên 1 sẽ trình bày cụ thể đề tài này.
(Nhớ điền tên các thành viên, lớp, tên giảng viên.)
Bàn giao: Em xin mời Thành viên 1 trình bày tiếp phần đề tài, dữ liệu và quy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1
Nói: Đề tài rất đơn giản: đưa một bài báo vào, máy tự cho biết bài đó thuộc chuyên mục nào. Việc này có ích vì mỗi ngày các trang báo đăng rất nhiều bài; nếu máy tự xếp được thì đỡ tốn công biên tập, và người đọc cũng tìm bài dễ hơn. Ví dụ câu 'Bộ Giáo dục công bố điểm chuẩn đại học năm nay', máy trả lời Giáo dục. Em đặt ba mục tiêu: một, chính xác và đo nghiêm túc; hai, chạy được trên máy thường, không cần GPU hay mô hình ngôn ngữ lớn; ba, giải thích được vì sao máy chọn như vậy.
Chuyển: Vậy máy học từ dữ liệu nào?
(Ví dụ chạy thật bằng predict.py. Các con số là điểm của SVM, chưa phải xác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1
Nói: Dữ liệu gồm 5.500 bài báo tiếng Việt, 11 chuyên mục, mỗi chuyên mục đúng 500 bài nên cân bằng. Mười một chuyên mục là Thời sự, Thế giới, Kinh doanh, Pháp luật, Giáo dục, Sức khỏe, Khoa học, Đời sống, Giải trí, Thể thao và Xe. Vì cân bằng nên nếu máy đoán bừa thì chỉ đúng khoảng 9%, đó là mốc để so sánh. Mỗi bài có tiêu đề, sapo là đoạn mô tả đầu bài, nội dung, và nhãn là chuyên mục của bài. Bảng bên trái là một bài thật trong bộ dữ liệu, nhãn Thể thao. Máy đọc ba phần đầu ghép lại, nhãn chỉ dùng để học và chấm điểm. Nguồn dữ liệu là [điền nguồn].
Chuyển: Giờ xem em xử lý dữ liệu này thế nào.
(Đã kiểm tra bài trùng hoàn toàn văn bản: không có. Đã kiểm tra bài gần giống: độ giống cosine lớn nhất giữa một bài kiểm thử và các bài huấn luyện là 0,85; chỉ 18 trên 825 bài từ 0,5 trở lên và AI đoán đúng cả 18; độ chính xác trên 807 bài còn lại là 89,1%, nên kết quả không bị thổi phồng. Nếu bị hỏi nhãn do ai gán: là chuyên mục của bài trên trang báo gốc, ranh giới có thể mờ.)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1
Nói: Đây là toàn bộ việc em làm, gói trong sáu bước. Năm bước đầu là giai đoạn học, chạy một lần: làm sạch và chia dữ liệu, biến chữ thành số bằng TF-IDF, học bằng Linear SVM, rồi chấm điểm trên 825 bài. Một lần huấn luyện mô hình SVM mất khoảng 10 giây trên CPU. Kết quả lưu thành một file; bước sáu, website chỉ việc nạp file đó lên để dự đoán. Cả sáu bước chạy trên máy thường, không cần GPU hay mô hình lớn.
Chuyển: Em đi lần lượt vào từng bước.
(10 giây là một lần huấn luyện gồm cả TF-IDF và SVM trên 3.850 bài, đo cùng một cách với các mô hình ở slide 9. Chạy cả quá trình chỉnh tham số thì lâu hơn nhiều. Số đo trên CPU của máy em, máy khác có thể lệch.)
Bàn giao: Em xin mời Thành viên 2 trình bày tiếp phần làm sạch dữ liệu, TF-IDF và Linear SVM.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2
Nói: Việc đầu tiên là làm sạch văn bản: chữ thường, bỏ đường link, bỏ số, bỏ dấu câu, nhưng giữ nguyên dấu tiếng Việt. Ví dụ bên trái chạy bằng đúng hàm trong code. Việc thứ hai là chia dữ liệu theo tỉ lệ 70, 15, 15: 3.850 bài để máy học, 825 bài để kiểm tra giữa chừng, và 825 bài kiểm thử chỉ dùng một lần ở cuối. Mô hình chưa từng thấy 825 bài này nên kết quả đo trên đó mới đáng tin.
Chuyển: Tiếp theo: máy tính không hiểu chữ, nên phải biến chữ thành số.
(Chia có phân tầng, seed 42. TF-IDF và mô hình chỉ học từ tập huấn luyện, kể cả trong cross-validation. Việc chọn mô hình và tham số làm bằng cross-validation ngay trong 3.850 bài học; tập kiểm định chỉ dùng để theo dõi và chọn hệ số hiệu chỉnh độ tin cậy.)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2
Nói: Máy tính chỉ hiểu số, nên em dùng TF-IDF để biến mỗi bài thành một dãy số. Ý tưởng: từ nào xuất hiện nhiều trong bài thì quan trọng với bài đó; nhưng từ có trong nhiều bài, như 'một', 'những', thì ít giá trị nên bị giảm điểm (từ có trong hơn 90% bài bị loại hẳn). Em dùng thêm cặp từ liền nhau, như 'học sinh', để giữ phần nào ngữ cảnh. Bảng bên phải là ví dụ từ khóa máy tự học được ở bốn chuyên mục dễ hiểu: Thể thao thì bóng, trận, cầu thủ; Pháp luật thì bị cáo, luật sư, vụ án. Không ai dạy máy những từ này.
Chuyển: Có số rồi, máy dùng gì để quyết định chuyên mục?
(Công thức là dạng đơn giản hóa. Cấu hình: 1–2 gram, tối đa 200.000 đặc trưng, bỏ từ quá hiếm hoặc quá phổ biến. Một số lớp như Thời sự, Đời sống học từ khóa thiên về tin địa phương như phường, xã, UBND, CSGT.)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2
Nói: Em dùng Linear SVM. Mô hình giữ 11 bộ trọng số, mỗi chuyên mục một bộ. Với một bài mới, nó cộng đóng góp của từng từ để ra điểm cho mỗi chuyên mục, rồi chọn chuyên mục điểm cao nhất. SVM là cách học các trọng số đó: nó chọn ranh giới có lề lớn nhất, tức là cách xa nhất các bài gần nhất của hai phía, mỗi chuyên mục được tách khỏi phần còn lại. Ví dụ bên phải là câu về điểm chuẩn đại học: Giáo dục +0,70, còn các chuyên mục khác đều âm. Vì chỉ là phép cộng nên ta đọc được máy dựa vào từ nào; ở phần điểm nhấn cuối bài, nhóm em sẽ khai thác điều này.
Chuyển: Trước khi so sánh các mô hình, em cần nói cách đo kết quả.
(Điểm này tỉ lệ với khoảng cách có dấu tới siêu phẳng, chưa phải xác suất. Công thức: điểm_k = w_k · x + b_k. Văn bản sau TF-IDF rất thưa và nhiều chiều nên ranh giới tuyến tính thường hợp; đây là lý do dự đoán, em không chứng minh riêng.)
Bàn giao: Em xin mời Thành viên 3 trình bày tiếp phần cách đánh giá, so sánh mô hình và kiểm chứng từng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3
Nói: Em dùng bốn công cụ đo. Accuracy là tỉ lệ bài đoán đúng: đúng 737 trên 825 bài, tức 89,3%. Macro-F1 tính F1 riêng cho từng chuyên mục rồi lấy trung bình, nên chuyên mục khó như Thời sự nặng bằng chuyên mục dễ như Thể thao. F1 cân bằng hai thứ: máy xếp vào chuyên mục thì đúng bao nhiêu, và bài thật của chuyên mục thì máy tìm lại được bao nhiêu. Ma trận nhầm lẫn cho biết máy nhầm cái nào sang cái nào. Cross-validation chia tập học làm 5 phần, luân phiên lấy một phần để kiểm tra; em dùng nó để chọn mô hình và tham số mà không đụng đến tập kiểm thử. Nguyên tắc: tập kiểm thử chỉ chấm một lần ở cuối.
Chuyển: Giờ em dùng các chỉ số này để so sánh sáu thuật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3
Nói: Em so sánh sáu thuật toán. Điều quan trọng: mỗi thuật toán đều được chỉnh tham số bằng cùng một cách, nên so sánh là công bằng. Kết quả: Linear SVM cao nhất, 0,884; nhưng Logistic Regression gần như bằng, 0,883. Em kiểm tra bằng kiểm định thống kê McNemar thì hai mô hình không khác nhau, p bằng 0,51. Còn so với k-NN và Random Forest thì SVM tốt hơn có ý nghĩa. Em chọn SVM vì huấn luyện nhanh hơn Logistic Regression khoảng bốn lần, file mô hình nhỏ 15,9 MB, và là mô hình tuyến tính nên giải thích được.
Chuyển: Vậy mỗi quyết định trong quy trình đóng góp bao nhiêu?
(Thành thật: lúc đầu em chỉ chỉnh tham số cho SVM, SVM hơn Logistic Regression khoảng 1,3 điểm; khi chỉnh công bằng cho cả hai thì chỉ còn 0,1 điểm, nên em kết luận hai mô hình ngang nhau, không nói SVM vượt trội. SVM: C = 2 vì điểm gần như phẳng từ C = 1 đến 64 (0,8835 đến 0,8861), chênh nhỏ hơn độ lệch giữa các fold. Logistic Regression tốt nhất ở C = 300, đã mở rộng lưới. Mọi số trên là Macro-F1 của cross-validation 5-fold trên tập huấn luyện; thời gian gồm cả TF-IDF.)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3
Nói: Để biết từng quyết định có cần thiết không, em thử bỏ hoặc đổi từng thành phần, mỗi lần chỉ đổi một thứ, đo bằng cross-validation 5 phần trên tập học và tập kiểm định, không đụng tập kiểm thử. Biểu đồ bên trái cho biết máy đọc phần nào của bài báo. Chỉ đọc tiêu đề thì đúng 71,8%; thêm sapo là 81,5%; chỉ đọc nội dung đã được 89,1%, ngang với đọc cả ba. Nghĩa là nội dung bài mới là phần quan trọng nhất. Bên phải: bỏ cặp từ, bỏ log-tf hay chỉ giữ 5.000 từ đều làm điểm giảm khoảng một điểm phần trăm và khác biệt có ý nghĩa thống kê. Còn tách từ tiếng Việt bằng pyvi chỉ tăng 0,24 điểm, chưa đáng kể, nên em không dùng.
Chuyển: Giờ đến kết quả cuối cùng của mô hình.
(Số liệu: Macro-F1 của cấu hình chuẩn là 89,02%. Kiểm định t ghép cặp trên 5 fold nên độ mạnh thấp: 'chưa có ý nghĩa' không có nghĩa là 'không có tác dụng'. Bỏ IDF giảm 0,49 điểm, p = 0,10, chưa kết luận được. Bỏ dấu tiếng Việt giảm 0,22 điểm, p = 0,27. Thêm bộ ba từ chỉ tăng 0,13 điểm.)
Bàn giao: Em xin mời Thành viên 4 trình bày tiếp phần kết quả cuối, phân tích lỗi và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4
Nói: Trên 825 bài mô hình chưa từng thấy, máy đúng 737 bài, tức Accuracy 89,3%, và Macro-F1 là 0,893. Với 825 bài, khoảng tin cậy 95% là từ 87,3 đến 91,4%. Để so sánh, đoán ngẫu nhiên chỉ được khoảng 9%. Bốn con số bên dưới gần nhau: 0,884 khi kiểm chéo, 0,886 trên tập kiểm định, 0,893 trên tập kiểm thử, và 0,890 là trung bình khi em chia lại dữ liệu mười lần khác nhau, lệch chuẩn chỉ 0,004. Nghĩa là kết quả không phải do một lần chia may mắn.
Chuyển: Máy giỏi chuyên mục nào, kém chuyên mục nào?
(Nếu bị hỏi train 100% mà test 89,3%: có khoảng cách vì SVM trong 200.000 chiều tách hết dữ liệu học; điều quyết định là chất lượng trên dữ liệu chưa thấy và nó khá nhất quán. Đừng nói 'không overfit'. Mô hình đơn giản nhất, Naive Bayes, sau khi chỉnh tham số đạt 88,1% Accuracy trên tập kiểm thử. Mười lần chia lại: Accuracy 89,05% ± 0,44, Macro-F1 nhỏ nhất 0,885 và lớn nhất 0,896.)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4
Nói: Đây là F1 của từng chuyên mục trên tập kiểm thử. Thể thao cao nhất, 0,97, vì từ vựng rất đặc trưng: bóng, trận, cầu thủ. Thấp nhất là Thời sự, 0,78, có thể vì nội dung giao thoa với Pháp luật, Kinh doanh và Đời sống.
Chuyển: Cụ thể máy nhầm những gì?
(Lý do giao thoa được kiểm tra bằng cách đọc các bài sai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4
Nói: Đây là ma trận nhầm lẫn: đường chéo đen là đoán đúng. Máy sai 88 trên 825 bài, khoảng 10,7%. Lỗi tập trung nhiều nhất ở Thời sự: có mặt trong 33 trên 88 bài sai, ví dụ Thời sự bị nhầm sang Pháp luật 6 bài, Kinh doanh 5 bài, Đời sống 4 bài. Trong 88 bài sai, có 61 bài mà chuyên mục đúng đứng thứ hai trong xếp hạng của máy, tức là gần đúng. Nhóm em đọc tiêu đề 17 bài mà máy sai nhưng rất chắc chắn, từ 90% trở lên: nhiều bài thật sự có thể xếp vào cả hai chuyên mục, ví dụ bài 'Chỉ định luật sư cho kẻ đốt quán cà phê' đăng ở Thời sự, máy xếp Pháp luật 99,5%. Ngoài ra, khi máy hiện từ 95% trở lên thì đúng tới 98,2%, còn dưới 50% thì chỉ đúng một nửa, nên con số phần trăm này đáng tham khảo.
Chuyển: Giờ em xin giới thiệu sản phẩm: website VnNews.
(Danh sách 17 bài ở outputs/experiments/errors_confident.csv, kèm 88 bài sai ở errors_88.csv; đây là nhận xét khi đọc tiêu đề, nhóm chưa gán lại nhãn từng bài nên không nêu tỉ lệ nhãn sai. Có lỗi thật của mô hình: bản tin dự báo thời tiết (nhãn Thời sự) bị xếp Kinh doanh với 91,4%. 98,2% là tỉ lệ đúng của 545 bài kiểm thử có mức nghiêng từ 95%; mức nghiêng đã hiệu chỉnh nhiệt độ, sai lệch trung bình khoảng 3 điểm phần trăm.)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Thành viên 4
Nói: Để mô hình dùng được, nhóm em đóng gói thành website tin tức VnNews bằng Flask. 5.500 bài đã được máy tự xếp chuyên mục, và mỗi bài ghi rõ AI xếp bài này vào đâu, kèm mức nghiêng. Trang chủ có ô phân loại trực tiếp: dán một đoạn văn là máy trả lời ngay chuyên mục. Nhóm em còn làm chức năng Hỏi AI về tin tức: gõ một câu hỏi, máy tìm các bài liên quan rồi trích đúng câu trả lời, luôn kèm bài gốc; nếu không có căn cứ thì máy nói là chưa tìm thấy chứ không đoán. Ngoài ra có tóm tắt tự động và gom bài cùng chủ đề. Tất cả chạy ngay trên máy, chỉ cần CPU.
Chuyển: Điểm nhấn của nhóm em nằm ở một chức năng khác của website.
(Chức năng chính chạy không cần Internet; riêng nhập bài bằng đường link thì cần Internet. 3.850 trong 5.500 bài là dữ liệu đã dùng để huấn luyện; độ chính xác thật chỉ tính trên 825 bài kiểm thử, và website ghi rõ bài nào AI đã học. Hỏi AI không dùng mô hình sinh văn bản: chỉ tìm bài bằng TF-IDF rồi trích nguyên văn câu giống câu hỏi nhất. Thử tìm lại 5.500 bài bằng chính tiêu đề của chúng (đã bỏ tiêu đề khỏi chỉ mục): đúng bài ở vị trí 1 là 86,5%, trong 5 kết quả đầu là 96,2%. Đây là phép thử tìm lại bài, chưa phải chấm câu trả lời với câu hỏi thật. Tóm tắt TextRank: ROUGE-1 0,286 so với baseline hai câu đầu 0,271, chênh nhỏ.)
Bàn giao: Em xin mời Nhóm trưởng trình bày tiếp phần điểm nhấn AI Lab, hạn chế và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Nhóm trưởng
Nói: Đây là điểm nhấn của nhóm em: máy không chỉ cho kết quả mà còn giải thích vì sao nó chọn chuyên mục đó. Bình thường máy chỉ trả lời 'bài này là Thể thao', thầy không biết nó dựa vào đâu, có đáng tin không. Nhóm em làm thêm trang AI Lab để trả lời, bằng ba cách. Cách một, chỉ vào văn bản bên trái: máy tô đậm những từ nó dựa vào nhiều nhất; từ càng đậm càng đẩy bài về chuyên mục đã chọn; ở đây là đấu, thắng, trận, thủ, cầu, rất hợp lý với thể thao. Cách hai, chỉ vào biểu đồ bên phải: nhóm em thử bỏ 5 từ đậm nhất; trước đó máy chọn Thể thao 70,9%; sau khi bỏ, máy đổi ý sang Kinh doanh 91%; nghĩa là máy thật sự dựa vào những từ đó, không phải đoán mò. Cách ba: máy chấm riêng từng đoạn, đoạn đầu là Thể thao, đoạn sau là Kinh doanh, nên biết đây là bài trộn hai chủ đề. Đó mới là một ví dụ, nên nhóm em kiểm tra trên cả 825 bài kiểm thử: nếu chỉ giữ lại 5 từ mà máy tô đậm, 99,9% bài vẫn ra đúng chuyên mục cũ, còn giữ 5 từ ngẫu nhiên thì chỉ khoảng 27 đến 38%. Ngược lại, xóa 5 từ đó thì 17,6% bài đổi ý, còn xóa 5 từ ngẫu nhiên chỉ khoảng 1% bài. Làm được vậy vì Linear SVM chỉ là phép cộng điểm: mỗi từ góp một ít điểm cho từng chuyên mục, nên nhìn là thấy từ nào góp nhiều.
Chuyển: Cuối cùng là hạn chế và kết luận.
(Ví von cho dễ hiểu: giống thầy chấm bài và gạch chân những câu được điểm. Văn bản mẫu do nhóm soạn, đúng như trang AI Lab của website, gồm hai đoạn trộn; phần trăm là mức nghiêng đã hiệu chỉnh nhiệt độ. Kiểm chứng trên 825 bài: xóa 5 từ đóng góp lớn nhất làm 17,6% bài đổi chuyên mục (khoảng tin cậy 95%: 15,1 đến 20,3%), so với 0,6% khi xóa 5 từ ngẫu nhiên theo loại từ, 1,1% theo vị trí, 2,3% khi xóa 5 từ có TF-IDF lớn nhất. Phải xóa 20 từ mới làm 47,6% bài đổi ý: quyết định dựa vào nhiều từ chứ không vài từ then chốt. Chỉ giữ 5 từ: 99,9% giữ nguyên, so với 27% (ngẫu nhiên theo loại từ), 38% (theo vị trí), 71% (TF-IDF lớn nhất). Từ gạch chân là từ đẩy ngược khỏi Thể thao: ngân hàng, chứng khoán, và cả 'khán giả' vì hay gặp ở Giải trí. Đóng góp tính so với trung bình các lớp còn lại; hệ số chặn không hiển thị; cụm hai từ chia đều cho hai từ; từ chưa từng thấy khi huấn luyện thì không có đóng góp. Nếu thầy hỏi sao tin: kiểm chứng này chạy trong experiments/exp7_explain.py.)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Nhóm trưởng
Nói: Em xin nói thẳng các hạn chế. Một, ranh giới giữa các chuyên mục vốn mờ, nhãn gốc có khi mơ hồ nên khó đạt cao hơn nữa. Hai, dữ liệu chỉ có 5.500 bài, và đường cong học cho thấy thêm dữ liệu vẫn giúp: từ 2.887 lên 3.850 bài, điểm vẫn tăng khoảng 0,7 điểm. Ba, nhóm em chưa kiểm tra trên tin của các báo khác. Bốn, chức năng Hỏi AI chỉ trích câu có sẵn, chưa tổng hợp nhiều nguồn. Hướng phát triển: thêm dữ liệu và sửa nhãn các bài nghi sai, thử PhoBERT khi có GPU, thử công cụ tách từ khác, và cho Hỏi AI tổng hợp nhiều nguồn. Nhóm em cũng đã thử tách từ bằng pyvi, k-NN và mạng nơ-ron nhỏ nhưng không vượt Linear SVM nên không đưa vào.
Chuyển: Em xin kết luận.
(Em chủ động chọn không dùng mô hình lớn để chạy được trên máy thường và giải thích được; em chưa thử PhoBERT nên không nêu số so sánh. Tách từ pyvi: Macro-F1 tăng 0,24 điểm, p = 0,24, chưa có ý nghĩa. Hỏi AI chỉ được kiểm tra bằng phép thử tìm lại bài, chưa chấm bằng câu hỏi thật của người đọc. Đường cong học: Macro-F1 kiểm định 81,6% với 192 bài, 87,9% với 2.887 bài, 88,6% với 3.850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Nhóm trưởng
Nói: Em xin kết luận ba ý. Một, TF-IDF cộng Linear SVM đạt 89,3% Accuracy và 0,893 Macro-F1 trên 825 bài chưa từng thấy, và vẫn khoảng 89% khi chia lại dữ liệu mười lần khác nhau; một lần huấn luyện chỉ khoảng 10 giây trên CPU. Hai, mọi lựa chọn đều được kiểm chứng: so sánh công bằng cho thấy SVM ngang Logistic Regression, và thí nghiệm bỏ từng thành phần cho thấy nội dung bài báo là phần quan trọng nhất. Ba, điểm nhấn của đồ án là AI giải thích được, đã kiểm chứng trên cả 825 bài, cùng chức năng Hỏi AI trả lời có dẫn nguồn. Nhóm em xin cảm ơn thầy cô và các bạn, nhóm em sẵn sàng nhận câu hỏi.
(Nhóm trưởng điều phối hỏi đáp: câu thuộc phần của bạn nào thì bạn đó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822960" y="6382512"/>
            <a:ext cx="7315200" cy="274320"/>
          </a:xfrm>
          <a:prstGeom prst="rect">
            <a:avLst/>
          </a:prstGeom>
          <a:noFill/>
          <a:ln/>
        </p:spPr>
        <p:txBody>
          <a:bodyPr wrap="square" lIns="0" tIns="0" rIns="0" bIns="0" rtlCol="0" anchor="ctr"/>
          <a:lstStyle/>
          <a:p>
            <a:pPr indent="0" marL="0">
              <a:buNone/>
            </a:pPr>
            <a:r>
              <a:rPr lang="en-US" sz="1100" dirty="0">
                <a:solidFill>
                  <a:schemeClr val="accent1"/>
                </a:solidFill>
              </a:rPr>
              <a:t>Phân loại tin tức tiếng Việt · Đồ án Học máy</a:t>
            </a:r>
            <a:endParaRPr lang="en-US" sz="1100" dirty="0"/>
          </a:p>
        </p:txBody>
      </p:sp>
      <p:sp>
        <p:nvSpPr>
          <p:cNvPr id="3" name="Text 1"/>
          <p:cNvSpPr/>
          <p:nvPr>
            <p:ph idx="101" type="title" hasCustomPrompt="1"/>
          </p:nvPr>
        </p:nvSpPr>
        <p:spPr>
          <a:xfrm>
            <a:off x="822960" y="868680"/>
            <a:ext cx="1054303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VY">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6382512"/>
            <a:ext cx="7315200" cy="274320"/>
          </a:xfrm>
          <a:prstGeom prst="rect">
            <a:avLst/>
          </a:prstGeom>
          <a:noFill/>
          <a:ln/>
        </p:spPr>
        <p:txBody>
          <a:bodyPr wrap="square" lIns="0" tIns="0" rIns="0" bIns="0" rtlCol="0" anchor="ctr"/>
          <a:lstStyle/>
          <a:p>
            <a:pPr indent="0" marL="0">
              <a:buNone/>
            </a:pPr>
            <a:r>
              <a:rPr lang="en-US" sz="1100" dirty="0">
                <a:solidFill>
                  <a:schemeClr val="accent2"/>
                </a:solidFill>
              </a:rPr>
              <a:t>Phân loại tin tức tiếng Việt · Đồ án Học máy</a:t>
            </a:r>
            <a:endParaRPr lang="en-US" sz="1100" dirty="0"/>
          </a:p>
        </p:txBody>
      </p:sp>
      <p:sp>
        <p:nvSpPr>
          <p:cNvPr id="3" name="Text 1"/>
          <p:cNvSpPr/>
          <p:nvPr>
            <p:ph idx="101" type="title" hasCustomPrompt="1"/>
          </p:nvPr>
        </p:nvSpPr>
        <p:spPr>
          <a:xfrm>
            <a:off x="822960" y="868680"/>
            <a:ext cx="1054303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C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22960" y="6382512"/>
            <a:ext cx="7315200" cy="274320"/>
          </a:xfrm>
          <a:prstGeom prst="rect">
            <a:avLst/>
          </a:prstGeom>
          <a:noFill/>
          <a:ln/>
        </p:spPr>
        <p:txBody>
          <a:bodyPr wrap="square" lIns="0" tIns="0" rIns="0" bIns="0" rtlCol="0" anchor="ctr"/>
          <a:lstStyle/>
          <a:p>
            <a:pPr indent="0" marL="0">
              <a:buNone/>
            </a:pPr>
            <a:r>
              <a:rPr lang="en-US" sz="1100" dirty="0">
                <a:solidFill>
                  <a:schemeClr val="accent2"/>
                </a:solidFill>
              </a:rPr>
              <a:t>Phân loại tin tức tiếng Việt · Đồ án Học máy</a:t>
            </a:r>
            <a:endParaRPr lang="en-US" sz="1100" dirty="0"/>
          </a:p>
        </p:txBody>
      </p:sp>
      <p:sp>
        <p:nvSpPr>
          <p:cNvPr id="3" name="Text 1"/>
          <p:cNvSpPr/>
          <p:nvPr>
            <p:ph idx="101" type="title" hasCustomPrompt="1"/>
          </p:nvPr>
        </p:nvSpPr>
        <p:spPr>
          <a:xfrm>
            <a:off x="822960" y="868680"/>
            <a:ext cx="1054303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241280" cy="21031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822960"/>
            <a:ext cx="7315200" cy="365760"/>
          </a:xfrm>
          <a:prstGeom prst="rect">
            <a:avLst/>
          </a:prstGeom>
          <a:noFill/>
          <a:ln/>
        </p:spPr>
        <p:txBody>
          <a:bodyPr wrap="square" lIns="0" tIns="0" rIns="0" bIns="0" rtlCol="0" anchor="t"/>
          <a:lstStyle/>
          <a:p>
            <a:pPr indent="0" marL="0">
              <a:buNone/>
            </a:pPr>
            <a:r>
              <a:rPr lang="en-US" sz="1800" b="1" dirty="0">
                <a:solidFill>
                  <a:schemeClr val="accent2"/>
                </a:solidFill>
                <a:latin typeface="Consolas" pitchFamily="34" charset="0"/>
                <a:ea typeface="Consolas" pitchFamily="34" charset="-122"/>
                <a:cs typeface="Consolas" pitchFamily="34" charset="-120"/>
              </a:rPr>
              <a:t>$ đồ án môn Học máy_</a:t>
            </a:r>
            <a:endParaRPr lang="en-US" sz="1800" dirty="0"/>
          </a:p>
        </p:txBody>
      </p:sp>
      <p:sp>
        <p:nvSpPr>
          <p:cNvPr id="3" name="Text 0"/>
          <p:cNvSpPr/>
          <p:nvPr>
            <p:ph idx="100" type="title" hasCustomPrompt="1"/>
          </p:nvPr>
        </p:nvSpPr>
        <p:spPr>
          <a:xfrm>
            <a:off x="822960" y="1828800"/>
            <a:ext cx="10241280" cy="2103120"/>
          </a:xfrm>
          <a:prstGeom prst="rect">
            <a:avLst/>
          </a:prstGeom>
          <a:noFill/>
          <a:ln/>
        </p:spPr>
        <p:txBody>
          <a:bodyPr wrap="square" lIns="0" tIns="0" rIns="0" bIns="0" rtlCol="0" anchor="t"/>
          <a:lstStyle/>
          <a:p>
            <a:pPr algn="l" indent="0" marL="0">
              <a:buNone/>
            </a:pPr>
            <a:r>
              <a:rPr lang="en-US" sz="5400" b="1" dirty="0">
                <a:solidFill>
                  <a:schemeClr val="bg1"/>
                </a:solidFill>
              </a:rPr>
              <a:t>Phân loại tin tức tiếng Việt bằng học máy</a:t>
            </a:r>
            <a:endParaRPr lang="en-US" sz="5400" dirty="0"/>
          </a:p>
        </p:txBody>
      </p:sp>
      <p:sp>
        <p:nvSpPr>
          <p:cNvPr id="4" name="Text 2"/>
          <p:cNvSpPr txBox="1"/>
          <p:nvPr/>
        </p:nvSpPr>
        <p:spPr>
          <a:xfrm>
            <a:off x="822960" y="4023360"/>
            <a:ext cx="10058400" cy="457200"/>
          </a:xfrm>
          <a:prstGeom prst="rect">
            <a:avLst/>
          </a:prstGeom>
          <a:noFill/>
          <a:ln/>
        </p:spPr>
        <p:txBody>
          <a:bodyPr wrap="square" lIns="0" tIns="0" rIns="0" bIns="0" rtlCol="0" anchor="t"/>
          <a:lstStyle/>
          <a:p>
            <a:pPr indent="0" marL="0">
              <a:buNone/>
            </a:pPr>
            <a:r>
              <a:rPr lang="en-US" sz="2400" dirty="0">
                <a:solidFill>
                  <a:schemeClr val="accent5"/>
                </a:solidFill>
              </a:rPr>
              <a:t>TF-IDF + Linear SVM · 11 chuyên mục · 5.500 bài báo</a:t>
            </a:r>
            <a:endParaRPr lang="en-US" sz="2400" dirty="0"/>
          </a:p>
        </p:txBody>
      </p:sp>
      <p:sp>
        <p:nvSpPr>
          <p:cNvPr id="5" name="Text 3"/>
          <p:cNvSpPr txBox="1"/>
          <p:nvPr/>
        </p:nvSpPr>
        <p:spPr>
          <a:xfrm>
            <a:off x="822960" y="4572000"/>
            <a:ext cx="9144000" cy="365760"/>
          </a:xfrm>
          <a:prstGeom prst="rect">
            <a:avLst/>
          </a:prstGeom>
          <a:noFill/>
          <a:ln/>
        </p:spPr>
        <p:txBody>
          <a:bodyPr wrap="square" lIns="0" tIns="0" rIns="0" bIns="0" rtlCol="0" anchor="t"/>
          <a:lstStyle/>
          <a:p>
            <a:pPr indent="0" marL="0">
              <a:buNone/>
            </a:pPr>
            <a:r>
              <a:rPr lang="en-US" sz="1600" dirty="0">
                <a:solidFill>
                  <a:schemeClr val="accent2"/>
                </a:solidFill>
                <a:latin typeface="Consolas" pitchFamily="34" charset="0"/>
                <a:ea typeface="Consolas" pitchFamily="34" charset="-122"/>
                <a:cs typeface="Consolas" pitchFamily="34" charset="-120"/>
              </a:rPr>
              <a:t>$ python train.py </a:t>
            </a:r>
            <a:pPr indent="0" marL="0">
              <a:buNone/>
            </a:pPr>
            <a:r>
              <a:rPr lang="en-US" sz="1600" dirty="0">
                <a:solidFill>
                  <a:schemeClr val="bg2"/>
                </a:solidFill>
                <a:latin typeface="Consolas" pitchFamily="34" charset="0"/>
                <a:ea typeface="Consolas" pitchFamily="34" charset="-122"/>
                <a:cs typeface="Consolas" pitchFamily="34" charset="-120"/>
              </a:rPr>
              <a:t>→ accuracy 89,3% · macro-F1 0,893</a:t>
            </a:r>
            <a:endParaRPr lang="en-US" sz="1600" dirty="0"/>
          </a:p>
        </p:txBody>
      </p:sp>
      <p:sp>
        <p:nvSpPr>
          <p:cNvPr id="6" name="Shape 4"/>
          <p:cNvSpPr/>
          <p:nvPr/>
        </p:nvSpPr>
        <p:spPr>
          <a:xfrm>
            <a:off x="822960" y="5120640"/>
            <a:ext cx="4389120" cy="502920"/>
          </a:xfrm>
          <a:prstGeom prst="rect">
            <a:avLst/>
          </a:prstGeom>
          <a:solidFill>
            <a:schemeClr val="tx2"/>
          </a:solidFill>
          <a:ln w="19050">
            <a:solidFill>
              <a:schemeClr val="bg2"/>
            </a:solidFill>
            <a:prstDash val="solid"/>
          </a:ln>
        </p:spPr>
      </p:sp>
      <p:sp>
        <p:nvSpPr>
          <p:cNvPr id="7" name="Text 5"/>
          <p:cNvSpPr txBox="1"/>
          <p:nvPr/>
        </p:nvSpPr>
        <p:spPr>
          <a:xfrm>
            <a:off x="822960" y="5120640"/>
            <a:ext cx="4389120" cy="502920"/>
          </a:xfrm>
          <a:prstGeom prst="rect">
            <a:avLst/>
          </a:prstGeom>
          <a:noFill/>
          <a:ln/>
        </p:spPr>
        <p:txBody>
          <a:bodyPr wrap="square" lIns="0" tIns="0" rIns="0" bIns="0" rtlCol="0" anchor="ctr"/>
          <a:lstStyle/>
          <a:p>
            <a:pPr algn="ctr" indent="0" marL="0">
              <a:buNone/>
            </a:pPr>
            <a:r>
              <a:rPr lang="en-US" sz="1500" b="1" dirty="0">
                <a:solidFill>
                  <a:schemeClr val="bg2"/>
                </a:solidFill>
                <a:latin typeface="Consolas" pitchFamily="34" charset="0"/>
                <a:ea typeface="Consolas" pitchFamily="34" charset="-122"/>
                <a:cs typeface="Consolas" pitchFamily="34" charset="-120"/>
              </a:rPr>
              <a:t>★ Điểm nhấn: AI giải thích được</a:t>
            </a:r>
            <a:endParaRPr lang="en-US" sz="1500" dirty="0"/>
          </a:p>
        </p:txBody>
      </p:sp>
      <p:sp>
        <p:nvSpPr>
          <p:cNvPr id="8" name="Text 6"/>
          <p:cNvSpPr txBox="1"/>
          <p:nvPr/>
        </p:nvSpPr>
        <p:spPr>
          <a:xfrm>
            <a:off x="822960" y="5943600"/>
            <a:ext cx="8595360" cy="640080"/>
          </a:xfrm>
          <a:prstGeom prst="rect">
            <a:avLst/>
          </a:prstGeom>
          <a:noFill/>
          <a:ln/>
        </p:spPr>
        <p:txBody>
          <a:bodyPr wrap="square" lIns="0" tIns="0" rIns="0" bIns="0" rtlCol="0" anchor="t"/>
          <a:lstStyle/>
          <a:p>
            <a:pPr indent="0" marL="0">
              <a:buNone/>
            </a:pPr>
            <a:r>
              <a:rPr lang="en-US" sz="1600" dirty="0">
                <a:solidFill>
                  <a:schemeClr val="accent5"/>
                </a:solidFill>
              </a:rPr>
              <a:t>Nhóm: [Nhóm trưởng] · [Thành viên 1] · [Thành viên 2] · [Thành viên 3] · [Thành viên 4]</a:t>
            </a:r>
            <a:endParaRPr lang="en-US" sz="1600" dirty="0"/>
          </a:p>
          <a:p>
            <a:pPr indent="0" marL="0">
              <a:buNone/>
            </a:pPr>
            <a:r>
              <a:rPr lang="en-US" sz="1600" dirty="0">
                <a:solidFill>
                  <a:schemeClr val="accent5"/>
                </a:solidFill>
              </a:rPr>
              <a:t>Lớp: [Lớp] · Giảng viên: [Tên giảng viên]</a:t>
            </a:r>
            <a:endParaRPr lang="en-US" sz="1600" dirty="0"/>
          </a:p>
        </p:txBody>
      </p:sp>
      <p:sp>
        <p:nvSpPr>
          <p:cNvPr id="9" name="Text 7"/>
          <p:cNvSpPr txBox="1"/>
          <p:nvPr/>
        </p:nvSpPr>
        <p:spPr>
          <a:xfrm>
            <a:off x="9601200" y="5989320"/>
            <a:ext cx="1764792" cy="457200"/>
          </a:xfrm>
          <a:prstGeom prst="rect">
            <a:avLst/>
          </a:prstGeom>
          <a:noFill/>
          <a:ln/>
        </p:spPr>
        <p:txBody>
          <a:bodyPr wrap="square" lIns="0" tIns="0" rIns="0" bIns="0" rtlCol="0" anchor="t"/>
          <a:lstStyle/>
          <a:p>
            <a:pPr algn="r" indent="0" marL="0">
              <a:buNone/>
            </a:pPr>
            <a:r>
              <a:rPr lang="en-US" sz="2400" b="1" dirty="0">
                <a:solidFill>
                  <a:schemeClr val="bg1"/>
                </a:solidFill>
                <a:latin typeface="Arial" pitchFamily="34" charset="0"/>
                <a:ea typeface="Arial" pitchFamily="34" charset="-122"/>
                <a:cs typeface="Arial" pitchFamily="34" charset="-120"/>
              </a:rPr>
              <a:t>VnNews</a:t>
            </a:r>
            <a:endParaRPr lang="en-US" sz="2400" dirty="0"/>
          </a:p>
        </p:txBody>
      </p:sp>
      <p:sp>
        <p:nvSpPr>
          <p:cNvPr id="11" name="Presenter"/>
          <p:cNvSpPr txBox="1"/>
          <p:nvPr/>
        </p:nvSpPr>
        <p:spPr>
          <a:xfrm>
            <a:off x="6766560" y="822960"/>
            <a:ext cx="4599432" cy="274320"/>
          </a:xfrm>
          <a:prstGeom prst="rect">
            <a:avLst/>
          </a:prstGeom>
          <a:noFill/>
          <a:ln/>
        </p:spPr>
        <p:txBody>
          <a:bodyPr wrap="square" lIns="0" tIns="0" rIns="0" bIns="0" rtlCol="0" anchor="ctr"/>
          <a:lstStyle/>
          <a:p>
            <a:pPr algn="r" indent="0" marL="0">
              <a:buNone/>
            </a:pPr>
            <a:r>
              <a:rPr lang="en-US" sz="1300" b="1" dirty="0">
                <a:solidFill>
                  <a:schemeClr val="accent2"/>
                </a:solidFill>
                <a:latin typeface="Consolas" pitchFamily="34" charset="0"/>
                <a:ea typeface="Consolas" pitchFamily="34" charset="-122"/>
                <a:cs typeface="Consolas" pitchFamily="34" charset="-120"/>
              </a:rPr>
              <a:t>TRÌNH BÀY · NHÓM TRƯỞNG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02 · ĐỀ TÀI VÀ MỤC TIÊU</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Máy tự đọc bài báo và xếp đúng chuyên mục</a:t>
            </a:r>
            <a:endParaRPr lang="en-US" sz="3400" dirty="0"/>
          </a:p>
        </p:txBody>
      </p:sp>
      <p:sp>
        <p:nvSpPr>
          <p:cNvPr id="4" name="Text 2"/>
          <p:cNvSpPr txBox="1"/>
          <p:nvPr/>
        </p:nvSpPr>
        <p:spPr>
          <a:xfrm>
            <a:off x="822960" y="1783080"/>
            <a:ext cx="576072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ĐẦU VÀO · MỘT BÀI BÁO</a:t>
            </a:r>
            <a:endParaRPr lang="en-US" sz="1400" dirty="0"/>
          </a:p>
        </p:txBody>
      </p:sp>
      <p:sp>
        <p:nvSpPr>
          <p:cNvPr id="5" name="Shape 3"/>
          <p:cNvSpPr/>
          <p:nvPr/>
        </p:nvSpPr>
        <p:spPr>
          <a:xfrm>
            <a:off x="822960" y="2103120"/>
            <a:ext cx="5760720" cy="960120"/>
          </a:xfrm>
          <a:prstGeom prst="rect">
            <a:avLst/>
          </a:prstGeom>
          <a:solidFill>
            <a:schemeClr val="bg1"/>
          </a:solidFill>
          <a:ln w="19050">
            <a:solidFill>
              <a:schemeClr val="tx1"/>
            </a:solidFill>
            <a:prstDash val="solid"/>
          </a:ln>
        </p:spPr>
      </p:sp>
      <p:sp>
        <p:nvSpPr>
          <p:cNvPr id="6" name="Text 4"/>
          <p:cNvSpPr txBox="1"/>
          <p:nvPr/>
        </p:nvSpPr>
        <p:spPr>
          <a:xfrm>
            <a:off x="1051560" y="2103120"/>
            <a:ext cx="5303520" cy="960120"/>
          </a:xfrm>
          <a:prstGeom prst="rect">
            <a:avLst/>
          </a:prstGeom>
          <a:noFill/>
          <a:ln/>
        </p:spPr>
        <p:txBody>
          <a:bodyPr wrap="square" lIns="0" tIns="0" rIns="0" bIns="0" rtlCol="0" anchor="ctr"/>
          <a:lstStyle/>
          <a:p>
            <a:pPr indent="0" marL="0">
              <a:buNone/>
            </a:pPr>
            <a:r>
              <a:rPr lang="en-US" sz="2100" i="1" dirty="0">
                <a:solidFill>
                  <a:schemeClr val="tx1"/>
                </a:solidFill>
              </a:rPr>
              <a:t>“Bộ Giáo dục công bố điểm chuẩn đại học năm nay”</a:t>
            </a:r>
            <a:endParaRPr lang="en-US" sz="2100" dirty="0"/>
          </a:p>
        </p:txBody>
      </p:sp>
      <p:sp>
        <p:nvSpPr>
          <p:cNvPr id="7" name="Shape 5"/>
          <p:cNvSpPr/>
          <p:nvPr/>
        </p:nvSpPr>
        <p:spPr>
          <a:xfrm>
            <a:off x="3520440" y="3136392"/>
            <a:ext cx="274320" cy="365760"/>
          </a:xfrm>
          <a:prstGeom prst="downArrow">
            <a:avLst/>
          </a:prstGeom>
          <a:solidFill>
            <a:schemeClr val="tx1"/>
          </a:solidFill>
          <a:ln w="12700">
            <a:solidFill>
              <a:schemeClr val="tx1"/>
            </a:solidFill>
            <a:prstDash val="solid"/>
          </a:ln>
        </p:spPr>
      </p:sp>
      <p:sp>
        <p:nvSpPr>
          <p:cNvPr id="8" name="Shape 6"/>
          <p:cNvSpPr/>
          <p:nvPr/>
        </p:nvSpPr>
        <p:spPr>
          <a:xfrm>
            <a:off x="822960" y="3611880"/>
            <a:ext cx="5760720" cy="1828800"/>
          </a:xfrm>
          <a:prstGeom prst="rect">
            <a:avLst/>
          </a:prstGeom>
          <a:solidFill>
            <a:schemeClr val="tx1"/>
          </a:solidFill>
          <a:ln w="12700">
            <a:solidFill>
              <a:schemeClr val="tx1"/>
            </a:solidFill>
            <a:prstDash val="solid"/>
          </a:ln>
        </p:spPr>
      </p:sp>
      <p:sp>
        <p:nvSpPr>
          <p:cNvPr id="9" name="Text 7"/>
          <p:cNvSpPr txBox="1"/>
          <p:nvPr/>
        </p:nvSpPr>
        <p:spPr>
          <a:xfrm>
            <a:off x="1051560" y="3721608"/>
            <a:ext cx="5303520" cy="274320"/>
          </a:xfrm>
          <a:prstGeom prst="rect">
            <a:avLst/>
          </a:prstGeom>
          <a:noFill/>
          <a:ln/>
        </p:spPr>
        <p:txBody>
          <a:bodyPr wrap="square" lIns="0" tIns="0" rIns="0" bIns="0" rtlCol="0" anchor="t"/>
          <a:lstStyle/>
          <a:p>
            <a:pPr indent="0" marL="0">
              <a:buNone/>
            </a:pPr>
            <a:r>
              <a:rPr lang="en-US" sz="1400" b="1" dirty="0">
                <a:solidFill>
                  <a:schemeClr val="accent2"/>
                </a:solidFill>
                <a:latin typeface="Consolas" pitchFamily="34" charset="0"/>
                <a:ea typeface="Consolas" pitchFamily="34" charset="-122"/>
                <a:cs typeface="Consolas" pitchFamily="34" charset="-120"/>
              </a:rPr>
              <a:t>ĐẦU RA · CHUYÊN MỤC DỰ ĐOÁN</a:t>
            </a:r>
            <a:endParaRPr lang="en-US" sz="1400" dirty="0"/>
          </a:p>
        </p:txBody>
      </p:sp>
      <p:sp>
        <p:nvSpPr>
          <p:cNvPr id="10" name="Text 8"/>
          <p:cNvSpPr txBox="1"/>
          <p:nvPr/>
        </p:nvSpPr>
        <p:spPr>
          <a:xfrm>
            <a:off x="1051560" y="4023360"/>
            <a:ext cx="5303520" cy="777240"/>
          </a:xfrm>
          <a:prstGeom prst="rect">
            <a:avLst/>
          </a:prstGeom>
          <a:noFill/>
          <a:ln/>
        </p:spPr>
        <p:txBody>
          <a:bodyPr wrap="square" lIns="0" tIns="0" rIns="0" bIns="0" rtlCol="0" anchor="t"/>
          <a:lstStyle/>
          <a:p>
            <a:pPr indent="0" marL="0">
              <a:buNone/>
            </a:pPr>
            <a:r>
              <a:rPr lang="en-US" sz="4600" b="1" dirty="0">
                <a:solidFill>
                  <a:schemeClr val="bg1"/>
                </a:solidFill>
                <a:latin typeface="Arial" pitchFamily="34" charset="0"/>
                <a:ea typeface="Arial" pitchFamily="34" charset="-122"/>
                <a:cs typeface="Arial" pitchFamily="34" charset="-120"/>
              </a:rPr>
              <a:t>Giáo dục</a:t>
            </a:r>
            <a:endParaRPr lang="en-US" sz="4600" dirty="0"/>
          </a:p>
        </p:txBody>
      </p:sp>
      <p:sp>
        <p:nvSpPr>
          <p:cNvPr id="11" name="Text 9"/>
          <p:cNvSpPr txBox="1"/>
          <p:nvPr/>
        </p:nvSpPr>
        <p:spPr>
          <a:xfrm>
            <a:off x="1051560" y="4846320"/>
            <a:ext cx="5303520" cy="5486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điểm (càng cao càng hợp):</a:t>
            </a:r>
            <a:endParaRPr lang="en-US" sz="1400" dirty="0"/>
          </a:p>
          <a:p>
            <a:pPr indent="0" marL="0">
              <a:buNone/>
            </a:pPr>
            <a:r>
              <a:rPr lang="en-US" sz="1400" dirty="0">
                <a:solidFill>
                  <a:schemeClr val="accent5"/>
                </a:solidFill>
                <a:latin typeface="Consolas" pitchFamily="34" charset="0"/>
                <a:ea typeface="Consolas" pitchFamily="34" charset="-122"/>
                <a:cs typeface="Consolas" pitchFamily="34" charset="-120"/>
              </a:rPr>
              <a:t>Giáo dục +0,70 · Thế giới −0,77 · Thể thao −1,00</a:t>
            </a:r>
            <a:endParaRPr lang="en-US" sz="1400" dirty="0"/>
          </a:p>
        </p:txBody>
      </p:sp>
      <p:sp>
        <p:nvSpPr>
          <p:cNvPr id="12" name="Text 10"/>
          <p:cNvSpPr txBox="1"/>
          <p:nvPr/>
        </p:nvSpPr>
        <p:spPr>
          <a:xfrm>
            <a:off x="6995160" y="1783080"/>
            <a:ext cx="4370832"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BA MỤC TIÊU</a:t>
            </a:r>
            <a:endParaRPr lang="en-US" sz="1400" dirty="0"/>
          </a:p>
        </p:txBody>
      </p:sp>
      <p:sp>
        <p:nvSpPr>
          <p:cNvPr id="13" name="Text 11"/>
          <p:cNvSpPr txBox="1"/>
          <p:nvPr/>
        </p:nvSpPr>
        <p:spPr>
          <a:xfrm>
            <a:off x="6995160" y="2194560"/>
            <a:ext cx="548640" cy="64008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1</a:t>
            </a:r>
            <a:endParaRPr lang="en-US" sz="3600" dirty="0"/>
          </a:p>
        </p:txBody>
      </p:sp>
      <p:sp>
        <p:nvSpPr>
          <p:cNvPr id="14" name="Text 12"/>
          <p:cNvSpPr txBox="1"/>
          <p:nvPr/>
        </p:nvSpPr>
        <p:spPr>
          <a:xfrm>
            <a:off x="7680960" y="2212848"/>
            <a:ext cx="3685032"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Chính xác</a:t>
            </a:r>
            <a:endParaRPr lang="en-US" sz="2000" dirty="0"/>
          </a:p>
        </p:txBody>
      </p:sp>
      <p:sp>
        <p:nvSpPr>
          <p:cNvPr id="15" name="Text 13"/>
          <p:cNvSpPr txBox="1"/>
          <p:nvPr/>
        </p:nvSpPr>
        <p:spPr>
          <a:xfrm>
            <a:off x="7680960" y="2606040"/>
            <a:ext cx="3685032" cy="640080"/>
          </a:xfrm>
          <a:prstGeom prst="rect">
            <a:avLst/>
          </a:prstGeom>
          <a:noFill/>
          <a:ln/>
        </p:spPr>
        <p:txBody>
          <a:bodyPr wrap="square" lIns="0" tIns="0" rIns="0" bIns="0" rtlCol="0" anchor="t"/>
          <a:lstStyle/>
          <a:p>
            <a:pPr indent="0" marL="0">
              <a:buNone/>
            </a:pPr>
            <a:r>
              <a:rPr lang="en-US" sz="1600" dirty="0">
                <a:solidFill>
                  <a:schemeClr val="accent3"/>
                </a:solidFill>
              </a:rPr>
              <a:t>Đo trên 825 bài mô hình chưa từng thấy</a:t>
            </a:r>
            <a:endParaRPr lang="en-US" sz="1600" dirty="0"/>
          </a:p>
        </p:txBody>
      </p:sp>
      <p:sp>
        <p:nvSpPr>
          <p:cNvPr id="16" name="Text 14"/>
          <p:cNvSpPr txBox="1"/>
          <p:nvPr/>
        </p:nvSpPr>
        <p:spPr>
          <a:xfrm>
            <a:off x="6995160" y="3474720"/>
            <a:ext cx="548640" cy="64008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2</a:t>
            </a:r>
            <a:endParaRPr lang="en-US" sz="3600" dirty="0"/>
          </a:p>
        </p:txBody>
      </p:sp>
      <p:sp>
        <p:nvSpPr>
          <p:cNvPr id="17" name="Text 15"/>
          <p:cNvSpPr txBox="1"/>
          <p:nvPr/>
        </p:nvSpPr>
        <p:spPr>
          <a:xfrm>
            <a:off x="7680960" y="3493008"/>
            <a:ext cx="3685032"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Chạy trên máy thường</a:t>
            </a:r>
            <a:endParaRPr lang="en-US" sz="2000" dirty="0"/>
          </a:p>
        </p:txBody>
      </p:sp>
      <p:sp>
        <p:nvSpPr>
          <p:cNvPr id="18" name="Text 16"/>
          <p:cNvSpPr txBox="1"/>
          <p:nvPr/>
        </p:nvSpPr>
        <p:spPr>
          <a:xfrm>
            <a:off x="7680960" y="3886200"/>
            <a:ext cx="3685032" cy="640080"/>
          </a:xfrm>
          <a:prstGeom prst="rect">
            <a:avLst/>
          </a:prstGeom>
          <a:noFill/>
          <a:ln/>
        </p:spPr>
        <p:txBody>
          <a:bodyPr wrap="square" lIns="0" tIns="0" rIns="0" bIns="0" rtlCol="0" anchor="t"/>
          <a:lstStyle/>
          <a:p>
            <a:pPr indent="0" marL="0">
              <a:buNone/>
            </a:pPr>
            <a:r>
              <a:rPr lang="en-US" sz="1600" dirty="0">
                <a:solidFill>
                  <a:schemeClr val="accent3"/>
                </a:solidFill>
              </a:rPr>
              <a:t>Chỉ cần CPU, không cần GPU</a:t>
            </a:r>
            <a:endParaRPr lang="en-US" sz="1600" dirty="0"/>
          </a:p>
        </p:txBody>
      </p:sp>
      <p:sp>
        <p:nvSpPr>
          <p:cNvPr id="19" name="Text 17"/>
          <p:cNvSpPr txBox="1"/>
          <p:nvPr/>
        </p:nvSpPr>
        <p:spPr>
          <a:xfrm>
            <a:off x="6995160" y="4754880"/>
            <a:ext cx="548640" cy="64008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3</a:t>
            </a:r>
            <a:endParaRPr lang="en-US" sz="3600" dirty="0"/>
          </a:p>
        </p:txBody>
      </p:sp>
      <p:sp>
        <p:nvSpPr>
          <p:cNvPr id="20" name="Text 18"/>
          <p:cNvSpPr txBox="1"/>
          <p:nvPr/>
        </p:nvSpPr>
        <p:spPr>
          <a:xfrm>
            <a:off x="7680960" y="4773168"/>
            <a:ext cx="3685032"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Giải thích được</a:t>
            </a:r>
            <a:endParaRPr lang="en-US" sz="2000" dirty="0"/>
          </a:p>
        </p:txBody>
      </p:sp>
      <p:sp>
        <p:nvSpPr>
          <p:cNvPr id="21" name="Text 19"/>
          <p:cNvSpPr txBox="1"/>
          <p:nvPr/>
        </p:nvSpPr>
        <p:spPr>
          <a:xfrm>
            <a:off x="7680960" y="5166360"/>
            <a:ext cx="3685032" cy="640080"/>
          </a:xfrm>
          <a:prstGeom prst="rect">
            <a:avLst/>
          </a:prstGeom>
          <a:noFill/>
          <a:ln/>
        </p:spPr>
        <p:txBody>
          <a:bodyPr wrap="square" lIns="0" tIns="0" rIns="0" bIns="0" rtlCol="0" anchor="t"/>
          <a:lstStyle/>
          <a:p>
            <a:pPr indent="0" marL="0">
              <a:buNone/>
            </a:pPr>
            <a:r>
              <a:rPr lang="en-US" sz="1600" dirty="0">
                <a:solidFill>
                  <a:schemeClr val="accent3"/>
                </a:solidFill>
              </a:rPr>
              <a:t>Chỉ ra vì sao AI chọn chuyên mục</a:t>
            </a:r>
            <a:endParaRPr lang="en-US" sz="1600" dirty="0"/>
          </a:p>
        </p:txBody>
      </p:sp>
      <p:sp>
        <p:nvSpPr>
          <p:cNvPr id="23"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1</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03 · DỮ LIỆU</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5.500 bài báo, 11 chuyên mục, mỗi lớp 500 bài</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6583680" cy="914400"/>
        </p:xfrm>
        <a:graphic>
          <a:graphicData uri="http://schemas.openxmlformats.org/drawingml/2006/table">
            <a:tbl>
              <a:tblPr/>
              <a:tblGrid>
                <a:gridCol w="1371600"/>
                <a:gridCol w="5212080"/>
              </a:tblGrid>
              <a:tr h="384048">
                <a:tc>
                  <a:txBody>
                    <a:bodyPr/>
                    <a:lstStyle/>
                    <a:p>
                      <a:pPr indent="0" marL="0">
                        <a:buNone/>
                      </a:pPr>
                      <a:r>
                        <a:rPr lang="en-US" sz="1400" b="1" dirty="0">
                          <a:solidFill>
                            <a:schemeClr val="accent1"/>
                          </a:solidFill>
                        </a:rPr>
                        <a:t>Trường</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Ví dụ (một bài thật trong bộ dữ liệu)</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r>
              <a:tr h="731520">
                <a:tc>
                  <a:txBody>
                    <a:bodyPr/>
                    <a:lstStyle/>
                    <a:p>
                      <a:pPr indent="0" marL="0">
                        <a:buNone/>
                      </a:pPr>
                      <a:r>
                        <a:rPr lang="en-US" sz="1600" b="1" dirty="0">
                          <a:solidFill>
                            <a:schemeClr val="tx1"/>
                          </a:solidFill>
                        </a:rPr>
                        <a:t>Tiêu đề</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Tuyển Việt Nam thua Nhật Bản: Việt Anh, Nguyễn Filip, Đình Bắc sáng nhất</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731520">
                <a:tc>
                  <a:txBody>
                    <a:bodyPr/>
                    <a:lstStyle/>
                    <a:p>
                      <a:pPr indent="0" marL="0">
                        <a:buNone/>
                      </a:pPr>
                      <a:r>
                        <a:rPr lang="en-US" sz="1600" b="1" dirty="0">
                          <a:solidFill>
                            <a:schemeClr val="tx1"/>
                          </a:solidFill>
                        </a:rPr>
                        <a:t>Sapo</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Tuyển Việt Nam không thể gây bất ngờ trước Nhật Bản ở trận ra quân Asian Cup…</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457200">
                <a:tc>
                  <a:txBody>
                    <a:bodyPr/>
                    <a:lstStyle/>
                    <a:p>
                      <a:pPr indent="0" marL="0">
                        <a:buNone/>
                      </a:pPr>
                      <a:r>
                        <a:rPr lang="en-US" sz="1600" b="1" dirty="0">
                          <a:solidFill>
                            <a:schemeClr val="tx1"/>
                          </a:solidFill>
                        </a:rPr>
                        <a:t>Nội dung</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Toàn văn bài báo</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457200">
                <a:tc>
                  <a:txBody>
                    <a:bodyPr/>
                    <a:lstStyle/>
                    <a:p>
                      <a:pPr indent="0" marL="0">
                        <a:buNone/>
                      </a:pPr>
                      <a:r>
                        <a:rPr lang="en-US" sz="1600" b="1" dirty="0">
                          <a:solidFill>
                            <a:schemeClr val="tx1"/>
                          </a:solidFill>
                        </a:rPr>
                        <a:t>Nhãn</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600" b="1" dirty="0">
                          <a:solidFill>
                            <a:schemeClr val="tx1"/>
                          </a:solidFill>
                        </a:rPr>
                        <a:t>Thể thao</a:t>
                      </a:r>
                      <a:endParaRPr lang="en-US" sz="16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bl>
          </a:graphicData>
        </a:graphic>
      </p:graphicFrame>
      <p:sp>
        <p:nvSpPr>
          <p:cNvPr id="5" name="Shape 2"/>
          <p:cNvSpPr/>
          <p:nvPr/>
        </p:nvSpPr>
        <p:spPr>
          <a:xfrm>
            <a:off x="7726680" y="1783080"/>
            <a:ext cx="3639312" cy="914400"/>
          </a:xfrm>
          <a:prstGeom prst="rect">
            <a:avLst/>
          </a:prstGeom>
          <a:solidFill>
            <a:schemeClr val="bg1"/>
          </a:solidFill>
          <a:ln w="19050">
            <a:solidFill>
              <a:schemeClr val="tx1"/>
            </a:solidFill>
            <a:prstDash val="solid"/>
          </a:ln>
        </p:spPr>
      </p:sp>
      <p:sp>
        <p:nvSpPr>
          <p:cNvPr id="6" name="Text 3"/>
          <p:cNvSpPr txBox="1"/>
          <p:nvPr/>
        </p:nvSpPr>
        <p:spPr>
          <a:xfrm>
            <a:off x="7863840" y="1783080"/>
            <a:ext cx="1463040" cy="9144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5.500</a:t>
            </a:r>
            <a:endParaRPr lang="en-US" sz="3400" dirty="0"/>
          </a:p>
        </p:txBody>
      </p:sp>
      <p:sp>
        <p:nvSpPr>
          <p:cNvPr id="7" name="Text 4"/>
          <p:cNvSpPr txBox="1"/>
          <p:nvPr/>
        </p:nvSpPr>
        <p:spPr>
          <a:xfrm>
            <a:off x="9372600" y="1783080"/>
            <a:ext cx="1920240" cy="914400"/>
          </a:xfrm>
          <a:prstGeom prst="rect">
            <a:avLst/>
          </a:prstGeom>
          <a:noFill/>
          <a:ln/>
        </p:spPr>
        <p:txBody>
          <a:bodyPr wrap="square" lIns="0" tIns="0" rIns="0" bIns="0" rtlCol="0" anchor="ctr"/>
          <a:lstStyle/>
          <a:p>
            <a:pPr indent="0" marL="0">
              <a:buNone/>
            </a:pPr>
            <a:r>
              <a:rPr lang="en-US" sz="1600" dirty="0">
                <a:solidFill>
                  <a:schemeClr val="accent3"/>
                </a:solidFill>
              </a:rPr>
              <a:t>bài báo</a:t>
            </a:r>
            <a:endParaRPr lang="en-US" sz="1600" dirty="0"/>
          </a:p>
        </p:txBody>
      </p:sp>
      <p:sp>
        <p:nvSpPr>
          <p:cNvPr id="8" name="Shape 5"/>
          <p:cNvSpPr/>
          <p:nvPr/>
        </p:nvSpPr>
        <p:spPr>
          <a:xfrm>
            <a:off x="7726680" y="2807208"/>
            <a:ext cx="3639312" cy="914400"/>
          </a:xfrm>
          <a:prstGeom prst="rect">
            <a:avLst/>
          </a:prstGeom>
          <a:solidFill>
            <a:schemeClr val="bg1"/>
          </a:solidFill>
          <a:ln w="19050">
            <a:solidFill>
              <a:schemeClr val="tx1"/>
            </a:solidFill>
            <a:prstDash val="solid"/>
          </a:ln>
        </p:spPr>
      </p:sp>
      <p:sp>
        <p:nvSpPr>
          <p:cNvPr id="9" name="Text 6"/>
          <p:cNvSpPr txBox="1"/>
          <p:nvPr/>
        </p:nvSpPr>
        <p:spPr>
          <a:xfrm>
            <a:off x="7863840" y="2807208"/>
            <a:ext cx="1463040" cy="9144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11</a:t>
            </a:r>
            <a:endParaRPr lang="en-US" sz="3400" dirty="0"/>
          </a:p>
        </p:txBody>
      </p:sp>
      <p:sp>
        <p:nvSpPr>
          <p:cNvPr id="10" name="Text 7"/>
          <p:cNvSpPr txBox="1"/>
          <p:nvPr/>
        </p:nvSpPr>
        <p:spPr>
          <a:xfrm>
            <a:off x="9372600" y="2807208"/>
            <a:ext cx="1920240" cy="914400"/>
          </a:xfrm>
          <a:prstGeom prst="rect">
            <a:avLst/>
          </a:prstGeom>
          <a:noFill/>
          <a:ln/>
        </p:spPr>
        <p:txBody>
          <a:bodyPr wrap="square" lIns="0" tIns="0" rIns="0" bIns="0" rtlCol="0" anchor="ctr"/>
          <a:lstStyle/>
          <a:p>
            <a:pPr indent="0" marL="0">
              <a:buNone/>
            </a:pPr>
            <a:r>
              <a:rPr lang="en-US" sz="1600" dirty="0">
                <a:solidFill>
                  <a:schemeClr val="accent3"/>
                </a:solidFill>
              </a:rPr>
              <a:t>chuyên mục</a:t>
            </a:r>
            <a:endParaRPr lang="en-US" sz="1600" dirty="0"/>
          </a:p>
        </p:txBody>
      </p:sp>
      <p:sp>
        <p:nvSpPr>
          <p:cNvPr id="11" name="Shape 8"/>
          <p:cNvSpPr/>
          <p:nvPr/>
        </p:nvSpPr>
        <p:spPr>
          <a:xfrm>
            <a:off x="7726680" y="3831336"/>
            <a:ext cx="3639312" cy="914400"/>
          </a:xfrm>
          <a:prstGeom prst="rect">
            <a:avLst/>
          </a:prstGeom>
          <a:solidFill>
            <a:schemeClr val="bg1"/>
          </a:solidFill>
          <a:ln w="19050">
            <a:solidFill>
              <a:schemeClr val="tx1"/>
            </a:solidFill>
            <a:prstDash val="solid"/>
          </a:ln>
        </p:spPr>
      </p:sp>
      <p:sp>
        <p:nvSpPr>
          <p:cNvPr id="12" name="Text 9"/>
          <p:cNvSpPr txBox="1"/>
          <p:nvPr/>
        </p:nvSpPr>
        <p:spPr>
          <a:xfrm>
            <a:off x="7863840" y="3831336"/>
            <a:ext cx="1463040" cy="9144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500</a:t>
            </a:r>
            <a:endParaRPr lang="en-US" sz="3400" dirty="0"/>
          </a:p>
        </p:txBody>
      </p:sp>
      <p:sp>
        <p:nvSpPr>
          <p:cNvPr id="13" name="Text 10"/>
          <p:cNvSpPr txBox="1"/>
          <p:nvPr/>
        </p:nvSpPr>
        <p:spPr>
          <a:xfrm>
            <a:off x="9372600" y="3831336"/>
            <a:ext cx="1920240" cy="914400"/>
          </a:xfrm>
          <a:prstGeom prst="rect">
            <a:avLst/>
          </a:prstGeom>
          <a:noFill/>
          <a:ln/>
        </p:spPr>
        <p:txBody>
          <a:bodyPr wrap="square" lIns="0" tIns="0" rIns="0" bIns="0" rtlCol="0" anchor="ctr"/>
          <a:lstStyle/>
          <a:p>
            <a:pPr indent="0" marL="0">
              <a:buNone/>
            </a:pPr>
            <a:r>
              <a:rPr lang="en-US" sz="1600" dirty="0">
                <a:solidFill>
                  <a:schemeClr val="accent3"/>
                </a:solidFill>
              </a:rPr>
              <a:t>bài mỗi chuyên mục</a:t>
            </a:r>
            <a:endParaRPr lang="en-US" sz="1600" dirty="0"/>
          </a:p>
        </p:txBody>
      </p:sp>
      <p:sp>
        <p:nvSpPr>
          <p:cNvPr id="14" name="Shape 11"/>
          <p:cNvSpPr/>
          <p:nvPr/>
        </p:nvSpPr>
        <p:spPr>
          <a:xfrm>
            <a:off x="822960" y="5029200"/>
            <a:ext cx="1664208" cy="411480"/>
          </a:xfrm>
          <a:prstGeom prst="rect">
            <a:avLst/>
          </a:prstGeom>
          <a:solidFill>
            <a:schemeClr val="bg1"/>
          </a:solidFill>
          <a:ln w="12700">
            <a:solidFill>
              <a:schemeClr val="tx1"/>
            </a:solidFill>
            <a:prstDash val="solid"/>
          </a:ln>
        </p:spPr>
      </p:sp>
      <p:sp>
        <p:nvSpPr>
          <p:cNvPr id="15" name="Text 12"/>
          <p:cNvSpPr txBox="1"/>
          <p:nvPr/>
        </p:nvSpPr>
        <p:spPr>
          <a:xfrm>
            <a:off x="822960" y="502920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Thời sự</a:t>
            </a:r>
            <a:endParaRPr lang="en-US" sz="1400" dirty="0"/>
          </a:p>
        </p:txBody>
      </p:sp>
      <p:sp>
        <p:nvSpPr>
          <p:cNvPr id="16" name="Shape 13"/>
          <p:cNvSpPr/>
          <p:nvPr/>
        </p:nvSpPr>
        <p:spPr>
          <a:xfrm>
            <a:off x="2598725" y="5029200"/>
            <a:ext cx="1664208" cy="411480"/>
          </a:xfrm>
          <a:prstGeom prst="rect">
            <a:avLst/>
          </a:prstGeom>
          <a:solidFill>
            <a:schemeClr val="bg1"/>
          </a:solidFill>
          <a:ln w="12700">
            <a:solidFill>
              <a:schemeClr val="tx1"/>
            </a:solidFill>
            <a:prstDash val="solid"/>
          </a:ln>
        </p:spPr>
      </p:sp>
      <p:sp>
        <p:nvSpPr>
          <p:cNvPr id="17" name="Text 14"/>
          <p:cNvSpPr txBox="1"/>
          <p:nvPr/>
        </p:nvSpPr>
        <p:spPr>
          <a:xfrm>
            <a:off x="2598725" y="502920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Thế giới</a:t>
            </a:r>
            <a:endParaRPr lang="en-US" sz="1400" dirty="0"/>
          </a:p>
        </p:txBody>
      </p:sp>
      <p:sp>
        <p:nvSpPr>
          <p:cNvPr id="18" name="Shape 15"/>
          <p:cNvSpPr/>
          <p:nvPr/>
        </p:nvSpPr>
        <p:spPr>
          <a:xfrm>
            <a:off x="4374490" y="5029200"/>
            <a:ext cx="1664208" cy="411480"/>
          </a:xfrm>
          <a:prstGeom prst="rect">
            <a:avLst/>
          </a:prstGeom>
          <a:solidFill>
            <a:schemeClr val="bg1"/>
          </a:solidFill>
          <a:ln w="12700">
            <a:solidFill>
              <a:schemeClr val="tx1"/>
            </a:solidFill>
            <a:prstDash val="solid"/>
          </a:ln>
        </p:spPr>
      </p:sp>
      <p:sp>
        <p:nvSpPr>
          <p:cNvPr id="19" name="Text 16"/>
          <p:cNvSpPr txBox="1"/>
          <p:nvPr/>
        </p:nvSpPr>
        <p:spPr>
          <a:xfrm>
            <a:off x="4374490" y="502920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Kinh doanh</a:t>
            </a:r>
            <a:endParaRPr lang="en-US" sz="1400" dirty="0"/>
          </a:p>
        </p:txBody>
      </p:sp>
      <p:sp>
        <p:nvSpPr>
          <p:cNvPr id="20" name="Shape 17"/>
          <p:cNvSpPr/>
          <p:nvPr/>
        </p:nvSpPr>
        <p:spPr>
          <a:xfrm>
            <a:off x="6150254" y="5029200"/>
            <a:ext cx="1664208" cy="411480"/>
          </a:xfrm>
          <a:prstGeom prst="rect">
            <a:avLst/>
          </a:prstGeom>
          <a:solidFill>
            <a:schemeClr val="bg1"/>
          </a:solidFill>
          <a:ln w="12700">
            <a:solidFill>
              <a:schemeClr val="tx1"/>
            </a:solidFill>
            <a:prstDash val="solid"/>
          </a:ln>
        </p:spPr>
      </p:sp>
      <p:sp>
        <p:nvSpPr>
          <p:cNvPr id="21" name="Text 18"/>
          <p:cNvSpPr txBox="1"/>
          <p:nvPr/>
        </p:nvSpPr>
        <p:spPr>
          <a:xfrm>
            <a:off x="6150254" y="502920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Pháp luật</a:t>
            </a:r>
            <a:endParaRPr lang="en-US" sz="1400" dirty="0"/>
          </a:p>
        </p:txBody>
      </p:sp>
      <p:sp>
        <p:nvSpPr>
          <p:cNvPr id="22" name="Shape 19"/>
          <p:cNvSpPr/>
          <p:nvPr/>
        </p:nvSpPr>
        <p:spPr>
          <a:xfrm>
            <a:off x="7926019" y="5029200"/>
            <a:ext cx="1664208" cy="411480"/>
          </a:xfrm>
          <a:prstGeom prst="rect">
            <a:avLst/>
          </a:prstGeom>
          <a:solidFill>
            <a:schemeClr val="bg1"/>
          </a:solidFill>
          <a:ln w="12700">
            <a:solidFill>
              <a:schemeClr val="tx1"/>
            </a:solidFill>
            <a:prstDash val="solid"/>
          </a:ln>
        </p:spPr>
      </p:sp>
      <p:sp>
        <p:nvSpPr>
          <p:cNvPr id="23" name="Text 20"/>
          <p:cNvSpPr txBox="1"/>
          <p:nvPr/>
        </p:nvSpPr>
        <p:spPr>
          <a:xfrm>
            <a:off x="7926019" y="502920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Giáo dục</a:t>
            </a:r>
            <a:endParaRPr lang="en-US" sz="1400" dirty="0"/>
          </a:p>
        </p:txBody>
      </p:sp>
      <p:sp>
        <p:nvSpPr>
          <p:cNvPr id="24" name="Shape 21"/>
          <p:cNvSpPr/>
          <p:nvPr/>
        </p:nvSpPr>
        <p:spPr>
          <a:xfrm>
            <a:off x="9701784" y="5029200"/>
            <a:ext cx="1664208" cy="411480"/>
          </a:xfrm>
          <a:prstGeom prst="rect">
            <a:avLst/>
          </a:prstGeom>
          <a:solidFill>
            <a:schemeClr val="bg1"/>
          </a:solidFill>
          <a:ln w="12700">
            <a:solidFill>
              <a:schemeClr val="tx1"/>
            </a:solidFill>
            <a:prstDash val="solid"/>
          </a:ln>
        </p:spPr>
      </p:sp>
      <p:sp>
        <p:nvSpPr>
          <p:cNvPr id="25" name="Text 22"/>
          <p:cNvSpPr txBox="1"/>
          <p:nvPr/>
        </p:nvSpPr>
        <p:spPr>
          <a:xfrm>
            <a:off x="9701784" y="502920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Sức khỏe</a:t>
            </a:r>
            <a:endParaRPr lang="en-US" sz="1400" dirty="0"/>
          </a:p>
        </p:txBody>
      </p:sp>
      <p:sp>
        <p:nvSpPr>
          <p:cNvPr id="26" name="Shape 23"/>
          <p:cNvSpPr/>
          <p:nvPr/>
        </p:nvSpPr>
        <p:spPr>
          <a:xfrm>
            <a:off x="822960" y="5532120"/>
            <a:ext cx="1664208" cy="411480"/>
          </a:xfrm>
          <a:prstGeom prst="rect">
            <a:avLst/>
          </a:prstGeom>
          <a:solidFill>
            <a:schemeClr val="bg1"/>
          </a:solidFill>
          <a:ln w="12700">
            <a:solidFill>
              <a:schemeClr val="tx1"/>
            </a:solidFill>
            <a:prstDash val="solid"/>
          </a:ln>
        </p:spPr>
      </p:sp>
      <p:sp>
        <p:nvSpPr>
          <p:cNvPr id="27" name="Text 24"/>
          <p:cNvSpPr txBox="1"/>
          <p:nvPr/>
        </p:nvSpPr>
        <p:spPr>
          <a:xfrm>
            <a:off x="822960" y="553212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Khoa học</a:t>
            </a:r>
            <a:endParaRPr lang="en-US" sz="1400" dirty="0"/>
          </a:p>
        </p:txBody>
      </p:sp>
      <p:sp>
        <p:nvSpPr>
          <p:cNvPr id="28" name="Shape 25"/>
          <p:cNvSpPr/>
          <p:nvPr/>
        </p:nvSpPr>
        <p:spPr>
          <a:xfrm>
            <a:off x="2598725" y="5532120"/>
            <a:ext cx="1664208" cy="411480"/>
          </a:xfrm>
          <a:prstGeom prst="rect">
            <a:avLst/>
          </a:prstGeom>
          <a:solidFill>
            <a:schemeClr val="bg1"/>
          </a:solidFill>
          <a:ln w="12700">
            <a:solidFill>
              <a:schemeClr val="tx1"/>
            </a:solidFill>
            <a:prstDash val="solid"/>
          </a:ln>
        </p:spPr>
      </p:sp>
      <p:sp>
        <p:nvSpPr>
          <p:cNvPr id="29" name="Text 26"/>
          <p:cNvSpPr txBox="1"/>
          <p:nvPr/>
        </p:nvSpPr>
        <p:spPr>
          <a:xfrm>
            <a:off x="2598725" y="553212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Đời sống</a:t>
            </a:r>
            <a:endParaRPr lang="en-US" sz="1400" dirty="0"/>
          </a:p>
        </p:txBody>
      </p:sp>
      <p:sp>
        <p:nvSpPr>
          <p:cNvPr id="30" name="Shape 27"/>
          <p:cNvSpPr/>
          <p:nvPr/>
        </p:nvSpPr>
        <p:spPr>
          <a:xfrm>
            <a:off x="4374490" y="5532120"/>
            <a:ext cx="1664208" cy="411480"/>
          </a:xfrm>
          <a:prstGeom prst="rect">
            <a:avLst/>
          </a:prstGeom>
          <a:solidFill>
            <a:schemeClr val="bg1"/>
          </a:solidFill>
          <a:ln w="12700">
            <a:solidFill>
              <a:schemeClr val="tx1"/>
            </a:solidFill>
            <a:prstDash val="solid"/>
          </a:ln>
        </p:spPr>
      </p:sp>
      <p:sp>
        <p:nvSpPr>
          <p:cNvPr id="31" name="Text 28"/>
          <p:cNvSpPr txBox="1"/>
          <p:nvPr/>
        </p:nvSpPr>
        <p:spPr>
          <a:xfrm>
            <a:off x="4374490" y="553212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Giải trí</a:t>
            </a:r>
            <a:endParaRPr lang="en-US" sz="1400" dirty="0"/>
          </a:p>
        </p:txBody>
      </p:sp>
      <p:sp>
        <p:nvSpPr>
          <p:cNvPr id="32" name="Shape 29"/>
          <p:cNvSpPr/>
          <p:nvPr/>
        </p:nvSpPr>
        <p:spPr>
          <a:xfrm>
            <a:off x="6150254" y="5532120"/>
            <a:ext cx="1664208" cy="411480"/>
          </a:xfrm>
          <a:prstGeom prst="rect">
            <a:avLst/>
          </a:prstGeom>
          <a:solidFill>
            <a:schemeClr val="bg1"/>
          </a:solidFill>
          <a:ln w="12700">
            <a:solidFill>
              <a:schemeClr val="tx1"/>
            </a:solidFill>
            <a:prstDash val="solid"/>
          </a:ln>
        </p:spPr>
      </p:sp>
      <p:sp>
        <p:nvSpPr>
          <p:cNvPr id="33" name="Text 30"/>
          <p:cNvSpPr txBox="1"/>
          <p:nvPr/>
        </p:nvSpPr>
        <p:spPr>
          <a:xfrm>
            <a:off x="6150254" y="553212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Thể thao</a:t>
            </a:r>
            <a:endParaRPr lang="en-US" sz="1400" dirty="0"/>
          </a:p>
        </p:txBody>
      </p:sp>
      <p:sp>
        <p:nvSpPr>
          <p:cNvPr id="34" name="Shape 31"/>
          <p:cNvSpPr/>
          <p:nvPr/>
        </p:nvSpPr>
        <p:spPr>
          <a:xfrm>
            <a:off x="7926019" y="5532120"/>
            <a:ext cx="1664208" cy="411480"/>
          </a:xfrm>
          <a:prstGeom prst="rect">
            <a:avLst/>
          </a:prstGeom>
          <a:solidFill>
            <a:schemeClr val="bg1"/>
          </a:solidFill>
          <a:ln w="12700">
            <a:solidFill>
              <a:schemeClr val="tx1"/>
            </a:solidFill>
            <a:prstDash val="solid"/>
          </a:ln>
        </p:spPr>
      </p:sp>
      <p:sp>
        <p:nvSpPr>
          <p:cNvPr id="35" name="Text 32"/>
          <p:cNvSpPr txBox="1"/>
          <p:nvPr/>
        </p:nvSpPr>
        <p:spPr>
          <a:xfrm>
            <a:off x="7926019" y="5532120"/>
            <a:ext cx="1664208" cy="411480"/>
          </a:xfrm>
          <a:prstGeom prst="rect">
            <a:avLst/>
          </a:prstGeom>
          <a:noFill/>
          <a:ln/>
        </p:spPr>
        <p:txBody>
          <a:bodyPr wrap="square" lIns="0" tIns="0" rIns="0" bIns="0" rtlCol="0" anchor="ctr"/>
          <a:lstStyle/>
          <a:p>
            <a:pPr algn="ctr" indent="0" marL="0">
              <a:buNone/>
            </a:pPr>
            <a:r>
              <a:rPr lang="en-US" sz="1400" b="1" dirty="0">
                <a:solidFill>
                  <a:schemeClr val="tx1"/>
                </a:solidFill>
              </a:rPr>
              <a:t>Xe</a:t>
            </a:r>
            <a:endParaRPr lang="en-US" sz="1400" dirty="0"/>
          </a:p>
        </p:txBody>
      </p:sp>
      <p:sp>
        <p:nvSpPr>
          <p:cNvPr id="36" name="Text 33"/>
          <p:cNvSpPr txBox="1"/>
          <p:nvPr/>
        </p:nvSpPr>
        <p:spPr>
          <a:xfrm>
            <a:off x="822960" y="6053328"/>
            <a:ext cx="7315200" cy="292608"/>
          </a:xfrm>
          <a:prstGeom prst="rect">
            <a:avLst/>
          </a:prstGeom>
          <a:noFill/>
          <a:ln/>
        </p:spPr>
        <p:txBody>
          <a:bodyPr wrap="square" lIns="0" tIns="0" rIns="0" bIns="0" rtlCol="0" anchor="t"/>
          <a:lstStyle/>
          <a:p>
            <a:pPr indent="0" marL="0">
              <a:buNone/>
            </a:pPr>
            <a:r>
              <a:rPr lang="en-US" sz="1400" b="1" dirty="0">
                <a:solidFill>
                  <a:schemeClr val="accent1"/>
                </a:solidFill>
              </a:rPr>
              <a:t>Nguồn dữ liệu: [điền nguồn dữ liệu]</a:t>
            </a:r>
            <a:endParaRPr lang="en-US" sz="1400" dirty="0"/>
          </a:p>
        </p:txBody>
      </p:sp>
      <p:sp>
        <p:nvSpPr>
          <p:cNvPr id="38"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1</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04 · QUY TRÌNH TỔNG THỂ</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Từ dữ liệu đến website: sáu bước</a:t>
            </a:r>
            <a:endParaRPr lang="en-US" sz="3400" dirty="0"/>
          </a:p>
        </p:txBody>
      </p:sp>
      <p:sp>
        <p:nvSpPr>
          <p:cNvPr id="4" name="Shape 2"/>
          <p:cNvSpPr/>
          <p:nvPr/>
        </p:nvSpPr>
        <p:spPr>
          <a:xfrm>
            <a:off x="822960" y="1783080"/>
            <a:ext cx="1600200" cy="1600200"/>
          </a:xfrm>
          <a:prstGeom prst="rect">
            <a:avLst/>
          </a:prstGeom>
          <a:solidFill>
            <a:schemeClr val="bg1"/>
          </a:solidFill>
          <a:ln w="19050">
            <a:solidFill>
              <a:schemeClr val="tx1"/>
            </a:solidFill>
            <a:prstDash val="solid"/>
          </a:ln>
        </p:spPr>
      </p:sp>
      <p:sp>
        <p:nvSpPr>
          <p:cNvPr id="5" name="Text 3"/>
          <p:cNvSpPr txBox="1"/>
          <p:nvPr/>
        </p:nvSpPr>
        <p:spPr>
          <a:xfrm>
            <a:off x="960120" y="1874520"/>
            <a:ext cx="13258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01</a:t>
            </a:r>
            <a:endParaRPr lang="en-US" sz="1400" dirty="0"/>
          </a:p>
        </p:txBody>
      </p:sp>
      <p:sp>
        <p:nvSpPr>
          <p:cNvPr id="6" name="Text 4"/>
          <p:cNvSpPr txBox="1"/>
          <p:nvPr/>
        </p:nvSpPr>
        <p:spPr>
          <a:xfrm>
            <a:off x="960120" y="2194560"/>
            <a:ext cx="1417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Dữ liệu</a:t>
            </a:r>
            <a:endParaRPr lang="en-US" sz="1800" dirty="0"/>
          </a:p>
        </p:txBody>
      </p:sp>
      <p:sp>
        <p:nvSpPr>
          <p:cNvPr id="7" name="Text 5"/>
          <p:cNvSpPr txBox="1"/>
          <p:nvPr/>
        </p:nvSpPr>
        <p:spPr>
          <a:xfrm>
            <a:off x="960120" y="2651760"/>
            <a:ext cx="1371600" cy="640080"/>
          </a:xfrm>
          <a:prstGeom prst="rect">
            <a:avLst/>
          </a:prstGeom>
          <a:noFill/>
          <a:ln/>
        </p:spPr>
        <p:txBody>
          <a:bodyPr wrap="square" lIns="0" tIns="0" rIns="0" bIns="0" rtlCol="0" anchor="t"/>
          <a:lstStyle/>
          <a:p>
            <a:pPr indent="0" marL="0">
              <a:buNone/>
            </a:pPr>
            <a:r>
              <a:rPr lang="en-US" sz="1500" dirty="0">
                <a:solidFill>
                  <a:schemeClr val="accent3"/>
                </a:solidFill>
              </a:rPr>
              <a:t>5.500 bài có nhãn</a:t>
            </a:r>
            <a:endParaRPr lang="en-US" sz="1500" dirty="0"/>
          </a:p>
        </p:txBody>
      </p:sp>
      <p:sp>
        <p:nvSpPr>
          <p:cNvPr id="8" name="Shape 6"/>
          <p:cNvSpPr/>
          <p:nvPr/>
        </p:nvSpPr>
        <p:spPr>
          <a:xfrm>
            <a:off x="2441448" y="2468880"/>
            <a:ext cx="155448" cy="201168"/>
          </a:xfrm>
          <a:prstGeom prst="rightArrow">
            <a:avLst/>
          </a:prstGeom>
          <a:solidFill>
            <a:schemeClr val="tx1"/>
          </a:solidFill>
          <a:ln w="12700">
            <a:solidFill>
              <a:schemeClr val="tx1"/>
            </a:solidFill>
            <a:prstDash val="solid"/>
          </a:ln>
        </p:spPr>
      </p:sp>
      <p:sp>
        <p:nvSpPr>
          <p:cNvPr id="9" name="Shape 7"/>
          <p:cNvSpPr/>
          <p:nvPr/>
        </p:nvSpPr>
        <p:spPr>
          <a:xfrm>
            <a:off x="2611526" y="1783080"/>
            <a:ext cx="1600200" cy="1600200"/>
          </a:xfrm>
          <a:prstGeom prst="rect">
            <a:avLst/>
          </a:prstGeom>
          <a:solidFill>
            <a:schemeClr val="bg1"/>
          </a:solidFill>
          <a:ln w="19050">
            <a:solidFill>
              <a:schemeClr val="tx1"/>
            </a:solidFill>
            <a:prstDash val="solid"/>
          </a:ln>
        </p:spPr>
      </p:sp>
      <p:sp>
        <p:nvSpPr>
          <p:cNvPr id="10" name="Text 8"/>
          <p:cNvSpPr txBox="1"/>
          <p:nvPr/>
        </p:nvSpPr>
        <p:spPr>
          <a:xfrm>
            <a:off x="2748686" y="1874520"/>
            <a:ext cx="13258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02</a:t>
            </a:r>
            <a:endParaRPr lang="en-US" sz="1400" dirty="0"/>
          </a:p>
        </p:txBody>
      </p:sp>
      <p:sp>
        <p:nvSpPr>
          <p:cNvPr id="11" name="Text 9"/>
          <p:cNvSpPr txBox="1"/>
          <p:nvPr/>
        </p:nvSpPr>
        <p:spPr>
          <a:xfrm>
            <a:off x="2748686" y="2194560"/>
            <a:ext cx="1417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Tiền xử lý</a:t>
            </a:r>
            <a:endParaRPr lang="en-US" sz="1800" dirty="0"/>
          </a:p>
        </p:txBody>
      </p:sp>
      <p:sp>
        <p:nvSpPr>
          <p:cNvPr id="12" name="Text 10"/>
          <p:cNvSpPr txBox="1"/>
          <p:nvPr/>
        </p:nvSpPr>
        <p:spPr>
          <a:xfrm>
            <a:off x="2748686" y="2651760"/>
            <a:ext cx="1371600" cy="640080"/>
          </a:xfrm>
          <a:prstGeom prst="rect">
            <a:avLst/>
          </a:prstGeom>
          <a:noFill/>
          <a:ln/>
        </p:spPr>
        <p:txBody>
          <a:bodyPr wrap="square" lIns="0" tIns="0" rIns="0" bIns="0" rtlCol="0" anchor="t"/>
          <a:lstStyle/>
          <a:p>
            <a:pPr indent="0" marL="0">
              <a:buNone/>
            </a:pPr>
            <a:r>
              <a:rPr lang="en-US" sz="1500" dirty="0">
                <a:solidFill>
                  <a:schemeClr val="accent3"/>
                </a:solidFill>
              </a:rPr>
              <a:t>Làm sạch, chia 3 tập</a:t>
            </a:r>
            <a:endParaRPr lang="en-US" sz="1500" dirty="0"/>
          </a:p>
        </p:txBody>
      </p:sp>
      <p:sp>
        <p:nvSpPr>
          <p:cNvPr id="13" name="Shape 11"/>
          <p:cNvSpPr/>
          <p:nvPr/>
        </p:nvSpPr>
        <p:spPr>
          <a:xfrm>
            <a:off x="4230014" y="2468880"/>
            <a:ext cx="155448" cy="201168"/>
          </a:xfrm>
          <a:prstGeom prst="rightArrow">
            <a:avLst/>
          </a:prstGeom>
          <a:solidFill>
            <a:schemeClr val="tx1"/>
          </a:solidFill>
          <a:ln w="12700">
            <a:solidFill>
              <a:schemeClr val="tx1"/>
            </a:solidFill>
            <a:prstDash val="solid"/>
          </a:ln>
        </p:spPr>
      </p:sp>
      <p:sp>
        <p:nvSpPr>
          <p:cNvPr id="14" name="Shape 12"/>
          <p:cNvSpPr/>
          <p:nvPr/>
        </p:nvSpPr>
        <p:spPr>
          <a:xfrm>
            <a:off x="4400093" y="1783080"/>
            <a:ext cx="1600200" cy="1600200"/>
          </a:xfrm>
          <a:prstGeom prst="rect">
            <a:avLst/>
          </a:prstGeom>
          <a:solidFill>
            <a:schemeClr val="bg1"/>
          </a:solidFill>
          <a:ln w="19050">
            <a:solidFill>
              <a:schemeClr val="tx1"/>
            </a:solidFill>
            <a:prstDash val="solid"/>
          </a:ln>
        </p:spPr>
      </p:sp>
      <p:sp>
        <p:nvSpPr>
          <p:cNvPr id="15" name="Text 13"/>
          <p:cNvSpPr txBox="1"/>
          <p:nvPr/>
        </p:nvSpPr>
        <p:spPr>
          <a:xfrm>
            <a:off x="4537253" y="1874520"/>
            <a:ext cx="13258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03</a:t>
            </a:r>
            <a:endParaRPr lang="en-US" sz="1400" dirty="0"/>
          </a:p>
        </p:txBody>
      </p:sp>
      <p:sp>
        <p:nvSpPr>
          <p:cNvPr id="16" name="Text 14"/>
          <p:cNvSpPr txBox="1"/>
          <p:nvPr/>
        </p:nvSpPr>
        <p:spPr>
          <a:xfrm>
            <a:off x="4537253" y="2194560"/>
            <a:ext cx="1417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TF-IDF</a:t>
            </a:r>
            <a:endParaRPr lang="en-US" sz="1800" dirty="0"/>
          </a:p>
        </p:txBody>
      </p:sp>
      <p:sp>
        <p:nvSpPr>
          <p:cNvPr id="17" name="Text 15"/>
          <p:cNvSpPr txBox="1"/>
          <p:nvPr/>
        </p:nvSpPr>
        <p:spPr>
          <a:xfrm>
            <a:off x="4537253" y="2651760"/>
            <a:ext cx="1371600" cy="640080"/>
          </a:xfrm>
          <a:prstGeom prst="rect">
            <a:avLst/>
          </a:prstGeom>
          <a:noFill/>
          <a:ln/>
        </p:spPr>
        <p:txBody>
          <a:bodyPr wrap="square" lIns="0" tIns="0" rIns="0" bIns="0" rtlCol="0" anchor="t"/>
          <a:lstStyle/>
          <a:p>
            <a:pPr indent="0" marL="0">
              <a:buNone/>
            </a:pPr>
            <a:r>
              <a:rPr lang="en-US" sz="1500" dirty="0">
                <a:solidFill>
                  <a:schemeClr val="accent3"/>
                </a:solidFill>
              </a:rPr>
              <a:t>Chữ thành số</a:t>
            </a:r>
            <a:endParaRPr lang="en-US" sz="1500" dirty="0"/>
          </a:p>
        </p:txBody>
      </p:sp>
      <p:sp>
        <p:nvSpPr>
          <p:cNvPr id="18" name="Shape 16"/>
          <p:cNvSpPr/>
          <p:nvPr/>
        </p:nvSpPr>
        <p:spPr>
          <a:xfrm>
            <a:off x="6018581" y="2468880"/>
            <a:ext cx="155448" cy="201168"/>
          </a:xfrm>
          <a:prstGeom prst="rightArrow">
            <a:avLst/>
          </a:prstGeom>
          <a:solidFill>
            <a:schemeClr val="tx1"/>
          </a:solidFill>
          <a:ln w="12700">
            <a:solidFill>
              <a:schemeClr val="tx1"/>
            </a:solidFill>
            <a:prstDash val="solid"/>
          </a:ln>
        </p:spPr>
      </p:sp>
      <p:sp>
        <p:nvSpPr>
          <p:cNvPr id="19" name="Shape 17"/>
          <p:cNvSpPr/>
          <p:nvPr/>
        </p:nvSpPr>
        <p:spPr>
          <a:xfrm>
            <a:off x="6188659" y="1783080"/>
            <a:ext cx="1600200" cy="1600200"/>
          </a:xfrm>
          <a:prstGeom prst="rect">
            <a:avLst/>
          </a:prstGeom>
          <a:solidFill>
            <a:schemeClr val="bg1"/>
          </a:solidFill>
          <a:ln w="19050">
            <a:solidFill>
              <a:schemeClr val="tx1"/>
            </a:solidFill>
            <a:prstDash val="solid"/>
          </a:ln>
        </p:spPr>
      </p:sp>
      <p:sp>
        <p:nvSpPr>
          <p:cNvPr id="20" name="Text 18"/>
          <p:cNvSpPr txBox="1"/>
          <p:nvPr/>
        </p:nvSpPr>
        <p:spPr>
          <a:xfrm>
            <a:off x="6325819" y="1874520"/>
            <a:ext cx="13258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04</a:t>
            </a:r>
            <a:endParaRPr lang="en-US" sz="1400" dirty="0"/>
          </a:p>
        </p:txBody>
      </p:sp>
      <p:sp>
        <p:nvSpPr>
          <p:cNvPr id="21" name="Text 19"/>
          <p:cNvSpPr txBox="1"/>
          <p:nvPr/>
        </p:nvSpPr>
        <p:spPr>
          <a:xfrm>
            <a:off x="6325819" y="2194560"/>
            <a:ext cx="1417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Linear SVM</a:t>
            </a:r>
            <a:endParaRPr lang="en-US" sz="1800" dirty="0"/>
          </a:p>
        </p:txBody>
      </p:sp>
      <p:sp>
        <p:nvSpPr>
          <p:cNvPr id="22" name="Text 20"/>
          <p:cNvSpPr txBox="1"/>
          <p:nvPr/>
        </p:nvSpPr>
        <p:spPr>
          <a:xfrm>
            <a:off x="6325819" y="2651760"/>
            <a:ext cx="1371600" cy="640080"/>
          </a:xfrm>
          <a:prstGeom prst="rect">
            <a:avLst/>
          </a:prstGeom>
          <a:noFill/>
          <a:ln/>
        </p:spPr>
        <p:txBody>
          <a:bodyPr wrap="square" lIns="0" tIns="0" rIns="0" bIns="0" rtlCol="0" anchor="t"/>
          <a:lstStyle/>
          <a:p>
            <a:pPr indent="0" marL="0">
              <a:buNone/>
            </a:pPr>
            <a:r>
              <a:rPr lang="en-US" sz="1500" dirty="0">
                <a:solidFill>
                  <a:schemeClr val="accent3"/>
                </a:solidFill>
              </a:rPr>
              <a:t>Học cách chấm điểm</a:t>
            </a:r>
            <a:endParaRPr lang="en-US" sz="1500" dirty="0"/>
          </a:p>
        </p:txBody>
      </p:sp>
      <p:sp>
        <p:nvSpPr>
          <p:cNvPr id="23" name="Shape 21"/>
          <p:cNvSpPr/>
          <p:nvPr/>
        </p:nvSpPr>
        <p:spPr>
          <a:xfrm>
            <a:off x="7807147" y="2468880"/>
            <a:ext cx="155448" cy="201168"/>
          </a:xfrm>
          <a:prstGeom prst="rightArrow">
            <a:avLst/>
          </a:prstGeom>
          <a:solidFill>
            <a:schemeClr val="tx1"/>
          </a:solidFill>
          <a:ln w="12700">
            <a:solidFill>
              <a:schemeClr val="tx1"/>
            </a:solidFill>
            <a:prstDash val="solid"/>
          </a:ln>
        </p:spPr>
      </p:sp>
      <p:sp>
        <p:nvSpPr>
          <p:cNvPr id="24" name="Shape 22"/>
          <p:cNvSpPr/>
          <p:nvPr/>
        </p:nvSpPr>
        <p:spPr>
          <a:xfrm>
            <a:off x="7977226" y="1783080"/>
            <a:ext cx="1600200" cy="1600200"/>
          </a:xfrm>
          <a:prstGeom prst="rect">
            <a:avLst/>
          </a:prstGeom>
          <a:solidFill>
            <a:schemeClr val="bg1"/>
          </a:solidFill>
          <a:ln w="19050">
            <a:solidFill>
              <a:schemeClr val="tx1"/>
            </a:solidFill>
            <a:prstDash val="solid"/>
          </a:ln>
        </p:spPr>
      </p:sp>
      <p:sp>
        <p:nvSpPr>
          <p:cNvPr id="25" name="Text 23"/>
          <p:cNvSpPr txBox="1"/>
          <p:nvPr/>
        </p:nvSpPr>
        <p:spPr>
          <a:xfrm>
            <a:off x="8114386" y="1874520"/>
            <a:ext cx="13258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05</a:t>
            </a:r>
            <a:endParaRPr lang="en-US" sz="1400" dirty="0"/>
          </a:p>
        </p:txBody>
      </p:sp>
      <p:sp>
        <p:nvSpPr>
          <p:cNvPr id="26" name="Text 24"/>
          <p:cNvSpPr txBox="1"/>
          <p:nvPr/>
        </p:nvSpPr>
        <p:spPr>
          <a:xfrm>
            <a:off x="8114386" y="2194560"/>
            <a:ext cx="14173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Đánh giá</a:t>
            </a:r>
            <a:endParaRPr lang="en-US" sz="1800" dirty="0"/>
          </a:p>
        </p:txBody>
      </p:sp>
      <p:sp>
        <p:nvSpPr>
          <p:cNvPr id="27" name="Text 25"/>
          <p:cNvSpPr txBox="1"/>
          <p:nvPr/>
        </p:nvSpPr>
        <p:spPr>
          <a:xfrm>
            <a:off x="8114386" y="2651760"/>
            <a:ext cx="1371600" cy="640080"/>
          </a:xfrm>
          <a:prstGeom prst="rect">
            <a:avLst/>
          </a:prstGeom>
          <a:noFill/>
          <a:ln/>
        </p:spPr>
        <p:txBody>
          <a:bodyPr wrap="square" lIns="0" tIns="0" rIns="0" bIns="0" rtlCol="0" anchor="t"/>
          <a:lstStyle/>
          <a:p>
            <a:pPr indent="0" marL="0">
              <a:buNone/>
            </a:pPr>
            <a:r>
              <a:rPr lang="en-US" sz="1500" dirty="0">
                <a:solidFill>
                  <a:schemeClr val="accent3"/>
                </a:solidFill>
              </a:rPr>
              <a:t>Chấm trên 825 bài</a:t>
            </a:r>
            <a:endParaRPr lang="en-US" sz="1500" dirty="0"/>
          </a:p>
        </p:txBody>
      </p:sp>
      <p:sp>
        <p:nvSpPr>
          <p:cNvPr id="28" name="Shape 26"/>
          <p:cNvSpPr/>
          <p:nvPr/>
        </p:nvSpPr>
        <p:spPr>
          <a:xfrm>
            <a:off x="9595714" y="2468880"/>
            <a:ext cx="155448" cy="201168"/>
          </a:xfrm>
          <a:prstGeom prst="rightArrow">
            <a:avLst/>
          </a:prstGeom>
          <a:solidFill>
            <a:schemeClr val="tx1"/>
          </a:solidFill>
          <a:ln w="12700">
            <a:solidFill>
              <a:schemeClr val="tx1"/>
            </a:solidFill>
            <a:prstDash val="solid"/>
          </a:ln>
        </p:spPr>
      </p:sp>
      <p:sp>
        <p:nvSpPr>
          <p:cNvPr id="29" name="Shape 27"/>
          <p:cNvSpPr/>
          <p:nvPr/>
        </p:nvSpPr>
        <p:spPr>
          <a:xfrm>
            <a:off x="9765792" y="1783080"/>
            <a:ext cx="1600200" cy="1600200"/>
          </a:xfrm>
          <a:prstGeom prst="rect">
            <a:avLst/>
          </a:prstGeom>
          <a:solidFill>
            <a:schemeClr val="tx1"/>
          </a:solidFill>
          <a:ln w="19050">
            <a:solidFill>
              <a:schemeClr val="tx1"/>
            </a:solidFill>
            <a:prstDash val="solid"/>
          </a:ln>
        </p:spPr>
      </p:sp>
      <p:sp>
        <p:nvSpPr>
          <p:cNvPr id="30" name="Text 28"/>
          <p:cNvSpPr txBox="1"/>
          <p:nvPr/>
        </p:nvSpPr>
        <p:spPr>
          <a:xfrm>
            <a:off x="9902952" y="1874520"/>
            <a:ext cx="1325880" cy="274320"/>
          </a:xfrm>
          <a:prstGeom prst="rect">
            <a:avLst/>
          </a:prstGeom>
          <a:noFill/>
          <a:ln/>
        </p:spPr>
        <p:txBody>
          <a:bodyPr wrap="square" lIns="0" tIns="0" rIns="0" bIns="0" rtlCol="0" anchor="t"/>
          <a:lstStyle/>
          <a:p>
            <a:pPr indent="0" marL="0">
              <a:buNone/>
            </a:pPr>
            <a:r>
              <a:rPr lang="en-US" sz="1400" b="1" dirty="0">
                <a:solidFill>
                  <a:schemeClr val="accent2"/>
                </a:solidFill>
                <a:latin typeface="Consolas" pitchFamily="34" charset="0"/>
                <a:ea typeface="Consolas" pitchFamily="34" charset="-122"/>
                <a:cs typeface="Consolas" pitchFamily="34" charset="-120"/>
              </a:rPr>
              <a:t>06</a:t>
            </a:r>
            <a:endParaRPr lang="en-US" sz="1400" dirty="0"/>
          </a:p>
        </p:txBody>
      </p:sp>
      <p:sp>
        <p:nvSpPr>
          <p:cNvPr id="31" name="Text 29"/>
          <p:cNvSpPr txBox="1"/>
          <p:nvPr/>
        </p:nvSpPr>
        <p:spPr>
          <a:xfrm>
            <a:off x="9902952" y="2194560"/>
            <a:ext cx="1417320"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Website</a:t>
            </a:r>
            <a:endParaRPr lang="en-US" sz="1800" dirty="0"/>
          </a:p>
        </p:txBody>
      </p:sp>
      <p:sp>
        <p:nvSpPr>
          <p:cNvPr id="32" name="Text 30"/>
          <p:cNvSpPr txBox="1"/>
          <p:nvPr/>
        </p:nvSpPr>
        <p:spPr>
          <a:xfrm>
            <a:off x="9902952" y="2651760"/>
            <a:ext cx="1371600" cy="640080"/>
          </a:xfrm>
          <a:prstGeom prst="rect">
            <a:avLst/>
          </a:prstGeom>
          <a:noFill/>
          <a:ln/>
        </p:spPr>
        <p:txBody>
          <a:bodyPr wrap="square" lIns="0" tIns="0" rIns="0" bIns="0" rtlCol="0" anchor="t"/>
          <a:lstStyle/>
          <a:p>
            <a:pPr indent="0" marL="0">
              <a:buNone/>
            </a:pPr>
            <a:r>
              <a:rPr lang="en-US" sz="1500" dirty="0">
                <a:solidFill>
                  <a:schemeClr val="accent6"/>
                </a:solidFill>
              </a:rPr>
              <a:t>Dự đoán từng bài</a:t>
            </a:r>
            <a:endParaRPr lang="en-US" sz="1500" dirty="0"/>
          </a:p>
        </p:txBody>
      </p:sp>
      <p:sp>
        <p:nvSpPr>
          <p:cNvPr id="33" name="Shape 31"/>
          <p:cNvSpPr/>
          <p:nvPr/>
        </p:nvSpPr>
        <p:spPr>
          <a:xfrm>
            <a:off x="822960" y="3566160"/>
            <a:ext cx="8754466" cy="502920"/>
          </a:xfrm>
          <a:prstGeom prst="rect">
            <a:avLst/>
          </a:prstGeom>
          <a:solidFill>
            <a:schemeClr val="tx1"/>
          </a:solidFill>
          <a:ln w="12700">
            <a:solidFill>
              <a:schemeClr val="tx1"/>
            </a:solidFill>
            <a:prstDash val="solid"/>
          </a:ln>
        </p:spPr>
      </p:sp>
      <p:sp>
        <p:nvSpPr>
          <p:cNvPr id="34" name="Text 32"/>
          <p:cNvSpPr txBox="1"/>
          <p:nvPr/>
        </p:nvSpPr>
        <p:spPr>
          <a:xfrm>
            <a:off x="822960" y="3566160"/>
            <a:ext cx="8754466" cy="502920"/>
          </a:xfrm>
          <a:prstGeom prst="rect">
            <a:avLst/>
          </a:prstGeom>
          <a:noFill/>
          <a:ln/>
        </p:spPr>
        <p:txBody>
          <a:bodyPr wrap="square" lIns="0" tIns="0" rIns="0" bIns="0" rtlCol="0" anchor="ctr"/>
          <a:lstStyle/>
          <a:p>
            <a:pPr algn="ctr" indent="0" marL="0">
              <a:buNone/>
            </a:pPr>
            <a:r>
              <a:rPr lang="en-US" sz="1600" b="1" dirty="0">
                <a:solidFill>
                  <a:schemeClr val="bg1"/>
                </a:solidFill>
              </a:rPr>
              <a:t>GIAI ĐOẠN HỌC · một lần huấn luyện SVM khoảng 10 giây trên CPU</a:t>
            </a:r>
            <a:endParaRPr lang="en-US" sz="1600" dirty="0"/>
          </a:p>
        </p:txBody>
      </p:sp>
      <p:sp>
        <p:nvSpPr>
          <p:cNvPr id="35" name="Shape 33"/>
          <p:cNvSpPr/>
          <p:nvPr/>
        </p:nvSpPr>
        <p:spPr>
          <a:xfrm>
            <a:off x="9765792" y="3566160"/>
            <a:ext cx="1600200" cy="502920"/>
          </a:xfrm>
          <a:prstGeom prst="rect">
            <a:avLst/>
          </a:prstGeom>
          <a:solidFill>
            <a:schemeClr val="bg1"/>
          </a:solidFill>
          <a:ln w="19050">
            <a:solidFill>
              <a:schemeClr val="tx1"/>
            </a:solidFill>
            <a:prstDash val="solid"/>
          </a:ln>
        </p:spPr>
      </p:sp>
      <p:sp>
        <p:nvSpPr>
          <p:cNvPr id="36" name="Text 34"/>
          <p:cNvSpPr txBox="1"/>
          <p:nvPr/>
        </p:nvSpPr>
        <p:spPr>
          <a:xfrm>
            <a:off x="9765792" y="3566160"/>
            <a:ext cx="1600200" cy="502920"/>
          </a:xfrm>
          <a:prstGeom prst="rect">
            <a:avLst/>
          </a:prstGeom>
          <a:noFill/>
          <a:ln/>
        </p:spPr>
        <p:txBody>
          <a:bodyPr wrap="square" lIns="0" tIns="0" rIns="0" bIns="0" rtlCol="0" anchor="ctr"/>
          <a:lstStyle/>
          <a:p>
            <a:pPr algn="ctr" indent="0" marL="0">
              <a:buNone/>
            </a:pPr>
            <a:r>
              <a:rPr lang="en-US" sz="1300" b="1" dirty="0">
                <a:solidFill>
                  <a:schemeClr val="tx1"/>
                </a:solidFill>
              </a:rPr>
              <a:t>GIAI ĐOẠN DÙNG</a:t>
            </a:r>
            <a:endParaRPr lang="en-US" sz="1300" dirty="0"/>
          </a:p>
        </p:txBody>
      </p:sp>
      <p:sp>
        <p:nvSpPr>
          <p:cNvPr id="37" name="Shape 35"/>
          <p:cNvSpPr/>
          <p:nvPr/>
        </p:nvSpPr>
        <p:spPr>
          <a:xfrm>
            <a:off x="822960" y="4480560"/>
            <a:ext cx="10543032" cy="1554480"/>
          </a:xfrm>
          <a:prstGeom prst="rect">
            <a:avLst/>
          </a:prstGeom>
          <a:solidFill>
            <a:schemeClr val="bg1"/>
          </a:solidFill>
          <a:ln w="19050">
            <a:solidFill>
              <a:schemeClr val="tx1"/>
            </a:solidFill>
            <a:prstDash val="solid"/>
          </a:ln>
        </p:spPr>
      </p:sp>
      <p:sp>
        <p:nvSpPr>
          <p:cNvPr id="38" name="Text 36"/>
          <p:cNvSpPr txBox="1"/>
          <p:nvPr/>
        </p:nvSpPr>
        <p:spPr>
          <a:xfrm>
            <a:off x="1097280" y="4480560"/>
            <a:ext cx="9966960" cy="1554480"/>
          </a:xfrm>
          <a:prstGeom prst="rect">
            <a:avLst/>
          </a:prstGeom>
          <a:noFill/>
          <a:ln/>
        </p:spPr>
        <p:txBody>
          <a:bodyPr wrap="square" lIns="0" tIns="0" rIns="0" bIns="0" rtlCol="0" anchor="ctr"/>
          <a:lstStyle/>
          <a:p>
            <a:pPr indent="0" marL="0">
              <a:buNone/>
            </a:pPr>
            <a:r>
              <a:rPr lang="en-US" sz="2400" b="1" dirty="0">
                <a:solidFill>
                  <a:schemeClr val="tx1"/>
                </a:solidFill>
              </a:rPr>
              <a:t>Học một lần  →  lưu thành file model.joblib (15,9 MB)  →  website nạp lại để dự đoán tức thì</a:t>
            </a:r>
            <a:endParaRPr lang="en-US" sz="2400" dirty="0"/>
          </a:p>
        </p:txBody>
      </p:sp>
      <p:sp>
        <p:nvSpPr>
          <p:cNvPr id="40"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1</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05 · LÀM SẠCH VÀ CHIA DỮ LIỆU</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Làm sạch văn bản, rồi chia ba tập</a:t>
            </a:r>
            <a:endParaRPr lang="en-US" sz="3400" dirty="0"/>
          </a:p>
        </p:txBody>
      </p:sp>
      <p:sp>
        <p:nvSpPr>
          <p:cNvPr id="4" name="Text 2"/>
          <p:cNvSpPr txBox="1"/>
          <p:nvPr/>
        </p:nvSpPr>
        <p:spPr>
          <a:xfrm>
            <a:off x="822960" y="1783080"/>
            <a:ext cx="56692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TRƯỚC</a:t>
            </a:r>
            <a:endParaRPr lang="en-US" sz="1400" dirty="0"/>
          </a:p>
        </p:txBody>
      </p:sp>
      <p:sp>
        <p:nvSpPr>
          <p:cNvPr id="5" name="Shape 3"/>
          <p:cNvSpPr/>
          <p:nvPr/>
        </p:nvSpPr>
        <p:spPr>
          <a:xfrm>
            <a:off x="822960" y="2103120"/>
            <a:ext cx="5669280" cy="914400"/>
          </a:xfrm>
          <a:prstGeom prst="rect">
            <a:avLst/>
          </a:prstGeom>
          <a:solidFill>
            <a:schemeClr val="bg1"/>
          </a:solidFill>
          <a:ln w="19050">
            <a:solidFill>
              <a:schemeClr val="tx1"/>
            </a:solidFill>
            <a:prstDash val="solid"/>
          </a:ln>
        </p:spPr>
      </p:sp>
      <p:sp>
        <p:nvSpPr>
          <p:cNvPr id="6" name="Text 4"/>
          <p:cNvSpPr txBox="1"/>
          <p:nvPr/>
        </p:nvSpPr>
        <p:spPr>
          <a:xfrm>
            <a:off x="1051560" y="2103120"/>
            <a:ext cx="5212080" cy="914400"/>
          </a:xfrm>
          <a:prstGeom prst="rect">
            <a:avLst/>
          </a:prstGeom>
          <a:noFill/>
          <a:ln/>
        </p:spPr>
        <p:txBody>
          <a:bodyPr wrap="square" lIns="0" tIns="0" rIns="0" bIns="0" rtlCol="0" anchor="ctr"/>
          <a:lstStyle/>
          <a:p>
            <a:pPr indent="0" marL="0">
              <a:buNone/>
            </a:pPr>
            <a:r>
              <a:rPr lang="en-US" sz="1700" dirty="0">
                <a:solidFill>
                  <a:schemeClr val="tx1"/>
                </a:solidFill>
              </a:rPr>
              <a:t>Tuyển Việt Nam thua Nhật Bản 0-2 ở Asian Cup 2023! Xem thêm tại https://vnexpress.net</a:t>
            </a:r>
            <a:endParaRPr lang="en-US" sz="1700" dirty="0"/>
          </a:p>
        </p:txBody>
      </p:sp>
      <p:sp>
        <p:nvSpPr>
          <p:cNvPr id="7" name="Shape 5"/>
          <p:cNvSpPr/>
          <p:nvPr/>
        </p:nvSpPr>
        <p:spPr>
          <a:xfrm>
            <a:off x="3520440" y="3081528"/>
            <a:ext cx="274320" cy="329184"/>
          </a:xfrm>
          <a:prstGeom prst="downArrow">
            <a:avLst/>
          </a:prstGeom>
          <a:solidFill>
            <a:schemeClr val="tx1"/>
          </a:solidFill>
          <a:ln w="12700">
            <a:solidFill>
              <a:schemeClr val="tx1"/>
            </a:solidFill>
            <a:prstDash val="solid"/>
          </a:ln>
        </p:spPr>
      </p:sp>
      <p:sp>
        <p:nvSpPr>
          <p:cNvPr id="8" name="Text 6"/>
          <p:cNvSpPr txBox="1"/>
          <p:nvPr/>
        </p:nvSpPr>
        <p:spPr>
          <a:xfrm>
            <a:off x="822960" y="3474720"/>
            <a:ext cx="56692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SAU</a:t>
            </a:r>
            <a:endParaRPr lang="en-US" sz="1400" dirty="0"/>
          </a:p>
        </p:txBody>
      </p:sp>
      <p:sp>
        <p:nvSpPr>
          <p:cNvPr id="9" name="Shape 7"/>
          <p:cNvSpPr/>
          <p:nvPr/>
        </p:nvSpPr>
        <p:spPr>
          <a:xfrm>
            <a:off x="822960" y="3794760"/>
            <a:ext cx="5669280" cy="868680"/>
          </a:xfrm>
          <a:prstGeom prst="rect">
            <a:avLst/>
          </a:prstGeom>
          <a:solidFill>
            <a:schemeClr val="tx1"/>
          </a:solidFill>
          <a:ln w="12700">
            <a:solidFill>
              <a:schemeClr val="tx1"/>
            </a:solidFill>
            <a:prstDash val="solid"/>
          </a:ln>
        </p:spPr>
      </p:sp>
      <p:sp>
        <p:nvSpPr>
          <p:cNvPr id="10" name="Text 8"/>
          <p:cNvSpPr txBox="1"/>
          <p:nvPr/>
        </p:nvSpPr>
        <p:spPr>
          <a:xfrm>
            <a:off x="1051560" y="3794760"/>
            <a:ext cx="5212080" cy="868680"/>
          </a:xfrm>
          <a:prstGeom prst="rect">
            <a:avLst/>
          </a:prstGeom>
          <a:noFill/>
          <a:ln/>
        </p:spPr>
        <p:txBody>
          <a:bodyPr wrap="square" lIns="0" tIns="0" rIns="0" bIns="0" rtlCol="0" anchor="ctr"/>
          <a:lstStyle/>
          <a:p>
            <a:pPr indent="0" marL="0">
              <a:buNone/>
            </a:pPr>
            <a:r>
              <a:rPr lang="en-US" sz="1400" dirty="0">
                <a:solidFill>
                  <a:schemeClr val="bg1"/>
                </a:solidFill>
                <a:latin typeface="Consolas" pitchFamily="34" charset="0"/>
                <a:ea typeface="Consolas" pitchFamily="34" charset="-122"/>
                <a:cs typeface="Consolas" pitchFamily="34" charset="-120"/>
              </a:rPr>
              <a:t>tuyển việt nam thua nhật bản ở asian cup xem thêm tại</a:t>
            </a:r>
            <a:endParaRPr lang="en-US" sz="1400" dirty="0"/>
          </a:p>
        </p:txBody>
      </p:sp>
      <p:sp>
        <p:nvSpPr>
          <p:cNvPr id="11" name="Shape 9"/>
          <p:cNvSpPr/>
          <p:nvPr/>
        </p:nvSpPr>
        <p:spPr>
          <a:xfrm>
            <a:off x="822960" y="4846320"/>
            <a:ext cx="1371600" cy="411480"/>
          </a:xfrm>
          <a:prstGeom prst="rect">
            <a:avLst/>
          </a:prstGeom>
          <a:solidFill>
            <a:schemeClr val="bg1"/>
          </a:solidFill>
          <a:ln w="12700">
            <a:solidFill>
              <a:schemeClr val="tx1"/>
            </a:solidFill>
            <a:prstDash val="solid"/>
          </a:ln>
        </p:spPr>
      </p:sp>
      <p:sp>
        <p:nvSpPr>
          <p:cNvPr id="12" name="Text 10"/>
          <p:cNvSpPr txBox="1"/>
          <p:nvPr/>
        </p:nvSpPr>
        <p:spPr>
          <a:xfrm>
            <a:off x="822960" y="4846320"/>
            <a:ext cx="1371600" cy="411480"/>
          </a:xfrm>
          <a:prstGeom prst="rect">
            <a:avLst/>
          </a:prstGeom>
          <a:noFill/>
          <a:ln/>
        </p:spPr>
        <p:txBody>
          <a:bodyPr wrap="square" lIns="0" tIns="0" rIns="0" bIns="0" rtlCol="0" anchor="ctr"/>
          <a:lstStyle/>
          <a:p>
            <a:pPr algn="ctr" indent="0" marL="0">
              <a:buNone/>
            </a:pPr>
            <a:r>
              <a:rPr lang="en-US" sz="1400" b="1" dirty="0">
                <a:solidFill>
                  <a:schemeClr val="tx1"/>
                </a:solidFill>
              </a:rPr>
              <a:t>chữ thường</a:t>
            </a:r>
            <a:endParaRPr lang="en-US" sz="1400" dirty="0"/>
          </a:p>
        </p:txBody>
      </p:sp>
      <p:sp>
        <p:nvSpPr>
          <p:cNvPr id="13" name="Shape 11"/>
          <p:cNvSpPr/>
          <p:nvPr/>
        </p:nvSpPr>
        <p:spPr>
          <a:xfrm>
            <a:off x="2286000" y="4846320"/>
            <a:ext cx="1600200" cy="411480"/>
          </a:xfrm>
          <a:prstGeom prst="rect">
            <a:avLst/>
          </a:prstGeom>
          <a:solidFill>
            <a:schemeClr val="bg1"/>
          </a:solidFill>
          <a:ln w="12700">
            <a:solidFill>
              <a:schemeClr val="tx1"/>
            </a:solidFill>
            <a:prstDash val="solid"/>
          </a:ln>
        </p:spPr>
      </p:sp>
      <p:sp>
        <p:nvSpPr>
          <p:cNvPr id="14" name="Text 12"/>
          <p:cNvSpPr txBox="1"/>
          <p:nvPr/>
        </p:nvSpPr>
        <p:spPr>
          <a:xfrm>
            <a:off x="2286000" y="4846320"/>
            <a:ext cx="1600200" cy="411480"/>
          </a:xfrm>
          <a:prstGeom prst="rect">
            <a:avLst/>
          </a:prstGeom>
          <a:noFill/>
          <a:ln/>
        </p:spPr>
        <p:txBody>
          <a:bodyPr wrap="square" lIns="0" tIns="0" rIns="0" bIns="0" rtlCol="0" anchor="ctr"/>
          <a:lstStyle/>
          <a:p>
            <a:pPr algn="ctr" indent="0" marL="0">
              <a:buNone/>
            </a:pPr>
            <a:r>
              <a:rPr lang="en-US" sz="1400" b="1" dirty="0">
                <a:solidFill>
                  <a:schemeClr val="tx1"/>
                </a:solidFill>
              </a:rPr>
              <a:t>bỏ URL, email</a:t>
            </a:r>
            <a:endParaRPr lang="en-US" sz="1400" dirty="0"/>
          </a:p>
        </p:txBody>
      </p:sp>
      <p:sp>
        <p:nvSpPr>
          <p:cNvPr id="15" name="Shape 13"/>
          <p:cNvSpPr/>
          <p:nvPr/>
        </p:nvSpPr>
        <p:spPr>
          <a:xfrm>
            <a:off x="3977640" y="4846320"/>
            <a:ext cx="914400" cy="411480"/>
          </a:xfrm>
          <a:prstGeom prst="rect">
            <a:avLst/>
          </a:prstGeom>
          <a:solidFill>
            <a:schemeClr val="bg1"/>
          </a:solidFill>
          <a:ln w="12700">
            <a:solidFill>
              <a:schemeClr val="tx1"/>
            </a:solidFill>
            <a:prstDash val="solid"/>
          </a:ln>
        </p:spPr>
      </p:sp>
      <p:sp>
        <p:nvSpPr>
          <p:cNvPr id="16" name="Text 14"/>
          <p:cNvSpPr txBox="1"/>
          <p:nvPr/>
        </p:nvSpPr>
        <p:spPr>
          <a:xfrm>
            <a:off x="3977640" y="4846320"/>
            <a:ext cx="914400" cy="411480"/>
          </a:xfrm>
          <a:prstGeom prst="rect">
            <a:avLst/>
          </a:prstGeom>
          <a:noFill/>
          <a:ln/>
        </p:spPr>
        <p:txBody>
          <a:bodyPr wrap="square" lIns="0" tIns="0" rIns="0" bIns="0" rtlCol="0" anchor="ctr"/>
          <a:lstStyle/>
          <a:p>
            <a:pPr algn="ctr" indent="0" marL="0">
              <a:buNone/>
            </a:pPr>
            <a:r>
              <a:rPr lang="en-US" sz="1400" b="1" dirty="0">
                <a:solidFill>
                  <a:schemeClr val="tx1"/>
                </a:solidFill>
              </a:rPr>
              <a:t>bỏ số</a:t>
            </a:r>
            <a:endParaRPr lang="en-US" sz="1400" dirty="0"/>
          </a:p>
        </p:txBody>
      </p:sp>
      <p:sp>
        <p:nvSpPr>
          <p:cNvPr id="17" name="Shape 15"/>
          <p:cNvSpPr/>
          <p:nvPr/>
        </p:nvSpPr>
        <p:spPr>
          <a:xfrm>
            <a:off x="4983480" y="4846320"/>
            <a:ext cx="1371600" cy="411480"/>
          </a:xfrm>
          <a:prstGeom prst="rect">
            <a:avLst/>
          </a:prstGeom>
          <a:solidFill>
            <a:schemeClr val="bg1"/>
          </a:solidFill>
          <a:ln w="12700">
            <a:solidFill>
              <a:schemeClr val="tx1"/>
            </a:solidFill>
            <a:prstDash val="solid"/>
          </a:ln>
        </p:spPr>
      </p:sp>
      <p:sp>
        <p:nvSpPr>
          <p:cNvPr id="18" name="Text 16"/>
          <p:cNvSpPr txBox="1"/>
          <p:nvPr/>
        </p:nvSpPr>
        <p:spPr>
          <a:xfrm>
            <a:off x="4983480" y="4846320"/>
            <a:ext cx="1371600" cy="411480"/>
          </a:xfrm>
          <a:prstGeom prst="rect">
            <a:avLst/>
          </a:prstGeom>
          <a:noFill/>
          <a:ln/>
        </p:spPr>
        <p:txBody>
          <a:bodyPr wrap="square" lIns="0" tIns="0" rIns="0" bIns="0" rtlCol="0" anchor="ctr"/>
          <a:lstStyle/>
          <a:p>
            <a:pPr algn="ctr" indent="0" marL="0">
              <a:buNone/>
            </a:pPr>
            <a:r>
              <a:rPr lang="en-US" sz="1400" b="1" dirty="0">
                <a:solidFill>
                  <a:schemeClr val="tx1"/>
                </a:solidFill>
              </a:rPr>
              <a:t>bỏ dấu câu</a:t>
            </a:r>
            <a:endParaRPr lang="en-US" sz="1400" dirty="0"/>
          </a:p>
        </p:txBody>
      </p:sp>
      <p:sp>
        <p:nvSpPr>
          <p:cNvPr id="19" name="Text 17"/>
          <p:cNvSpPr txBox="1"/>
          <p:nvPr/>
        </p:nvSpPr>
        <p:spPr>
          <a:xfrm>
            <a:off x="822960" y="5440680"/>
            <a:ext cx="5669280" cy="365760"/>
          </a:xfrm>
          <a:prstGeom prst="rect">
            <a:avLst/>
          </a:prstGeom>
          <a:noFill/>
          <a:ln/>
        </p:spPr>
        <p:txBody>
          <a:bodyPr wrap="square" lIns="0" tIns="0" rIns="0" bIns="0" rtlCol="0" anchor="t"/>
          <a:lstStyle/>
          <a:p>
            <a:pPr indent="0" marL="0">
              <a:buNone/>
            </a:pPr>
            <a:r>
              <a:rPr lang="en-US" sz="1800" b="1" dirty="0">
                <a:solidFill>
                  <a:schemeClr val="tx1"/>
                </a:solidFill>
              </a:rPr>
              <a:t>Giữ nguyên dấu tiếng Việt</a:t>
            </a:r>
            <a:endParaRPr lang="en-US" sz="1800" dirty="0"/>
          </a:p>
        </p:txBody>
      </p:sp>
      <p:sp>
        <p:nvSpPr>
          <p:cNvPr id="20" name="Text 18"/>
          <p:cNvSpPr txBox="1"/>
          <p:nvPr/>
        </p:nvSpPr>
        <p:spPr>
          <a:xfrm>
            <a:off x="6766560" y="1783080"/>
            <a:ext cx="4599432"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CHIA DỮ LIỆU 70 / 15 / 15</a:t>
            </a:r>
            <a:endParaRPr lang="en-US" sz="1400" dirty="0"/>
          </a:p>
        </p:txBody>
      </p:sp>
      <p:sp>
        <p:nvSpPr>
          <p:cNvPr id="21" name="Shape 19"/>
          <p:cNvSpPr/>
          <p:nvPr/>
        </p:nvSpPr>
        <p:spPr>
          <a:xfrm>
            <a:off x="6766560" y="2103120"/>
            <a:ext cx="3218688" cy="502920"/>
          </a:xfrm>
          <a:prstGeom prst="rect">
            <a:avLst/>
          </a:prstGeom>
          <a:solidFill>
            <a:schemeClr val="tx1"/>
          </a:solidFill>
          <a:ln w="12700">
            <a:solidFill>
              <a:schemeClr val="tx1"/>
            </a:solidFill>
            <a:prstDash val="solid"/>
          </a:ln>
        </p:spPr>
      </p:sp>
      <p:sp>
        <p:nvSpPr>
          <p:cNvPr id="22" name="Shape 20"/>
          <p:cNvSpPr/>
          <p:nvPr/>
        </p:nvSpPr>
        <p:spPr>
          <a:xfrm>
            <a:off x="9985248" y="2103120"/>
            <a:ext cx="690372" cy="502920"/>
          </a:xfrm>
          <a:prstGeom prst="rect">
            <a:avLst/>
          </a:prstGeom>
          <a:solidFill>
            <a:schemeClr val="accent1"/>
          </a:solidFill>
          <a:ln w="12700">
            <a:solidFill>
              <a:schemeClr val="accent1"/>
            </a:solidFill>
            <a:prstDash val="solid"/>
          </a:ln>
        </p:spPr>
      </p:sp>
      <p:sp>
        <p:nvSpPr>
          <p:cNvPr id="23" name="Shape 21"/>
          <p:cNvSpPr/>
          <p:nvPr/>
        </p:nvSpPr>
        <p:spPr>
          <a:xfrm>
            <a:off x="10675620" y="2103120"/>
            <a:ext cx="690372" cy="502920"/>
          </a:xfrm>
          <a:prstGeom prst="rect">
            <a:avLst/>
          </a:prstGeom>
          <a:solidFill>
            <a:schemeClr val="bg1"/>
          </a:solidFill>
          <a:ln w="12700">
            <a:solidFill>
              <a:schemeClr val="tx1"/>
            </a:solidFill>
            <a:prstDash val="solid"/>
          </a:ln>
        </p:spPr>
      </p:sp>
      <p:sp>
        <p:nvSpPr>
          <p:cNvPr id="24" name="Text 22"/>
          <p:cNvSpPr txBox="1"/>
          <p:nvPr/>
        </p:nvSpPr>
        <p:spPr>
          <a:xfrm>
            <a:off x="6766560" y="2103120"/>
            <a:ext cx="3218688" cy="502920"/>
          </a:xfrm>
          <a:prstGeom prst="rect">
            <a:avLst/>
          </a:prstGeom>
          <a:noFill/>
          <a:ln/>
        </p:spPr>
        <p:txBody>
          <a:bodyPr wrap="square" lIns="0" tIns="0" rIns="0" bIns="0" rtlCol="0" anchor="ctr"/>
          <a:lstStyle/>
          <a:p>
            <a:pPr algn="ctr" indent="0" marL="0">
              <a:buNone/>
            </a:pPr>
            <a:r>
              <a:rPr lang="en-US" sz="1600" b="1" dirty="0">
                <a:solidFill>
                  <a:schemeClr val="bg1"/>
                </a:solidFill>
              </a:rPr>
              <a:t>70%</a:t>
            </a:r>
            <a:endParaRPr lang="en-US" sz="1600" dirty="0"/>
          </a:p>
        </p:txBody>
      </p:sp>
      <p:sp>
        <p:nvSpPr>
          <p:cNvPr id="25" name="Text 23"/>
          <p:cNvSpPr txBox="1"/>
          <p:nvPr/>
        </p:nvSpPr>
        <p:spPr>
          <a:xfrm>
            <a:off x="9985248" y="2103120"/>
            <a:ext cx="690372" cy="50292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26" name="Text 24"/>
          <p:cNvSpPr txBox="1"/>
          <p:nvPr/>
        </p:nvSpPr>
        <p:spPr>
          <a:xfrm>
            <a:off x="10675620" y="2103120"/>
            <a:ext cx="690372" cy="502920"/>
          </a:xfrm>
          <a:prstGeom prst="rect">
            <a:avLst/>
          </a:prstGeom>
          <a:noFill/>
          <a:ln/>
        </p:spPr>
        <p:txBody>
          <a:bodyPr wrap="square" lIns="0" tIns="0" rIns="0" bIns="0" rtlCol="0" anchor="ctr"/>
          <a:lstStyle/>
          <a:p>
            <a:pPr algn="ctr" indent="0" marL="0">
              <a:buNone/>
            </a:pPr>
            <a:r>
              <a:rPr lang="en-US" sz="1400" b="1" dirty="0">
                <a:solidFill>
                  <a:schemeClr val="tx1"/>
                </a:solidFill>
              </a:rPr>
              <a:t>15%</a:t>
            </a:r>
            <a:endParaRPr lang="en-US" sz="1400" dirty="0"/>
          </a:p>
        </p:txBody>
      </p:sp>
      <p:sp>
        <p:nvSpPr>
          <p:cNvPr id="27" name="Shape 25"/>
          <p:cNvSpPr/>
          <p:nvPr/>
        </p:nvSpPr>
        <p:spPr>
          <a:xfrm>
            <a:off x="6766560" y="2990088"/>
            <a:ext cx="201168" cy="201168"/>
          </a:xfrm>
          <a:prstGeom prst="rect">
            <a:avLst/>
          </a:prstGeom>
          <a:solidFill>
            <a:schemeClr val="tx1"/>
          </a:solidFill>
          <a:ln w="12700">
            <a:solidFill>
              <a:schemeClr val="tx1"/>
            </a:solidFill>
            <a:prstDash val="solid"/>
          </a:ln>
        </p:spPr>
      </p:sp>
      <p:sp>
        <p:nvSpPr>
          <p:cNvPr id="28" name="Text 26"/>
          <p:cNvSpPr txBox="1"/>
          <p:nvPr/>
        </p:nvSpPr>
        <p:spPr>
          <a:xfrm>
            <a:off x="7132320" y="2880360"/>
            <a:ext cx="4233672" cy="411480"/>
          </a:xfrm>
          <a:prstGeom prst="rect">
            <a:avLst/>
          </a:prstGeom>
          <a:noFill/>
          <a:ln/>
        </p:spPr>
        <p:txBody>
          <a:bodyPr wrap="square" lIns="0" tIns="0" rIns="0" bIns="0" rtlCol="0" anchor="ctr"/>
          <a:lstStyle/>
          <a:p>
            <a:pPr indent="0" marL="0">
              <a:buNone/>
            </a:pPr>
            <a:r>
              <a:rPr lang="en-US" sz="1800" b="1" dirty="0">
                <a:solidFill>
                  <a:schemeClr val="tx1"/>
                </a:solidFill>
              </a:rPr>
              <a:t>Huấn luyện 3.850</a:t>
            </a:r>
            <a:pPr indent="0" marL="0">
              <a:buNone/>
            </a:pPr>
            <a:r>
              <a:rPr lang="en-US" sz="1800" dirty="0">
                <a:solidFill>
                  <a:schemeClr val="accent3"/>
                </a:solidFill>
              </a:rPr>
              <a:t> · máy học từ đây</a:t>
            </a:r>
            <a:endParaRPr lang="en-US" sz="1800" dirty="0"/>
          </a:p>
        </p:txBody>
      </p:sp>
      <p:sp>
        <p:nvSpPr>
          <p:cNvPr id="29" name="Shape 27"/>
          <p:cNvSpPr/>
          <p:nvPr/>
        </p:nvSpPr>
        <p:spPr>
          <a:xfrm>
            <a:off x="6766560" y="3538728"/>
            <a:ext cx="201168" cy="201168"/>
          </a:xfrm>
          <a:prstGeom prst="rect">
            <a:avLst/>
          </a:prstGeom>
          <a:solidFill>
            <a:schemeClr val="accent1"/>
          </a:solidFill>
          <a:ln w="12700">
            <a:solidFill>
              <a:schemeClr val="tx1"/>
            </a:solidFill>
            <a:prstDash val="solid"/>
          </a:ln>
        </p:spPr>
      </p:sp>
      <p:sp>
        <p:nvSpPr>
          <p:cNvPr id="30" name="Text 28"/>
          <p:cNvSpPr txBox="1"/>
          <p:nvPr/>
        </p:nvSpPr>
        <p:spPr>
          <a:xfrm>
            <a:off x="7132320" y="3429000"/>
            <a:ext cx="4233672" cy="411480"/>
          </a:xfrm>
          <a:prstGeom prst="rect">
            <a:avLst/>
          </a:prstGeom>
          <a:noFill/>
          <a:ln/>
        </p:spPr>
        <p:txBody>
          <a:bodyPr wrap="square" lIns="0" tIns="0" rIns="0" bIns="0" rtlCol="0" anchor="ctr"/>
          <a:lstStyle/>
          <a:p>
            <a:pPr indent="0" marL="0">
              <a:buNone/>
            </a:pPr>
            <a:r>
              <a:rPr lang="en-US" sz="1800" b="1" dirty="0">
                <a:solidFill>
                  <a:schemeClr val="tx1"/>
                </a:solidFill>
              </a:rPr>
              <a:t>Kiểm định 825</a:t>
            </a:r>
            <a:pPr indent="0" marL="0">
              <a:buNone/>
            </a:pPr>
            <a:r>
              <a:rPr lang="en-US" sz="1800" dirty="0">
                <a:solidFill>
                  <a:schemeClr val="accent3"/>
                </a:solidFill>
              </a:rPr>
              <a:t> · kiểm tra khi chọn</a:t>
            </a:r>
            <a:endParaRPr lang="en-US" sz="1800" dirty="0"/>
          </a:p>
        </p:txBody>
      </p:sp>
      <p:sp>
        <p:nvSpPr>
          <p:cNvPr id="31" name="Shape 29"/>
          <p:cNvSpPr/>
          <p:nvPr/>
        </p:nvSpPr>
        <p:spPr>
          <a:xfrm>
            <a:off x="6766560" y="4087368"/>
            <a:ext cx="201168" cy="201168"/>
          </a:xfrm>
          <a:prstGeom prst="rect">
            <a:avLst/>
          </a:prstGeom>
          <a:solidFill>
            <a:schemeClr val="bg1"/>
          </a:solidFill>
          <a:ln w="12700">
            <a:solidFill>
              <a:schemeClr val="tx1"/>
            </a:solidFill>
            <a:prstDash val="solid"/>
          </a:ln>
        </p:spPr>
      </p:sp>
      <p:sp>
        <p:nvSpPr>
          <p:cNvPr id="32" name="Text 30"/>
          <p:cNvSpPr txBox="1"/>
          <p:nvPr/>
        </p:nvSpPr>
        <p:spPr>
          <a:xfrm>
            <a:off x="7132320" y="3977640"/>
            <a:ext cx="4233672" cy="411480"/>
          </a:xfrm>
          <a:prstGeom prst="rect">
            <a:avLst/>
          </a:prstGeom>
          <a:noFill/>
          <a:ln/>
        </p:spPr>
        <p:txBody>
          <a:bodyPr wrap="square" lIns="0" tIns="0" rIns="0" bIns="0" rtlCol="0" anchor="ctr"/>
          <a:lstStyle/>
          <a:p>
            <a:pPr indent="0" marL="0">
              <a:buNone/>
            </a:pPr>
            <a:r>
              <a:rPr lang="en-US" sz="1800" b="1" dirty="0">
                <a:solidFill>
                  <a:schemeClr val="tx1"/>
                </a:solidFill>
              </a:rPr>
              <a:t>Kiểm thử 825</a:t>
            </a:r>
            <a:pPr indent="0" marL="0">
              <a:buNone/>
            </a:pPr>
            <a:r>
              <a:rPr lang="en-US" sz="1800" dirty="0">
                <a:solidFill>
                  <a:schemeClr val="accent3"/>
                </a:solidFill>
              </a:rPr>
              <a:t> · chấm điểm cuối</a:t>
            </a:r>
            <a:endParaRPr lang="en-US" sz="1800" dirty="0"/>
          </a:p>
        </p:txBody>
      </p:sp>
      <p:sp>
        <p:nvSpPr>
          <p:cNvPr id="33" name="Shape 31"/>
          <p:cNvSpPr/>
          <p:nvPr/>
        </p:nvSpPr>
        <p:spPr>
          <a:xfrm>
            <a:off x="6766560" y="4709160"/>
            <a:ext cx="4599432" cy="1371600"/>
          </a:xfrm>
          <a:prstGeom prst="rect">
            <a:avLst/>
          </a:prstGeom>
          <a:solidFill>
            <a:schemeClr val="tx1"/>
          </a:solidFill>
          <a:ln w="12700">
            <a:solidFill>
              <a:schemeClr val="tx1"/>
            </a:solidFill>
            <a:prstDash val="solid"/>
          </a:ln>
        </p:spPr>
      </p:sp>
      <p:sp>
        <p:nvSpPr>
          <p:cNvPr id="34" name="Text 32"/>
          <p:cNvSpPr txBox="1"/>
          <p:nvPr/>
        </p:nvSpPr>
        <p:spPr>
          <a:xfrm>
            <a:off x="6995160" y="4709160"/>
            <a:ext cx="4160520" cy="1371600"/>
          </a:xfrm>
          <a:prstGeom prst="rect">
            <a:avLst/>
          </a:prstGeom>
          <a:noFill/>
          <a:ln/>
        </p:spPr>
        <p:txBody>
          <a:bodyPr wrap="square" lIns="0" tIns="0" rIns="0" bIns="0" rtlCol="0" anchor="ctr"/>
          <a:lstStyle/>
          <a:p>
            <a:pPr indent="0" marL="0">
              <a:buNone/>
            </a:pPr>
            <a:r>
              <a:rPr lang="en-US" sz="2000" b="1" dirty="0">
                <a:solidFill>
                  <a:schemeClr val="bg1"/>
                </a:solidFill>
              </a:rPr>
              <a:t>825 bài kiểm thử mô hình chưa từng thấy, chỉ dùng một lần.</a:t>
            </a:r>
            <a:endParaRPr lang="en-US" sz="2000" dirty="0"/>
          </a:p>
        </p:txBody>
      </p:sp>
      <p:sp>
        <p:nvSpPr>
          <p:cNvPr id="36"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2</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06 · TF-IDF</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TF-IDF: biến chữ thành số để máy tính được</a:t>
            </a:r>
            <a:endParaRPr lang="en-US" sz="3400" dirty="0"/>
          </a:p>
        </p:txBody>
      </p:sp>
      <p:sp>
        <p:nvSpPr>
          <p:cNvPr id="4" name="Shape 2"/>
          <p:cNvSpPr/>
          <p:nvPr/>
        </p:nvSpPr>
        <p:spPr>
          <a:xfrm>
            <a:off x="822960" y="1783080"/>
            <a:ext cx="1280160" cy="749808"/>
          </a:xfrm>
          <a:prstGeom prst="rect">
            <a:avLst/>
          </a:prstGeom>
          <a:solidFill>
            <a:schemeClr val="tx1"/>
          </a:solidFill>
          <a:ln w="12700">
            <a:solidFill>
              <a:schemeClr val="tx1"/>
            </a:solidFill>
            <a:prstDash val="solid"/>
          </a:ln>
        </p:spPr>
      </p:sp>
      <p:sp>
        <p:nvSpPr>
          <p:cNvPr id="5" name="Text 3"/>
          <p:cNvSpPr txBox="1"/>
          <p:nvPr/>
        </p:nvSpPr>
        <p:spPr>
          <a:xfrm>
            <a:off x="822960" y="1783080"/>
            <a:ext cx="1280160" cy="749808"/>
          </a:xfrm>
          <a:prstGeom prst="rect">
            <a:avLst/>
          </a:prstGeom>
          <a:no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TF</a:t>
            </a:r>
            <a:endParaRPr lang="en-US" sz="2000" dirty="0"/>
          </a:p>
        </p:txBody>
      </p:sp>
      <p:sp>
        <p:nvSpPr>
          <p:cNvPr id="6" name="Text 4"/>
          <p:cNvSpPr txBox="1"/>
          <p:nvPr/>
        </p:nvSpPr>
        <p:spPr>
          <a:xfrm>
            <a:off x="2286000" y="1783080"/>
            <a:ext cx="4206240" cy="749808"/>
          </a:xfrm>
          <a:prstGeom prst="rect">
            <a:avLst/>
          </a:prstGeom>
          <a:noFill/>
          <a:ln/>
        </p:spPr>
        <p:txBody>
          <a:bodyPr wrap="square" lIns="0" tIns="0" rIns="0" bIns="0" rtlCol="0" anchor="ctr"/>
          <a:lstStyle/>
          <a:p>
            <a:pPr indent="0" marL="0">
              <a:buNone/>
            </a:pPr>
            <a:r>
              <a:rPr lang="en-US" sz="1800" dirty="0">
                <a:solidFill>
                  <a:schemeClr val="tx1"/>
                </a:solidFill>
              </a:rPr>
              <a:t>Từ xuất hiện nhiều trong bài thì quan trọng.</a:t>
            </a:r>
            <a:endParaRPr lang="en-US" sz="1800" dirty="0"/>
          </a:p>
        </p:txBody>
      </p:sp>
      <p:sp>
        <p:nvSpPr>
          <p:cNvPr id="7" name="Shape 5"/>
          <p:cNvSpPr/>
          <p:nvPr/>
        </p:nvSpPr>
        <p:spPr>
          <a:xfrm>
            <a:off x="822960" y="2679192"/>
            <a:ext cx="1280160" cy="749808"/>
          </a:xfrm>
          <a:prstGeom prst="rect">
            <a:avLst/>
          </a:prstGeom>
          <a:solidFill>
            <a:schemeClr val="tx1"/>
          </a:solidFill>
          <a:ln w="12700">
            <a:solidFill>
              <a:schemeClr val="tx1"/>
            </a:solidFill>
            <a:prstDash val="solid"/>
          </a:ln>
        </p:spPr>
      </p:sp>
      <p:sp>
        <p:nvSpPr>
          <p:cNvPr id="8" name="Text 6"/>
          <p:cNvSpPr txBox="1"/>
          <p:nvPr/>
        </p:nvSpPr>
        <p:spPr>
          <a:xfrm>
            <a:off x="822960" y="2679192"/>
            <a:ext cx="1280160" cy="749808"/>
          </a:xfrm>
          <a:prstGeom prst="rect">
            <a:avLst/>
          </a:prstGeom>
          <a:no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IDF</a:t>
            </a:r>
            <a:endParaRPr lang="en-US" sz="2000" dirty="0"/>
          </a:p>
        </p:txBody>
      </p:sp>
      <p:sp>
        <p:nvSpPr>
          <p:cNvPr id="9" name="Text 7"/>
          <p:cNvSpPr txBox="1"/>
          <p:nvPr/>
        </p:nvSpPr>
        <p:spPr>
          <a:xfrm>
            <a:off x="2286000" y="2679192"/>
            <a:ext cx="4206240" cy="749808"/>
          </a:xfrm>
          <a:prstGeom prst="rect">
            <a:avLst/>
          </a:prstGeom>
          <a:noFill/>
          <a:ln/>
        </p:spPr>
        <p:txBody>
          <a:bodyPr wrap="square" lIns="0" tIns="0" rIns="0" bIns="0" rtlCol="0" anchor="ctr"/>
          <a:lstStyle/>
          <a:p>
            <a:pPr indent="0" marL="0">
              <a:buNone/>
            </a:pPr>
            <a:r>
              <a:rPr lang="en-US" sz="1800" dirty="0">
                <a:solidFill>
                  <a:schemeClr val="tx1"/>
                </a:solidFill>
              </a:rPr>
              <a:t>Từ có trong nhiều bài (một, những) ít giá trị, bị giảm điểm.</a:t>
            </a:r>
            <a:endParaRPr lang="en-US" sz="1800" dirty="0"/>
          </a:p>
        </p:txBody>
      </p:sp>
      <p:sp>
        <p:nvSpPr>
          <p:cNvPr id="10" name="Shape 8"/>
          <p:cNvSpPr/>
          <p:nvPr/>
        </p:nvSpPr>
        <p:spPr>
          <a:xfrm>
            <a:off x="822960" y="3575304"/>
            <a:ext cx="1280160" cy="749808"/>
          </a:xfrm>
          <a:prstGeom prst="rect">
            <a:avLst/>
          </a:prstGeom>
          <a:solidFill>
            <a:schemeClr val="tx1"/>
          </a:solidFill>
          <a:ln w="12700">
            <a:solidFill>
              <a:schemeClr val="tx1"/>
            </a:solidFill>
            <a:prstDash val="solid"/>
          </a:ln>
        </p:spPr>
      </p:sp>
      <p:sp>
        <p:nvSpPr>
          <p:cNvPr id="11" name="Text 9"/>
          <p:cNvSpPr txBox="1"/>
          <p:nvPr/>
        </p:nvSpPr>
        <p:spPr>
          <a:xfrm>
            <a:off x="822960" y="3575304"/>
            <a:ext cx="1280160" cy="749808"/>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2-gram</a:t>
            </a:r>
            <a:endParaRPr lang="en-US" sz="1600" dirty="0"/>
          </a:p>
        </p:txBody>
      </p:sp>
      <p:sp>
        <p:nvSpPr>
          <p:cNvPr id="12" name="Text 10"/>
          <p:cNvSpPr txBox="1"/>
          <p:nvPr/>
        </p:nvSpPr>
        <p:spPr>
          <a:xfrm>
            <a:off x="2286000" y="3575304"/>
            <a:ext cx="4206240" cy="749808"/>
          </a:xfrm>
          <a:prstGeom prst="rect">
            <a:avLst/>
          </a:prstGeom>
          <a:noFill/>
          <a:ln/>
        </p:spPr>
        <p:txBody>
          <a:bodyPr wrap="square" lIns="0" tIns="0" rIns="0" bIns="0" rtlCol="0" anchor="ctr"/>
          <a:lstStyle/>
          <a:p>
            <a:pPr indent="0" marL="0">
              <a:buNone/>
            </a:pPr>
            <a:r>
              <a:rPr lang="en-US" sz="1800" dirty="0">
                <a:solidFill>
                  <a:schemeClr val="tx1"/>
                </a:solidFill>
              </a:rPr>
              <a:t>Cặp từ liền nhau (học sinh) giữ ngữ cảnh.</a:t>
            </a:r>
            <a:endParaRPr lang="en-US" sz="1800" dirty="0"/>
          </a:p>
        </p:txBody>
      </p:sp>
      <p:sp>
        <p:nvSpPr>
          <p:cNvPr id="13" name="Shape 11"/>
          <p:cNvSpPr/>
          <p:nvPr/>
        </p:nvSpPr>
        <p:spPr>
          <a:xfrm>
            <a:off x="822960" y="4526280"/>
            <a:ext cx="5669280" cy="1554480"/>
          </a:xfrm>
          <a:prstGeom prst="rect">
            <a:avLst/>
          </a:prstGeom>
          <a:solidFill>
            <a:schemeClr val="tx1"/>
          </a:solidFill>
          <a:ln w="12700">
            <a:solidFill>
              <a:schemeClr val="tx1"/>
            </a:solidFill>
            <a:prstDash val="solid"/>
          </a:ln>
        </p:spPr>
      </p:sp>
      <p:sp>
        <p:nvSpPr>
          <p:cNvPr id="14" name="Text 12"/>
          <p:cNvSpPr txBox="1"/>
          <p:nvPr/>
        </p:nvSpPr>
        <p:spPr>
          <a:xfrm>
            <a:off x="1097280" y="4663440"/>
            <a:ext cx="5212080" cy="457200"/>
          </a:xfrm>
          <a:prstGeom prst="rect">
            <a:avLst/>
          </a:prstGeom>
          <a:noFill/>
          <a:ln/>
        </p:spPr>
        <p:txBody>
          <a:bodyPr wrap="square" lIns="0" tIns="0" rIns="0" bIns="0" rtlCol="0" anchor="t"/>
          <a:lstStyle/>
          <a:p>
            <a:pPr indent="0" marL="0">
              <a:buNone/>
            </a:pPr>
            <a:r>
              <a:rPr lang="en-US" sz="1700" b="1" dirty="0">
                <a:solidFill>
                  <a:schemeClr val="bg1"/>
                </a:solidFill>
                <a:latin typeface="Consolas" pitchFamily="34" charset="0"/>
                <a:ea typeface="Consolas" pitchFamily="34" charset="-122"/>
                <a:cs typeface="Consolas" pitchFamily="34" charset="-120"/>
              </a:rPr>
              <a:t>tf-idf(t, d) = tf(t, d) × log(N / df(t))</a:t>
            </a:r>
            <a:endParaRPr lang="en-US" sz="1700" dirty="0"/>
          </a:p>
        </p:txBody>
      </p:sp>
      <p:sp>
        <p:nvSpPr>
          <p:cNvPr id="15" name="Text 13"/>
          <p:cNvSpPr txBox="1"/>
          <p:nvPr/>
        </p:nvSpPr>
        <p:spPr>
          <a:xfrm>
            <a:off x="1097280" y="5212080"/>
            <a:ext cx="5212080" cy="777240"/>
          </a:xfrm>
          <a:prstGeom prst="rect">
            <a:avLst/>
          </a:prstGeom>
          <a:noFill/>
          <a:ln/>
        </p:spPr>
        <p:txBody>
          <a:bodyPr wrap="square" lIns="0" tIns="0" rIns="0" bIns="0" rtlCol="0" anchor="t"/>
          <a:lstStyle/>
          <a:p>
            <a:pPr indent="0" marL="0">
              <a:buNone/>
            </a:pPr>
            <a:r>
              <a:rPr lang="en-US" sz="1500" dirty="0">
                <a:solidFill>
                  <a:schemeClr val="accent6"/>
                </a:solidFill>
              </a:rPr>
              <a:t>t: một từ · d: một bài · N: tổng số bài</a:t>
            </a:r>
            <a:endParaRPr lang="en-US" sz="1500" dirty="0"/>
          </a:p>
          <a:p>
            <a:pPr indent="0" marL="0">
              <a:buNone/>
            </a:pPr>
            <a:r>
              <a:rPr lang="en-US" sz="1500" dirty="0">
                <a:solidFill>
                  <a:schemeClr val="accent6"/>
                </a:solidFill>
              </a:rPr>
              <a:t>df(t): số bài có chứa từ 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599432" cy="914400"/>
        </p:xfrm>
        <a:graphic>
          <a:graphicData uri="http://schemas.openxmlformats.org/drawingml/2006/table">
            <a:tbl>
              <a:tblPr/>
              <a:tblGrid>
                <a:gridCol w="1508760"/>
                <a:gridCol w="3090672"/>
              </a:tblGrid>
              <a:tr h="411480">
                <a:tc>
                  <a:txBody>
                    <a:bodyPr/>
                    <a:lstStyle/>
                    <a:p>
                      <a:pPr indent="0" marL="0">
                        <a:buNone/>
                      </a:pPr>
                      <a:r>
                        <a:rPr lang="en-US" sz="1400" b="1" dirty="0">
                          <a:solidFill>
                            <a:schemeClr val="accent1"/>
                          </a:solidFill>
                        </a:rPr>
                        <a:t>Chuyên mục</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Từ khóa máy tự học (ví dụ)</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r>
              <a:tr h="566928">
                <a:tc>
                  <a:txBody>
                    <a:bodyPr/>
                    <a:lstStyle/>
                    <a:p>
                      <a:pPr indent="0" marL="0">
                        <a:buNone/>
                      </a:pPr>
                      <a:r>
                        <a:rPr lang="en-US" sz="1700" b="1" dirty="0">
                          <a:solidFill>
                            <a:schemeClr val="tx1"/>
                          </a:solidFill>
                        </a:rPr>
                        <a:t>Thể thao</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bóng, trận, cầu thủ</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566928">
                <a:tc>
                  <a:txBody>
                    <a:bodyPr/>
                    <a:lstStyle/>
                    <a:p>
                      <a:pPr indent="0" marL="0">
                        <a:buNone/>
                      </a:pPr>
                      <a:r>
                        <a:rPr lang="en-US" sz="1700" b="1" dirty="0">
                          <a:solidFill>
                            <a:schemeClr val="tx1"/>
                          </a:solidFill>
                        </a:rPr>
                        <a:t>Kinh doanh</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thuế, ngân hàng, doanh nghiệp</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566928">
                <a:tc>
                  <a:txBody>
                    <a:bodyPr/>
                    <a:lstStyle/>
                    <a:p>
                      <a:pPr indent="0" marL="0">
                        <a:buNone/>
                      </a:pPr>
                      <a:r>
                        <a:rPr lang="en-US" sz="1700" b="1" dirty="0">
                          <a:solidFill>
                            <a:schemeClr val="tx1"/>
                          </a:solidFill>
                        </a:rPr>
                        <a:t>Sức khỏe</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bệnh, bác sĩ, điều trị</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566928">
                <a:tc>
                  <a:txBody>
                    <a:bodyPr/>
                    <a:lstStyle/>
                    <a:p>
                      <a:pPr indent="0" marL="0">
                        <a:buNone/>
                      </a:pPr>
                      <a:r>
                        <a:rPr lang="en-US" sz="1700" b="1" dirty="0">
                          <a:solidFill>
                            <a:schemeClr val="tx1"/>
                          </a:solidFill>
                        </a:rPr>
                        <a:t>Pháp luật</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bị cáo, luật sư, vụ án</a:t>
                      </a:r>
                      <a:endParaRPr lang="en-US" sz="17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bl>
          </a:graphicData>
        </a:graphic>
      </p:graphicFrame>
      <p:sp>
        <p:nvSpPr>
          <p:cNvPr id="17" name="Shape 14"/>
          <p:cNvSpPr/>
          <p:nvPr/>
        </p:nvSpPr>
        <p:spPr>
          <a:xfrm>
            <a:off x="6766560" y="4709160"/>
            <a:ext cx="4599432" cy="1371600"/>
          </a:xfrm>
          <a:prstGeom prst="rect">
            <a:avLst/>
          </a:prstGeom>
          <a:solidFill>
            <a:schemeClr val="bg1"/>
          </a:solidFill>
          <a:ln w="19050">
            <a:solidFill>
              <a:schemeClr val="tx1"/>
            </a:solidFill>
            <a:prstDash val="solid"/>
          </a:ln>
        </p:spPr>
      </p:sp>
      <p:sp>
        <p:nvSpPr>
          <p:cNvPr id="18" name="Text 15"/>
          <p:cNvSpPr txBox="1"/>
          <p:nvPr/>
        </p:nvSpPr>
        <p:spPr>
          <a:xfrm>
            <a:off x="6995160" y="4709160"/>
            <a:ext cx="4160520" cy="1371600"/>
          </a:xfrm>
          <a:prstGeom prst="rect">
            <a:avLst/>
          </a:prstGeom>
          <a:noFill/>
          <a:ln/>
        </p:spPr>
        <p:txBody>
          <a:bodyPr wrap="square" lIns="0" tIns="0" rIns="0" bIns="0" rtlCol="0" anchor="ctr"/>
          <a:lstStyle/>
          <a:p>
            <a:pPr indent="0" marL="0">
              <a:buNone/>
            </a:pPr>
            <a:r>
              <a:rPr lang="en-US" sz="2000" b="1" dirty="0">
                <a:solidFill>
                  <a:schemeClr val="tx1"/>
                </a:solidFill>
              </a:rPr>
              <a:t>Không ai dạy các từ này: máy tự học từ dữ liệu.</a:t>
            </a:r>
            <a:endParaRPr lang="en-US" sz="2000" dirty="0"/>
          </a:p>
        </p:txBody>
      </p:sp>
      <p:sp>
        <p:nvSpPr>
          <p:cNvPr id="20"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2</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07 · LINEAR SVM</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Linear SVM: chấm điểm từng chuyên mục</a:t>
            </a:r>
            <a:endParaRPr lang="en-US" sz="3400" dirty="0"/>
          </a:p>
        </p:txBody>
      </p:sp>
      <p:sp>
        <p:nvSpPr>
          <p:cNvPr id="4" name="Text 2"/>
          <p:cNvSpPr txBox="1"/>
          <p:nvPr/>
        </p:nvSpPr>
        <p:spPr>
          <a:xfrm>
            <a:off x="822960" y="1783080"/>
            <a:ext cx="548640" cy="64008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1</a:t>
            </a:r>
            <a:endParaRPr lang="en-US" sz="3600" dirty="0"/>
          </a:p>
        </p:txBody>
      </p:sp>
      <p:sp>
        <p:nvSpPr>
          <p:cNvPr id="5" name="Text 3"/>
          <p:cNvSpPr txBox="1"/>
          <p:nvPr/>
        </p:nvSpPr>
        <p:spPr>
          <a:xfrm>
            <a:off x="1508760" y="1801368"/>
            <a:ext cx="507492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11 bộ trọng số</a:t>
            </a:r>
            <a:endParaRPr lang="en-US" sz="2000" dirty="0"/>
          </a:p>
        </p:txBody>
      </p:sp>
      <p:sp>
        <p:nvSpPr>
          <p:cNvPr id="6" name="Text 4"/>
          <p:cNvSpPr txBox="1"/>
          <p:nvPr/>
        </p:nvSpPr>
        <p:spPr>
          <a:xfrm>
            <a:off x="1508760" y="2194560"/>
            <a:ext cx="5074920" cy="640080"/>
          </a:xfrm>
          <a:prstGeom prst="rect">
            <a:avLst/>
          </a:prstGeom>
          <a:noFill/>
          <a:ln/>
        </p:spPr>
        <p:txBody>
          <a:bodyPr wrap="square" lIns="0" tIns="0" rIns="0" bIns="0" rtlCol="0" anchor="t"/>
          <a:lstStyle/>
          <a:p>
            <a:pPr indent="0" marL="0">
              <a:buNone/>
            </a:pPr>
            <a:r>
              <a:rPr lang="en-US" sz="1600" dirty="0">
                <a:solidFill>
                  <a:schemeClr val="accent3"/>
                </a:solidFill>
              </a:rPr>
              <a:t>Mỗi chuyên mục một bộ, học bằng cách tách chuyên mục đó khỏi phần còn lại.</a:t>
            </a:r>
            <a:endParaRPr lang="en-US" sz="1600" dirty="0"/>
          </a:p>
        </p:txBody>
      </p:sp>
      <p:sp>
        <p:nvSpPr>
          <p:cNvPr id="7" name="Text 5"/>
          <p:cNvSpPr txBox="1"/>
          <p:nvPr/>
        </p:nvSpPr>
        <p:spPr>
          <a:xfrm>
            <a:off x="822960" y="2834640"/>
            <a:ext cx="548640" cy="64008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2</a:t>
            </a:r>
            <a:endParaRPr lang="en-US" sz="3600" dirty="0"/>
          </a:p>
        </p:txBody>
      </p:sp>
      <p:sp>
        <p:nvSpPr>
          <p:cNvPr id="8" name="Text 6"/>
          <p:cNvSpPr txBox="1"/>
          <p:nvPr/>
        </p:nvSpPr>
        <p:spPr>
          <a:xfrm>
            <a:off x="1508760" y="2852928"/>
            <a:ext cx="507492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Cộng điểm các từ</a:t>
            </a:r>
            <a:endParaRPr lang="en-US" sz="2000" dirty="0"/>
          </a:p>
        </p:txBody>
      </p:sp>
      <p:sp>
        <p:nvSpPr>
          <p:cNvPr id="9" name="Text 7"/>
          <p:cNvSpPr txBox="1"/>
          <p:nvPr/>
        </p:nvSpPr>
        <p:spPr>
          <a:xfrm>
            <a:off x="1508760" y="3246120"/>
            <a:ext cx="5074920" cy="640080"/>
          </a:xfrm>
          <a:prstGeom prst="rect">
            <a:avLst/>
          </a:prstGeom>
          <a:noFill/>
          <a:ln/>
        </p:spPr>
        <p:txBody>
          <a:bodyPr wrap="square" lIns="0" tIns="0" rIns="0" bIns="0" rtlCol="0" anchor="t"/>
          <a:lstStyle/>
          <a:p>
            <a:pPr indent="0" marL="0">
              <a:buNone/>
            </a:pPr>
            <a:r>
              <a:rPr lang="en-US" sz="1600" dirty="0">
                <a:solidFill>
                  <a:schemeClr val="accent3"/>
                </a:solidFill>
              </a:rPr>
              <a:t>Điểm của chuyên mục = tổng đóng góp của từng từ trong bài.</a:t>
            </a:r>
            <a:endParaRPr lang="en-US" sz="1600" dirty="0"/>
          </a:p>
        </p:txBody>
      </p:sp>
      <p:sp>
        <p:nvSpPr>
          <p:cNvPr id="10" name="Text 8"/>
          <p:cNvSpPr txBox="1"/>
          <p:nvPr/>
        </p:nvSpPr>
        <p:spPr>
          <a:xfrm>
            <a:off x="822960" y="3886200"/>
            <a:ext cx="548640" cy="640080"/>
          </a:xfrm>
          <a:prstGeom prst="rect">
            <a:avLst/>
          </a:prstGeom>
          <a:noFill/>
          <a:ln/>
        </p:spPr>
        <p:txBody>
          <a:bodyPr wrap="square" lIns="0" tIns="0" rIns="0" bIns="0" rtlCol="0" anchor="t"/>
          <a:lstStyle/>
          <a:p>
            <a:pPr indent="0" marL="0">
              <a:buNone/>
            </a:pPr>
            <a:r>
              <a:rPr lang="en-US" sz="3600" b="1" dirty="0">
                <a:solidFill>
                  <a:schemeClr val="tx1"/>
                </a:solidFill>
                <a:latin typeface="Arial" pitchFamily="34" charset="0"/>
                <a:ea typeface="Arial" pitchFamily="34" charset="-122"/>
                <a:cs typeface="Arial" pitchFamily="34" charset="-120"/>
              </a:rPr>
              <a:t>3</a:t>
            </a:r>
            <a:endParaRPr lang="en-US" sz="3600" dirty="0"/>
          </a:p>
        </p:txBody>
      </p:sp>
      <p:sp>
        <p:nvSpPr>
          <p:cNvPr id="11" name="Text 9"/>
          <p:cNvSpPr txBox="1"/>
          <p:nvPr/>
        </p:nvSpPr>
        <p:spPr>
          <a:xfrm>
            <a:off x="1508760" y="3904488"/>
            <a:ext cx="507492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Chọn điểm cao nhất</a:t>
            </a:r>
            <a:endParaRPr lang="en-US" sz="2000" dirty="0"/>
          </a:p>
        </p:txBody>
      </p:sp>
      <p:sp>
        <p:nvSpPr>
          <p:cNvPr id="12" name="Text 10"/>
          <p:cNvSpPr txBox="1"/>
          <p:nvPr/>
        </p:nvSpPr>
        <p:spPr>
          <a:xfrm>
            <a:off x="1508760" y="4297680"/>
            <a:ext cx="5074920" cy="640080"/>
          </a:xfrm>
          <a:prstGeom prst="rect">
            <a:avLst/>
          </a:prstGeom>
          <a:noFill/>
          <a:ln/>
        </p:spPr>
        <p:txBody>
          <a:bodyPr wrap="square" lIns="0" tIns="0" rIns="0" bIns="0" rtlCol="0" anchor="t"/>
          <a:lstStyle/>
          <a:p>
            <a:pPr indent="0" marL="0">
              <a:buNone/>
            </a:pPr>
            <a:r>
              <a:rPr lang="en-US" sz="1600" dirty="0">
                <a:solidFill>
                  <a:schemeClr val="accent3"/>
                </a:solidFill>
              </a:rPr>
              <a:t>Chuyên mục có điểm lớn nhất là kết quả.</a:t>
            </a:r>
            <a:endParaRPr lang="en-US" sz="1600" dirty="0"/>
          </a:p>
        </p:txBody>
      </p:sp>
      <p:sp>
        <p:nvSpPr>
          <p:cNvPr id="13" name="Shape 11"/>
          <p:cNvSpPr/>
          <p:nvPr/>
        </p:nvSpPr>
        <p:spPr>
          <a:xfrm>
            <a:off x="822960" y="4937760"/>
            <a:ext cx="5760720" cy="1188720"/>
          </a:xfrm>
          <a:prstGeom prst="rect">
            <a:avLst/>
          </a:prstGeom>
          <a:solidFill>
            <a:schemeClr val="bg1"/>
          </a:solidFill>
          <a:ln w="19050">
            <a:solidFill>
              <a:schemeClr val="tx1"/>
            </a:solidFill>
            <a:prstDash val="solid"/>
          </a:ln>
        </p:spPr>
      </p:sp>
      <p:sp>
        <p:nvSpPr>
          <p:cNvPr id="14" name="Shape 12"/>
          <p:cNvSpPr/>
          <p:nvPr/>
        </p:nvSpPr>
        <p:spPr>
          <a:xfrm>
            <a:off x="2057400" y="5029200"/>
            <a:ext cx="0" cy="1005840"/>
          </a:xfrm>
          <a:prstGeom prst="line">
            <a:avLst/>
          </a:prstGeom>
          <a:noFill/>
          <a:ln w="28575">
            <a:solidFill>
              <a:schemeClr val="tx1"/>
            </a:solidFill>
            <a:prstDash val="solid"/>
          </a:ln>
        </p:spPr>
      </p:sp>
      <p:sp>
        <p:nvSpPr>
          <p:cNvPr id="15" name="Shape 13"/>
          <p:cNvSpPr/>
          <p:nvPr/>
        </p:nvSpPr>
        <p:spPr>
          <a:xfrm>
            <a:off x="1737360" y="5029200"/>
            <a:ext cx="0" cy="1005840"/>
          </a:xfrm>
          <a:prstGeom prst="line">
            <a:avLst/>
          </a:prstGeom>
          <a:noFill/>
          <a:ln w="12700">
            <a:solidFill>
              <a:schemeClr val="accent1"/>
            </a:solidFill>
            <a:prstDash val="dash"/>
          </a:ln>
        </p:spPr>
      </p:sp>
      <p:sp>
        <p:nvSpPr>
          <p:cNvPr id="16" name="Shape 14"/>
          <p:cNvSpPr/>
          <p:nvPr/>
        </p:nvSpPr>
        <p:spPr>
          <a:xfrm>
            <a:off x="2377440" y="5029200"/>
            <a:ext cx="0" cy="1005840"/>
          </a:xfrm>
          <a:prstGeom prst="line">
            <a:avLst/>
          </a:prstGeom>
          <a:noFill/>
          <a:ln w="12700">
            <a:solidFill>
              <a:schemeClr val="accent1"/>
            </a:solidFill>
            <a:prstDash val="dash"/>
          </a:ln>
        </p:spPr>
      </p:sp>
      <p:sp>
        <p:nvSpPr>
          <p:cNvPr id="17" name="Shape 15"/>
          <p:cNvSpPr/>
          <p:nvPr/>
        </p:nvSpPr>
        <p:spPr>
          <a:xfrm>
            <a:off x="1024128" y="5184648"/>
            <a:ext cx="146304" cy="146304"/>
          </a:xfrm>
          <a:prstGeom prst="ellipse">
            <a:avLst/>
          </a:prstGeom>
          <a:solidFill>
            <a:schemeClr val="tx1"/>
          </a:solidFill>
          <a:ln w="12700">
            <a:solidFill>
              <a:schemeClr val="tx1"/>
            </a:solidFill>
            <a:prstDash val="solid"/>
          </a:ln>
        </p:spPr>
      </p:sp>
      <p:sp>
        <p:nvSpPr>
          <p:cNvPr id="18" name="Shape 16"/>
          <p:cNvSpPr/>
          <p:nvPr/>
        </p:nvSpPr>
        <p:spPr>
          <a:xfrm>
            <a:off x="1298448" y="5367528"/>
            <a:ext cx="146304" cy="146304"/>
          </a:xfrm>
          <a:prstGeom prst="ellipse">
            <a:avLst/>
          </a:prstGeom>
          <a:solidFill>
            <a:schemeClr val="tx1"/>
          </a:solidFill>
          <a:ln w="12700">
            <a:solidFill>
              <a:schemeClr val="tx1"/>
            </a:solidFill>
            <a:prstDash val="solid"/>
          </a:ln>
        </p:spPr>
      </p:sp>
      <p:sp>
        <p:nvSpPr>
          <p:cNvPr id="19" name="Shape 17"/>
          <p:cNvSpPr/>
          <p:nvPr/>
        </p:nvSpPr>
        <p:spPr>
          <a:xfrm>
            <a:off x="1115568" y="5596128"/>
            <a:ext cx="146304" cy="146304"/>
          </a:xfrm>
          <a:prstGeom prst="ellipse">
            <a:avLst/>
          </a:prstGeom>
          <a:solidFill>
            <a:schemeClr val="tx1"/>
          </a:solidFill>
          <a:ln w="12700">
            <a:solidFill>
              <a:schemeClr val="tx1"/>
            </a:solidFill>
            <a:prstDash val="solid"/>
          </a:ln>
        </p:spPr>
      </p:sp>
      <p:sp>
        <p:nvSpPr>
          <p:cNvPr id="20" name="Shape 18"/>
          <p:cNvSpPr/>
          <p:nvPr/>
        </p:nvSpPr>
        <p:spPr>
          <a:xfrm>
            <a:off x="1408176" y="5779008"/>
            <a:ext cx="146304" cy="146304"/>
          </a:xfrm>
          <a:prstGeom prst="ellipse">
            <a:avLst/>
          </a:prstGeom>
          <a:solidFill>
            <a:schemeClr val="tx1"/>
          </a:solidFill>
          <a:ln w="12700">
            <a:solidFill>
              <a:schemeClr val="tx1"/>
            </a:solidFill>
            <a:prstDash val="solid"/>
          </a:ln>
        </p:spPr>
      </p:sp>
      <p:sp>
        <p:nvSpPr>
          <p:cNvPr id="21" name="Shape 19"/>
          <p:cNvSpPr/>
          <p:nvPr/>
        </p:nvSpPr>
        <p:spPr>
          <a:xfrm>
            <a:off x="1664208" y="5458968"/>
            <a:ext cx="146304" cy="146304"/>
          </a:xfrm>
          <a:prstGeom prst="ellipse">
            <a:avLst/>
          </a:prstGeom>
          <a:solidFill>
            <a:schemeClr val="tx1"/>
          </a:solidFill>
          <a:ln w="12700">
            <a:solidFill>
              <a:schemeClr val="tx1"/>
            </a:solidFill>
            <a:prstDash val="solid"/>
          </a:ln>
        </p:spPr>
      </p:sp>
      <p:sp>
        <p:nvSpPr>
          <p:cNvPr id="22" name="Shape 20"/>
          <p:cNvSpPr/>
          <p:nvPr/>
        </p:nvSpPr>
        <p:spPr>
          <a:xfrm>
            <a:off x="2624328" y="5138928"/>
            <a:ext cx="146304" cy="146304"/>
          </a:xfrm>
          <a:prstGeom prst="ellipse">
            <a:avLst/>
          </a:prstGeom>
          <a:solidFill>
            <a:schemeClr val="accent2"/>
          </a:solidFill>
          <a:ln w="12700">
            <a:solidFill>
              <a:schemeClr val="tx1"/>
            </a:solidFill>
            <a:prstDash val="solid"/>
          </a:ln>
        </p:spPr>
      </p:sp>
      <p:sp>
        <p:nvSpPr>
          <p:cNvPr id="23" name="Shape 21"/>
          <p:cNvSpPr/>
          <p:nvPr/>
        </p:nvSpPr>
        <p:spPr>
          <a:xfrm>
            <a:off x="2852928" y="5367528"/>
            <a:ext cx="146304" cy="146304"/>
          </a:xfrm>
          <a:prstGeom prst="ellipse">
            <a:avLst/>
          </a:prstGeom>
          <a:solidFill>
            <a:schemeClr val="accent2"/>
          </a:solidFill>
          <a:ln w="12700">
            <a:solidFill>
              <a:schemeClr val="tx1"/>
            </a:solidFill>
            <a:prstDash val="solid"/>
          </a:ln>
        </p:spPr>
      </p:sp>
      <p:sp>
        <p:nvSpPr>
          <p:cNvPr id="24" name="Shape 22"/>
          <p:cNvSpPr/>
          <p:nvPr/>
        </p:nvSpPr>
        <p:spPr>
          <a:xfrm>
            <a:off x="2578608" y="5641848"/>
            <a:ext cx="146304" cy="146304"/>
          </a:xfrm>
          <a:prstGeom prst="ellipse">
            <a:avLst/>
          </a:prstGeom>
          <a:solidFill>
            <a:schemeClr val="accent2"/>
          </a:solidFill>
          <a:ln w="12700">
            <a:solidFill>
              <a:schemeClr val="tx1"/>
            </a:solidFill>
            <a:prstDash val="solid"/>
          </a:ln>
        </p:spPr>
      </p:sp>
      <p:sp>
        <p:nvSpPr>
          <p:cNvPr id="25" name="Shape 23"/>
          <p:cNvSpPr/>
          <p:nvPr/>
        </p:nvSpPr>
        <p:spPr>
          <a:xfrm>
            <a:off x="2898648" y="5824728"/>
            <a:ext cx="146304" cy="146304"/>
          </a:xfrm>
          <a:prstGeom prst="ellipse">
            <a:avLst/>
          </a:prstGeom>
          <a:solidFill>
            <a:schemeClr val="accent2"/>
          </a:solidFill>
          <a:ln w="12700">
            <a:solidFill>
              <a:schemeClr val="tx1"/>
            </a:solidFill>
            <a:prstDash val="solid"/>
          </a:ln>
        </p:spPr>
      </p:sp>
      <p:sp>
        <p:nvSpPr>
          <p:cNvPr id="26" name="Shape 24"/>
          <p:cNvSpPr/>
          <p:nvPr/>
        </p:nvSpPr>
        <p:spPr>
          <a:xfrm>
            <a:off x="2304288" y="5504688"/>
            <a:ext cx="146304" cy="146304"/>
          </a:xfrm>
          <a:prstGeom prst="ellipse">
            <a:avLst/>
          </a:prstGeom>
          <a:solidFill>
            <a:schemeClr val="accent2"/>
          </a:solidFill>
          <a:ln w="12700">
            <a:solidFill>
              <a:schemeClr val="tx1"/>
            </a:solidFill>
            <a:prstDash val="solid"/>
          </a:ln>
        </p:spPr>
      </p:sp>
      <p:sp>
        <p:nvSpPr>
          <p:cNvPr id="27" name="Text 25"/>
          <p:cNvSpPr txBox="1"/>
          <p:nvPr/>
        </p:nvSpPr>
        <p:spPr>
          <a:xfrm>
            <a:off x="3337560" y="4937760"/>
            <a:ext cx="3108960" cy="1188720"/>
          </a:xfrm>
          <a:prstGeom prst="rect">
            <a:avLst/>
          </a:prstGeom>
          <a:noFill/>
          <a:ln/>
        </p:spPr>
        <p:txBody>
          <a:bodyPr wrap="square" lIns="0" tIns="0" rIns="0" bIns="0" rtlCol="0" anchor="ctr"/>
          <a:lstStyle/>
          <a:p>
            <a:pPr indent="0" marL="0">
              <a:buNone/>
            </a:pPr>
            <a:r>
              <a:rPr lang="en-US" sz="1600" b="1" dirty="0">
                <a:solidFill>
                  <a:schemeClr val="tx1"/>
                </a:solidFill>
              </a:rPr>
              <a:t>SVM chọn ranh giới có lề lớn nhất: xa nhất các bài gần nhất của hai phía.</a:t>
            </a:r>
            <a:endParaRPr lang="en-US" sz="1600" dirty="0"/>
          </a:p>
        </p:txBody>
      </p:sp>
      <p:sp>
        <p:nvSpPr>
          <p:cNvPr id="28" name="Shape 26"/>
          <p:cNvSpPr/>
          <p:nvPr/>
        </p:nvSpPr>
        <p:spPr>
          <a:xfrm>
            <a:off x="6903720" y="1783080"/>
            <a:ext cx="4462272" cy="4343400"/>
          </a:xfrm>
          <a:prstGeom prst="rect">
            <a:avLst/>
          </a:prstGeom>
          <a:solidFill>
            <a:schemeClr val="bg1"/>
          </a:solidFill>
          <a:ln w="19050">
            <a:solidFill>
              <a:schemeClr val="tx1"/>
            </a:solidFill>
            <a:prstDash val="solid"/>
          </a:ln>
        </p:spPr>
      </p:sp>
      <p:sp>
        <p:nvSpPr>
          <p:cNvPr id="29" name="Text 27"/>
          <p:cNvSpPr txBox="1"/>
          <p:nvPr/>
        </p:nvSpPr>
        <p:spPr>
          <a:xfrm>
            <a:off x="7086600" y="1892808"/>
            <a:ext cx="4114800" cy="27432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VÍ DỤ THẬT · điểm chuẩn đại học</a:t>
            </a:r>
            <a:endParaRPr lang="en-US" sz="1300" dirty="0"/>
          </a:p>
        </p:txBody>
      </p:sp>
      <p:sp>
        <p:nvSpPr>
          <p:cNvPr id="30" name="Shape 28"/>
          <p:cNvSpPr/>
          <p:nvPr/>
        </p:nvSpPr>
        <p:spPr>
          <a:xfrm>
            <a:off x="10058400" y="2377440"/>
            <a:ext cx="18288" cy="2194560"/>
          </a:xfrm>
          <a:prstGeom prst="rect">
            <a:avLst/>
          </a:prstGeom>
          <a:solidFill>
            <a:schemeClr val="tx1"/>
          </a:solidFill>
          <a:ln w="12700">
            <a:solidFill>
              <a:schemeClr val="tx1"/>
            </a:solidFill>
            <a:prstDash val="solid"/>
          </a:ln>
        </p:spPr>
      </p:sp>
      <p:sp>
        <p:nvSpPr>
          <p:cNvPr id="31" name="Text 29"/>
          <p:cNvSpPr txBox="1"/>
          <p:nvPr/>
        </p:nvSpPr>
        <p:spPr>
          <a:xfrm>
            <a:off x="7086600" y="2560320"/>
            <a:ext cx="1691640" cy="384048"/>
          </a:xfrm>
          <a:prstGeom prst="rect">
            <a:avLst/>
          </a:prstGeom>
          <a:noFill/>
          <a:ln/>
        </p:spPr>
        <p:txBody>
          <a:bodyPr wrap="square" lIns="0" tIns="0" rIns="0" bIns="0" rtlCol="0" anchor="ctr"/>
          <a:lstStyle/>
          <a:p>
            <a:pPr indent="0" marL="0">
              <a:buNone/>
            </a:pPr>
            <a:r>
              <a:rPr lang="en-US" sz="1600" b="1" dirty="0">
                <a:solidFill>
                  <a:schemeClr val="tx1"/>
                </a:solidFill>
              </a:rPr>
              <a:t>Giáo dục  +0,70</a:t>
            </a:r>
            <a:endParaRPr lang="en-US" sz="1600" dirty="0"/>
          </a:p>
        </p:txBody>
      </p:sp>
      <p:sp>
        <p:nvSpPr>
          <p:cNvPr id="32" name="Shape 30"/>
          <p:cNvSpPr/>
          <p:nvPr/>
        </p:nvSpPr>
        <p:spPr>
          <a:xfrm>
            <a:off x="10076688" y="2560320"/>
            <a:ext cx="890991" cy="384048"/>
          </a:xfrm>
          <a:prstGeom prst="rect">
            <a:avLst/>
          </a:prstGeom>
          <a:solidFill>
            <a:schemeClr val="tx1"/>
          </a:solidFill>
          <a:ln w="12700">
            <a:solidFill>
              <a:schemeClr val="tx1"/>
            </a:solidFill>
            <a:prstDash val="solid"/>
          </a:ln>
        </p:spPr>
      </p:sp>
      <p:sp>
        <p:nvSpPr>
          <p:cNvPr id="33" name="Text 31"/>
          <p:cNvSpPr txBox="1"/>
          <p:nvPr/>
        </p:nvSpPr>
        <p:spPr>
          <a:xfrm>
            <a:off x="7086600" y="3218688"/>
            <a:ext cx="1691640" cy="384048"/>
          </a:xfrm>
          <a:prstGeom prst="rect">
            <a:avLst/>
          </a:prstGeom>
          <a:noFill/>
          <a:ln/>
        </p:spPr>
        <p:txBody>
          <a:bodyPr wrap="square" lIns="0" tIns="0" rIns="0" bIns="0" rtlCol="0" anchor="ctr"/>
          <a:lstStyle/>
          <a:p>
            <a:pPr indent="0" marL="0">
              <a:buNone/>
            </a:pPr>
            <a:r>
              <a:rPr lang="en-US" sz="1600" dirty="0">
                <a:solidFill>
                  <a:schemeClr val="tx1"/>
                </a:solidFill>
              </a:rPr>
              <a:t>Thế giới  −0,77</a:t>
            </a:r>
            <a:endParaRPr lang="en-US" sz="1600" dirty="0"/>
          </a:p>
        </p:txBody>
      </p:sp>
      <p:sp>
        <p:nvSpPr>
          <p:cNvPr id="34" name="Shape 32"/>
          <p:cNvSpPr/>
          <p:nvPr/>
        </p:nvSpPr>
        <p:spPr>
          <a:xfrm>
            <a:off x="9071397" y="3218688"/>
            <a:ext cx="987003" cy="384048"/>
          </a:xfrm>
          <a:prstGeom prst="rect">
            <a:avLst/>
          </a:prstGeom>
          <a:solidFill>
            <a:schemeClr val="accent2"/>
          </a:solidFill>
          <a:ln w="12700">
            <a:solidFill>
              <a:schemeClr val="accent2"/>
            </a:solidFill>
            <a:prstDash val="solid"/>
          </a:ln>
        </p:spPr>
      </p:sp>
      <p:sp>
        <p:nvSpPr>
          <p:cNvPr id="35" name="Text 33"/>
          <p:cNvSpPr txBox="1"/>
          <p:nvPr/>
        </p:nvSpPr>
        <p:spPr>
          <a:xfrm>
            <a:off x="7086600" y="3877056"/>
            <a:ext cx="1691640" cy="384048"/>
          </a:xfrm>
          <a:prstGeom prst="rect">
            <a:avLst/>
          </a:prstGeom>
          <a:noFill/>
          <a:ln/>
        </p:spPr>
        <p:txBody>
          <a:bodyPr wrap="square" lIns="0" tIns="0" rIns="0" bIns="0" rtlCol="0" anchor="ctr"/>
          <a:lstStyle/>
          <a:p>
            <a:pPr indent="0" marL="0">
              <a:buNone/>
            </a:pPr>
            <a:r>
              <a:rPr lang="en-US" sz="1600" dirty="0">
                <a:solidFill>
                  <a:schemeClr val="tx1"/>
                </a:solidFill>
              </a:rPr>
              <a:t>Thể thao  −1,00</a:t>
            </a:r>
            <a:endParaRPr lang="en-US" sz="1600" dirty="0"/>
          </a:p>
        </p:txBody>
      </p:sp>
      <p:sp>
        <p:nvSpPr>
          <p:cNvPr id="36" name="Shape 34"/>
          <p:cNvSpPr/>
          <p:nvPr/>
        </p:nvSpPr>
        <p:spPr>
          <a:xfrm>
            <a:off x="8778240" y="3877056"/>
            <a:ext cx="1280160" cy="384048"/>
          </a:xfrm>
          <a:prstGeom prst="rect">
            <a:avLst/>
          </a:prstGeom>
          <a:solidFill>
            <a:schemeClr val="accent2"/>
          </a:solidFill>
          <a:ln w="12700">
            <a:solidFill>
              <a:schemeClr val="accent2"/>
            </a:solidFill>
            <a:prstDash val="solid"/>
          </a:ln>
        </p:spPr>
      </p:sp>
      <p:sp>
        <p:nvSpPr>
          <p:cNvPr id="37" name="Text 35"/>
          <p:cNvSpPr txBox="1"/>
          <p:nvPr/>
        </p:nvSpPr>
        <p:spPr>
          <a:xfrm>
            <a:off x="7086600" y="4663440"/>
            <a:ext cx="4114800" cy="320040"/>
          </a:xfrm>
          <a:prstGeom prst="rect">
            <a:avLst/>
          </a:prstGeom>
          <a:noFill/>
          <a:ln/>
        </p:spPr>
        <p:txBody>
          <a:bodyPr wrap="square" lIns="0" tIns="0" rIns="0" bIns="0" rtlCol="0" anchor="t"/>
          <a:lstStyle/>
          <a:p>
            <a:pPr indent="0" marL="0">
              <a:buNone/>
            </a:pPr>
            <a:r>
              <a:rPr lang="en-US" sz="1400" dirty="0">
                <a:solidFill>
                  <a:schemeClr val="accent1"/>
                </a:solidFill>
              </a:rPr>
              <a:t>8 chuyên mục còn lại: −1,01 đến −1,24</a:t>
            </a:r>
            <a:endParaRPr lang="en-US" sz="1400" dirty="0"/>
          </a:p>
        </p:txBody>
      </p:sp>
      <p:sp>
        <p:nvSpPr>
          <p:cNvPr id="38" name="Text 36"/>
          <p:cNvSpPr txBox="1"/>
          <p:nvPr/>
        </p:nvSpPr>
        <p:spPr>
          <a:xfrm>
            <a:off x="7086600" y="5120640"/>
            <a:ext cx="4114800" cy="548640"/>
          </a:xfrm>
          <a:prstGeom prst="rect">
            <a:avLst/>
          </a:prstGeom>
          <a:noFill/>
          <a:ln/>
        </p:spPr>
        <p:txBody>
          <a:bodyPr wrap="square" lIns="0" tIns="0" rIns="0" bIns="0" rtlCol="0" anchor="t"/>
          <a:lstStyle/>
          <a:p>
            <a:pPr indent="0" marL="0">
              <a:buNone/>
            </a:pPr>
            <a:r>
              <a:rPr lang="en-US" sz="1500" b="1" dirty="0">
                <a:solidFill>
                  <a:schemeClr val="accent3"/>
                </a:solidFill>
              </a:rPr>
              <a:t>Đây là điểm của SVM, chưa phải xác suất.</a:t>
            </a:r>
            <a:endParaRPr lang="en-US" sz="1500" dirty="0"/>
          </a:p>
        </p:txBody>
      </p:sp>
      <p:sp>
        <p:nvSpPr>
          <p:cNvPr id="40"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2</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08 · CÁCH ĐÁNH GIÁ</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Đo như thế nào cho công bằng</a:t>
            </a:r>
            <a:endParaRPr lang="en-US" sz="3400" dirty="0"/>
          </a:p>
        </p:txBody>
      </p:sp>
      <p:sp>
        <p:nvSpPr>
          <p:cNvPr id="4" name="Shape 2"/>
          <p:cNvSpPr/>
          <p:nvPr/>
        </p:nvSpPr>
        <p:spPr>
          <a:xfrm>
            <a:off x="822960" y="1783080"/>
            <a:ext cx="2423160" cy="3063240"/>
          </a:xfrm>
          <a:prstGeom prst="rect">
            <a:avLst/>
          </a:prstGeom>
          <a:solidFill>
            <a:schemeClr val="bg1"/>
          </a:solidFill>
          <a:ln w="19050">
            <a:solidFill>
              <a:schemeClr val="tx1"/>
            </a:solidFill>
            <a:prstDash val="solid"/>
          </a:ln>
        </p:spPr>
      </p:sp>
      <p:sp>
        <p:nvSpPr>
          <p:cNvPr id="5" name="Text 3"/>
          <p:cNvSpPr txBox="1"/>
          <p:nvPr/>
        </p:nvSpPr>
        <p:spPr>
          <a:xfrm>
            <a:off x="1005840" y="1892808"/>
            <a:ext cx="2057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01</a:t>
            </a:r>
            <a:endParaRPr lang="en-US" sz="1400" dirty="0"/>
          </a:p>
        </p:txBody>
      </p:sp>
      <p:sp>
        <p:nvSpPr>
          <p:cNvPr id="6" name="Text 4"/>
          <p:cNvSpPr txBox="1"/>
          <p:nvPr/>
        </p:nvSpPr>
        <p:spPr>
          <a:xfrm>
            <a:off x="1005840" y="2212848"/>
            <a:ext cx="2057400"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Accuracy</a:t>
            </a:r>
            <a:endParaRPr lang="en-US" sz="1900" dirty="0"/>
          </a:p>
        </p:txBody>
      </p:sp>
      <p:sp>
        <p:nvSpPr>
          <p:cNvPr id="7" name="Text 5"/>
          <p:cNvSpPr txBox="1"/>
          <p:nvPr/>
        </p:nvSpPr>
        <p:spPr>
          <a:xfrm>
            <a:off x="1005840" y="2926080"/>
            <a:ext cx="2057400" cy="1097280"/>
          </a:xfrm>
          <a:prstGeom prst="rect">
            <a:avLst/>
          </a:prstGeom>
          <a:noFill/>
          <a:ln/>
        </p:spPr>
        <p:txBody>
          <a:bodyPr wrap="square" lIns="0" tIns="0" rIns="0" bIns="0" rtlCol="0" anchor="t"/>
          <a:lstStyle/>
          <a:p>
            <a:pPr indent="0" marL="0">
              <a:buNone/>
            </a:pPr>
            <a:r>
              <a:rPr lang="en-US" sz="1600" dirty="0">
                <a:solidFill>
                  <a:schemeClr val="accent3"/>
                </a:solidFill>
              </a:rPr>
              <a:t>Tỉ lệ bài đoán đúng.</a:t>
            </a:r>
            <a:endParaRPr lang="en-US" sz="1600" dirty="0"/>
          </a:p>
        </p:txBody>
      </p:sp>
      <p:sp>
        <p:nvSpPr>
          <p:cNvPr id="8" name="Shape 6"/>
          <p:cNvSpPr/>
          <p:nvPr/>
        </p:nvSpPr>
        <p:spPr>
          <a:xfrm>
            <a:off x="1005840" y="4114800"/>
            <a:ext cx="2057400" cy="566928"/>
          </a:xfrm>
          <a:prstGeom prst="rect">
            <a:avLst/>
          </a:prstGeom>
          <a:solidFill>
            <a:schemeClr val="tx1"/>
          </a:solidFill>
          <a:ln w="12700">
            <a:solidFill>
              <a:schemeClr val="tx1"/>
            </a:solidFill>
            <a:prstDash val="solid"/>
          </a:ln>
        </p:spPr>
      </p:sp>
      <p:sp>
        <p:nvSpPr>
          <p:cNvPr id="9" name="Text 7"/>
          <p:cNvSpPr txBox="1"/>
          <p:nvPr/>
        </p:nvSpPr>
        <p:spPr>
          <a:xfrm>
            <a:off x="1005840" y="4114800"/>
            <a:ext cx="205740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737 / 825 = 89,3%</a:t>
            </a:r>
            <a:endParaRPr lang="en-US" sz="1500" dirty="0"/>
          </a:p>
        </p:txBody>
      </p:sp>
      <p:sp>
        <p:nvSpPr>
          <p:cNvPr id="10" name="Shape 8"/>
          <p:cNvSpPr/>
          <p:nvPr/>
        </p:nvSpPr>
        <p:spPr>
          <a:xfrm>
            <a:off x="3514039" y="1783080"/>
            <a:ext cx="2423160" cy="3063240"/>
          </a:xfrm>
          <a:prstGeom prst="rect">
            <a:avLst/>
          </a:prstGeom>
          <a:solidFill>
            <a:schemeClr val="bg1"/>
          </a:solidFill>
          <a:ln w="19050">
            <a:solidFill>
              <a:schemeClr val="tx1"/>
            </a:solidFill>
            <a:prstDash val="solid"/>
          </a:ln>
        </p:spPr>
      </p:sp>
      <p:sp>
        <p:nvSpPr>
          <p:cNvPr id="11" name="Text 9"/>
          <p:cNvSpPr txBox="1"/>
          <p:nvPr/>
        </p:nvSpPr>
        <p:spPr>
          <a:xfrm>
            <a:off x="3696919" y="1892808"/>
            <a:ext cx="2057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02</a:t>
            </a:r>
            <a:endParaRPr lang="en-US" sz="1400" dirty="0"/>
          </a:p>
        </p:txBody>
      </p:sp>
      <p:sp>
        <p:nvSpPr>
          <p:cNvPr id="12" name="Text 10"/>
          <p:cNvSpPr txBox="1"/>
          <p:nvPr/>
        </p:nvSpPr>
        <p:spPr>
          <a:xfrm>
            <a:off x="3696919" y="2212848"/>
            <a:ext cx="2057400"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Macro-F1</a:t>
            </a:r>
            <a:endParaRPr lang="en-US" sz="1900" dirty="0"/>
          </a:p>
        </p:txBody>
      </p:sp>
      <p:sp>
        <p:nvSpPr>
          <p:cNvPr id="13" name="Text 11"/>
          <p:cNvSpPr txBox="1"/>
          <p:nvPr/>
        </p:nvSpPr>
        <p:spPr>
          <a:xfrm>
            <a:off x="3696919" y="2926080"/>
            <a:ext cx="2057400" cy="1097280"/>
          </a:xfrm>
          <a:prstGeom prst="rect">
            <a:avLst/>
          </a:prstGeom>
          <a:noFill/>
          <a:ln/>
        </p:spPr>
        <p:txBody>
          <a:bodyPr wrap="square" lIns="0" tIns="0" rIns="0" bIns="0" rtlCol="0" anchor="t"/>
          <a:lstStyle/>
          <a:p>
            <a:pPr indent="0" marL="0">
              <a:buNone/>
            </a:pPr>
            <a:r>
              <a:rPr lang="en-US" sz="1600" dirty="0">
                <a:solidFill>
                  <a:schemeClr val="accent3"/>
                </a:solidFill>
              </a:rPr>
              <a:t>F1 mỗi chuyên mục, rồi lấy trung bình.</a:t>
            </a:r>
            <a:endParaRPr lang="en-US" sz="1600" dirty="0"/>
          </a:p>
        </p:txBody>
      </p:sp>
      <p:sp>
        <p:nvSpPr>
          <p:cNvPr id="14" name="Shape 12"/>
          <p:cNvSpPr/>
          <p:nvPr/>
        </p:nvSpPr>
        <p:spPr>
          <a:xfrm>
            <a:off x="3696919" y="4114800"/>
            <a:ext cx="2057400" cy="566928"/>
          </a:xfrm>
          <a:prstGeom prst="rect">
            <a:avLst/>
          </a:prstGeom>
          <a:solidFill>
            <a:schemeClr val="tx1"/>
          </a:solidFill>
          <a:ln w="12700">
            <a:solidFill>
              <a:schemeClr val="tx1"/>
            </a:solidFill>
            <a:prstDash val="solid"/>
          </a:ln>
        </p:spPr>
      </p:sp>
      <p:sp>
        <p:nvSpPr>
          <p:cNvPr id="15" name="Text 13"/>
          <p:cNvSpPr txBox="1"/>
          <p:nvPr/>
        </p:nvSpPr>
        <p:spPr>
          <a:xfrm>
            <a:off x="3696919" y="4114800"/>
            <a:ext cx="205740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0,893</a:t>
            </a:r>
            <a:endParaRPr lang="en-US" sz="1500" dirty="0"/>
          </a:p>
        </p:txBody>
      </p:sp>
      <p:sp>
        <p:nvSpPr>
          <p:cNvPr id="16" name="Shape 14"/>
          <p:cNvSpPr/>
          <p:nvPr/>
        </p:nvSpPr>
        <p:spPr>
          <a:xfrm>
            <a:off x="6205118" y="1783080"/>
            <a:ext cx="2423160" cy="3063240"/>
          </a:xfrm>
          <a:prstGeom prst="rect">
            <a:avLst/>
          </a:prstGeom>
          <a:solidFill>
            <a:schemeClr val="bg1"/>
          </a:solidFill>
          <a:ln w="19050">
            <a:solidFill>
              <a:schemeClr val="tx1"/>
            </a:solidFill>
            <a:prstDash val="solid"/>
          </a:ln>
        </p:spPr>
      </p:sp>
      <p:sp>
        <p:nvSpPr>
          <p:cNvPr id="17" name="Text 15"/>
          <p:cNvSpPr txBox="1"/>
          <p:nvPr/>
        </p:nvSpPr>
        <p:spPr>
          <a:xfrm>
            <a:off x="6387998" y="1892808"/>
            <a:ext cx="2057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03</a:t>
            </a:r>
            <a:endParaRPr lang="en-US" sz="1400" dirty="0"/>
          </a:p>
        </p:txBody>
      </p:sp>
      <p:sp>
        <p:nvSpPr>
          <p:cNvPr id="18" name="Text 16"/>
          <p:cNvSpPr txBox="1"/>
          <p:nvPr/>
        </p:nvSpPr>
        <p:spPr>
          <a:xfrm>
            <a:off x="6387998" y="2212848"/>
            <a:ext cx="2057400"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Ma trận nhầm lẫn</a:t>
            </a:r>
            <a:endParaRPr lang="en-US" sz="1900" dirty="0"/>
          </a:p>
        </p:txBody>
      </p:sp>
      <p:sp>
        <p:nvSpPr>
          <p:cNvPr id="19" name="Text 17"/>
          <p:cNvSpPr txBox="1"/>
          <p:nvPr/>
        </p:nvSpPr>
        <p:spPr>
          <a:xfrm>
            <a:off x="6387998" y="2926080"/>
            <a:ext cx="2057400" cy="1097280"/>
          </a:xfrm>
          <a:prstGeom prst="rect">
            <a:avLst/>
          </a:prstGeom>
          <a:noFill/>
          <a:ln/>
        </p:spPr>
        <p:txBody>
          <a:bodyPr wrap="square" lIns="0" tIns="0" rIns="0" bIns="0" rtlCol="0" anchor="t"/>
          <a:lstStyle/>
          <a:p>
            <a:pPr indent="0" marL="0">
              <a:buNone/>
            </a:pPr>
            <a:r>
              <a:rPr lang="en-US" sz="1600" dirty="0">
                <a:solidFill>
                  <a:schemeClr val="accent3"/>
                </a:solidFill>
              </a:rPr>
              <a:t>Cho biết nhầm chuyên mục nào sang chuyên mục nào.</a:t>
            </a:r>
            <a:endParaRPr lang="en-US" sz="1600" dirty="0"/>
          </a:p>
        </p:txBody>
      </p:sp>
      <p:sp>
        <p:nvSpPr>
          <p:cNvPr id="20" name="Shape 18"/>
          <p:cNvSpPr/>
          <p:nvPr/>
        </p:nvSpPr>
        <p:spPr>
          <a:xfrm>
            <a:off x="6387998" y="4114800"/>
            <a:ext cx="2057400" cy="566928"/>
          </a:xfrm>
          <a:prstGeom prst="rect">
            <a:avLst/>
          </a:prstGeom>
          <a:solidFill>
            <a:schemeClr val="tx1"/>
          </a:solidFill>
          <a:ln w="12700">
            <a:solidFill>
              <a:schemeClr val="tx1"/>
            </a:solidFill>
            <a:prstDash val="solid"/>
          </a:ln>
        </p:spPr>
      </p:sp>
      <p:sp>
        <p:nvSpPr>
          <p:cNvPr id="21" name="Text 19"/>
          <p:cNvSpPr txBox="1"/>
          <p:nvPr/>
        </p:nvSpPr>
        <p:spPr>
          <a:xfrm>
            <a:off x="6387998" y="4114800"/>
            <a:ext cx="205740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88 bài sai</a:t>
            </a:r>
            <a:endParaRPr lang="en-US" sz="1500" dirty="0"/>
          </a:p>
        </p:txBody>
      </p:sp>
      <p:sp>
        <p:nvSpPr>
          <p:cNvPr id="22" name="Shape 20"/>
          <p:cNvSpPr/>
          <p:nvPr/>
        </p:nvSpPr>
        <p:spPr>
          <a:xfrm>
            <a:off x="8896198" y="1783080"/>
            <a:ext cx="2423160" cy="3063240"/>
          </a:xfrm>
          <a:prstGeom prst="rect">
            <a:avLst/>
          </a:prstGeom>
          <a:solidFill>
            <a:schemeClr val="bg1"/>
          </a:solidFill>
          <a:ln w="19050">
            <a:solidFill>
              <a:schemeClr val="tx1"/>
            </a:solidFill>
            <a:prstDash val="solid"/>
          </a:ln>
        </p:spPr>
      </p:sp>
      <p:sp>
        <p:nvSpPr>
          <p:cNvPr id="23" name="Text 21"/>
          <p:cNvSpPr txBox="1"/>
          <p:nvPr/>
        </p:nvSpPr>
        <p:spPr>
          <a:xfrm>
            <a:off x="9079078" y="1892808"/>
            <a:ext cx="2057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04</a:t>
            </a:r>
            <a:endParaRPr lang="en-US" sz="1400" dirty="0"/>
          </a:p>
        </p:txBody>
      </p:sp>
      <p:sp>
        <p:nvSpPr>
          <p:cNvPr id="24" name="Text 22"/>
          <p:cNvSpPr txBox="1"/>
          <p:nvPr/>
        </p:nvSpPr>
        <p:spPr>
          <a:xfrm>
            <a:off x="9079078" y="2212848"/>
            <a:ext cx="2057400"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Cross-validation</a:t>
            </a:r>
            <a:endParaRPr lang="en-US" sz="1900" dirty="0"/>
          </a:p>
        </p:txBody>
      </p:sp>
      <p:sp>
        <p:nvSpPr>
          <p:cNvPr id="25" name="Text 23"/>
          <p:cNvSpPr txBox="1"/>
          <p:nvPr/>
        </p:nvSpPr>
        <p:spPr>
          <a:xfrm>
            <a:off x="9079078" y="2926080"/>
            <a:ext cx="2057400" cy="1097280"/>
          </a:xfrm>
          <a:prstGeom prst="rect">
            <a:avLst/>
          </a:prstGeom>
          <a:noFill/>
          <a:ln/>
        </p:spPr>
        <p:txBody>
          <a:bodyPr wrap="square" lIns="0" tIns="0" rIns="0" bIns="0" rtlCol="0" anchor="t"/>
          <a:lstStyle/>
          <a:p>
            <a:pPr indent="0" marL="0">
              <a:buNone/>
            </a:pPr>
            <a:r>
              <a:rPr lang="en-US" sz="1600" dirty="0">
                <a:solidFill>
                  <a:schemeClr val="accent3"/>
                </a:solidFill>
              </a:rPr>
              <a:t>Chia tập học làm 5 phần, luân phiên kiểm tra.</a:t>
            </a:r>
            <a:endParaRPr lang="en-US" sz="1600" dirty="0"/>
          </a:p>
        </p:txBody>
      </p:sp>
      <p:sp>
        <p:nvSpPr>
          <p:cNvPr id="26" name="Shape 24"/>
          <p:cNvSpPr/>
          <p:nvPr/>
        </p:nvSpPr>
        <p:spPr>
          <a:xfrm>
            <a:off x="9079078" y="4114800"/>
            <a:ext cx="2057400" cy="566928"/>
          </a:xfrm>
          <a:prstGeom prst="rect">
            <a:avLst/>
          </a:prstGeom>
          <a:solidFill>
            <a:schemeClr val="tx1"/>
          </a:solidFill>
          <a:ln w="12700">
            <a:solidFill>
              <a:schemeClr val="tx1"/>
            </a:solidFill>
            <a:prstDash val="solid"/>
          </a:ln>
        </p:spPr>
      </p:sp>
      <p:sp>
        <p:nvSpPr>
          <p:cNvPr id="27" name="Text 25"/>
          <p:cNvSpPr txBox="1"/>
          <p:nvPr/>
        </p:nvSpPr>
        <p:spPr>
          <a:xfrm>
            <a:off x="9079078" y="4114800"/>
            <a:ext cx="205740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0,884</a:t>
            </a:r>
            <a:endParaRPr lang="en-US" sz="1500" dirty="0"/>
          </a:p>
        </p:txBody>
      </p:sp>
      <p:sp>
        <p:nvSpPr>
          <p:cNvPr id="28" name="Shape 26"/>
          <p:cNvSpPr/>
          <p:nvPr/>
        </p:nvSpPr>
        <p:spPr>
          <a:xfrm>
            <a:off x="822960" y="5074920"/>
            <a:ext cx="10543032" cy="1005840"/>
          </a:xfrm>
          <a:prstGeom prst="rect">
            <a:avLst/>
          </a:prstGeom>
          <a:solidFill>
            <a:schemeClr val="tx1"/>
          </a:solidFill>
          <a:ln w="12700">
            <a:solidFill>
              <a:schemeClr val="tx1"/>
            </a:solidFill>
            <a:prstDash val="solid"/>
          </a:ln>
        </p:spPr>
      </p:sp>
      <p:sp>
        <p:nvSpPr>
          <p:cNvPr id="29" name="Text 27"/>
          <p:cNvSpPr txBox="1"/>
          <p:nvPr/>
        </p:nvSpPr>
        <p:spPr>
          <a:xfrm>
            <a:off x="1097280" y="5074920"/>
            <a:ext cx="3291840" cy="1005840"/>
          </a:xfrm>
          <a:prstGeom prst="rect">
            <a:avLst/>
          </a:prstGeom>
          <a:noFill/>
          <a:ln/>
        </p:spPr>
        <p:txBody>
          <a:bodyPr wrap="square" lIns="0" tIns="0" rIns="0" bIns="0" rtlCol="0" anchor="ctr"/>
          <a:lstStyle/>
          <a:p>
            <a:pPr indent="0" marL="0">
              <a:buNone/>
            </a:pPr>
            <a:r>
              <a:rPr lang="en-US" sz="1900" b="1" dirty="0">
                <a:solidFill>
                  <a:schemeClr val="bg1"/>
                </a:solidFill>
                <a:latin typeface="Consolas" pitchFamily="34" charset="0"/>
                <a:ea typeface="Consolas" pitchFamily="34" charset="-122"/>
                <a:cs typeface="Consolas" pitchFamily="34" charset="-120"/>
              </a:rPr>
              <a:t>F1 = 2PR / (P + R)</a:t>
            </a:r>
            <a:endParaRPr lang="en-US" sz="1900" dirty="0"/>
          </a:p>
        </p:txBody>
      </p:sp>
      <p:sp>
        <p:nvSpPr>
          <p:cNvPr id="30" name="Text 28"/>
          <p:cNvSpPr txBox="1"/>
          <p:nvPr/>
        </p:nvSpPr>
        <p:spPr>
          <a:xfrm>
            <a:off x="4480560" y="5074920"/>
            <a:ext cx="6766560" cy="1005840"/>
          </a:xfrm>
          <a:prstGeom prst="rect">
            <a:avLst/>
          </a:prstGeom>
          <a:noFill/>
          <a:ln/>
        </p:spPr>
        <p:txBody>
          <a:bodyPr wrap="square" lIns="0" tIns="0" rIns="0" bIns="0" rtlCol="0" anchor="ctr"/>
          <a:lstStyle/>
          <a:p>
            <a:pPr indent="0" marL="0">
              <a:buNone/>
            </a:pPr>
            <a:r>
              <a:rPr lang="en-US" sz="1600" dirty="0">
                <a:solidFill>
                  <a:schemeClr val="accent6"/>
                </a:solidFill>
              </a:rPr>
              <a:t>P: AI xếp vào chuyên mục thì đúng bao nhiêu.</a:t>
            </a:r>
            <a:endParaRPr lang="en-US" sz="1600" dirty="0"/>
          </a:p>
          <a:p>
            <a:pPr indent="0" marL="0">
              <a:buNone/>
            </a:pPr>
            <a:r>
              <a:rPr lang="en-US" sz="1600" dirty="0">
                <a:solidFill>
                  <a:schemeClr val="accent6"/>
                </a:solidFill>
              </a:rPr>
              <a:t>R: bài thật của chuyên mục, AI tìm lại được bao nhiêu.</a:t>
            </a:r>
            <a:endParaRPr lang="en-US" sz="1600" dirty="0"/>
          </a:p>
        </p:txBody>
      </p:sp>
      <p:sp>
        <p:nvSpPr>
          <p:cNvPr id="32"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3</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09 · CHỌN MÔ HÌNH</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So sánh công bằng sáu thuật toán</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5394960"/>
                <a:gridCol w="3108960"/>
                <a:gridCol w="2039112"/>
              </a:tblGrid>
              <a:tr h="457200">
                <a:tc>
                  <a:txBody>
                    <a:bodyPr/>
                    <a:lstStyle/>
                    <a:p>
                      <a:pPr indent="0" marL="0">
                        <a:buNone/>
                      </a:pPr>
                      <a:r>
                        <a:rPr lang="en-US" sz="1400" b="1" dirty="0">
                          <a:solidFill>
                            <a:schemeClr val="accent1"/>
                          </a:solidFill>
                        </a:rPr>
                        <a:t>Thuật toán (đều đã chỉnh tham số)</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accent1"/>
                          </a:solidFill>
                        </a:rPr>
                        <a:t>Macro-F1 (CV 5-fold)</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accent1"/>
                          </a:solidFill>
                        </a:rPr>
                        <a:t>Huấn luyện</a:t>
                      </a:r>
                      <a:endParaRPr lang="en-US" sz="14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r>
              <a:tr h="457200">
                <a:tc>
                  <a:txBody>
                    <a:bodyPr/>
                    <a:lstStyle/>
                    <a:p>
                      <a:pPr indent="0" marL="0">
                        <a:buNone/>
                      </a:pPr>
                      <a:r>
                        <a:rPr lang="en-US" sz="1800" b="1" dirty="0">
                          <a:solidFill>
                            <a:schemeClr val="bg1"/>
                          </a:solidFill>
                        </a:rPr>
                        <a:t>Linear SVM</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tx1"/>
                    </a:solidFill>
                  </a:tcPr>
                </a:tc>
                <a:tc>
                  <a:txBody>
                    <a:bodyPr/>
                    <a:lstStyle/>
                    <a:p>
                      <a:pPr algn="r" indent="0" marL="0">
                        <a:buNone/>
                      </a:pPr>
                      <a:r>
                        <a:rPr lang="en-US" sz="1800" b="1" dirty="0">
                          <a:solidFill>
                            <a:schemeClr val="bg1"/>
                          </a:solidFill>
                        </a:rPr>
                        <a:t>0,884 ± 0,004</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tx1"/>
                    </a:solidFill>
                  </a:tcPr>
                </a:tc>
                <a:tc>
                  <a:txBody>
                    <a:bodyPr/>
                    <a:lstStyle/>
                    <a:p>
                      <a:pPr algn="r" indent="0" marL="0">
                        <a:buNone/>
                      </a:pPr>
                      <a:r>
                        <a:rPr lang="en-US" sz="1800" b="1" dirty="0">
                          <a:solidFill>
                            <a:schemeClr val="bg1"/>
                          </a:solidFill>
                        </a:rPr>
                        <a:t>10 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tx1"/>
                    </a:solidFill>
                  </a:tcPr>
                </a:tc>
              </a:tr>
              <a:tr h="457200">
                <a:tc>
                  <a:txBody>
                    <a:bodyPr/>
                    <a:lstStyle/>
                    <a:p>
                      <a:pPr indent="0" marL="0">
                        <a:buNone/>
                      </a:pPr>
                      <a:r>
                        <a:rPr lang="en-US" sz="1800" dirty="0">
                          <a:solidFill>
                            <a:schemeClr val="tx1"/>
                          </a:solidFill>
                        </a:rPr>
                        <a:t>Logistic Regression</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0,883 ± 0,007</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43 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457200">
                <a:tc>
                  <a:txBody>
                    <a:bodyPr/>
                    <a:lstStyle/>
                    <a:p>
                      <a:pPr indent="0" marL="0">
                        <a:buNone/>
                      </a:pPr>
                      <a:r>
                        <a:rPr lang="en-US" sz="1800" dirty="0">
                          <a:solidFill>
                            <a:schemeClr val="tx1"/>
                          </a:solidFill>
                        </a:rPr>
                        <a:t>MLP nhỏ (SVD 300 → 256 nơ-ron)</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0,875 ± 0,007</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73 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457200">
                <a:tc>
                  <a:txBody>
                    <a:bodyPr/>
                    <a:lstStyle/>
                    <a:p>
                      <a:pPr indent="0" marL="0">
                        <a:buNone/>
                      </a:pPr>
                      <a:r>
                        <a:rPr lang="en-US" sz="1800" dirty="0">
                          <a:solidFill>
                            <a:schemeClr val="tx1"/>
                          </a:solidFill>
                        </a:rPr>
                        <a:t>Complement Naive Bayes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0,863 ± 0,006</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7 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457200">
                <a:tc>
                  <a:txBody>
                    <a:bodyPr/>
                    <a:lstStyle/>
                    <a:p>
                      <a:pPr indent="0" marL="0">
                        <a:buNone/>
                      </a:pPr>
                      <a:r>
                        <a:rPr lang="en-US" sz="1800" dirty="0">
                          <a:solidFill>
                            <a:schemeClr val="tx1"/>
                          </a:solidFill>
                        </a:rPr>
                        <a:t>k-NN (cosine)</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0,862 ± 0,008</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9 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r h="457200">
                <a:tc>
                  <a:txBody>
                    <a:bodyPr/>
                    <a:lstStyle/>
                    <a:p>
                      <a:pPr indent="0" marL="0">
                        <a:buNone/>
                      </a:pPr>
                      <a:r>
                        <a:rPr lang="en-US" sz="1800" dirty="0">
                          <a:solidFill>
                            <a:schemeClr val="tx1"/>
                          </a:solidFill>
                        </a:rPr>
                        <a:t>Random Forest</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0,847 ± 0,008</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c>
                  <a:txBody>
                    <a:bodyPr/>
                    <a:lstStyle/>
                    <a:p>
                      <a:pPr algn="r" indent="0" marL="0">
                        <a:buNone/>
                      </a:pPr>
                      <a:r>
                        <a:rPr lang="en-US" sz="1800" dirty="0">
                          <a:solidFill>
                            <a:schemeClr val="tx1"/>
                          </a:solidFill>
                        </a:rPr>
                        <a:t>97 s</a:t>
                      </a:r>
                      <a:endParaRPr lang="en-US" sz="1800" dirty="0"/>
                    </a:p>
                  </a:txBody>
                  <a:tcPr marL="91440" marR="91440" marT="45720" marB="4572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1"/>
                    </a:solidFill>
                  </a:tcPr>
                </a:tc>
              </a:tr>
            </a:tbl>
          </a:graphicData>
        </a:graphic>
      </p:graphicFrame>
      <p:sp>
        <p:nvSpPr>
          <p:cNvPr id="5" name="Shape 2"/>
          <p:cNvSpPr/>
          <p:nvPr/>
        </p:nvSpPr>
        <p:spPr>
          <a:xfrm>
            <a:off x="822960" y="5166360"/>
            <a:ext cx="5166360" cy="960120"/>
          </a:xfrm>
          <a:prstGeom prst="rect">
            <a:avLst/>
          </a:prstGeom>
          <a:solidFill>
            <a:schemeClr val="bg1"/>
          </a:solidFill>
          <a:ln w="19050">
            <a:solidFill>
              <a:schemeClr val="tx1"/>
            </a:solidFill>
            <a:prstDash val="solid"/>
          </a:ln>
        </p:spPr>
      </p:sp>
      <p:sp>
        <p:nvSpPr>
          <p:cNvPr id="6" name="Text 3"/>
          <p:cNvSpPr txBox="1"/>
          <p:nvPr/>
        </p:nvSpPr>
        <p:spPr>
          <a:xfrm>
            <a:off x="1051560" y="5230368"/>
            <a:ext cx="475488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SVM ≈ Logistic Regression</a:t>
            </a:r>
            <a:endParaRPr lang="en-US" sz="2000" dirty="0"/>
          </a:p>
        </p:txBody>
      </p:sp>
      <p:sp>
        <p:nvSpPr>
          <p:cNvPr id="7" name="Text 4"/>
          <p:cNvSpPr txBox="1"/>
          <p:nvPr/>
        </p:nvSpPr>
        <p:spPr>
          <a:xfrm>
            <a:off x="1051560" y="5614416"/>
            <a:ext cx="4754880" cy="457200"/>
          </a:xfrm>
          <a:prstGeom prst="rect">
            <a:avLst/>
          </a:prstGeom>
          <a:noFill/>
          <a:ln/>
        </p:spPr>
        <p:txBody>
          <a:bodyPr wrap="square" lIns="0" tIns="0" rIns="0" bIns="0" rtlCol="0" anchor="t"/>
          <a:lstStyle/>
          <a:p>
            <a:pPr indent="0" marL="0">
              <a:buNone/>
            </a:pPr>
            <a:r>
              <a:rPr lang="en-US" sz="1400" dirty="0">
                <a:solidFill>
                  <a:schemeClr val="accent3"/>
                </a:solidFill>
              </a:rPr>
              <a:t>CV chênh 0,1 điểm; trên tập kiểm thử McNemar p = 0,51: ngang nhau.</a:t>
            </a:r>
            <a:endParaRPr lang="en-US" sz="1400" dirty="0"/>
          </a:p>
        </p:txBody>
      </p:sp>
      <p:sp>
        <p:nvSpPr>
          <p:cNvPr id="8" name="Shape 5"/>
          <p:cNvSpPr/>
          <p:nvPr/>
        </p:nvSpPr>
        <p:spPr>
          <a:xfrm>
            <a:off x="6199632" y="5166360"/>
            <a:ext cx="5166360" cy="960120"/>
          </a:xfrm>
          <a:prstGeom prst="rect">
            <a:avLst/>
          </a:prstGeom>
          <a:solidFill>
            <a:schemeClr val="tx1"/>
          </a:solidFill>
          <a:ln w="12700">
            <a:solidFill>
              <a:schemeClr val="tx1"/>
            </a:solidFill>
            <a:prstDash val="solid"/>
          </a:ln>
        </p:spPr>
      </p:sp>
      <p:sp>
        <p:nvSpPr>
          <p:cNvPr id="9" name="Text 6"/>
          <p:cNvSpPr txBox="1"/>
          <p:nvPr/>
        </p:nvSpPr>
        <p:spPr>
          <a:xfrm>
            <a:off x="6428232" y="5230368"/>
            <a:ext cx="4754880" cy="36576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Chọn Linear SVM</a:t>
            </a:r>
            <a:endParaRPr lang="en-US" sz="2000" dirty="0"/>
          </a:p>
        </p:txBody>
      </p:sp>
      <p:sp>
        <p:nvSpPr>
          <p:cNvPr id="10" name="Text 7"/>
          <p:cNvSpPr txBox="1"/>
          <p:nvPr/>
        </p:nvSpPr>
        <p:spPr>
          <a:xfrm>
            <a:off x="6428232" y="5614416"/>
            <a:ext cx="4754880" cy="457200"/>
          </a:xfrm>
          <a:prstGeom prst="rect">
            <a:avLst/>
          </a:prstGeom>
          <a:noFill/>
          <a:ln/>
        </p:spPr>
        <p:txBody>
          <a:bodyPr wrap="square" lIns="0" tIns="0" rIns="0" bIns="0" rtlCol="0" anchor="t"/>
          <a:lstStyle/>
          <a:p>
            <a:pPr indent="0" marL="0">
              <a:buNone/>
            </a:pPr>
            <a:r>
              <a:rPr lang="en-US" sz="1500" dirty="0">
                <a:solidFill>
                  <a:schemeClr val="accent6"/>
                </a:solidFill>
              </a:rPr>
              <a:t>Nhanh hơn 4 lần, file 15,9 MB, giải thích được.</a:t>
            </a:r>
            <a:endParaRPr lang="en-US" sz="1500" dirty="0"/>
          </a:p>
        </p:txBody>
      </p:sp>
      <p:sp>
        <p:nvSpPr>
          <p:cNvPr id="12"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3</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10 · KIỂM CHỨNG TỪNG THÀNH PHẦN</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Thành phần nào thật sự quan trọng?</a:t>
            </a:r>
            <a:endParaRPr lang="en-US" sz="3400" dirty="0"/>
          </a:p>
        </p:txBody>
      </p:sp>
      <p:sp>
        <p:nvSpPr>
          <p:cNvPr id="4" name="Text 2"/>
          <p:cNvSpPr txBox="1"/>
          <p:nvPr/>
        </p:nvSpPr>
        <p:spPr>
          <a:xfrm>
            <a:off x="822960" y="1783080"/>
            <a:ext cx="5852160" cy="27432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MÁY ĐỌC PHẦN NÀO CỦA BÀI? · Macro-F1 (%)</a:t>
            </a:r>
            <a:endParaRPr lang="en-US" sz="1300" dirty="0"/>
          </a:p>
        </p:txBody>
      </p:sp>
      <p:graphicFrame>
        <p:nvGraphicFramePr>
          <p:cNvPr id="5" name="Chart 0" descr=""/>
          <p:cNvGraphicFramePr/>
          <p:nvPr/>
        </p:nvGraphicFramePr>
        <p:xfrm>
          <a:off x="822960" y="2057400"/>
          <a:ext cx="5852160" cy="2880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086600" y="1783080"/>
            <a:ext cx="4279392" cy="27432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ĐỔI 1 THÀNH PHẦN · Macro-F1 (điểm %)</a:t>
            </a:r>
            <a:endParaRPr lang="en-US" sz="1300" dirty="0"/>
          </a:p>
        </p:txBody>
      </p:sp>
      <p:sp>
        <p:nvSpPr>
          <p:cNvPr id="7" name="Shape 4"/>
          <p:cNvSpPr/>
          <p:nvPr/>
        </p:nvSpPr>
        <p:spPr>
          <a:xfrm>
            <a:off x="10332720" y="2194560"/>
            <a:ext cx="18288" cy="2651760"/>
          </a:xfrm>
          <a:prstGeom prst="rect">
            <a:avLst/>
          </a:prstGeom>
          <a:solidFill>
            <a:schemeClr val="tx1"/>
          </a:solidFill>
          <a:ln w="12700">
            <a:solidFill>
              <a:schemeClr val="tx1"/>
            </a:solidFill>
            <a:prstDash val="solid"/>
          </a:ln>
        </p:spPr>
      </p:sp>
      <p:sp>
        <p:nvSpPr>
          <p:cNvPr id="8" name="Text 5"/>
          <p:cNvSpPr txBox="1"/>
          <p:nvPr/>
        </p:nvSpPr>
        <p:spPr>
          <a:xfrm>
            <a:off x="7086600" y="2240280"/>
            <a:ext cx="2011680" cy="384048"/>
          </a:xfrm>
          <a:prstGeom prst="rect">
            <a:avLst/>
          </a:prstGeom>
          <a:noFill/>
          <a:ln/>
        </p:spPr>
        <p:txBody>
          <a:bodyPr wrap="square" lIns="0" tIns="0" rIns="0" bIns="0" rtlCol="0" anchor="ctr"/>
          <a:lstStyle/>
          <a:p>
            <a:pPr indent="0" marL="0">
              <a:buNone/>
            </a:pPr>
            <a:r>
              <a:rPr lang="en-US" sz="1600" b="1" dirty="0">
                <a:solidFill>
                  <a:schemeClr val="tx1"/>
                </a:solidFill>
              </a:rPr>
              <a:t>Chỉ giữ 5.000 từ</a:t>
            </a:r>
            <a:endParaRPr lang="en-US" sz="1600" dirty="0"/>
          </a:p>
        </p:txBody>
      </p:sp>
      <p:sp>
        <p:nvSpPr>
          <p:cNvPr id="9" name="Shape 6"/>
          <p:cNvSpPr/>
          <p:nvPr/>
        </p:nvSpPr>
        <p:spPr>
          <a:xfrm>
            <a:off x="9108338" y="2276856"/>
            <a:ext cx="1224382" cy="310896"/>
          </a:xfrm>
          <a:prstGeom prst="rect">
            <a:avLst/>
          </a:prstGeom>
          <a:solidFill>
            <a:schemeClr val="accent2"/>
          </a:solidFill>
          <a:ln w="12700">
            <a:solidFill>
              <a:schemeClr val="accent2"/>
            </a:solidFill>
            <a:prstDash val="solid"/>
          </a:ln>
        </p:spPr>
      </p:sp>
      <p:sp>
        <p:nvSpPr>
          <p:cNvPr id="10" name="Text 7"/>
          <p:cNvSpPr txBox="1"/>
          <p:nvPr/>
        </p:nvSpPr>
        <p:spPr>
          <a:xfrm>
            <a:off x="10789920" y="2240280"/>
            <a:ext cx="914400" cy="384048"/>
          </a:xfrm>
          <a:prstGeom prst="rect">
            <a:avLst/>
          </a:prstGeom>
          <a:noFill/>
          <a:ln/>
        </p:spPr>
        <p:txBody>
          <a:bodyPr wrap="square" lIns="0" tIns="0" rIns="0" bIns="0" rtlCol="0" anchor="ctr"/>
          <a:lstStyle/>
          <a:p>
            <a:pPr indent="0" marL="0">
              <a:buNone/>
            </a:pPr>
            <a:r>
              <a:rPr lang="en-US" sz="1600" b="1" dirty="0">
                <a:solidFill>
                  <a:schemeClr val="tx1"/>
                </a:solidFill>
              </a:rPr>
              <a:t>−1,03 *</a:t>
            </a:r>
            <a:endParaRPr lang="en-US" sz="1600" dirty="0"/>
          </a:p>
        </p:txBody>
      </p:sp>
      <p:sp>
        <p:nvSpPr>
          <p:cNvPr id="11" name="Text 8"/>
          <p:cNvSpPr txBox="1"/>
          <p:nvPr/>
        </p:nvSpPr>
        <p:spPr>
          <a:xfrm>
            <a:off x="7086600" y="2761488"/>
            <a:ext cx="2011680" cy="384048"/>
          </a:xfrm>
          <a:prstGeom prst="rect">
            <a:avLst/>
          </a:prstGeom>
          <a:noFill/>
          <a:ln/>
        </p:spPr>
        <p:txBody>
          <a:bodyPr wrap="square" lIns="0" tIns="0" rIns="0" bIns="0" rtlCol="0" anchor="ctr"/>
          <a:lstStyle/>
          <a:p>
            <a:pPr indent="0" marL="0">
              <a:buNone/>
            </a:pPr>
            <a:r>
              <a:rPr lang="en-US" sz="1600" b="1" dirty="0">
                <a:solidFill>
                  <a:schemeClr val="tx1"/>
                </a:solidFill>
              </a:rPr>
              <a:t>Bỏ cặp từ (1-gram)</a:t>
            </a:r>
            <a:endParaRPr lang="en-US" sz="1600" dirty="0"/>
          </a:p>
        </p:txBody>
      </p:sp>
      <p:sp>
        <p:nvSpPr>
          <p:cNvPr id="12" name="Shape 9"/>
          <p:cNvSpPr/>
          <p:nvPr/>
        </p:nvSpPr>
        <p:spPr>
          <a:xfrm>
            <a:off x="9405518" y="2798064"/>
            <a:ext cx="927202" cy="310896"/>
          </a:xfrm>
          <a:prstGeom prst="rect">
            <a:avLst/>
          </a:prstGeom>
          <a:solidFill>
            <a:schemeClr val="accent2"/>
          </a:solidFill>
          <a:ln w="12700">
            <a:solidFill>
              <a:schemeClr val="accent2"/>
            </a:solidFill>
            <a:prstDash val="solid"/>
          </a:ln>
        </p:spPr>
      </p:sp>
      <p:sp>
        <p:nvSpPr>
          <p:cNvPr id="13" name="Text 10"/>
          <p:cNvSpPr txBox="1"/>
          <p:nvPr/>
        </p:nvSpPr>
        <p:spPr>
          <a:xfrm>
            <a:off x="10789920" y="2761488"/>
            <a:ext cx="914400" cy="384048"/>
          </a:xfrm>
          <a:prstGeom prst="rect">
            <a:avLst/>
          </a:prstGeom>
          <a:noFill/>
          <a:ln/>
        </p:spPr>
        <p:txBody>
          <a:bodyPr wrap="square" lIns="0" tIns="0" rIns="0" bIns="0" rtlCol="0" anchor="ctr"/>
          <a:lstStyle/>
          <a:p>
            <a:pPr indent="0" marL="0">
              <a:buNone/>
            </a:pPr>
            <a:r>
              <a:rPr lang="en-US" sz="1600" b="1" dirty="0">
                <a:solidFill>
                  <a:schemeClr val="tx1"/>
                </a:solidFill>
              </a:rPr>
              <a:t>−0,78 *</a:t>
            </a:r>
            <a:endParaRPr lang="en-US" sz="1600" dirty="0"/>
          </a:p>
        </p:txBody>
      </p:sp>
      <p:sp>
        <p:nvSpPr>
          <p:cNvPr id="14" name="Text 11"/>
          <p:cNvSpPr txBox="1"/>
          <p:nvPr/>
        </p:nvSpPr>
        <p:spPr>
          <a:xfrm>
            <a:off x="7086600" y="3282696"/>
            <a:ext cx="2011680" cy="384048"/>
          </a:xfrm>
          <a:prstGeom prst="rect">
            <a:avLst/>
          </a:prstGeom>
          <a:noFill/>
          <a:ln/>
        </p:spPr>
        <p:txBody>
          <a:bodyPr wrap="square" lIns="0" tIns="0" rIns="0" bIns="0" rtlCol="0" anchor="ctr"/>
          <a:lstStyle/>
          <a:p>
            <a:pPr indent="0" marL="0">
              <a:buNone/>
            </a:pPr>
            <a:r>
              <a:rPr lang="en-US" sz="1600" b="1" dirty="0">
                <a:solidFill>
                  <a:schemeClr val="tx1"/>
                </a:solidFill>
              </a:rPr>
              <a:t>Bỏ log-tf</a:t>
            </a:r>
            <a:endParaRPr lang="en-US" sz="1600" dirty="0"/>
          </a:p>
        </p:txBody>
      </p:sp>
      <p:sp>
        <p:nvSpPr>
          <p:cNvPr id="15" name="Shape 12"/>
          <p:cNvSpPr/>
          <p:nvPr/>
        </p:nvSpPr>
        <p:spPr>
          <a:xfrm>
            <a:off x="9429293" y="3319272"/>
            <a:ext cx="903427" cy="310896"/>
          </a:xfrm>
          <a:prstGeom prst="rect">
            <a:avLst/>
          </a:prstGeom>
          <a:solidFill>
            <a:schemeClr val="accent2"/>
          </a:solidFill>
          <a:ln w="12700">
            <a:solidFill>
              <a:schemeClr val="accent2"/>
            </a:solidFill>
            <a:prstDash val="solid"/>
          </a:ln>
        </p:spPr>
      </p:sp>
      <p:sp>
        <p:nvSpPr>
          <p:cNvPr id="16" name="Text 13"/>
          <p:cNvSpPr txBox="1"/>
          <p:nvPr/>
        </p:nvSpPr>
        <p:spPr>
          <a:xfrm>
            <a:off x="10789920" y="3282696"/>
            <a:ext cx="914400" cy="384048"/>
          </a:xfrm>
          <a:prstGeom prst="rect">
            <a:avLst/>
          </a:prstGeom>
          <a:noFill/>
          <a:ln/>
        </p:spPr>
        <p:txBody>
          <a:bodyPr wrap="square" lIns="0" tIns="0" rIns="0" bIns="0" rtlCol="0" anchor="ctr"/>
          <a:lstStyle/>
          <a:p>
            <a:pPr indent="0" marL="0">
              <a:buNone/>
            </a:pPr>
            <a:r>
              <a:rPr lang="en-US" sz="1600" b="1" dirty="0">
                <a:solidFill>
                  <a:schemeClr val="tx1"/>
                </a:solidFill>
              </a:rPr>
              <a:t>−0,76 *</a:t>
            </a:r>
            <a:endParaRPr lang="en-US" sz="1600" dirty="0"/>
          </a:p>
        </p:txBody>
      </p:sp>
      <p:sp>
        <p:nvSpPr>
          <p:cNvPr id="17" name="Text 14"/>
          <p:cNvSpPr txBox="1"/>
          <p:nvPr/>
        </p:nvSpPr>
        <p:spPr>
          <a:xfrm>
            <a:off x="7086600" y="3803904"/>
            <a:ext cx="2011680" cy="384048"/>
          </a:xfrm>
          <a:prstGeom prst="rect">
            <a:avLst/>
          </a:prstGeom>
          <a:noFill/>
          <a:ln/>
        </p:spPr>
        <p:txBody>
          <a:bodyPr wrap="square" lIns="0" tIns="0" rIns="0" bIns="0" rtlCol="0" anchor="ctr"/>
          <a:lstStyle/>
          <a:p>
            <a:pPr indent="0" marL="0">
              <a:buNone/>
            </a:pPr>
            <a:r>
              <a:rPr lang="en-US" sz="1600" dirty="0">
                <a:solidFill>
                  <a:schemeClr val="tx1"/>
                </a:solidFill>
              </a:rPr>
              <a:t>Bỏ IDF</a:t>
            </a:r>
            <a:endParaRPr lang="en-US" sz="1600" dirty="0"/>
          </a:p>
        </p:txBody>
      </p:sp>
      <p:sp>
        <p:nvSpPr>
          <p:cNvPr id="18" name="Shape 15"/>
          <p:cNvSpPr/>
          <p:nvPr/>
        </p:nvSpPr>
        <p:spPr>
          <a:xfrm>
            <a:off x="9750247" y="3840480"/>
            <a:ext cx="582473" cy="310896"/>
          </a:xfrm>
          <a:prstGeom prst="rect">
            <a:avLst/>
          </a:prstGeom>
          <a:solidFill>
            <a:schemeClr val="accent2"/>
          </a:solidFill>
          <a:ln w="12700">
            <a:solidFill>
              <a:schemeClr val="accent2"/>
            </a:solidFill>
            <a:prstDash val="solid"/>
          </a:ln>
        </p:spPr>
      </p:sp>
      <p:sp>
        <p:nvSpPr>
          <p:cNvPr id="19" name="Text 16"/>
          <p:cNvSpPr txBox="1"/>
          <p:nvPr/>
        </p:nvSpPr>
        <p:spPr>
          <a:xfrm>
            <a:off x="10789920" y="3803904"/>
            <a:ext cx="914400" cy="384048"/>
          </a:xfrm>
          <a:prstGeom prst="rect">
            <a:avLst/>
          </a:prstGeom>
          <a:noFill/>
          <a:ln/>
        </p:spPr>
        <p:txBody>
          <a:bodyPr wrap="square" lIns="0" tIns="0" rIns="0" bIns="0" rtlCol="0" anchor="ctr"/>
          <a:lstStyle/>
          <a:p>
            <a:pPr indent="0" marL="0">
              <a:buNone/>
            </a:pPr>
            <a:r>
              <a:rPr lang="en-US" sz="1600" dirty="0">
                <a:solidFill>
                  <a:schemeClr val="tx1"/>
                </a:solidFill>
              </a:rPr>
              <a:t>−0,49</a:t>
            </a:r>
            <a:endParaRPr lang="en-US" sz="1600" dirty="0"/>
          </a:p>
        </p:txBody>
      </p:sp>
      <p:sp>
        <p:nvSpPr>
          <p:cNvPr id="20" name="Text 17"/>
          <p:cNvSpPr txBox="1"/>
          <p:nvPr/>
        </p:nvSpPr>
        <p:spPr>
          <a:xfrm>
            <a:off x="7086600" y="4325112"/>
            <a:ext cx="2011680" cy="384048"/>
          </a:xfrm>
          <a:prstGeom prst="rect">
            <a:avLst/>
          </a:prstGeom>
          <a:noFill/>
          <a:ln/>
        </p:spPr>
        <p:txBody>
          <a:bodyPr wrap="square" lIns="0" tIns="0" rIns="0" bIns="0" rtlCol="0" anchor="ctr"/>
          <a:lstStyle/>
          <a:p>
            <a:pPr indent="0" marL="0">
              <a:buNone/>
            </a:pPr>
            <a:r>
              <a:rPr lang="en-US" sz="1600" dirty="0">
                <a:solidFill>
                  <a:schemeClr val="tx1"/>
                </a:solidFill>
              </a:rPr>
              <a:t>Tách từ pyvi</a:t>
            </a:r>
            <a:endParaRPr lang="en-US" sz="1600" dirty="0"/>
          </a:p>
        </p:txBody>
      </p:sp>
      <p:sp>
        <p:nvSpPr>
          <p:cNvPr id="21" name="Shape 18"/>
          <p:cNvSpPr/>
          <p:nvPr/>
        </p:nvSpPr>
        <p:spPr>
          <a:xfrm>
            <a:off x="10351008" y="4361688"/>
            <a:ext cx="285293" cy="310896"/>
          </a:xfrm>
          <a:prstGeom prst="rect">
            <a:avLst/>
          </a:prstGeom>
          <a:solidFill>
            <a:schemeClr val="tx1"/>
          </a:solidFill>
          <a:ln w="12700">
            <a:solidFill>
              <a:schemeClr val="tx1"/>
            </a:solidFill>
            <a:prstDash val="solid"/>
          </a:ln>
        </p:spPr>
      </p:sp>
      <p:sp>
        <p:nvSpPr>
          <p:cNvPr id="22" name="Text 19"/>
          <p:cNvSpPr txBox="1"/>
          <p:nvPr/>
        </p:nvSpPr>
        <p:spPr>
          <a:xfrm>
            <a:off x="10789920" y="4325112"/>
            <a:ext cx="914400" cy="384048"/>
          </a:xfrm>
          <a:prstGeom prst="rect">
            <a:avLst/>
          </a:prstGeom>
          <a:noFill/>
          <a:ln/>
        </p:spPr>
        <p:txBody>
          <a:bodyPr wrap="square" lIns="0" tIns="0" rIns="0" bIns="0" rtlCol="0" anchor="ctr"/>
          <a:lstStyle/>
          <a:p>
            <a:pPr indent="0" marL="0">
              <a:buNone/>
            </a:pPr>
            <a:r>
              <a:rPr lang="en-US" sz="1600" dirty="0">
                <a:solidFill>
                  <a:schemeClr val="tx1"/>
                </a:solidFill>
              </a:rPr>
              <a:t>+0,24</a:t>
            </a:r>
            <a:endParaRPr lang="en-US" sz="1600" dirty="0"/>
          </a:p>
        </p:txBody>
      </p:sp>
      <p:sp>
        <p:nvSpPr>
          <p:cNvPr id="23" name="Text 20"/>
          <p:cNvSpPr txBox="1"/>
          <p:nvPr/>
        </p:nvSpPr>
        <p:spPr>
          <a:xfrm>
            <a:off x="7086600" y="4846320"/>
            <a:ext cx="4279392" cy="274320"/>
          </a:xfrm>
          <a:prstGeom prst="rect">
            <a:avLst/>
          </a:prstGeom>
          <a:noFill/>
          <a:ln/>
        </p:spPr>
        <p:txBody>
          <a:bodyPr wrap="square" lIns="0" tIns="0" rIns="0" bIns="0" rtlCol="0" anchor="t"/>
          <a:lstStyle/>
          <a:p>
            <a:pPr indent="0" marL="0">
              <a:buNone/>
            </a:pPr>
            <a:r>
              <a:rPr lang="en-US" sz="1300" dirty="0">
                <a:solidFill>
                  <a:schemeClr val="accent1"/>
                </a:solidFill>
              </a:rPr>
              <a:t>* khác biệt có ý nghĩa thống kê (p &lt; 0,05)</a:t>
            </a:r>
            <a:endParaRPr lang="en-US" sz="1300" dirty="0"/>
          </a:p>
        </p:txBody>
      </p:sp>
      <p:sp>
        <p:nvSpPr>
          <p:cNvPr id="24" name="Shape 21"/>
          <p:cNvSpPr/>
          <p:nvPr/>
        </p:nvSpPr>
        <p:spPr>
          <a:xfrm>
            <a:off x="822960" y="5257800"/>
            <a:ext cx="10543032" cy="868680"/>
          </a:xfrm>
          <a:prstGeom prst="rect">
            <a:avLst/>
          </a:prstGeom>
          <a:solidFill>
            <a:schemeClr val="tx1"/>
          </a:solidFill>
          <a:ln w="12700">
            <a:solidFill>
              <a:schemeClr val="tx1"/>
            </a:solidFill>
            <a:prstDash val="solid"/>
          </a:ln>
        </p:spPr>
      </p:sp>
      <p:sp>
        <p:nvSpPr>
          <p:cNvPr id="25" name="Text 22"/>
          <p:cNvSpPr txBox="1"/>
          <p:nvPr/>
        </p:nvSpPr>
        <p:spPr>
          <a:xfrm>
            <a:off x="1097280" y="5257800"/>
            <a:ext cx="9966960" cy="868680"/>
          </a:xfrm>
          <a:prstGeom prst="rect">
            <a:avLst/>
          </a:prstGeom>
          <a:noFill/>
          <a:ln/>
        </p:spPr>
        <p:txBody>
          <a:bodyPr wrap="square" lIns="0" tIns="0" rIns="0" bIns="0" rtlCol="0" anchor="ctr"/>
          <a:lstStyle/>
          <a:p>
            <a:pPr indent="0" marL="0">
              <a:buNone/>
            </a:pPr>
            <a:r>
              <a:rPr lang="en-US" sz="2200" b="1" dirty="0">
                <a:solidFill>
                  <a:schemeClr val="bg1"/>
                </a:solidFill>
              </a:rPr>
              <a:t>Nội dung bài là phần quan trọng nhất.</a:t>
            </a:r>
            <a:endParaRPr lang="en-US" sz="2200" dirty="0"/>
          </a:p>
          <a:p>
            <a:pPr indent="0" marL="0">
              <a:buNone/>
            </a:pPr>
            <a:r>
              <a:rPr lang="en-US" sz="1800" dirty="0">
                <a:solidFill>
                  <a:schemeClr val="accent5"/>
                </a:solidFill>
              </a:rPr>
              <a:t>Các chi tiết kỹ thuật chỉ chênh khoảng 1 điểm.</a:t>
            </a:r>
            <a:endParaRPr lang="en-US" sz="2200" dirty="0"/>
          </a:p>
        </p:txBody>
      </p:sp>
      <p:sp>
        <p:nvSpPr>
          <p:cNvPr id="27"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3</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2"/>
                </a:solidFill>
                <a:latin typeface="Consolas" pitchFamily="34" charset="0"/>
                <a:ea typeface="Consolas" pitchFamily="34" charset="-122"/>
                <a:cs typeface="Consolas" pitchFamily="34" charset="-120"/>
              </a:rPr>
              <a:t>11 · KẾT QUẢ CUỐI CÙNG</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bg1"/>
                </a:solidFill>
              </a:rPr>
              <a:t>Trên 825 bài chưa từng thấy</a:t>
            </a:r>
            <a:endParaRPr lang="en-US" sz="3400" dirty="0"/>
          </a:p>
        </p:txBody>
      </p:sp>
      <p:sp>
        <p:nvSpPr>
          <p:cNvPr id="4" name="Text 2"/>
          <p:cNvSpPr txBox="1"/>
          <p:nvPr/>
        </p:nvSpPr>
        <p:spPr>
          <a:xfrm>
            <a:off x="822960" y="1737360"/>
            <a:ext cx="5029200" cy="1737360"/>
          </a:xfrm>
          <a:prstGeom prst="rect">
            <a:avLst/>
          </a:prstGeom>
          <a:noFill/>
          <a:ln/>
        </p:spPr>
        <p:txBody>
          <a:bodyPr wrap="square" lIns="0" tIns="0" rIns="0" bIns="0" rtlCol="0" anchor="t"/>
          <a:lstStyle/>
          <a:p>
            <a:pPr indent="0" marL="0">
              <a:buNone/>
            </a:pPr>
            <a:r>
              <a:rPr lang="en-US" sz="10000" b="1" dirty="0">
                <a:solidFill>
                  <a:schemeClr val="bg1"/>
                </a:solidFill>
                <a:latin typeface="Arial" pitchFamily="34" charset="0"/>
                <a:ea typeface="Arial" pitchFamily="34" charset="-122"/>
                <a:cs typeface="Arial" pitchFamily="34" charset="-120"/>
              </a:rPr>
              <a:t>89,3%</a:t>
            </a:r>
            <a:endParaRPr lang="en-US" sz="10000" dirty="0"/>
          </a:p>
        </p:txBody>
      </p:sp>
      <p:sp>
        <p:nvSpPr>
          <p:cNvPr id="5" name="Text 3"/>
          <p:cNvSpPr txBox="1"/>
          <p:nvPr/>
        </p:nvSpPr>
        <p:spPr>
          <a:xfrm>
            <a:off x="822960" y="3429000"/>
            <a:ext cx="5120640" cy="365760"/>
          </a:xfrm>
          <a:prstGeom prst="rect">
            <a:avLst/>
          </a:prstGeom>
          <a:noFill/>
          <a:ln/>
        </p:spPr>
        <p:txBody>
          <a:bodyPr wrap="square" lIns="0" tIns="0" rIns="0" bIns="0" rtlCol="0" anchor="t"/>
          <a:lstStyle/>
          <a:p>
            <a:pPr indent="0" marL="0">
              <a:buNone/>
            </a:pPr>
            <a:r>
              <a:rPr lang="en-US" sz="2200" dirty="0">
                <a:solidFill>
                  <a:schemeClr val="accent5"/>
                </a:solidFill>
              </a:rPr>
              <a:t>Accuracy · đúng 737 / 825 bài</a:t>
            </a:r>
            <a:endParaRPr lang="en-US" sz="2200" dirty="0"/>
          </a:p>
        </p:txBody>
      </p:sp>
      <p:sp>
        <p:nvSpPr>
          <p:cNvPr id="6" name="Text 4"/>
          <p:cNvSpPr txBox="1"/>
          <p:nvPr/>
        </p:nvSpPr>
        <p:spPr>
          <a:xfrm>
            <a:off x="6309360" y="1737360"/>
            <a:ext cx="5029200" cy="1737360"/>
          </a:xfrm>
          <a:prstGeom prst="rect">
            <a:avLst/>
          </a:prstGeom>
          <a:noFill/>
          <a:ln/>
        </p:spPr>
        <p:txBody>
          <a:bodyPr wrap="square" lIns="0" tIns="0" rIns="0" bIns="0" rtlCol="0" anchor="t"/>
          <a:lstStyle/>
          <a:p>
            <a:pPr indent="0" marL="0">
              <a:buNone/>
            </a:pPr>
            <a:r>
              <a:rPr lang="en-US" sz="10000" b="1" dirty="0">
                <a:solidFill>
                  <a:schemeClr val="bg1"/>
                </a:solidFill>
                <a:latin typeface="Arial" pitchFamily="34" charset="0"/>
                <a:ea typeface="Arial" pitchFamily="34" charset="-122"/>
                <a:cs typeface="Arial" pitchFamily="34" charset="-120"/>
              </a:rPr>
              <a:t>0,893</a:t>
            </a:r>
            <a:endParaRPr lang="en-US" sz="10000" dirty="0"/>
          </a:p>
        </p:txBody>
      </p:sp>
      <p:sp>
        <p:nvSpPr>
          <p:cNvPr id="7" name="Text 5"/>
          <p:cNvSpPr txBox="1"/>
          <p:nvPr/>
        </p:nvSpPr>
        <p:spPr>
          <a:xfrm>
            <a:off x="6309360" y="3429000"/>
            <a:ext cx="4572000" cy="365760"/>
          </a:xfrm>
          <a:prstGeom prst="rect">
            <a:avLst/>
          </a:prstGeom>
          <a:noFill/>
          <a:ln/>
        </p:spPr>
        <p:txBody>
          <a:bodyPr wrap="square" lIns="0" tIns="0" rIns="0" bIns="0" rtlCol="0" anchor="t"/>
          <a:lstStyle/>
          <a:p>
            <a:pPr indent="0" marL="0">
              <a:buNone/>
            </a:pPr>
            <a:r>
              <a:rPr lang="en-US" sz="2200" dirty="0">
                <a:solidFill>
                  <a:schemeClr val="accent5"/>
                </a:solidFill>
              </a:rPr>
              <a:t>Macro-F1</a:t>
            </a:r>
            <a:endParaRPr lang="en-US" sz="2200" dirty="0"/>
          </a:p>
        </p:txBody>
      </p:sp>
      <p:sp>
        <p:nvSpPr>
          <p:cNvPr id="8" name="Text 6"/>
          <p:cNvSpPr txBox="1"/>
          <p:nvPr/>
        </p:nvSpPr>
        <p:spPr>
          <a:xfrm>
            <a:off x="822960" y="4023360"/>
            <a:ext cx="10515600" cy="457200"/>
          </a:xfrm>
          <a:prstGeom prst="rect">
            <a:avLst/>
          </a:prstGeom>
          <a:noFill/>
          <a:ln/>
        </p:spPr>
        <p:txBody>
          <a:bodyPr wrap="square" lIns="0" tIns="0" rIns="0" bIns="0" rtlCol="0" anchor="t"/>
          <a:lstStyle/>
          <a:p>
            <a:pPr indent="0" marL="0">
              <a:buNone/>
            </a:pPr>
            <a:r>
              <a:rPr lang="en-US" sz="2200" dirty="0">
                <a:solidFill>
                  <a:schemeClr val="bg1"/>
                </a:solidFill>
              </a:rPr>
              <a:t>Khoảng tin cậy 95%: 87,3% đến 91,4%. Đoán ngẫu nhiên chỉ khoảng 9,1%.</a:t>
            </a:r>
            <a:endParaRPr lang="en-US" sz="2200" dirty="0"/>
          </a:p>
        </p:txBody>
      </p:sp>
      <p:sp>
        <p:nvSpPr>
          <p:cNvPr id="9" name="Text 7"/>
          <p:cNvSpPr txBox="1"/>
          <p:nvPr/>
        </p:nvSpPr>
        <p:spPr>
          <a:xfrm>
            <a:off x="822960" y="4663440"/>
            <a:ext cx="2606040" cy="54864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0,884</a:t>
            </a:r>
            <a:endParaRPr lang="en-US" sz="3200" dirty="0"/>
          </a:p>
        </p:txBody>
      </p:sp>
      <p:sp>
        <p:nvSpPr>
          <p:cNvPr id="10" name="Text 8"/>
          <p:cNvSpPr txBox="1"/>
          <p:nvPr/>
        </p:nvSpPr>
        <p:spPr>
          <a:xfrm>
            <a:off x="822960" y="5257800"/>
            <a:ext cx="2606040" cy="640080"/>
          </a:xfrm>
          <a:prstGeom prst="rect">
            <a:avLst/>
          </a:prstGeom>
          <a:noFill/>
          <a:ln/>
        </p:spPr>
        <p:txBody>
          <a:bodyPr wrap="square" lIns="0" tIns="0" rIns="0" bIns="0" rtlCol="0" anchor="t"/>
          <a:lstStyle/>
          <a:p>
            <a:pPr indent="0" marL="0">
              <a:buNone/>
            </a:pPr>
            <a:r>
              <a:rPr lang="en-US" sz="1400" dirty="0">
                <a:solidFill>
                  <a:schemeClr val="accent2"/>
                </a:solidFill>
              </a:rPr>
              <a:t>Cross-validation</a:t>
            </a:r>
            <a:endParaRPr lang="en-US" sz="1400" dirty="0"/>
          </a:p>
          <a:p>
            <a:pPr indent="0" marL="0">
              <a:buNone/>
            </a:pPr>
            <a:r>
              <a:rPr lang="en-US" sz="1400" dirty="0">
                <a:solidFill>
                  <a:schemeClr val="accent2"/>
                </a:solidFill>
              </a:rPr>
              <a:t>5-fold (Macro-F1)</a:t>
            </a:r>
            <a:endParaRPr lang="en-US" sz="1400" dirty="0"/>
          </a:p>
        </p:txBody>
      </p:sp>
      <p:sp>
        <p:nvSpPr>
          <p:cNvPr id="11" name="Text 9"/>
          <p:cNvSpPr txBox="1"/>
          <p:nvPr/>
        </p:nvSpPr>
        <p:spPr>
          <a:xfrm>
            <a:off x="3456432" y="4663440"/>
            <a:ext cx="2606040" cy="54864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0,886</a:t>
            </a:r>
            <a:endParaRPr lang="en-US" sz="3200" dirty="0"/>
          </a:p>
        </p:txBody>
      </p:sp>
      <p:sp>
        <p:nvSpPr>
          <p:cNvPr id="12" name="Text 10"/>
          <p:cNvSpPr txBox="1"/>
          <p:nvPr/>
        </p:nvSpPr>
        <p:spPr>
          <a:xfrm>
            <a:off x="3456432" y="5257800"/>
            <a:ext cx="2606040" cy="640080"/>
          </a:xfrm>
          <a:prstGeom prst="rect">
            <a:avLst/>
          </a:prstGeom>
          <a:noFill/>
          <a:ln/>
        </p:spPr>
        <p:txBody>
          <a:bodyPr wrap="square" lIns="0" tIns="0" rIns="0" bIns="0" rtlCol="0" anchor="t"/>
          <a:lstStyle/>
          <a:p>
            <a:pPr indent="0" marL="0">
              <a:buNone/>
            </a:pPr>
            <a:r>
              <a:rPr lang="en-US" sz="1400" dirty="0">
                <a:solidFill>
                  <a:schemeClr val="accent2"/>
                </a:solidFill>
              </a:rPr>
              <a:t>Kiểm định</a:t>
            </a:r>
            <a:endParaRPr lang="en-US" sz="1400" dirty="0"/>
          </a:p>
          <a:p>
            <a:pPr indent="0" marL="0">
              <a:buNone/>
            </a:pPr>
            <a:r>
              <a:rPr lang="en-US" sz="1400" dirty="0">
                <a:solidFill>
                  <a:schemeClr val="accent2"/>
                </a:solidFill>
              </a:rPr>
              <a:t>(Macro-F1)</a:t>
            </a:r>
            <a:endParaRPr lang="en-US" sz="1400" dirty="0"/>
          </a:p>
        </p:txBody>
      </p:sp>
      <p:sp>
        <p:nvSpPr>
          <p:cNvPr id="13" name="Text 11"/>
          <p:cNvSpPr txBox="1"/>
          <p:nvPr/>
        </p:nvSpPr>
        <p:spPr>
          <a:xfrm>
            <a:off x="6089904" y="4663440"/>
            <a:ext cx="2606040" cy="54864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0,893</a:t>
            </a:r>
            <a:endParaRPr lang="en-US" sz="3200" dirty="0"/>
          </a:p>
        </p:txBody>
      </p:sp>
      <p:sp>
        <p:nvSpPr>
          <p:cNvPr id="14" name="Text 12"/>
          <p:cNvSpPr txBox="1"/>
          <p:nvPr/>
        </p:nvSpPr>
        <p:spPr>
          <a:xfrm>
            <a:off x="6089904" y="5257800"/>
            <a:ext cx="2606040" cy="640080"/>
          </a:xfrm>
          <a:prstGeom prst="rect">
            <a:avLst/>
          </a:prstGeom>
          <a:noFill/>
          <a:ln/>
        </p:spPr>
        <p:txBody>
          <a:bodyPr wrap="square" lIns="0" tIns="0" rIns="0" bIns="0" rtlCol="0" anchor="t"/>
          <a:lstStyle/>
          <a:p>
            <a:pPr indent="0" marL="0">
              <a:buNone/>
            </a:pPr>
            <a:r>
              <a:rPr lang="en-US" sz="1400" dirty="0">
                <a:solidFill>
                  <a:schemeClr val="accent2"/>
                </a:solidFill>
              </a:rPr>
              <a:t>Kiểm thử</a:t>
            </a:r>
            <a:endParaRPr lang="en-US" sz="1400" dirty="0"/>
          </a:p>
          <a:p>
            <a:pPr indent="0" marL="0">
              <a:buNone/>
            </a:pPr>
            <a:r>
              <a:rPr lang="en-US" sz="1400" dirty="0">
                <a:solidFill>
                  <a:schemeClr val="accent2"/>
                </a:solidFill>
              </a:rPr>
              <a:t>(Macro-F1)</a:t>
            </a:r>
            <a:endParaRPr lang="en-US" sz="1400" dirty="0"/>
          </a:p>
        </p:txBody>
      </p:sp>
      <p:sp>
        <p:nvSpPr>
          <p:cNvPr id="15" name="Text 13"/>
          <p:cNvSpPr txBox="1"/>
          <p:nvPr/>
        </p:nvSpPr>
        <p:spPr>
          <a:xfrm>
            <a:off x="8723376" y="4663440"/>
            <a:ext cx="2606040" cy="54864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0,890 ± 0,004</a:t>
            </a:r>
            <a:endParaRPr lang="en-US" sz="2600" dirty="0"/>
          </a:p>
        </p:txBody>
      </p:sp>
      <p:sp>
        <p:nvSpPr>
          <p:cNvPr id="16" name="Text 14"/>
          <p:cNvSpPr txBox="1"/>
          <p:nvPr/>
        </p:nvSpPr>
        <p:spPr>
          <a:xfrm>
            <a:off x="8723376" y="5257800"/>
            <a:ext cx="2606040" cy="640080"/>
          </a:xfrm>
          <a:prstGeom prst="rect">
            <a:avLst/>
          </a:prstGeom>
          <a:noFill/>
          <a:ln/>
        </p:spPr>
        <p:txBody>
          <a:bodyPr wrap="square" lIns="0" tIns="0" rIns="0" bIns="0" rtlCol="0" anchor="t"/>
          <a:lstStyle/>
          <a:p>
            <a:pPr indent="0" marL="0">
              <a:buNone/>
            </a:pPr>
            <a:r>
              <a:rPr lang="en-US" sz="1400" dirty="0">
                <a:solidFill>
                  <a:schemeClr val="accent2"/>
                </a:solidFill>
              </a:rPr>
              <a:t>10 lần chia lại dữ liệu</a:t>
            </a:r>
            <a:endParaRPr lang="en-US" sz="1400" dirty="0"/>
          </a:p>
          <a:p>
            <a:pPr indent="0" marL="0">
              <a:buNone/>
            </a:pPr>
            <a:r>
              <a:rPr lang="en-US" sz="1400" dirty="0">
                <a:solidFill>
                  <a:schemeClr val="accent2"/>
                </a:solidFill>
              </a:rPr>
              <a:t>(Macro-F1 kiểm thử)</a:t>
            </a:r>
            <a:endParaRPr lang="en-US" sz="1400" dirty="0"/>
          </a:p>
        </p:txBody>
      </p:sp>
      <p:sp>
        <p:nvSpPr>
          <p:cNvPr id="17" name="Text 15"/>
          <p:cNvSpPr txBox="1"/>
          <p:nvPr/>
        </p:nvSpPr>
        <p:spPr>
          <a:xfrm>
            <a:off x="822960" y="5925312"/>
            <a:ext cx="10515600" cy="365760"/>
          </a:xfrm>
          <a:prstGeom prst="rect">
            <a:avLst/>
          </a:prstGeom>
          <a:noFill/>
          <a:ln/>
        </p:spPr>
        <p:txBody>
          <a:bodyPr wrap="square" lIns="0" tIns="0" rIns="0" bIns="0" rtlCol="0" anchor="t"/>
          <a:lstStyle/>
          <a:p>
            <a:pPr indent="0" marL="0">
              <a:buNone/>
            </a:pPr>
            <a:r>
              <a:rPr lang="en-US" sz="1700" b="1" dirty="0">
                <a:solidFill>
                  <a:schemeClr val="bg1"/>
                </a:solidFill>
              </a:rPr>
              <a:t>Bốn con số gần nhau: kết quả không phụ thuộc vào một lần chia dữ liệu.</a:t>
            </a:r>
            <a:endParaRPr lang="en-US" sz="1700" dirty="0"/>
          </a:p>
        </p:txBody>
      </p:sp>
      <p:sp>
        <p:nvSpPr>
          <p:cNvPr id="19"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2"/>
                </a:solidFill>
                <a:latin typeface="Consolas" pitchFamily="34" charset="0"/>
                <a:ea typeface="Consolas" pitchFamily="34" charset="-122"/>
                <a:cs typeface="Consolas" pitchFamily="34" charset="-120"/>
              </a:rPr>
              <a:t>TRÌNH BÀY · THÀNH VIÊN 4</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12 · KẾT QUẢ THEO CHUYÊN MỤC</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F1 từng chuyên mục trên tập kiểm thử</a:t>
            </a:r>
            <a:endParaRPr lang="en-US" sz="3400" dirty="0"/>
          </a:p>
        </p:txBody>
      </p:sp>
      <p:graphicFrame>
        <p:nvGraphicFramePr>
          <p:cNvPr id="4" name="Chart 0" descr=""/>
          <p:cNvGraphicFramePr/>
          <p:nvPr/>
        </p:nvGraphicFramePr>
        <p:xfrm>
          <a:off x="822960" y="169164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83880" y="1874520"/>
            <a:ext cx="3182112" cy="1874520"/>
          </a:xfrm>
          <a:prstGeom prst="rect">
            <a:avLst/>
          </a:prstGeom>
          <a:solidFill>
            <a:schemeClr val="bg1"/>
          </a:solidFill>
          <a:ln w="19050">
            <a:solidFill>
              <a:schemeClr val="tx1"/>
            </a:solidFill>
            <a:prstDash val="solid"/>
          </a:ln>
        </p:spPr>
      </p:sp>
      <p:sp>
        <p:nvSpPr>
          <p:cNvPr id="6" name="Text 3"/>
          <p:cNvSpPr txBox="1"/>
          <p:nvPr/>
        </p:nvSpPr>
        <p:spPr>
          <a:xfrm>
            <a:off x="8412480" y="1993392"/>
            <a:ext cx="274320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CAO NHẤT</a:t>
            </a:r>
            <a:endParaRPr lang="en-US" sz="1400" dirty="0"/>
          </a:p>
        </p:txBody>
      </p:sp>
      <p:sp>
        <p:nvSpPr>
          <p:cNvPr id="7" name="Text 4"/>
          <p:cNvSpPr txBox="1"/>
          <p:nvPr/>
        </p:nvSpPr>
        <p:spPr>
          <a:xfrm>
            <a:off x="8412480" y="2304288"/>
            <a:ext cx="2743200" cy="41148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Thể thao 0,97</a:t>
            </a:r>
            <a:endParaRPr lang="en-US" sz="2400" dirty="0"/>
          </a:p>
        </p:txBody>
      </p:sp>
      <p:sp>
        <p:nvSpPr>
          <p:cNvPr id="8" name="Text 5"/>
          <p:cNvSpPr txBox="1"/>
          <p:nvPr/>
        </p:nvSpPr>
        <p:spPr>
          <a:xfrm>
            <a:off x="8412480" y="2834640"/>
            <a:ext cx="2743200" cy="822960"/>
          </a:xfrm>
          <a:prstGeom prst="rect">
            <a:avLst/>
          </a:prstGeom>
          <a:noFill/>
          <a:ln/>
        </p:spPr>
        <p:txBody>
          <a:bodyPr wrap="square" lIns="0" tIns="0" rIns="0" bIns="0" rtlCol="0" anchor="t"/>
          <a:lstStyle/>
          <a:p>
            <a:pPr indent="0" marL="0">
              <a:buNone/>
            </a:pPr>
            <a:r>
              <a:rPr lang="en-US" sz="1600" dirty="0">
                <a:solidFill>
                  <a:schemeClr val="accent3"/>
                </a:solidFill>
              </a:rPr>
              <a:t>Từ vựng đặc trưng: bóng, trận, cầu thủ</a:t>
            </a:r>
            <a:endParaRPr lang="en-US" sz="1600" dirty="0"/>
          </a:p>
        </p:txBody>
      </p:sp>
      <p:sp>
        <p:nvSpPr>
          <p:cNvPr id="9" name="Shape 6"/>
          <p:cNvSpPr/>
          <p:nvPr/>
        </p:nvSpPr>
        <p:spPr>
          <a:xfrm>
            <a:off x="8183880" y="3931920"/>
            <a:ext cx="3182112" cy="2011680"/>
          </a:xfrm>
          <a:prstGeom prst="rect">
            <a:avLst/>
          </a:prstGeom>
          <a:solidFill>
            <a:schemeClr val="tx1"/>
          </a:solidFill>
          <a:ln w="12700">
            <a:solidFill>
              <a:schemeClr val="tx1"/>
            </a:solidFill>
            <a:prstDash val="solid"/>
          </a:ln>
        </p:spPr>
      </p:sp>
      <p:sp>
        <p:nvSpPr>
          <p:cNvPr id="10" name="Text 7"/>
          <p:cNvSpPr txBox="1"/>
          <p:nvPr/>
        </p:nvSpPr>
        <p:spPr>
          <a:xfrm>
            <a:off x="8412480" y="4050792"/>
            <a:ext cx="2743200" cy="274320"/>
          </a:xfrm>
          <a:prstGeom prst="rect">
            <a:avLst/>
          </a:prstGeom>
          <a:noFill/>
          <a:ln/>
        </p:spPr>
        <p:txBody>
          <a:bodyPr wrap="square" lIns="0" tIns="0" rIns="0" bIns="0" rtlCol="0" anchor="t"/>
          <a:lstStyle/>
          <a:p>
            <a:pPr indent="0" marL="0">
              <a:buNone/>
            </a:pPr>
            <a:r>
              <a:rPr lang="en-US" sz="1400" b="1" dirty="0">
                <a:solidFill>
                  <a:schemeClr val="accent2"/>
                </a:solidFill>
                <a:latin typeface="Consolas" pitchFamily="34" charset="0"/>
                <a:ea typeface="Consolas" pitchFamily="34" charset="-122"/>
                <a:cs typeface="Consolas" pitchFamily="34" charset="-120"/>
              </a:rPr>
              <a:t>THẤP NHẤT</a:t>
            </a:r>
            <a:endParaRPr lang="en-US" sz="1400" dirty="0"/>
          </a:p>
        </p:txBody>
      </p:sp>
      <p:sp>
        <p:nvSpPr>
          <p:cNvPr id="11" name="Text 8"/>
          <p:cNvSpPr txBox="1"/>
          <p:nvPr/>
        </p:nvSpPr>
        <p:spPr>
          <a:xfrm>
            <a:off x="8412480" y="4361688"/>
            <a:ext cx="2743200" cy="41148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Thời sự 0,78</a:t>
            </a:r>
            <a:endParaRPr lang="en-US" sz="2400" dirty="0"/>
          </a:p>
        </p:txBody>
      </p:sp>
      <p:sp>
        <p:nvSpPr>
          <p:cNvPr id="12" name="Text 9"/>
          <p:cNvSpPr txBox="1"/>
          <p:nvPr/>
        </p:nvSpPr>
        <p:spPr>
          <a:xfrm>
            <a:off x="8412480" y="4892040"/>
            <a:ext cx="2743200" cy="1005840"/>
          </a:xfrm>
          <a:prstGeom prst="rect">
            <a:avLst/>
          </a:prstGeom>
          <a:noFill/>
          <a:ln/>
        </p:spPr>
        <p:txBody>
          <a:bodyPr wrap="square" lIns="0" tIns="0" rIns="0" bIns="0" rtlCol="0" anchor="t"/>
          <a:lstStyle/>
          <a:p>
            <a:pPr indent="0" marL="0">
              <a:buNone/>
            </a:pPr>
            <a:r>
              <a:rPr lang="en-US" sz="1600" dirty="0">
                <a:solidFill>
                  <a:schemeClr val="accent6"/>
                </a:solidFill>
              </a:rPr>
              <a:t>Có thể do giao thoa với Pháp luật, Kinh doanh, Đời sống</a:t>
            </a:r>
            <a:endParaRPr lang="en-US" sz="1600" dirty="0"/>
          </a:p>
        </p:txBody>
      </p:sp>
      <p:sp>
        <p:nvSpPr>
          <p:cNvPr id="14"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4</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13 · PHÂN TÍCH LỖI</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Mô hình nhầm ở đâu</a:t>
            </a:r>
            <a:endParaRPr lang="en-US" sz="3400" dirty="0"/>
          </a:p>
        </p:txBody>
      </p:sp>
      <p:pic>
        <p:nvPicPr>
          <p:cNvPr id="4" name="Image 0" descr="Ma trận nhầm lẫn 11 lớp trên tập kiểm thử">    </p:cNvPr>
          <p:cNvPicPr>
            <a:picLocks noChangeAspect="1"/>
          </p:cNvPicPr>
          <p:nvPr/>
        </p:nvPicPr>
        <p:blipFill>
          <a:blip r:embed="rId1"/>
          <a:stretch>
            <a:fillRect/>
          </a:stretch>
        </p:blipFill>
        <p:spPr>
          <a:xfrm>
            <a:off x="822960" y="1783080"/>
            <a:ext cx="7132320" cy="2587752"/>
          </a:xfrm>
          <a:prstGeom prst="rect">
            <a:avLst/>
          </a:prstGeom>
        </p:spPr>
      </p:pic>
      <p:sp>
        <p:nvSpPr>
          <p:cNvPr id="5" name="Text 2"/>
          <p:cNvSpPr txBox="1"/>
          <p:nvPr/>
        </p:nvSpPr>
        <p:spPr>
          <a:xfrm>
            <a:off x="822960" y="4434840"/>
            <a:ext cx="7132320" cy="320040"/>
          </a:xfrm>
          <a:prstGeom prst="rect">
            <a:avLst/>
          </a:prstGeom>
          <a:noFill/>
          <a:ln/>
        </p:spPr>
        <p:txBody>
          <a:bodyPr wrap="square" lIns="0" tIns="0" rIns="0" bIns="0" rtlCol="0" anchor="t"/>
          <a:lstStyle/>
          <a:p>
            <a:pPr indent="0" marL="0">
              <a:buNone/>
            </a:pPr>
            <a:r>
              <a:rPr lang="en-US" sz="1400" dirty="0">
                <a:solidFill>
                  <a:schemeClr val="accent1"/>
                </a:solidFill>
              </a:rPr>
              <a:t>Hàng: thực tế · Cột: AI dự đoán · Đường chéo đen: đúng</a:t>
            </a:r>
            <a:endParaRPr lang="en-US" sz="1400" dirty="0"/>
          </a:p>
        </p:txBody>
      </p:sp>
      <p:sp>
        <p:nvSpPr>
          <p:cNvPr id="6" name="Text 3"/>
          <p:cNvSpPr txBox="1"/>
          <p:nvPr/>
        </p:nvSpPr>
        <p:spPr>
          <a:xfrm>
            <a:off x="8412480" y="1691640"/>
            <a:ext cx="2926080" cy="1005840"/>
          </a:xfrm>
          <a:prstGeom prst="rect">
            <a:avLst/>
          </a:prstGeom>
          <a:noFill/>
          <a:ln/>
        </p:spPr>
        <p:txBody>
          <a:bodyPr wrap="square" lIns="0" tIns="0" rIns="0" bIns="0" rtlCol="0" anchor="t"/>
          <a:lstStyle/>
          <a:p>
            <a:pPr indent="0" marL="0">
              <a:buNone/>
            </a:pPr>
            <a:r>
              <a:rPr lang="en-US" sz="6600" b="1" dirty="0">
                <a:solidFill>
                  <a:schemeClr val="tx1"/>
                </a:solidFill>
                <a:latin typeface="Arial" pitchFamily="34" charset="0"/>
                <a:ea typeface="Arial" pitchFamily="34" charset="-122"/>
                <a:cs typeface="Arial" pitchFamily="34" charset="-120"/>
              </a:rPr>
              <a:t>88</a:t>
            </a:r>
            <a:endParaRPr lang="en-US" sz="6600" dirty="0"/>
          </a:p>
        </p:txBody>
      </p:sp>
      <p:sp>
        <p:nvSpPr>
          <p:cNvPr id="7" name="Text 4"/>
          <p:cNvSpPr txBox="1"/>
          <p:nvPr/>
        </p:nvSpPr>
        <p:spPr>
          <a:xfrm>
            <a:off x="8412480" y="2697480"/>
            <a:ext cx="2926080" cy="365760"/>
          </a:xfrm>
          <a:prstGeom prst="rect">
            <a:avLst/>
          </a:prstGeom>
          <a:noFill/>
          <a:ln/>
        </p:spPr>
        <p:txBody>
          <a:bodyPr wrap="square" lIns="0" tIns="0" rIns="0" bIns="0" rtlCol="0" anchor="t"/>
          <a:lstStyle/>
          <a:p>
            <a:pPr indent="0" marL="0">
              <a:buNone/>
            </a:pPr>
            <a:r>
              <a:rPr lang="en-US" sz="1800" dirty="0">
                <a:solidFill>
                  <a:schemeClr val="accent3"/>
                </a:solidFill>
              </a:rPr>
              <a:t>bài sai trên 825 (10,7%)</a:t>
            </a:r>
            <a:endParaRPr lang="en-US" sz="1800" dirty="0"/>
          </a:p>
        </p:txBody>
      </p:sp>
      <p:sp>
        <p:nvSpPr>
          <p:cNvPr id="8" name="Text 5"/>
          <p:cNvSpPr txBox="1"/>
          <p:nvPr/>
        </p:nvSpPr>
        <p:spPr>
          <a:xfrm>
            <a:off x="8412480" y="3200400"/>
            <a:ext cx="292608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HAY NHẦM NHẤT</a:t>
            </a:r>
            <a:endParaRPr lang="en-US" sz="1400" dirty="0"/>
          </a:p>
        </p:txBody>
      </p:sp>
      <p:sp>
        <p:nvSpPr>
          <p:cNvPr id="9" name="Text 6"/>
          <p:cNvSpPr txBox="1"/>
          <p:nvPr/>
        </p:nvSpPr>
        <p:spPr>
          <a:xfrm>
            <a:off x="8412480" y="3520440"/>
            <a:ext cx="2926080" cy="868680"/>
          </a:xfrm>
          <a:prstGeom prst="rect">
            <a:avLst/>
          </a:prstGeom>
          <a:noFill/>
          <a:ln/>
        </p:spPr>
        <p:txBody>
          <a:bodyPr wrap="square" lIns="0" tIns="0" rIns="0" bIns="0" rtlCol="0" anchor="t"/>
          <a:lstStyle/>
          <a:p>
            <a:pPr indent="0" marL="0">
              <a:buNone/>
            </a:pPr>
            <a:r>
              <a:rPr lang="en-US" sz="1700" dirty="0">
                <a:solidFill>
                  <a:schemeClr val="tx1"/>
                </a:solidFill>
              </a:rPr>
              <a:t>Thời sự → Pháp luật: 6</a:t>
            </a:r>
            <a:endParaRPr lang="en-US" sz="1700" dirty="0"/>
          </a:p>
          <a:p>
            <a:pPr indent="0" marL="0">
              <a:buNone/>
            </a:pPr>
            <a:r>
              <a:rPr lang="en-US" sz="1700" dirty="0">
                <a:solidFill>
                  <a:schemeClr val="tx1"/>
                </a:solidFill>
              </a:rPr>
              <a:t>Thời sự → Kinh doanh: 5</a:t>
            </a:r>
            <a:endParaRPr lang="en-US" sz="1700" dirty="0"/>
          </a:p>
          <a:p>
            <a:pPr indent="0" marL="0">
              <a:buNone/>
            </a:pPr>
            <a:r>
              <a:rPr lang="en-US" sz="1700" dirty="0">
                <a:solidFill>
                  <a:schemeClr val="tx1"/>
                </a:solidFill>
              </a:rPr>
              <a:t>Thời sự → Đời sống: 4</a:t>
            </a:r>
            <a:endParaRPr lang="en-US" sz="1700" dirty="0"/>
          </a:p>
        </p:txBody>
      </p:sp>
      <p:sp>
        <p:nvSpPr>
          <p:cNvPr id="10" name="Text 7"/>
          <p:cNvSpPr txBox="1"/>
          <p:nvPr/>
        </p:nvSpPr>
        <p:spPr>
          <a:xfrm>
            <a:off x="8412480" y="4434840"/>
            <a:ext cx="2926080" cy="320040"/>
          </a:xfrm>
          <a:prstGeom prst="rect">
            <a:avLst/>
          </a:prstGeom>
          <a:noFill/>
          <a:ln/>
        </p:spPr>
        <p:txBody>
          <a:bodyPr wrap="square" lIns="0" tIns="0" rIns="0" bIns="0" rtlCol="0" anchor="t"/>
          <a:lstStyle/>
          <a:p>
            <a:pPr indent="0" marL="0">
              <a:buNone/>
            </a:pPr>
            <a:r>
              <a:rPr lang="en-US" sz="1500" b="1" dirty="0">
                <a:solidFill>
                  <a:schemeClr val="accent3"/>
                </a:solidFill>
              </a:rPr>
              <a:t>Thời sự có mặt trong 33/88 lỗi</a:t>
            </a:r>
            <a:endParaRPr lang="en-US" sz="1500" dirty="0"/>
          </a:p>
        </p:txBody>
      </p:sp>
      <p:sp>
        <p:nvSpPr>
          <p:cNvPr id="11" name="Shape 8"/>
          <p:cNvSpPr/>
          <p:nvPr/>
        </p:nvSpPr>
        <p:spPr>
          <a:xfrm>
            <a:off x="822960" y="4937760"/>
            <a:ext cx="10543032" cy="1188720"/>
          </a:xfrm>
          <a:prstGeom prst="rect">
            <a:avLst/>
          </a:prstGeom>
          <a:solidFill>
            <a:schemeClr val="tx1"/>
          </a:solidFill>
          <a:ln w="12700">
            <a:solidFill>
              <a:schemeClr val="tx1"/>
            </a:solidFill>
            <a:prstDash val="solid"/>
          </a:ln>
        </p:spPr>
      </p:sp>
      <p:sp>
        <p:nvSpPr>
          <p:cNvPr id="12" name="Text 9"/>
          <p:cNvSpPr txBox="1"/>
          <p:nvPr/>
        </p:nvSpPr>
        <p:spPr>
          <a:xfrm>
            <a:off x="1097280" y="5010912"/>
            <a:ext cx="4937760" cy="27432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TIN AI KHI NÀO?</a:t>
            </a:r>
            <a:endParaRPr lang="en-US" sz="1300" dirty="0"/>
          </a:p>
        </p:txBody>
      </p:sp>
      <p:sp>
        <p:nvSpPr>
          <p:cNvPr id="13" name="Text 10"/>
          <p:cNvSpPr txBox="1"/>
          <p:nvPr/>
        </p:nvSpPr>
        <p:spPr>
          <a:xfrm>
            <a:off x="1097280" y="5303520"/>
            <a:ext cx="5029200" cy="777240"/>
          </a:xfrm>
          <a:prstGeom prst="rect">
            <a:avLst/>
          </a:prstGeom>
          <a:noFill/>
          <a:ln/>
        </p:spPr>
        <p:txBody>
          <a:bodyPr wrap="square" lIns="0" tIns="0" rIns="0" bIns="0" rtlCol="0" anchor="t"/>
          <a:lstStyle/>
          <a:p>
            <a:pPr indent="0" marL="0">
              <a:buNone/>
            </a:pPr>
            <a:r>
              <a:rPr lang="en-US" sz="1700" b="1" dirty="0">
                <a:solidFill>
                  <a:schemeClr val="bg1"/>
                </a:solidFill>
              </a:rPr>
              <a:t>AI hiện từ 95% trở lên: đúng 98,2% (545 bài). Dưới 50%: chỉ đúng 50,0% (38 bài).</a:t>
            </a:r>
            <a:endParaRPr lang="en-US" sz="1700" dirty="0"/>
          </a:p>
        </p:txBody>
      </p:sp>
      <p:sp>
        <p:nvSpPr>
          <p:cNvPr id="14" name="Text 11"/>
          <p:cNvSpPr txBox="1"/>
          <p:nvPr/>
        </p:nvSpPr>
        <p:spPr>
          <a:xfrm>
            <a:off x="6400800" y="5010912"/>
            <a:ext cx="4937760" cy="27432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VÌ SAO SAI?</a:t>
            </a:r>
            <a:endParaRPr lang="en-US" sz="1300" dirty="0"/>
          </a:p>
        </p:txBody>
      </p:sp>
      <p:sp>
        <p:nvSpPr>
          <p:cNvPr id="15" name="Text 12"/>
          <p:cNvSpPr txBox="1"/>
          <p:nvPr/>
        </p:nvSpPr>
        <p:spPr>
          <a:xfrm>
            <a:off x="6400800" y="5303520"/>
            <a:ext cx="4937760" cy="777240"/>
          </a:xfrm>
          <a:prstGeom prst="rect">
            <a:avLst/>
          </a:prstGeom>
          <a:noFill/>
          <a:ln/>
        </p:spPr>
        <p:txBody>
          <a:bodyPr wrap="square" lIns="0" tIns="0" rIns="0" bIns="0" rtlCol="0" anchor="t"/>
          <a:lstStyle/>
          <a:p>
            <a:pPr indent="0" marL="0">
              <a:buNone/>
            </a:pPr>
            <a:r>
              <a:rPr lang="en-US" sz="1700" b="1" dirty="0">
                <a:solidFill>
                  <a:schemeClr val="bg1"/>
                </a:solidFill>
              </a:rPr>
              <a:t>61/88 bài sai: chuyên mục đúng đứng thứ 2 của AI. Nhiều bài sai là bài ranh giới.</a:t>
            </a:r>
            <a:endParaRPr lang="en-US" sz="1700" dirty="0"/>
          </a:p>
        </p:txBody>
      </p:sp>
      <p:sp>
        <p:nvSpPr>
          <p:cNvPr id="17"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4</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14 · WEBSITE VNNEWS</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Đóng gói thành website tin tức dùng được</a:t>
            </a:r>
            <a:endParaRPr lang="en-US" sz="3400" dirty="0"/>
          </a:p>
        </p:txBody>
      </p:sp>
      <p:pic>
        <p:nvPicPr>
          <p:cNvPr id="4" name="Image 0" descr="Trang chủ website VnNews: ô phân loại trực tiếp và kết quả AI xếp chuyên mục">    </p:cNvPr>
          <p:cNvPicPr>
            <a:picLocks noChangeAspect="1"/>
          </p:cNvPicPr>
          <p:nvPr/>
        </p:nvPicPr>
        <p:blipFill>
          <a:blip r:embed="rId1"/>
          <a:stretch>
            <a:fillRect/>
          </a:stretch>
        </p:blipFill>
        <p:spPr>
          <a:xfrm>
            <a:off x="822960" y="1783080"/>
            <a:ext cx="5486400" cy="3086100"/>
          </a:xfrm>
          <a:prstGeom prst="rect">
            <a:avLst/>
          </a:prstGeom>
        </p:spPr>
      </p:pic>
      <p:sp>
        <p:nvSpPr>
          <p:cNvPr id="5" name="Text 2"/>
          <p:cNvSpPr txBox="1"/>
          <p:nvPr/>
        </p:nvSpPr>
        <p:spPr>
          <a:xfrm>
            <a:off x="822960" y="4937760"/>
            <a:ext cx="5486400" cy="320040"/>
          </a:xfrm>
          <a:prstGeom prst="rect">
            <a:avLst/>
          </a:prstGeom>
          <a:noFill/>
          <a:ln/>
        </p:spPr>
        <p:txBody>
          <a:bodyPr wrap="square" lIns="0" tIns="0" rIns="0" bIns="0" rtlCol="0" anchor="t"/>
          <a:lstStyle/>
          <a:p>
            <a:pPr indent="0" marL="0">
              <a:buNone/>
            </a:pPr>
            <a:r>
              <a:rPr lang="en-US" sz="1400" dirty="0">
                <a:solidFill>
                  <a:schemeClr val="accent1"/>
                </a:solidFill>
              </a:rPr>
              <a:t>Trang chủ: dán văn bản, AI xếp chuyên mục ngay</a:t>
            </a:r>
            <a:endParaRPr lang="en-US" sz="1400" dirty="0"/>
          </a:p>
        </p:txBody>
      </p:sp>
      <p:sp>
        <p:nvSpPr>
          <p:cNvPr id="6" name="Shape 3"/>
          <p:cNvSpPr/>
          <p:nvPr/>
        </p:nvSpPr>
        <p:spPr>
          <a:xfrm>
            <a:off x="6583680" y="1783080"/>
            <a:ext cx="2286000" cy="1371600"/>
          </a:xfrm>
          <a:prstGeom prst="rect">
            <a:avLst/>
          </a:prstGeom>
          <a:solidFill>
            <a:schemeClr val="bg1"/>
          </a:solidFill>
          <a:ln w="19050">
            <a:solidFill>
              <a:schemeClr val="tx1"/>
            </a:solidFill>
            <a:prstDash val="solid"/>
          </a:ln>
        </p:spPr>
      </p:sp>
      <p:sp>
        <p:nvSpPr>
          <p:cNvPr id="7" name="Text 4"/>
          <p:cNvSpPr txBox="1"/>
          <p:nvPr/>
        </p:nvSpPr>
        <p:spPr>
          <a:xfrm>
            <a:off x="6720840" y="1920240"/>
            <a:ext cx="2057400" cy="41148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Phân loại trực tiếp</a:t>
            </a:r>
            <a:endParaRPr lang="en-US" sz="1600" dirty="0"/>
          </a:p>
        </p:txBody>
      </p:sp>
      <p:sp>
        <p:nvSpPr>
          <p:cNvPr id="8" name="Text 5"/>
          <p:cNvSpPr txBox="1"/>
          <p:nvPr/>
        </p:nvSpPr>
        <p:spPr>
          <a:xfrm>
            <a:off x="6720840" y="2377440"/>
            <a:ext cx="2011680" cy="731520"/>
          </a:xfrm>
          <a:prstGeom prst="rect">
            <a:avLst/>
          </a:prstGeom>
          <a:noFill/>
          <a:ln/>
        </p:spPr>
        <p:txBody>
          <a:bodyPr wrap="square" lIns="0" tIns="0" rIns="0" bIns="0" rtlCol="0" anchor="t"/>
          <a:lstStyle/>
          <a:p>
            <a:pPr indent="0" marL="0">
              <a:buNone/>
            </a:pPr>
            <a:r>
              <a:rPr lang="en-US" sz="1500" dirty="0">
                <a:solidFill>
                  <a:schemeClr val="accent3"/>
                </a:solidFill>
              </a:rPr>
              <a:t>Dán văn bản, nhận chuyên mục</a:t>
            </a:r>
            <a:endParaRPr lang="en-US" sz="1500" dirty="0"/>
          </a:p>
        </p:txBody>
      </p:sp>
      <p:sp>
        <p:nvSpPr>
          <p:cNvPr id="9" name="Shape 6"/>
          <p:cNvSpPr/>
          <p:nvPr/>
        </p:nvSpPr>
        <p:spPr>
          <a:xfrm>
            <a:off x="9079992" y="1783080"/>
            <a:ext cx="2286000" cy="1371600"/>
          </a:xfrm>
          <a:prstGeom prst="rect">
            <a:avLst/>
          </a:prstGeom>
          <a:solidFill>
            <a:schemeClr val="tx1"/>
          </a:solidFill>
          <a:ln w="19050">
            <a:solidFill>
              <a:schemeClr val="tx1"/>
            </a:solidFill>
            <a:prstDash val="solid"/>
          </a:ln>
        </p:spPr>
      </p:sp>
      <p:sp>
        <p:nvSpPr>
          <p:cNvPr id="10" name="Text 7"/>
          <p:cNvSpPr txBox="1"/>
          <p:nvPr/>
        </p:nvSpPr>
        <p:spPr>
          <a:xfrm>
            <a:off x="9217152" y="1920240"/>
            <a:ext cx="2057400" cy="41148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Hỏi AI về tin tức</a:t>
            </a:r>
            <a:endParaRPr lang="en-US" sz="1600" dirty="0"/>
          </a:p>
        </p:txBody>
      </p:sp>
      <p:sp>
        <p:nvSpPr>
          <p:cNvPr id="11" name="Text 8"/>
          <p:cNvSpPr txBox="1"/>
          <p:nvPr/>
        </p:nvSpPr>
        <p:spPr>
          <a:xfrm>
            <a:off x="9217152" y="2377440"/>
            <a:ext cx="2011680" cy="731520"/>
          </a:xfrm>
          <a:prstGeom prst="rect">
            <a:avLst/>
          </a:prstGeom>
          <a:noFill/>
          <a:ln/>
        </p:spPr>
        <p:txBody>
          <a:bodyPr wrap="square" lIns="0" tIns="0" rIns="0" bIns="0" rtlCol="0" anchor="t"/>
          <a:lstStyle/>
          <a:p>
            <a:pPr indent="0" marL="0">
              <a:buNone/>
            </a:pPr>
            <a:r>
              <a:rPr lang="en-US" sz="1500" dirty="0">
                <a:solidFill>
                  <a:schemeClr val="accent6"/>
                </a:solidFill>
              </a:rPr>
              <a:t>Trích câu trả lời, luôn dẫn nguồn</a:t>
            </a:r>
            <a:endParaRPr lang="en-US" sz="1500" dirty="0"/>
          </a:p>
        </p:txBody>
      </p:sp>
      <p:sp>
        <p:nvSpPr>
          <p:cNvPr id="12" name="Shape 9"/>
          <p:cNvSpPr/>
          <p:nvPr/>
        </p:nvSpPr>
        <p:spPr>
          <a:xfrm>
            <a:off x="6583680" y="3337560"/>
            <a:ext cx="2286000" cy="1371600"/>
          </a:xfrm>
          <a:prstGeom prst="rect">
            <a:avLst/>
          </a:prstGeom>
          <a:solidFill>
            <a:schemeClr val="bg1"/>
          </a:solidFill>
          <a:ln w="19050">
            <a:solidFill>
              <a:schemeClr val="tx1"/>
            </a:solidFill>
            <a:prstDash val="solid"/>
          </a:ln>
        </p:spPr>
      </p:sp>
      <p:sp>
        <p:nvSpPr>
          <p:cNvPr id="13" name="Text 10"/>
          <p:cNvSpPr txBox="1"/>
          <p:nvPr/>
        </p:nvSpPr>
        <p:spPr>
          <a:xfrm>
            <a:off x="6720840" y="3474720"/>
            <a:ext cx="2057400" cy="41148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Tóm tắt tự động</a:t>
            </a:r>
            <a:endParaRPr lang="en-US" sz="1600" dirty="0"/>
          </a:p>
        </p:txBody>
      </p:sp>
      <p:sp>
        <p:nvSpPr>
          <p:cNvPr id="14" name="Text 11"/>
          <p:cNvSpPr txBox="1"/>
          <p:nvPr/>
        </p:nvSpPr>
        <p:spPr>
          <a:xfrm>
            <a:off x="6720840" y="3931920"/>
            <a:ext cx="2011680" cy="731520"/>
          </a:xfrm>
          <a:prstGeom prst="rect">
            <a:avLst/>
          </a:prstGeom>
          <a:noFill/>
          <a:ln/>
        </p:spPr>
        <p:txBody>
          <a:bodyPr wrap="square" lIns="0" tIns="0" rIns="0" bIns="0" rtlCol="0" anchor="t"/>
          <a:lstStyle/>
          <a:p>
            <a:pPr indent="0" marL="0">
              <a:buNone/>
            </a:pPr>
            <a:r>
              <a:rPr lang="en-US" sz="1500" dirty="0">
                <a:solidFill>
                  <a:schemeClr val="accent3"/>
                </a:solidFill>
              </a:rPr>
              <a:t>Rút gọn bài còn vài câu</a:t>
            </a:r>
            <a:endParaRPr lang="en-US" sz="1500" dirty="0"/>
          </a:p>
        </p:txBody>
      </p:sp>
      <p:sp>
        <p:nvSpPr>
          <p:cNvPr id="15" name="Shape 12"/>
          <p:cNvSpPr/>
          <p:nvPr/>
        </p:nvSpPr>
        <p:spPr>
          <a:xfrm>
            <a:off x="9079992" y="3337560"/>
            <a:ext cx="2286000" cy="1371600"/>
          </a:xfrm>
          <a:prstGeom prst="rect">
            <a:avLst/>
          </a:prstGeom>
          <a:solidFill>
            <a:schemeClr val="bg1"/>
          </a:solidFill>
          <a:ln w="19050">
            <a:solidFill>
              <a:schemeClr val="tx1"/>
            </a:solidFill>
            <a:prstDash val="solid"/>
          </a:ln>
        </p:spPr>
      </p:sp>
      <p:sp>
        <p:nvSpPr>
          <p:cNvPr id="16" name="Text 13"/>
          <p:cNvSpPr txBox="1"/>
          <p:nvPr/>
        </p:nvSpPr>
        <p:spPr>
          <a:xfrm>
            <a:off x="9217152" y="3474720"/>
            <a:ext cx="2057400" cy="41148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Gom sự kiện</a:t>
            </a:r>
            <a:endParaRPr lang="en-US" sz="1600" dirty="0"/>
          </a:p>
        </p:txBody>
      </p:sp>
      <p:sp>
        <p:nvSpPr>
          <p:cNvPr id="17" name="Text 14"/>
          <p:cNvSpPr txBox="1"/>
          <p:nvPr/>
        </p:nvSpPr>
        <p:spPr>
          <a:xfrm>
            <a:off x="9217152" y="3931920"/>
            <a:ext cx="2011680" cy="731520"/>
          </a:xfrm>
          <a:prstGeom prst="rect">
            <a:avLst/>
          </a:prstGeom>
          <a:noFill/>
          <a:ln/>
        </p:spPr>
        <p:txBody>
          <a:bodyPr wrap="square" lIns="0" tIns="0" rIns="0" bIns="0" rtlCol="0" anchor="t"/>
          <a:lstStyle/>
          <a:p>
            <a:pPr indent="0" marL="0">
              <a:buNone/>
            </a:pPr>
            <a:r>
              <a:rPr lang="en-US" sz="1500" dirty="0">
                <a:solidFill>
                  <a:schemeClr val="accent3"/>
                </a:solidFill>
              </a:rPr>
              <a:t>Nhóm bài cùng chủ đề</a:t>
            </a:r>
            <a:endParaRPr lang="en-US" sz="1500" dirty="0"/>
          </a:p>
        </p:txBody>
      </p:sp>
      <p:sp>
        <p:nvSpPr>
          <p:cNvPr id="18" name="Text 15"/>
          <p:cNvSpPr txBox="1"/>
          <p:nvPr/>
        </p:nvSpPr>
        <p:spPr>
          <a:xfrm>
            <a:off x="6583680" y="4937760"/>
            <a:ext cx="4782312" cy="320040"/>
          </a:xfrm>
          <a:prstGeom prst="rect">
            <a:avLst/>
          </a:prstGeom>
          <a:noFill/>
          <a:ln/>
        </p:spPr>
        <p:txBody>
          <a:bodyPr wrap="square" lIns="0" tIns="0" rIns="0" bIns="0" rtlCol="0" anchor="t"/>
          <a:lstStyle/>
          <a:p>
            <a:pPr indent="0" marL="0">
              <a:buNone/>
            </a:pPr>
            <a:r>
              <a:rPr lang="en-US" sz="1600" b="1" dirty="0">
                <a:solidFill>
                  <a:schemeClr val="tx1"/>
                </a:solidFill>
              </a:rPr>
              <a:t>Chạy cục bộ trên máy, chỉ cần CPU</a:t>
            </a:r>
            <a:endParaRPr lang="en-US" sz="1600" dirty="0"/>
          </a:p>
        </p:txBody>
      </p:sp>
      <p:sp>
        <p:nvSpPr>
          <p:cNvPr id="19" name="Shape 16"/>
          <p:cNvSpPr/>
          <p:nvPr/>
        </p:nvSpPr>
        <p:spPr>
          <a:xfrm>
            <a:off x="822960" y="5440680"/>
            <a:ext cx="10543032" cy="685800"/>
          </a:xfrm>
          <a:prstGeom prst="rect">
            <a:avLst/>
          </a:prstGeom>
          <a:solidFill>
            <a:schemeClr val="tx1"/>
          </a:solidFill>
          <a:ln w="12700">
            <a:solidFill>
              <a:schemeClr val="tx1"/>
            </a:solidFill>
            <a:prstDash val="solid"/>
          </a:ln>
        </p:spPr>
      </p:sp>
      <p:sp>
        <p:nvSpPr>
          <p:cNvPr id="20" name="Text 17"/>
          <p:cNvSpPr txBox="1"/>
          <p:nvPr/>
        </p:nvSpPr>
        <p:spPr>
          <a:xfrm>
            <a:off x="1097280" y="5440680"/>
            <a:ext cx="10058400" cy="685800"/>
          </a:xfrm>
          <a:prstGeom prst="rect">
            <a:avLst/>
          </a:prstGeom>
          <a:noFill/>
          <a:ln/>
        </p:spPr>
        <p:txBody>
          <a:bodyPr wrap="square" lIns="0" tIns="0" rIns="0" bIns="0" rtlCol="0" anchor="ctr"/>
          <a:lstStyle/>
          <a:p>
            <a:pPr indent="0" marL="0">
              <a:buNone/>
            </a:pPr>
            <a:r>
              <a:rPr lang="en-US" sz="1900" b="1" dirty="0">
                <a:solidFill>
                  <a:schemeClr val="bg1"/>
                </a:solidFill>
              </a:rPr>
              <a:t>★ Điểm nhấn: AI Lab</a:t>
            </a:r>
            <a:pPr indent="0" marL="0">
              <a:buNone/>
            </a:pPr>
            <a:r>
              <a:rPr lang="en-US" sz="1900" dirty="0">
                <a:solidFill>
                  <a:schemeClr val="accent5"/>
                </a:solidFill>
              </a:rPr>
              <a:t>   giải thích vì sao AI chọn chuyên mục (slide kế tiếp)</a:t>
            </a:r>
            <a:endParaRPr lang="en-US" sz="1900" dirty="0"/>
          </a:p>
        </p:txBody>
      </p:sp>
      <p:sp>
        <p:nvSpPr>
          <p:cNvPr id="22"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THÀNH VIÊN 4</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2"/>
                </a:solidFill>
                <a:latin typeface="Consolas" pitchFamily="34" charset="0"/>
                <a:ea typeface="Consolas" pitchFamily="34" charset="-122"/>
                <a:cs typeface="Consolas" pitchFamily="34" charset="-120"/>
              </a:rPr>
              <a:t>★ 15 · ĐIỂM NHẤN CỦA ĐỒ ÁN · AI LAB</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bg1"/>
                </a:solidFill>
              </a:rPr>
              <a:t>AI giải thích được vì sao chọn chuyên mục</a:t>
            </a:r>
            <a:endParaRPr lang="en-US" sz="3400" dirty="0"/>
          </a:p>
        </p:txBody>
      </p:sp>
      <p:sp>
        <p:nvSpPr>
          <p:cNvPr id="4" name="Text 2"/>
          <p:cNvSpPr txBox="1"/>
          <p:nvPr/>
        </p:nvSpPr>
        <p:spPr>
          <a:xfrm>
            <a:off x="822960" y="1783080"/>
            <a:ext cx="6400800" cy="27432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1 · TÔ ĐẬM TỪNG TỪ THEO ĐÓNG GÓP</a:t>
            </a:r>
            <a:endParaRPr lang="en-US" sz="1300" dirty="0"/>
          </a:p>
        </p:txBody>
      </p:sp>
      <p:sp>
        <p:nvSpPr>
          <p:cNvPr id="5" name="Shape 3"/>
          <p:cNvSpPr/>
          <p:nvPr/>
        </p:nvSpPr>
        <p:spPr>
          <a:xfrm>
            <a:off x="822960" y="2103120"/>
            <a:ext cx="6400800" cy="1737360"/>
          </a:xfrm>
          <a:prstGeom prst="rect">
            <a:avLst/>
          </a:prstGeom>
          <a:solidFill>
            <a:schemeClr val="bg1"/>
          </a:solidFill>
          <a:ln w="12700">
            <a:solidFill>
              <a:schemeClr val="bg1"/>
            </a:solidFill>
            <a:prstDash val="solid"/>
          </a:ln>
        </p:spPr>
      </p:sp>
      <p:sp>
        <p:nvSpPr>
          <p:cNvPr id="6" name="Text 4"/>
          <p:cNvSpPr txBox="1"/>
          <p:nvPr/>
        </p:nvSpPr>
        <p:spPr>
          <a:xfrm>
            <a:off x="1005840" y="2194560"/>
            <a:ext cx="6035040" cy="1600200"/>
          </a:xfrm>
          <a:prstGeom prst="rect">
            <a:avLst/>
          </a:prstGeom>
          <a:noFill/>
          <a:ln/>
        </p:spPr>
        <p:txBody>
          <a:bodyPr wrap="square" lIns="0" tIns="0" rIns="0" bIns="0" rtlCol="0" anchor="t"/>
          <a:lstStyle/>
          <a:p>
            <a:pPr indent="0" marL="0">
              <a:lnSpc>
                <a:spcPct val="112000"/>
              </a:lnSpc>
              <a:buNone/>
            </a:pPr>
            <a:r>
              <a:rPr lang="en-US" sz="1450" dirty="0">
                <a:solidFill>
                  <a:srgbClr val="0B1B33"/>
                </a:solidFill>
                <a:highlight>
                  <a:srgbClr val="C9D8EE"/>
                </a:highlight>
              </a:rPr>
              <a:t>Đội</a:t>
            </a:r>
            <a:pPr indent="0" marL="0">
              <a:lnSpc>
                <a:spcPct val="112000"/>
              </a:lnSpc>
              <a:buNone/>
            </a:pPr>
            <a:r>
              <a:rPr lang="en-US" sz="1450" dirty="0">
                <a:solidFill>
                  <a:srgbClr val="26354D"/>
                </a:solidFill>
              </a:rPr>
              <a:t> </a:t>
            </a:r>
            <a:pPr indent="0" marL="0">
              <a:lnSpc>
                <a:spcPct val="112000"/>
              </a:lnSpc>
              <a:buNone/>
            </a:pPr>
            <a:r>
              <a:rPr lang="en-US" sz="1450" dirty="0">
                <a:solidFill>
                  <a:srgbClr val="0B1B33"/>
                </a:solidFill>
                <a:highlight>
                  <a:srgbClr val="C9D8EE"/>
                </a:highlight>
              </a:rPr>
              <a:t>tuyển</a:t>
            </a:r>
            <a:pPr indent="0" marL="0">
              <a:lnSpc>
                <a:spcPct val="112000"/>
              </a:lnSpc>
              <a:buNone/>
            </a:pPr>
            <a:r>
              <a:rPr lang="en-US" sz="1450" dirty="0">
                <a:solidFill>
                  <a:srgbClr val="26354D"/>
                </a:solidFill>
              </a:rPr>
              <a:t> </a:t>
            </a:r>
            <a:pPr indent="0" marL="0">
              <a:lnSpc>
                <a:spcPct val="112000"/>
              </a:lnSpc>
              <a:buNone/>
            </a:pPr>
            <a:r>
              <a:rPr lang="en-US" sz="1450" dirty="0">
                <a:solidFill>
                  <a:srgbClr val="0B1B33"/>
                </a:solidFill>
                <a:highlight>
                  <a:srgbClr val="C9D8EE"/>
                </a:highlight>
              </a:rPr>
              <a:t>Việt</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Nam</a:t>
            </a:r>
            <a:pPr indent="0" marL="0">
              <a:lnSpc>
                <a:spcPct val="112000"/>
              </a:lnSpc>
              <a:buNone/>
            </a:pPr>
            <a:r>
              <a:rPr lang="en-US" sz="1450" dirty="0">
                <a:solidFill>
                  <a:srgbClr val="26354D"/>
                </a:solidFill>
              </a:rPr>
              <a:t> </a:t>
            </a:r>
            <a:pPr indent="0" marL="0">
              <a:lnSpc>
                <a:spcPct val="112000"/>
              </a:lnSpc>
              <a:buNone/>
            </a:pPr>
            <a:r>
              <a:rPr lang="en-US" sz="1450" dirty="0">
                <a:solidFill>
                  <a:srgbClr val="0B1B33"/>
                </a:solidFill>
                <a:highlight>
                  <a:srgbClr val="C9D8EE"/>
                </a:highlight>
              </a:rPr>
              <a:t>giành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chiến</a:t>
            </a:r>
            <a:pPr indent="0" marL="0">
              <a:lnSpc>
                <a:spcPct val="112000"/>
              </a:lnSpc>
              <a:buNone/>
            </a:pPr>
            <a:r>
              <a:rPr lang="en-US" sz="1450" dirty="0">
                <a:solidFill>
                  <a:srgbClr val="26354D"/>
                </a:solidFill>
              </a:rPr>
              <a:t> </a:t>
            </a:r>
            <a:pPr indent="0" marL="0">
              <a:lnSpc>
                <a:spcPct val="112000"/>
              </a:lnSpc>
              <a:buNone/>
            </a:pPr>
            <a:r>
              <a:rPr lang="en-US" sz="1450" b="1" dirty="0">
                <a:solidFill>
                  <a:srgbClr val="FFFFFF"/>
                </a:solidFill>
                <a:highlight>
                  <a:srgbClr val="0B1B33"/>
                </a:highlight>
              </a:rPr>
              <a:t>thắng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2</a:t>
            </a:r>
            <a:pPr indent="0" marL="0">
              <a:lnSpc>
                <a:spcPct val="112000"/>
              </a:lnSpc>
              <a:buNone/>
            </a:pPr>
            <a:r>
              <a:rPr lang="en-US" sz="1450" dirty="0">
                <a:solidFill>
                  <a:srgbClr val="26354D"/>
                </a:solidFill>
              </a:rPr>
              <a:t>-</a:t>
            </a:r>
            <a:pPr indent="0" marL="0">
              <a:lnSpc>
                <a:spcPct val="112000"/>
              </a:lnSpc>
              <a:buNone/>
            </a:pPr>
            <a:r>
              <a:rPr lang="en-US" sz="1450" dirty="0">
                <a:solidFill>
                  <a:srgbClr val="26354D"/>
                </a:solidFill>
              </a:rPr>
              <a:t>0</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trong</a:t>
            </a:r>
            <a:pPr indent="0" marL="0">
              <a:lnSpc>
                <a:spcPct val="112000"/>
              </a:lnSpc>
              <a:buNone/>
            </a:pPr>
            <a:r>
              <a:rPr lang="en-US" sz="1450" dirty="0">
                <a:solidFill>
                  <a:srgbClr val="26354D"/>
                </a:solidFill>
              </a:rPr>
              <a:t> </a:t>
            </a:r>
            <a:pPr indent="0" marL="0">
              <a:lnSpc>
                <a:spcPct val="112000"/>
              </a:lnSpc>
              <a:buNone/>
            </a:pPr>
            <a:r>
              <a:rPr lang="en-US" sz="1450" b="1" dirty="0">
                <a:solidFill>
                  <a:srgbClr val="FFFFFF"/>
                </a:solidFill>
                <a:highlight>
                  <a:srgbClr val="0B1B33"/>
                </a:highlight>
              </a:rPr>
              <a:t>trận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chung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kết</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tiền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đạo</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ghi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hai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bàn</a:t>
            </a:r>
            <a:pPr indent="0" marL="0">
              <a:lnSpc>
                <a:spcPct val="112000"/>
              </a:lnSpc>
              <a:buNone/>
            </a:pPr>
            <a:r>
              <a:rPr lang="en-US" sz="1450" dirty="0">
                <a:solidFill>
                  <a:srgbClr val="26354D"/>
                </a:solidFill>
              </a:rPr>
              <a:t> </a:t>
            </a:r>
            <a:pPr indent="0" marL="0">
              <a:lnSpc>
                <a:spcPct val="112000"/>
              </a:lnSpc>
              <a:buNone/>
            </a:pPr>
            <a:r>
              <a:rPr lang="en-US" sz="1450" b="1" dirty="0">
                <a:solidFill>
                  <a:srgbClr val="FFFFFF"/>
                </a:solidFill>
                <a:highlight>
                  <a:srgbClr val="0B1B33"/>
                </a:highlight>
              </a:rPr>
              <a:t>thắng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đẹp</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mắt</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trước</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sự</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cổ</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vũ</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của</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khán</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giả</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Huấn</a:t>
            </a:r>
            <a:pPr indent="0" marL="0">
              <a:lnSpc>
                <a:spcPct val="112000"/>
              </a:lnSpc>
              <a:buNone/>
            </a:pPr>
            <a:r>
              <a:rPr lang="en-US" sz="1450" dirty="0">
                <a:solidFill>
                  <a:srgbClr val="26354D"/>
                </a:solidFill>
              </a:rPr>
              <a:t> </a:t>
            </a:r>
            <a:pPr indent="0" marL="0">
              <a:lnSpc>
                <a:spcPct val="112000"/>
              </a:lnSpc>
              <a:buNone/>
            </a:pPr>
            <a:r>
              <a:rPr lang="en-US" sz="1450" dirty="0">
                <a:solidFill>
                  <a:srgbClr val="0B1B33"/>
                </a:solidFill>
                <a:highlight>
                  <a:srgbClr val="C9D8EE"/>
                </a:highlight>
              </a:rPr>
              <a:t>luyện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viên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khen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ngợi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tinh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thần</a:t>
            </a:r>
            <a:pPr indent="0" marL="0">
              <a:lnSpc>
                <a:spcPct val="112000"/>
              </a:lnSpc>
              <a:buNone/>
            </a:pPr>
            <a:r>
              <a:rPr lang="en-US" sz="1450" dirty="0">
                <a:solidFill>
                  <a:srgbClr val="26354D"/>
                </a:solidFill>
              </a:rPr>
              <a:t> </a:t>
            </a:r>
            <a:pPr indent="0" marL="0">
              <a:lnSpc>
                <a:spcPct val="112000"/>
              </a:lnSpc>
              <a:buNone/>
            </a:pPr>
            <a:r>
              <a:rPr lang="en-US" sz="1450" dirty="0">
                <a:solidFill>
                  <a:srgbClr val="0B1B33"/>
                </a:solidFill>
                <a:highlight>
                  <a:srgbClr val="C9D8EE"/>
                </a:highlight>
              </a:rPr>
              <a:t>thi</a:t>
            </a:r>
            <a:pPr indent="0" marL="0">
              <a:lnSpc>
                <a:spcPct val="112000"/>
              </a:lnSpc>
              <a:buNone/>
            </a:pPr>
            <a:r>
              <a:rPr lang="en-US" sz="1450" dirty="0">
                <a:solidFill>
                  <a:srgbClr val="26354D"/>
                </a:solidFill>
              </a:rPr>
              <a:t> </a:t>
            </a:r>
            <a:pPr indent="0" marL="0">
              <a:lnSpc>
                <a:spcPct val="112000"/>
              </a:lnSpc>
              <a:buNone/>
            </a:pPr>
            <a:r>
              <a:rPr lang="en-US" sz="1450" b="1" dirty="0">
                <a:solidFill>
                  <a:srgbClr val="FFFFFF"/>
                </a:solidFill>
                <a:highlight>
                  <a:srgbClr val="0B1B33"/>
                </a:highlight>
              </a:rPr>
              <a:t>đấu</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của</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các</a:t>
            </a:r>
            <a:pPr indent="0" marL="0">
              <a:lnSpc>
                <a:spcPct val="112000"/>
              </a:lnSpc>
              <a:buNone/>
            </a:pPr>
            <a:r>
              <a:rPr lang="en-US" sz="1450" dirty="0">
                <a:solidFill>
                  <a:srgbClr val="26354D"/>
                </a:solidFill>
              </a:rPr>
              <a:t> </a:t>
            </a:r>
            <a:pPr indent="0" marL="0">
              <a:lnSpc>
                <a:spcPct val="112000"/>
              </a:lnSpc>
              <a:buNone/>
            </a:pPr>
            <a:r>
              <a:rPr lang="en-US" sz="1450" b="1" dirty="0">
                <a:solidFill>
                  <a:srgbClr val="FFFFFF"/>
                </a:solidFill>
                <a:highlight>
                  <a:srgbClr val="0B1B33"/>
                </a:highlight>
              </a:rPr>
              <a:t>cầu</a:t>
            </a:r>
            <a:pPr indent="0" marL="0">
              <a:lnSpc>
                <a:spcPct val="112000"/>
              </a:lnSpc>
              <a:buNone/>
            </a:pPr>
            <a:r>
              <a:rPr lang="en-US" sz="1450" dirty="0">
                <a:solidFill>
                  <a:srgbClr val="26354D"/>
                </a:solidFill>
              </a:rPr>
              <a:t> </a:t>
            </a:r>
            <a:pPr indent="0" marL="0">
              <a:lnSpc>
                <a:spcPct val="112000"/>
              </a:lnSpc>
              <a:buNone/>
            </a:pPr>
            <a:r>
              <a:rPr lang="en-US" sz="1450" b="1" dirty="0">
                <a:solidFill>
                  <a:srgbClr val="FFFFFF"/>
                </a:solidFill>
                <a:highlight>
                  <a:srgbClr val="0B1B33"/>
                </a:highlight>
              </a:rPr>
              <a:t>thủ</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Trong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khi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đó</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Ngân</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hàng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Nhà</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nước</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điều</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chỉnh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lãi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suất</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điều</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hành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doanh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nghiệp</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kỳ</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vọng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chi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phí</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vốn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giảm</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Thị</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trường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chứng</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khoán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tăng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điểm</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cổ</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phiếu</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ngân</a:t>
            </a:r>
            <a:pPr indent="0" marL="0">
              <a:lnSpc>
                <a:spcPct val="112000"/>
              </a:lnSpc>
              <a:buNone/>
            </a:pPr>
            <a:r>
              <a:rPr lang="en-US" sz="1450" dirty="0">
                <a:solidFill>
                  <a:srgbClr val="26354D"/>
                </a:solidFill>
              </a:rPr>
              <a:t> </a:t>
            </a:r>
            <a:pPr indent="0" marL="0">
              <a:lnSpc>
                <a:spcPct val="112000"/>
              </a:lnSpc>
              <a:buNone/>
            </a:pPr>
            <a:r>
              <a:rPr lang="en-US" sz="1450" u="sng" dirty="0">
                <a:solidFill>
                  <a:srgbClr val="5A6B85"/>
                </a:solidFill>
              </a:rPr>
              <a:t>hàng</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dẫn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dắt</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nhà</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đầu</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tư</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quan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tâm</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đến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lợi</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nhuận</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và</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chính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sách</a:t>
            </a:r>
            <a:pPr indent="0" marL="0">
              <a:lnSpc>
                <a:spcPct val="112000"/>
              </a:lnSpc>
              <a:buNone/>
            </a:pPr>
            <a:r>
              <a:rPr lang="en-US" sz="1450" dirty="0">
                <a:solidFill>
                  <a:srgbClr val="26354D"/>
                </a:solidFill>
              </a:rPr>
              <a:t> </a:t>
            </a:r>
            <a:pPr indent="0" marL="0">
              <a:lnSpc>
                <a:spcPct val="112000"/>
              </a:lnSpc>
              <a:buNone/>
            </a:pPr>
            <a:r>
              <a:rPr lang="en-US" sz="1450" dirty="0">
                <a:solidFill>
                  <a:srgbClr val="26354D"/>
                </a:solidFill>
              </a:rPr>
              <a:t>thuế</a:t>
            </a:r>
            <a:pPr indent="0" marL="0">
              <a:lnSpc>
                <a:spcPct val="112000"/>
              </a:lnSpc>
              <a:buNone/>
            </a:pPr>
            <a:r>
              <a:rPr lang="en-US" sz="1450" dirty="0">
                <a:solidFill>
                  <a:srgbClr val="26354D"/>
                </a:solidFill>
              </a:rPr>
              <a:t>.</a:t>
            </a:r>
            <a:endParaRPr lang="en-US" sz="1450" dirty="0"/>
          </a:p>
        </p:txBody>
      </p:sp>
      <p:sp>
        <p:nvSpPr>
          <p:cNvPr id="7" name="Text 5"/>
          <p:cNvSpPr txBox="1"/>
          <p:nvPr/>
        </p:nvSpPr>
        <p:spPr>
          <a:xfrm>
            <a:off x="822960" y="3886200"/>
            <a:ext cx="6400800" cy="301752"/>
          </a:xfrm>
          <a:prstGeom prst="rect">
            <a:avLst/>
          </a:prstGeom>
          <a:noFill/>
          <a:ln/>
        </p:spPr>
        <p:txBody>
          <a:bodyPr wrap="square" lIns="0" tIns="0" rIns="0" bIns="0" rtlCol="0" anchor="ctr"/>
          <a:lstStyle/>
          <a:p>
            <a:pPr indent="0" marL="0">
              <a:buNone/>
            </a:pPr>
            <a:r>
              <a:rPr lang="en-US" sz="1300" b="1" dirty="0">
                <a:solidFill>
                  <a:srgbClr val="FFFFFF"/>
                </a:solidFill>
                <a:highlight>
                  <a:srgbClr val="0B1B33"/>
                </a:highlight>
              </a:rPr>
              <a:t> đậm </a:t>
            </a:r>
            <a:pPr indent="0" marL="0">
              <a:buNone/>
            </a:pPr>
            <a:r>
              <a:rPr lang="en-US" sz="1300" dirty="0">
                <a:solidFill>
                  <a:schemeClr val="accent5"/>
                </a:solidFill>
              </a:rPr>
              <a:t> đẩy mạnh về Thể thao   </a:t>
            </a:r>
            <a:pPr indent="0" marL="0">
              <a:buNone/>
            </a:pPr>
            <a:r>
              <a:rPr lang="en-US" sz="1300" dirty="0">
                <a:solidFill>
                  <a:srgbClr val="0B1B33"/>
                </a:solidFill>
                <a:highlight>
                  <a:srgbClr val="C9D8EE"/>
                </a:highlight>
              </a:rPr>
              <a:t> nhạt </a:t>
            </a:r>
            <a:pPr indent="0" marL="0">
              <a:buNone/>
            </a:pPr>
            <a:r>
              <a:rPr lang="en-US" sz="1300" dirty="0">
                <a:solidFill>
                  <a:schemeClr val="accent5"/>
                </a:solidFill>
              </a:rPr>
              <a:t> đẩy nhẹ   </a:t>
            </a:r>
            <a:pPr indent="0" marL="0">
              <a:buNone/>
            </a:pPr>
            <a:r>
              <a:rPr lang="en-US" sz="1300" u="sng" dirty="0">
                <a:solidFill>
                  <a:schemeClr val="accent5"/>
                </a:solidFill>
              </a:rPr>
              <a:t>gạch chân</a:t>
            </a:r>
            <a:pPr indent="0" marL="0">
              <a:buNone/>
            </a:pPr>
            <a:r>
              <a:rPr lang="en-US" sz="1300" dirty="0">
                <a:solidFill>
                  <a:schemeClr val="accent5"/>
                </a:solidFill>
              </a:rPr>
              <a:t> đi ngược</a:t>
            </a:r>
            <a:endParaRPr lang="en-US" sz="1300" dirty="0"/>
          </a:p>
        </p:txBody>
      </p:sp>
      <p:sp>
        <p:nvSpPr>
          <p:cNvPr id="8" name="Text 6"/>
          <p:cNvSpPr txBox="1"/>
          <p:nvPr/>
        </p:nvSpPr>
        <p:spPr>
          <a:xfrm>
            <a:off x="822960" y="4279392"/>
            <a:ext cx="6400800" cy="27432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4 · KIỂM CHỨNG TRÊN CẢ 825 BÀI KIỂM THỬ</a:t>
            </a:r>
            <a:endParaRPr lang="en-US" sz="1300" dirty="0"/>
          </a:p>
        </p:txBody>
      </p:sp>
      <p:sp>
        <p:nvSpPr>
          <p:cNvPr id="9" name="Text 7"/>
          <p:cNvSpPr txBox="1"/>
          <p:nvPr/>
        </p:nvSpPr>
        <p:spPr>
          <a:xfrm>
            <a:off x="822960" y="4572000"/>
            <a:ext cx="1508760" cy="457200"/>
          </a:xfrm>
          <a:prstGeom prst="rect">
            <a:avLst/>
          </a:prstGeom>
          <a:noFill/>
          <a:ln/>
        </p:spPr>
        <p:txBody>
          <a:bodyPr wrap="square" lIns="0" tIns="0" rIns="0" bIns="0" rtlCol="0" anchor="ctr"/>
          <a:lstStyle/>
          <a:p>
            <a:pPr indent="0" marL="0">
              <a:buNone/>
            </a:pPr>
            <a:r>
              <a:rPr lang="en-US" sz="2800" b="1" dirty="0">
                <a:solidFill>
                  <a:schemeClr val="bg1"/>
                </a:solidFill>
                <a:latin typeface="Arial" pitchFamily="34" charset="0"/>
                <a:ea typeface="Arial" pitchFamily="34" charset="-122"/>
                <a:cs typeface="Arial" pitchFamily="34" charset="-120"/>
              </a:rPr>
              <a:t>99,9%</a:t>
            </a:r>
            <a:endParaRPr lang="en-US" sz="2800" dirty="0"/>
          </a:p>
        </p:txBody>
      </p:sp>
      <p:sp>
        <p:nvSpPr>
          <p:cNvPr id="10" name="Text 8"/>
          <p:cNvSpPr txBox="1"/>
          <p:nvPr/>
        </p:nvSpPr>
        <p:spPr>
          <a:xfrm>
            <a:off x="2377440" y="4572000"/>
            <a:ext cx="4846320" cy="457200"/>
          </a:xfrm>
          <a:prstGeom prst="rect">
            <a:avLst/>
          </a:prstGeom>
          <a:noFill/>
          <a:ln/>
        </p:spPr>
        <p:txBody>
          <a:bodyPr wrap="square" lIns="0" tIns="0" rIns="0" bIns="0" rtlCol="0" anchor="ctr"/>
          <a:lstStyle/>
          <a:p>
            <a:pPr indent="0" marL="0">
              <a:buNone/>
            </a:pPr>
            <a:r>
              <a:rPr lang="en-US" sz="1400" dirty="0">
                <a:solidFill>
                  <a:schemeClr val="accent5"/>
                </a:solidFill>
              </a:rPr>
              <a:t>bài vẫn đúng chuyên mục khi chỉ giữ 5 từ đậm (5 từ ngẫu nhiên: 27–38%)</a:t>
            </a:r>
            <a:endParaRPr lang="en-US" sz="1400" dirty="0"/>
          </a:p>
        </p:txBody>
      </p:sp>
      <p:sp>
        <p:nvSpPr>
          <p:cNvPr id="11" name="Text 9"/>
          <p:cNvSpPr txBox="1"/>
          <p:nvPr/>
        </p:nvSpPr>
        <p:spPr>
          <a:xfrm>
            <a:off x="822960" y="5047488"/>
            <a:ext cx="1508760" cy="457200"/>
          </a:xfrm>
          <a:prstGeom prst="rect">
            <a:avLst/>
          </a:prstGeom>
          <a:noFill/>
          <a:ln/>
        </p:spPr>
        <p:txBody>
          <a:bodyPr wrap="square" lIns="0" tIns="0" rIns="0" bIns="0" rtlCol="0" anchor="ctr"/>
          <a:lstStyle/>
          <a:p>
            <a:pPr indent="0" marL="0">
              <a:buNone/>
            </a:pPr>
            <a:r>
              <a:rPr lang="en-US" sz="2800" b="1" dirty="0">
                <a:solidFill>
                  <a:schemeClr val="bg1"/>
                </a:solidFill>
                <a:latin typeface="Arial" pitchFamily="34" charset="0"/>
                <a:ea typeface="Arial" pitchFamily="34" charset="-122"/>
                <a:cs typeface="Arial" pitchFamily="34" charset="-120"/>
              </a:rPr>
              <a:t>17,6%</a:t>
            </a:r>
            <a:endParaRPr lang="en-US" sz="2800" dirty="0"/>
          </a:p>
        </p:txBody>
      </p:sp>
      <p:sp>
        <p:nvSpPr>
          <p:cNvPr id="12" name="Text 10"/>
          <p:cNvSpPr txBox="1"/>
          <p:nvPr/>
        </p:nvSpPr>
        <p:spPr>
          <a:xfrm>
            <a:off x="2377440" y="5047488"/>
            <a:ext cx="4846320" cy="457200"/>
          </a:xfrm>
          <a:prstGeom prst="rect">
            <a:avLst/>
          </a:prstGeom>
          <a:noFill/>
          <a:ln/>
        </p:spPr>
        <p:txBody>
          <a:bodyPr wrap="square" lIns="0" tIns="0" rIns="0" bIns="0" rtlCol="0" anchor="ctr"/>
          <a:lstStyle/>
          <a:p>
            <a:pPr indent="0" marL="0">
              <a:buNone/>
            </a:pPr>
            <a:r>
              <a:rPr lang="en-US" sz="1400" dirty="0">
                <a:solidFill>
                  <a:schemeClr val="accent5"/>
                </a:solidFill>
              </a:rPr>
              <a:t>bài đổi chuyên mục khi xóa 5 từ đậm (5 từ ngẫu nhiên: 0,6–1,1%)</a:t>
            </a:r>
            <a:endParaRPr lang="en-US" sz="1400" dirty="0"/>
          </a:p>
        </p:txBody>
      </p:sp>
      <p:sp>
        <p:nvSpPr>
          <p:cNvPr id="13" name="Text 11"/>
          <p:cNvSpPr txBox="1"/>
          <p:nvPr/>
        </p:nvSpPr>
        <p:spPr>
          <a:xfrm>
            <a:off x="7498080" y="1783080"/>
            <a:ext cx="3867912" cy="27432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2 · BỎ 5 TỪ ĐẬM NHẤT, AI ĐỔI Ý</a:t>
            </a:r>
            <a:endParaRPr lang="en-US" sz="1300" dirty="0"/>
          </a:p>
        </p:txBody>
      </p:sp>
      <p:sp>
        <p:nvSpPr>
          <p:cNvPr id="14" name="Text 12"/>
          <p:cNvSpPr txBox="1"/>
          <p:nvPr/>
        </p:nvSpPr>
        <p:spPr>
          <a:xfrm>
            <a:off x="7498080" y="2148840"/>
            <a:ext cx="1097280" cy="274320"/>
          </a:xfrm>
          <a:prstGeom prst="rect">
            <a:avLst/>
          </a:prstGeom>
          <a:noFill/>
          <a:ln/>
        </p:spPr>
        <p:txBody>
          <a:bodyPr wrap="square" lIns="0" tIns="0" rIns="0" bIns="0" rtlCol="0" anchor="t"/>
          <a:lstStyle/>
          <a:p>
            <a:pPr indent="0" marL="0">
              <a:buNone/>
            </a:pPr>
            <a:r>
              <a:rPr lang="en-US" sz="1400" dirty="0">
                <a:solidFill>
                  <a:schemeClr val="accent5"/>
                </a:solidFill>
              </a:rPr>
              <a:t>Trước</a:t>
            </a:r>
            <a:endParaRPr lang="en-US" sz="1400" dirty="0"/>
          </a:p>
        </p:txBody>
      </p:sp>
      <p:sp>
        <p:nvSpPr>
          <p:cNvPr id="15" name="Text 13"/>
          <p:cNvSpPr txBox="1"/>
          <p:nvPr/>
        </p:nvSpPr>
        <p:spPr>
          <a:xfrm>
            <a:off x="7498080" y="2423160"/>
            <a:ext cx="1965960" cy="384048"/>
          </a:xfrm>
          <a:prstGeom prst="rect">
            <a:avLst/>
          </a:prstGeom>
          <a:noFill/>
          <a:ln/>
        </p:spPr>
        <p:txBody>
          <a:bodyPr wrap="square" lIns="0" tIns="0" rIns="0" bIns="0" rtlCol="0" anchor="ctr"/>
          <a:lstStyle/>
          <a:p>
            <a:pPr indent="0" marL="0">
              <a:buNone/>
            </a:pPr>
            <a:r>
              <a:rPr lang="en-US" sz="1600" b="1" dirty="0">
                <a:solidFill>
                  <a:schemeClr val="bg1"/>
                </a:solidFill>
              </a:rPr>
              <a:t>Thể thao 70,9%</a:t>
            </a:r>
            <a:endParaRPr lang="en-US" sz="1600" dirty="0"/>
          </a:p>
        </p:txBody>
      </p:sp>
      <p:sp>
        <p:nvSpPr>
          <p:cNvPr id="16" name="Shape 14"/>
          <p:cNvSpPr/>
          <p:nvPr/>
        </p:nvSpPr>
        <p:spPr>
          <a:xfrm>
            <a:off x="9509760" y="2478024"/>
            <a:ext cx="1316068" cy="274320"/>
          </a:xfrm>
          <a:prstGeom prst="rect">
            <a:avLst/>
          </a:prstGeom>
          <a:solidFill>
            <a:schemeClr val="bg1"/>
          </a:solidFill>
          <a:ln w="12700">
            <a:solidFill>
              <a:schemeClr val="bg1"/>
            </a:solidFill>
            <a:prstDash val="solid"/>
          </a:ln>
        </p:spPr>
      </p:sp>
      <p:sp>
        <p:nvSpPr>
          <p:cNvPr id="17" name="Text 15"/>
          <p:cNvSpPr txBox="1"/>
          <p:nvPr/>
        </p:nvSpPr>
        <p:spPr>
          <a:xfrm>
            <a:off x="7498080" y="2834640"/>
            <a:ext cx="1965960" cy="384048"/>
          </a:xfrm>
          <a:prstGeom prst="rect">
            <a:avLst/>
          </a:prstGeom>
          <a:noFill/>
          <a:ln/>
        </p:spPr>
        <p:txBody>
          <a:bodyPr wrap="square" lIns="0" tIns="0" rIns="0" bIns="0" rtlCol="0" anchor="ctr"/>
          <a:lstStyle/>
          <a:p>
            <a:pPr indent="0" marL="0">
              <a:buNone/>
            </a:pPr>
            <a:r>
              <a:rPr lang="en-US" sz="1600" dirty="0">
                <a:solidFill>
                  <a:schemeClr val="bg1"/>
                </a:solidFill>
              </a:rPr>
              <a:t>Kinh doanh 28%</a:t>
            </a:r>
            <a:endParaRPr lang="en-US" sz="1600" dirty="0"/>
          </a:p>
        </p:txBody>
      </p:sp>
      <p:sp>
        <p:nvSpPr>
          <p:cNvPr id="18" name="Shape 16"/>
          <p:cNvSpPr/>
          <p:nvPr/>
        </p:nvSpPr>
        <p:spPr>
          <a:xfrm>
            <a:off x="9509760" y="2889504"/>
            <a:ext cx="519745" cy="274320"/>
          </a:xfrm>
          <a:prstGeom prst="rect">
            <a:avLst/>
          </a:prstGeom>
          <a:solidFill>
            <a:schemeClr val="accent2"/>
          </a:solidFill>
          <a:ln w="12700">
            <a:solidFill>
              <a:schemeClr val="accent2"/>
            </a:solidFill>
            <a:prstDash val="solid"/>
          </a:ln>
        </p:spPr>
      </p:sp>
      <p:sp>
        <p:nvSpPr>
          <p:cNvPr id="19" name="Text 17"/>
          <p:cNvSpPr txBox="1"/>
          <p:nvPr/>
        </p:nvSpPr>
        <p:spPr>
          <a:xfrm>
            <a:off x="7498080" y="3337560"/>
            <a:ext cx="1097280" cy="274320"/>
          </a:xfrm>
          <a:prstGeom prst="rect">
            <a:avLst/>
          </a:prstGeom>
          <a:noFill/>
          <a:ln/>
        </p:spPr>
        <p:txBody>
          <a:bodyPr wrap="square" lIns="0" tIns="0" rIns="0" bIns="0" rtlCol="0" anchor="t"/>
          <a:lstStyle/>
          <a:p>
            <a:pPr indent="0" marL="0">
              <a:buNone/>
            </a:pPr>
            <a:r>
              <a:rPr lang="en-US" sz="1400" dirty="0">
                <a:solidFill>
                  <a:schemeClr val="accent5"/>
                </a:solidFill>
              </a:rPr>
              <a:t>Sau</a:t>
            </a:r>
            <a:endParaRPr lang="en-US" sz="1400" dirty="0"/>
          </a:p>
        </p:txBody>
      </p:sp>
      <p:sp>
        <p:nvSpPr>
          <p:cNvPr id="20" name="Text 18"/>
          <p:cNvSpPr txBox="1"/>
          <p:nvPr/>
        </p:nvSpPr>
        <p:spPr>
          <a:xfrm>
            <a:off x="7498080" y="3611880"/>
            <a:ext cx="1965960" cy="384048"/>
          </a:xfrm>
          <a:prstGeom prst="rect">
            <a:avLst/>
          </a:prstGeom>
          <a:noFill/>
          <a:ln/>
        </p:spPr>
        <p:txBody>
          <a:bodyPr wrap="square" lIns="0" tIns="0" rIns="0" bIns="0" rtlCol="0" anchor="ctr"/>
          <a:lstStyle/>
          <a:p>
            <a:pPr indent="0" marL="0">
              <a:buNone/>
            </a:pPr>
            <a:r>
              <a:rPr lang="en-US" sz="1600" b="1" dirty="0">
                <a:solidFill>
                  <a:schemeClr val="bg1"/>
                </a:solidFill>
              </a:rPr>
              <a:t>Kinh doanh 91%</a:t>
            </a:r>
            <a:endParaRPr lang="en-US" sz="1600" dirty="0"/>
          </a:p>
        </p:txBody>
      </p:sp>
      <p:sp>
        <p:nvSpPr>
          <p:cNvPr id="21" name="Shape 19"/>
          <p:cNvSpPr/>
          <p:nvPr/>
        </p:nvSpPr>
        <p:spPr>
          <a:xfrm>
            <a:off x="9509760" y="3666744"/>
            <a:ext cx="1689171" cy="274320"/>
          </a:xfrm>
          <a:prstGeom prst="rect">
            <a:avLst/>
          </a:prstGeom>
          <a:solidFill>
            <a:schemeClr val="bg1"/>
          </a:solidFill>
          <a:ln w="12700">
            <a:solidFill>
              <a:schemeClr val="bg1"/>
            </a:solidFill>
            <a:prstDash val="solid"/>
          </a:ln>
        </p:spPr>
      </p:sp>
      <p:sp>
        <p:nvSpPr>
          <p:cNvPr id="22" name="Text 20"/>
          <p:cNvSpPr txBox="1"/>
          <p:nvPr/>
        </p:nvSpPr>
        <p:spPr>
          <a:xfrm>
            <a:off x="7498080" y="4023360"/>
            <a:ext cx="1965960" cy="384048"/>
          </a:xfrm>
          <a:prstGeom prst="rect">
            <a:avLst/>
          </a:prstGeom>
          <a:noFill/>
          <a:ln/>
        </p:spPr>
        <p:txBody>
          <a:bodyPr wrap="square" lIns="0" tIns="0" rIns="0" bIns="0" rtlCol="0" anchor="ctr"/>
          <a:lstStyle/>
          <a:p>
            <a:pPr indent="0" marL="0">
              <a:buNone/>
            </a:pPr>
            <a:r>
              <a:rPr lang="en-US" sz="1600" dirty="0">
                <a:solidFill>
                  <a:schemeClr val="bg1"/>
                </a:solidFill>
              </a:rPr>
              <a:t>Thể thao 4,6%</a:t>
            </a:r>
            <a:endParaRPr lang="en-US" sz="1600" dirty="0"/>
          </a:p>
        </p:txBody>
      </p:sp>
      <p:sp>
        <p:nvSpPr>
          <p:cNvPr id="23" name="Shape 21"/>
          <p:cNvSpPr/>
          <p:nvPr/>
        </p:nvSpPr>
        <p:spPr>
          <a:xfrm>
            <a:off x="9509760" y="4078224"/>
            <a:ext cx="85387" cy="274320"/>
          </a:xfrm>
          <a:prstGeom prst="rect">
            <a:avLst/>
          </a:prstGeom>
          <a:solidFill>
            <a:schemeClr val="accent2"/>
          </a:solidFill>
          <a:ln w="12700">
            <a:solidFill>
              <a:schemeClr val="accent2"/>
            </a:solidFill>
            <a:prstDash val="solid"/>
          </a:ln>
        </p:spPr>
      </p:sp>
      <p:sp>
        <p:nvSpPr>
          <p:cNvPr id="24" name="Text 22"/>
          <p:cNvSpPr txBox="1"/>
          <p:nvPr/>
        </p:nvSpPr>
        <p:spPr>
          <a:xfrm>
            <a:off x="7498080" y="4526280"/>
            <a:ext cx="3867912" cy="27432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3 · DẢI ĐOẠN</a:t>
            </a:r>
            <a:endParaRPr lang="en-US" sz="1300" dirty="0"/>
          </a:p>
        </p:txBody>
      </p:sp>
      <p:sp>
        <p:nvSpPr>
          <p:cNvPr id="25" name="Shape 23"/>
          <p:cNvSpPr/>
          <p:nvPr/>
        </p:nvSpPr>
        <p:spPr>
          <a:xfrm>
            <a:off x="7498080" y="4846320"/>
            <a:ext cx="1874520" cy="530352"/>
          </a:xfrm>
          <a:prstGeom prst="rect">
            <a:avLst/>
          </a:prstGeom>
          <a:solidFill>
            <a:schemeClr val="bg1"/>
          </a:solidFill>
          <a:ln w="12700">
            <a:solidFill>
              <a:schemeClr val="bg1"/>
            </a:solidFill>
            <a:prstDash val="solid"/>
          </a:ln>
        </p:spPr>
      </p:sp>
      <p:sp>
        <p:nvSpPr>
          <p:cNvPr id="26" name="Text 24"/>
          <p:cNvSpPr txBox="1"/>
          <p:nvPr/>
        </p:nvSpPr>
        <p:spPr>
          <a:xfrm>
            <a:off x="7498080" y="4846320"/>
            <a:ext cx="1874520" cy="530352"/>
          </a:xfrm>
          <a:prstGeom prst="rect">
            <a:avLst/>
          </a:prstGeom>
          <a:noFill/>
          <a:ln/>
        </p:spPr>
        <p:txBody>
          <a:bodyPr wrap="square" lIns="0" tIns="0" rIns="0" bIns="0" rtlCol="0" anchor="ctr"/>
          <a:lstStyle/>
          <a:p>
            <a:pPr algn="ctr" indent="0" marL="0">
              <a:buNone/>
            </a:pPr>
            <a:r>
              <a:rPr lang="en-US" sz="1400" b="1" dirty="0">
                <a:solidFill>
                  <a:schemeClr val="tx1"/>
                </a:solidFill>
              </a:rPr>
              <a:t>Đoạn 1</a:t>
            </a:r>
            <a:endParaRPr lang="en-US" sz="1400" dirty="0"/>
          </a:p>
          <a:p>
            <a:pPr algn="ctr" indent="0" marL="0">
              <a:buNone/>
            </a:pPr>
            <a:r>
              <a:rPr lang="en-US" sz="1400" b="1" dirty="0">
                <a:solidFill>
                  <a:schemeClr val="tx1"/>
                </a:solidFill>
              </a:rPr>
              <a:t>Thể thao 99,9%</a:t>
            </a:r>
            <a:endParaRPr lang="en-US" sz="1400" dirty="0"/>
          </a:p>
        </p:txBody>
      </p:sp>
      <p:sp>
        <p:nvSpPr>
          <p:cNvPr id="27" name="Shape 25"/>
          <p:cNvSpPr/>
          <p:nvPr/>
        </p:nvSpPr>
        <p:spPr>
          <a:xfrm>
            <a:off x="9491472" y="4846320"/>
            <a:ext cx="1874520" cy="530352"/>
          </a:xfrm>
          <a:prstGeom prst="rect">
            <a:avLst/>
          </a:prstGeom>
          <a:solidFill>
            <a:schemeClr val="bg1"/>
          </a:solidFill>
          <a:ln w="12700">
            <a:solidFill>
              <a:schemeClr val="bg1"/>
            </a:solidFill>
            <a:prstDash val="solid"/>
          </a:ln>
        </p:spPr>
      </p:sp>
      <p:sp>
        <p:nvSpPr>
          <p:cNvPr id="28" name="Text 26"/>
          <p:cNvSpPr txBox="1"/>
          <p:nvPr/>
        </p:nvSpPr>
        <p:spPr>
          <a:xfrm>
            <a:off x="9491472" y="4846320"/>
            <a:ext cx="1874520" cy="530352"/>
          </a:xfrm>
          <a:prstGeom prst="rect">
            <a:avLst/>
          </a:prstGeom>
          <a:noFill/>
          <a:ln/>
        </p:spPr>
        <p:txBody>
          <a:bodyPr wrap="square" lIns="0" tIns="0" rIns="0" bIns="0" rtlCol="0" anchor="ctr"/>
          <a:lstStyle/>
          <a:p>
            <a:pPr algn="ctr" indent="0" marL="0">
              <a:buNone/>
            </a:pPr>
            <a:r>
              <a:rPr lang="en-US" sz="1400" b="1" dirty="0">
                <a:solidFill>
                  <a:schemeClr val="tx1"/>
                </a:solidFill>
              </a:rPr>
              <a:t>Đoạn 2</a:t>
            </a:r>
            <a:endParaRPr lang="en-US" sz="1400" dirty="0"/>
          </a:p>
          <a:p>
            <a:pPr algn="ctr" indent="0" marL="0">
              <a:buNone/>
            </a:pPr>
            <a:r>
              <a:rPr lang="en-US" sz="1400" b="1" dirty="0">
                <a:solidFill>
                  <a:schemeClr val="tx1"/>
                </a:solidFill>
              </a:rPr>
              <a:t>Kinh doanh 99,9%</a:t>
            </a:r>
            <a:endParaRPr lang="en-US" sz="1400" dirty="0"/>
          </a:p>
        </p:txBody>
      </p:sp>
      <p:sp>
        <p:nvSpPr>
          <p:cNvPr id="29" name="Shape 27"/>
          <p:cNvSpPr/>
          <p:nvPr/>
        </p:nvSpPr>
        <p:spPr>
          <a:xfrm>
            <a:off x="822960" y="5577840"/>
            <a:ext cx="10543032" cy="18288"/>
          </a:xfrm>
          <a:prstGeom prst="rect">
            <a:avLst/>
          </a:prstGeom>
          <a:solidFill>
            <a:schemeClr val="accent4"/>
          </a:solidFill>
          <a:ln w="12700">
            <a:solidFill>
              <a:schemeClr val="accent4"/>
            </a:solidFill>
            <a:prstDash val="solid"/>
          </a:ln>
        </p:spPr>
      </p:sp>
      <p:sp>
        <p:nvSpPr>
          <p:cNvPr id="30" name="Text 28"/>
          <p:cNvSpPr txBox="1"/>
          <p:nvPr/>
        </p:nvSpPr>
        <p:spPr>
          <a:xfrm>
            <a:off x="822960" y="5632704"/>
            <a:ext cx="10543032" cy="274320"/>
          </a:xfrm>
          <a:prstGeom prst="rect">
            <a:avLst/>
          </a:prstGeom>
          <a:noFill/>
          <a:ln/>
        </p:spPr>
        <p:txBody>
          <a:bodyPr wrap="square" lIns="0" tIns="0" rIns="0" bIns="0" rtlCol="0" anchor="t"/>
          <a:lstStyle/>
          <a:p>
            <a:pPr indent="0" marL="0">
              <a:buNone/>
            </a:pPr>
            <a:r>
              <a:rPr lang="en-US" sz="1400" dirty="0">
                <a:solidFill>
                  <a:schemeClr val="accent2"/>
                </a:solidFill>
                <a:latin typeface="Consolas" pitchFamily="34" charset="0"/>
                <a:ea typeface="Consolas" pitchFamily="34" charset="-122"/>
                <a:cs typeface="Consolas" pitchFamily="34" charset="-120"/>
              </a:rPr>
              <a:t>đóng góp(từ) = (w_dự đoán − w_trung bình các lớp khác) × TF-IDF(từ)</a:t>
            </a:r>
            <a:endParaRPr lang="en-US" sz="1400" dirty="0"/>
          </a:p>
        </p:txBody>
      </p:sp>
      <p:sp>
        <p:nvSpPr>
          <p:cNvPr id="31" name="Text 29"/>
          <p:cNvSpPr txBox="1"/>
          <p:nvPr/>
        </p:nvSpPr>
        <p:spPr>
          <a:xfrm>
            <a:off x="822960" y="5943600"/>
            <a:ext cx="10543032" cy="365760"/>
          </a:xfrm>
          <a:prstGeom prst="rect">
            <a:avLst/>
          </a:prstGeom>
          <a:noFill/>
          <a:ln/>
        </p:spPr>
        <p:txBody>
          <a:bodyPr wrap="square" lIns="0" tIns="0" rIns="0" bIns="0" rtlCol="0" anchor="t"/>
          <a:lstStyle/>
          <a:p>
            <a:pPr indent="0" marL="0">
              <a:buNone/>
            </a:pPr>
            <a:r>
              <a:rPr lang="en-US" sz="1400" b="1" dirty="0">
                <a:solidFill>
                  <a:schemeClr val="bg1"/>
                </a:solidFill>
              </a:rPr>
              <a:t>Mô hình tuyến tính nên tính trực tiếp từng từ (như SHAP tuyến tính). % là mức nghiêng đã hiệu chỉnh, chưa phải xác suất tuyệt đối.</a:t>
            </a:r>
            <a:endParaRPr lang="en-US" sz="1400" dirty="0"/>
          </a:p>
        </p:txBody>
      </p:sp>
      <p:sp>
        <p:nvSpPr>
          <p:cNvPr id="33"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2"/>
                </a:solidFill>
                <a:latin typeface="Consolas" pitchFamily="34" charset="0"/>
                <a:ea typeface="Consolas" pitchFamily="34" charset="-122"/>
                <a:cs typeface="Consolas" pitchFamily="34" charset="-120"/>
              </a:rPr>
              <a:t>TRÌNH BÀY · NHÓM TRƯỞNG</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onsolas" pitchFamily="34" charset="0"/>
                <a:ea typeface="Consolas" pitchFamily="34" charset="-122"/>
                <a:cs typeface="Consolas" pitchFamily="34" charset="-120"/>
              </a:rPr>
              <a:t>16 · HẠN CHẾ VÀ HƯỚNG PHÁT TRIỂN</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tx1"/>
                </a:solidFill>
              </a:rPr>
              <a:t>Những gì chưa làm được</a:t>
            </a:r>
            <a:endParaRPr lang="en-US" sz="3400" dirty="0"/>
          </a:p>
        </p:txBody>
      </p:sp>
      <p:sp>
        <p:nvSpPr>
          <p:cNvPr id="4" name="Shape 2"/>
          <p:cNvSpPr/>
          <p:nvPr/>
        </p:nvSpPr>
        <p:spPr>
          <a:xfrm>
            <a:off x="822960" y="1783080"/>
            <a:ext cx="5166360" cy="3520440"/>
          </a:xfrm>
          <a:prstGeom prst="rect">
            <a:avLst/>
          </a:prstGeom>
          <a:solidFill>
            <a:schemeClr val="bg1"/>
          </a:solidFill>
          <a:ln w="19050">
            <a:solidFill>
              <a:schemeClr val="tx1"/>
            </a:solidFill>
            <a:prstDash val="solid"/>
          </a:ln>
        </p:spPr>
      </p:sp>
      <p:sp>
        <p:nvSpPr>
          <p:cNvPr id="5" name="Text 3"/>
          <p:cNvSpPr txBox="1"/>
          <p:nvPr/>
        </p:nvSpPr>
        <p:spPr>
          <a:xfrm>
            <a:off x="1097280" y="1920240"/>
            <a:ext cx="4572000" cy="50292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Hạn chế</a:t>
            </a:r>
            <a:endParaRPr lang="en-US" sz="2800" dirty="0"/>
          </a:p>
        </p:txBody>
      </p:sp>
      <p:sp>
        <p:nvSpPr>
          <p:cNvPr id="6" name="Text 4"/>
          <p:cNvSpPr txBox="1"/>
          <p:nvPr/>
        </p:nvSpPr>
        <p:spPr>
          <a:xfrm>
            <a:off x="1097280" y="2606040"/>
            <a:ext cx="4572000" cy="25603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accent3"/>
                </a:solidFill>
              </a:rPr>
              <a:t>Ranh giới chuyên mục mờ</a:t>
            </a:r>
            <a:endParaRPr lang="en-US" sz="2200" dirty="0"/>
          </a:p>
          <a:p>
            <a:pPr marL="342900" indent="-342900">
              <a:spcAft>
                <a:spcPts val="1400"/>
              </a:spcAft>
              <a:buSzPct val="100000"/>
              <a:buChar char="•"/>
            </a:pPr>
            <a:r>
              <a:rPr lang="en-US" sz="2200" dirty="0">
                <a:solidFill>
                  <a:schemeClr val="accent3"/>
                </a:solidFill>
              </a:rPr>
              <a:t>Chỉ có 5.500 bài</a:t>
            </a:r>
            <a:endParaRPr lang="en-US" sz="2200" dirty="0"/>
          </a:p>
          <a:p>
            <a:pPr marL="342900" indent="-342900">
              <a:spcAft>
                <a:spcPts val="1400"/>
              </a:spcAft>
              <a:buSzPct val="100000"/>
              <a:buChar char="•"/>
            </a:pPr>
            <a:r>
              <a:rPr lang="en-US" sz="2200" dirty="0">
                <a:solidFill>
                  <a:schemeClr val="accent3"/>
                </a:solidFill>
              </a:rPr>
              <a:t>Chưa thử nguồn báo khác</a:t>
            </a:r>
            <a:endParaRPr lang="en-US" sz="2200" dirty="0"/>
          </a:p>
          <a:p>
            <a:pPr marL="342900" indent="-342900">
              <a:spcAft>
                <a:spcPts val="1400"/>
              </a:spcAft>
              <a:buSzPct val="100000"/>
              <a:buChar char="•"/>
            </a:pPr>
            <a:r>
              <a:rPr lang="en-US" sz="2200" dirty="0">
                <a:solidFill>
                  <a:schemeClr val="accent3"/>
                </a:solidFill>
              </a:rPr>
              <a:t>Hỏi AI chỉ trích câu có sẵn</a:t>
            </a:r>
            <a:endParaRPr lang="en-US" sz="2200" dirty="0"/>
          </a:p>
        </p:txBody>
      </p:sp>
      <p:sp>
        <p:nvSpPr>
          <p:cNvPr id="7" name="Shape 5"/>
          <p:cNvSpPr/>
          <p:nvPr/>
        </p:nvSpPr>
        <p:spPr>
          <a:xfrm>
            <a:off x="6199632" y="1783080"/>
            <a:ext cx="5166360" cy="3520440"/>
          </a:xfrm>
          <a:prstGeom prst="rect">
            <a:avLst/>
          </a:prstGeom>
          <a:solidFill>
            <a:schemeClr val="tx1"/>
          </a:solidFill>
          <a:ln w="12700">
            <a:solidFill>
              <a:schemeClr val="tx1"/>
            </a:solidFill>
            <a:prstDash val="solid"/>
          </a:ln>
        </p:spPr>
      </p:sp>
      <p:sp>
        <p:nvSpPr>
          <p:cNvPr id="8" name="Text 6"/>
          <p:cNvSpPr txBox="1"/>
          <p:nvPr/>
        </p:nvSpPr>
        <p:spPr>
          <a:xfrm>
            <a:off x="6473952" y="1920240"/>
            <a:ext cx="4572000" cy="50292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Hướng phát triển</a:t>
            </a:r>
            <a:endParaRPr lang="en-US" sz="2800" dirty="0"/>
          </a:p>
        </p:txBody>
      </p:sp>
      <p:sp>
        <p:nvSpPr>
          <p:cNvPr id="9" name="Text 7"/>
          <p:cNvSpPr txBox="1"/>
          <p:nvPr/>
        </p:nvSpPr>
        <p:spPr>
          <a:xfrm>
            <a:off x="6473952" y="2606040"/>
            <a:ext cx="4572000" cy="25603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accent6"/>
                </a:solidFill>
              </a:rPr>
              <a:t>Thêm dữ liệu, sửa nhãn nghi sai</a:t>
            </a:r>
            <a:endParaRPr lang="en-US" sz="2200" dirty="0"/>
          </a:p>
          <a:p>
            <a:pPr marL="342900" indent="-342900">
              <a:spcAft>
                <a:spcPts val="1400"/>
              </a:spcAft>
              <a:buSzPct val="100000"/>
              <a:buChar char="•"/>
            </a:pPr>
            <a:r>
              <a:rPr lang="en-US" sz="2200" dirty="0">
                <a:solidFill>
                  <a:schemeClr val="accent6"/>
                </a:solidFill>
              </a:rPr>
              <a:t>Thử PhoBERT khi có GPU</a:t>
            </a:r>
            <a:endParaRPr lang="en-US" sz="2200" dirty="0"/>
          </a:p>
          <a:p>
            <a:pPr marL="342900" indent="-342900">
              <a:spcAft>
                <a:spcPts val="1400"/>
              </a:spcAft>
              <a:buSzPct val="100000"/>
              <a:buChar char="•"/>
            </a:pPr>
            <a:r>
              <a:rPr lang="en-US" sz="2200" dirty="0">
                <a:solidFill>
                  <a:schemeClr val="accent6"/>
                </a:solidFill>
              </a:rPr>
              <a:t>Thử công cụ tách từ khác</a:t>
            </a:r>
            <a:endParaRPr lang="en-US" sz="2200" dirty="0"/>
          </a:p>
          <a:p>
            <a:pPr marL="342900" indent="-342900">
              <a:spcAft>
                <a:spcPts val="1400"/>
              </a:spcAft>
              <a:buSzPct val="100000"/>
              <a:buChar char="•"/>
            </a:pPr>
            <a:r>
              <a:rPr lang="en-US" sz="2200" dirty="0">
                <a:solidFill>
                  <a:schemeClr val="accent6"/>
                </a:solidFill>
              </a:rPr>
              <a:t>Hỏi AI tổng hợp nhiều nguồn</a:t>
            </a:r>
            <a:endParaRPr lang="en-US" sz="2200" dirty="0"/>
          </a:p>
        </p:txBody>
      </p:sp>
      <p:sp>
        <p:nvSpPr>
          <p:cNvPr id="10" name="Shape 8"/>
          <p:cNvSpPr/>
          <p:nvPr/>
        </p:nvSpPr>
        <p:spPr>
          <a:xfrm>
            <a:off x="822960" y="5486400"/>
            <a:ext cx="10543032" cy="640080"/>
          </a:xfrm>
          <a:prstGeom prst="rect">
            <a:avLst/>
          </a:prstGeom>
          <a:solidFill>
            <a:schemeClr val="bg1"/>
          </a:solidFill>
          <a:ln w="19050">
            <a:solidFill>
              <a:schemeClr val="tx1"/>
            </a:solidFill>
            <a:prstDash val="solid"/>
          </a:ln>
        </p:spPr>
      </p:sp>
      <p:sp>
        <p:nvSpPr>
          <p:cNvPr id="11" name="Text 9"/>
          <p:cNvSpPr txBox="1"/>
          <p:nvPr/>
        </p:nvSpPr>
        <p:spPr>
          <a:xfrm>
            <a:off x="1097280" y="5486400"/>
            <a:ext cx="10058400" cy="640080"/>
          </a:xfrm>
          <a:prstGeom prst="rect">
            <a:avLst/>
          </a:prstGeom>
          <a:noFill/>
          <a:ln/>
        </p:spPr>
        <p:txBody>
          <a:bodyPr wrap="square" lIns="0" tIns="0" rIns="0" bIns="0" rtlCol="0" anchor="ctr"/>
          <a:lstStyle/>
          <a:p>
            <a:pPr indent="0" marL="0">
              <a:buNone/>
            </a:pPr>
            <a:r>
              <a:rPr lang="en-US" sz="1700" b="1" dirty="0">
                <a:solidFill>
                  <a:schemeClr val="tx1"/>
                </a:solidFill>
              </a:rPr>
              <a:t>Đã thử, chưa giúp: </a:t>
            </a:r>
            <a:pPr indent="0" marL="0">
              <a:buNone/>
            </a:pPr>
            <a:r>
              <a:rPr lang="en-US" sz="1700" dirty="0">
                <a:solidFill>
                  <a:schemeClr val="accent3"/>
                </a:solidFill>
              </a:rPr>
              <a:t>tách từ pyvi (+0,24 điểm), k-NN, MLP nhỏ — không vượt Linear SVM.</a:t>
            </a:r>
            <a:endParaRPr lang="en-US" sz="1700" dirty="0"/>
          </a:p>
        </p:txBody>
      </p:sp>
      <p:sp>
        <p:nvSpPr>
          <p:cNvPr id="13"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TRÌNH BÀY · NHÓM TRƯỞNG</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822960" y="512064"/>
            <a:ext cx="10543032" cy="274320"/>
          </a:xfrm>
          <a:prstGeom prst="rect">
            <a:avLst/>
          </a:prstGeom>
          <a:noFill/>
          <a:ln/>
        </p:spPr>
        <p:txBody>
          <a:bodyPr wrap="square" lIns="0" tIns="0" rIns="0" bIns="0" rtlCol="0" anchor="ctr"/>
          <a:lstStyle/>
          <a:p>
            <a:pPr indent="0" marL="0">
              <a:buNone/>
            </a:pPr>
            <a:r>
              <a:rPr lang="en-US" sz="1400" b="1" spc="200" kern="0" dirty="0">
                <a:solidFill>
                  <a:schemeClr val="accent2"/>
                </a:solidFill>
                <a:latin typeface="Consolas" pitchFamily="34" charset="0"/>
                <a:ea typeface="Consolas" pitchFamily="34" charset="-122"/>
                <a:cs typeface="Consolas" pitchFamily="34" charset="-120"/>
              </a:rPr>
              <a:t>17 · KẾT LUẬN</a:t>
            </a:r>
            <a:endParaRPr lang="en-US" sz="1400" dirty="0"/>
          </a:p>
        </p:txBody>
      </p:sp>
      <p:sp>
        <p:nvSpPr>
          <p:cNvPr id="3" name="Text 1"/>
          <p:cNvSpPr/>
          <p:nvPr>
            <p:ph idx="101" type="title" hasCustomPrompt="1"/>
          </p:nvPr>
        </p:nvSpPr>
        <p:spPr>
          <a:xfrm>
            <a:off x="822960" y="868680"/>
            <a:ext cx="10543032" cy="731520"/>
          </a:xfrm>
          <a:prstGeom prst="rect">
            <a:avLst/>
          </a:prstGeom>
          <a:noFill/>
          <a:ln/>
        </p:spPr>
        <p:txBody>
          <a:bodyPr wrap="square" lIns="0" tIns="0" rIns="0" bIns="0" rtlCol="0" anchor="t"/>
          <a:lstStyle/>
          <a:p>
            <a:pPr algn="l" indent="0" marL="0">
              <a:buNone/>
            </a:pPr>
            <a:r>
              <a:rPr lang="en-US" sz="3400" b="1" dirty="0">
                <a:solidFill>
                  <a:schemeClr val="bg1"/>
                </a:solidFill>
              </a:rPr>
              <a:t>Ba điều rút ra</a:t>
            </a:r>
            <a:endParaRPr lang="en-US" sz="3400" dirty="0"/>
          </a:p>
        </p:txBody>
      </p:sp>
      <p:sp>
        <p:nvSpPr>
          <p:cNvPr id="4" name="Shape 2"/>
          <p:cNvSpPr/>
          <p:nvPr/>
        </p:nvSpPr>
        <p:spPr>
          <a:xfrm>
            <a:off x="822960" y="1783080"/>
            <a:ext cx="10543032" cy="18288"/>
          </a:xfrm>
          <a:prstGeom prst="rect">
            <a:avLst/>
          </a:prstGeom>
          <a:solidFill>
            <a:schemeClr val="accent4"/>
          </a:solidFill>
          <a:ln w="12700">
            <a:solidFill>
              <a:schemeClr val="accent4"/>
            </a:solidFill>
            <a:prstDash val="solid"/>
          </a:ln>
        </p:spPr>
      </p:sp>
      <p:sp>
        <p:nvSpPr>
          <p:cNvPr id="5" name="Text 3"/>
          <p:cNvSpPr txBox="1"/>
          <p:nvPr/>
        </p:nvSpPr>
        <p:spPr>
          <a:xfrm>
            <a:off x="822960" y="1920240"/>
            <a:ext cx="64008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1</a:t>
            </a:r>
            <a:endParaRPr lang="en-US" sz="4000" dirty="0"/>
          </a:p>
        </p:txBody>
      </p:sp>
      <p:sp>
        <p:nvSpPr>
          <p:cNvPr id="6" name="Text 4"/>
          <p:cNvSpPr txBox="1"/>
          <p:nvPr/>
        </p:nvSpPr>
        <p:spPr>
          <a:xfrm>
            <a:off x="1600200" y="1874520"/>
            <a:ext cx="9692640" cy="868680"/>
          </a:xfrm>
          <a:prstGeom prst="rect">
            <a:avLst/>
          </a:prstGeom>
          <a:noFill/>
          <a:ln/>
        </p:spPr>
        <p:txBody>
          <a:bodyPr wrap="square" lIns="0" tIns="0" rIns="0" bIns="0" rtlCol="0" anchor="t"/>
          <a:lstStyle/>
          <a:p>
            <a:pPr indent="0" marL="0">
              <a:buNone/>
            </a:pPr>
            <a:r>
              <a:rPr lang="en-US" sz="2200" dirty="0">
                <a:solidFill>
                  <a:schemeClr val="bg1"/>
                </a:solidFill>
              </a:rPr>
              <a:t>TF-IDF + Linear SVM đạt </a:t>
            </a:r>
            <a:pPr indent="0" marL="0">
              <a:buNone/>
            </a:pPr>
            <a:r>
              <a:rPr lang="en-US" sz="2200" b="1" dirty="0">
                <a:solidFill>
                  <a:schemeClr val="bg1"/>
                </a:solidFill>
              </a:rPr>
              <a:t>89,3% Accuracy</a:t>
            </a:r>
            <a:pPr indent="0" marL="0">
              <a:buNone/>
            </a:pPr>
            <a:r>
              <a:rPr lang="en-US" sz="2200" dirty="0">
                <a:solidFill>
                  <a:schemeClr val="bg1"/>
                </a:solidFill>
              </a:rPr>
              <a:t>, </a:t>
            </a:r>
            <a:pPr indent="0" marL="0">
              <a:buNone/>
            </a:pPr>
            <a:r>
              <a:rPr lang="en-US" sz="2200" b="1" dirty="0">
                <a:solidFill>
                  <a:schemeClr val="bg1"/>
                </a:solidFill>
              </a:rPr>
              <a:t>0,893 Macro-F1</a:t>
            </a:r>
            <a:pPr indent="0" marL="0">
              <a:buNone/>
            </a:pPr>
            <a:r>
              <a:rPr lang="en-US" sz="2200" dirty="0">
                <a:solidFill>
                  <a:schemeClr val="bg1"/>
                </a:solidFill>
              </a:rPr>
              <a:t> trên 825 bài chưa từng thấy; chia lại dữ liệu 10 lần vẫn khoảng 89%.</a:t>
            </a:r>
            <a:endParaRPr lang="en-US" sz="2200" dirty="0"/>
          </a:p>
        </p:txBody>
      </p:sp>
      <p:sp>
        <p:nvSpPr>
          <p:cNvPr id="7" name="Shape 5"/>
          <p:cNvSpPr/>
          <p:nvPr/>
        </p:nvSpPr>
        <p:spPr>
          <a:xfrm>
            <a:off x="822960" y="2807208"/>
            <a:ext cx="10543032" cy="18288"/>
          </a:xfrm>
          <a:prstGeom prst="rect">
            <a:avLst/>
          </a:prstGeom>
          <a:solidFill>
            <a:schemeClr val="accent4"/>
          </a:solidFill>
          <a:ln w="12700">
            <a:solidFill>
              <a:schemeClr val="accent4"/>
            </a:solidFill>
            <a:prstDash val="solid"/>
          </a:ln>
        </p:spPr>
      </p:sp>
      <p:sp>
        <p:nvSpPr>
          <p:cNvPr id="8" name="Text 6"/>
          <p:cNvSpPr txBox="1"/>
          <p:nvPr/>
        </p:nvSpPr>
        <p:spPr>
          <a:xfrm>
            <a:off x="822960" y="2944368"/>
            <a:ext cx="64008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2</a:t>
            </a:r>
            <a:endParaRPr lang="en-US" sz="4000" dirty="0"/>
          </a:p>
        </p:txBody>
      </p:sp>
      <p:sp>
        <p:nvSpPr>
          <p:cNvPr id="9" name="Text 7"/>
          <p:cNvSpPr txBox="1"/>
          <p:nvPr/>
        </p:nvSpPr>
        <p:spPr>
          <a:xfrm>
            <a:off x="1600200" y="2898648"/>
            <a:ext cx="9692640" cy="868680"/>
          </a:xfrm>
          <a:prstGeom prst="rect">
            <a:avLst/>
          </a:prstGeom>
          <a:noFill/>
          <a:ln/>
        </p:spPr>
        <p:txBody>
          <a:bodyPr wrap="square" lIns="0" tIns="0" rIns="0" bIns="0" rtlCol="0" anchor="t"/>
          <a:lstStyle/>
          <a:p>
            <a:pPr indent="0" marL="0">
              <a:buNone/>
            </a:pPr>
            <a:r>
              <a:rPr lang="en-US" sz="2200" dirty="0">
                <a:solidFill>
                  <a:schemeClr val="bg1"/>
                </a:solidFill>
              </a:rPr>
              <a:t>Mọi lựa chọn đều được kiểm chứng: SVM ngang Logistic Regression khi so sánh công bằng; nội dung bài là phần quan trọng nhất.</a:t>
            </a:r>
            <a:endParaRPr lang="en-US" sz="2200" dirty="0"/>
          </a:p>
        </p:txBody>
      </p:sp>
      <p:sp>
        <p:nvSpPr>
          <p:cNvPr id="10" name="Shape 8"/>
          <p:cNvSpPr/>
          <p:nvPr/>
        </p:nvSpPr>
        <p:spPr>
          <a:xfrm>
            <a:off x="822960" y="3831336"/>
            <a:ext cx="10543032" cy="18288"/>
          </a:xfrm>
          <a:prstGeom prst="rect">
            <a:avLst/>
          </a:prstGeom>
          <a:solidFill>
            <a:schemeClr val="accent4"/>
          </a:solidFill>
          <a:ln w="12700">
            <a:solidFill>
              <a:schemeClr val="accent4"/>
            </a:solidFill>
            <a:prstDash val="solid"/>
          </a:ln>
        </p:spPr>
      </p:sp>
      <p:sp>
        <p:nvSpPr>
          <p:cNvPr id="11" name="Text 9"/>
          <p:cNvSpPr txBox="1"/>
          <p:nvPr/>
        </p:nvSpPr>
        <p:spPr>
          <a:xfrm>
            <a:off x="822960" y="3968496"/>
            <a:ext cx="64008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3</a:t>
            </a:r>
            <a:endParaRPr lang="en-US" sz="4000" dirty="0"/>
          </a:p>
        </p:txBody>
      </p:sp>
      <p:sp>
        <p:nvSpPr>
          <p:cNvPr id="12" name="Text 10"/>
          <p:cNvSpPr txBox="1"/>
          <p:nvPr/>
        </p:nvSpPr>
        <p:spPr>
          <a:xfrm>
            <a:off x="1600200" y="3922776"/>
            <a:ext cx="9692640" cy="868680"/>
          </a:xfrm>
          <a:prstGeom prst="rect">
            <a:avLst/>
          </a:prstGeom>
          <a:noFill/>
          <a:ln/>
        </p:spPr>
        <p:txBody>
          <a:bodyPr wrap="square" lIns="0" tIns="0" rIns="0" bIns="0" rtlCol="0" anchor="t"/>
          <a:lstStyle/>
          <a:p>
            <a:pPr indent="0" marL="0">
              <a:buNone/>
            </a:pPr>
            <a:r>
              <a:rPr lang="en-US" sz="2200" dirty="0">
                <a:solidFill>
                  <a:schemeClr val="bg1"/>
                </a:solidFill>
              </a:rPr>
              <a:t>Điểm nhấn: AI Lab giải thích được, đã kiểm chứng trên 825 bài; Hỏi AI trả lời có dẫn nguồn.</a:t>
            </a:r>
            <a:endParaRPr lang="en-US" sz="2200" dirty="0"/>
          </a:p>
        </p:txBody>
      </p:sp>
      <p:sp>
        <p:nvSpPr>
          <p:cNvPr id="13" name="Shape 11"/>
          <p:cNvSpPr/>
          <p:nvPr/>
        </p:nvSpPr>
        <p:spPr>
          <a:xfrm>
            <a:off x="822960" y="4937760"/>
            <a:ext cx="10543032" cy="36576"/>
          </a:xfrm>
          <a:prstGeom prst="rect">
            <a:avLst/>
          </a:prstGeom>
          <a:solidFill>
            <a:schemeClr val="bg1"/>
          </a:solidFill>
          <a:ln w="12700">
            <a:solidFill>
              <a:schemeClr val="bg1"/>
            </a:solidFill>
            <a:prstDash val="solid"/>
          </a:ln>
        </p:spPr>
      </p:sp>
      <p:sp>
        <p:nvSpPr>
          <p:cNvPr id="14" name="Text 12"/>
          <p:cNvSpPr txBox="1"/>
          <p:nvPr/>
        </p:nvSpPr>
        <p:spPr>
          <a:xfrm>
            <a:off x="822960" y="5120640"/>
            <a:ext cx="7132320" cy="822960"/>
          </a:xfrm>
          <a:prstGeom prst="rect">
            <a:avLst/>
          </a:prstGeom>
          <a:noFill/>
          <a:ln/>
        </p:spPr>
        <p:txBody>
          <a:bodyPr wrap="square" lIns="0" tIns="0" rIns="0" bIns="0" rtlCol="0" anchor="t"/>
          <a:lstStyle/>
          <a:p>
            <a:pPr indent="0" marL="0">
              <a:buNone/>
            </a:pPr>
            <a:r>
              <a:rPr lang="en-US" sz="3600" b="1" dirty="0">
                <a:solidFill>
                  <a:schemeClr val="bg1"/>
                </a:solidFill>
                <a:latin typeface="Arial" pitchFamily="34" charset="0"/>
                <a:ea typeface="Arial" pitchFamily="34" charset="-122"/>
                <a:cs typeface="Arial" pitchFamily="34" charset="-120"/>
              </a:rPr>
              <a:t>Cảm ơn thầy cô và các bạn</a:t>
            </a:r>
            <a:endParaRPr lang="en-US" sz="3600" dirty="0"/>
          </a:p>
        </p:txBody>
      </p:sp>
      <p:sp>
        <p:nvSpPr>
          <p:cNvPr id="15" name="Text 13"/>
          <p:cNvSpPr txBox="1"/>
          <p:nvPr/>
        </p:nvSpPr>
        <p:spPr>
          <a:xfrm>
            <a:off x="7498080" y="5303520"/>
            <a:ext cx="3867912" cy="457200"/>
          </a:xfrm>
          <a:prstGeom prst="rect">
            <a:avLst/>
          </a:prstGeom>
          <a:noFill/>
          <a:ln/>
        </p:spPr>
        <p:txBody>
          <a:bodyPr wrap="square" lIns="0" tIns="0" rIns="0" bIns="0" rtlCol="0" anchor="t"/>
          <a:lstStyle/>
          <a:p>
            <a:pPr algn="r" indent="0" marL="0">
              <a:buNone/>
            </a:pPr>
            <a:r>
              <a:rPr lang="en-US" sz="1500" dirty="0">
                <a:solidFill>
                  <a:schemeClr val="accent2"/>
                </a:solidFill>
                <a:latin typeface="Consolas" pitchFamily="34" charset="0"/>
                <a:ea typeface="Consolas" pitchFamily="34" charset="-122"/>
                <a:cs typeface="Consolas" pitchFamily="34" charset="-120"/>
              </a:rPr>
              <a:t>$ exit 0  # xin mời đặt câu hỏi</a:t>
            </a:r>
            <a:endParaRPr lang="en-US" sz="1500" dirty="0"/>
          </a:p>
        </p:txBody>
      </p:sp>
      <p:sp>
        <p:nvSpPr>
          <p:cNvPr id="17" name="Presenter"/>
          <p:cNvSpPr txBox="1"/>
          <p:nvPr/>
        </p:nvSpPr>
        <p:spPr>
          <a:xfrm>
            <a:off x="6766560" y="512064"/>
            <a:ext cx="4599432" cy="274320"/>
          </a:xfrm>
          <a:prstGeom prst="rect">
            <a:avLst/>
          </a:prstGeom>
          <a:noFill/>
          <a:ln/>
        </p:spPr>
        <p:txBody>
          <a:bodyPr wrap="square" lIns="0" tIns="0" rIns="0" bIns="0" rtlCol="0" anchor="ctr"/>
          <a:lstStyle/>
          <a:p>
            <a:pPr algn="r" indent="0" marL="0">
              <a:buNone/>
            </a:pPr>
            <a:r>
              <a:rPr lang="en-US" sz="1300" b="1" dirty="0">
                <a:solidFill>
                  <a:schemeClr val="accent2"/>
                </a:solidFill>
                <a:latin typeface="Consolas" pitchFamily="34" charset="0"/>
                <a:ea typeface="Consolas" pitchFamily="34" charset="-122"/>
                <a:cs typeface="Consolas" pitchFamily="34" charset="-120"/>
              </a:rPr>
              <a:t>TRÌNH BÀY · NHÓM TRƯỞNG</a:t>
            </a:r>
            <a:endParaRPr lang="en-US" sz="1300" dirty="0"/>
          </a:p>
        </p:txBody>
      </p:sp>
      <p:sp>
        <p:nvSpPr>
          <p:cNvPr id="25" name="Slide Number Placeholder 0"/>
          <p:cNvSpPr>
            <a:spLocks noGrp="1"/>
          </p:cNvSpPr>
          <p:nvPr>
            <p:ph type="sldNum" sz="quarter" idx="4294967295"/>
          </p:nvPr>
        </p:nvSpPr>
        <p:spPr>
          <a:xfrm>
            <a:off x="10908792"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VnNews Navy Black White">
  <a:themeElements>
    <a:clrScheme name="VnNews Navy Black White">
      <a:dk1>
        <a:srgbClr val="0B1B33"/>
      </a:dk1>
      <a:lt1>
        <a:srgbClr val="FFFFFF"/>
      </a:lt1>
      <a:dk2>
        <a:srgbClr val="06080C"/>
      </a:dk2>
      <a:lt2>
        <a:srgbClr val="F4F7FB"/>
      </a:lt2>
      <a:accent1>
        <a:srgbClr val="5A6B85"/>
      </a:accent1>
      <a:accent2>
        <a:srgbClr val="8FA6C6"/>
      </a:accent2>
      <a:accent3>
        <a:srgbClr val="26354D"/>
      </a:accent3>
      <a:accent4>
        <a:srgbClr val="1F3556"/>
      </a:accent4>
      <a:accent5>
        <a:srgbClr val="C9D8EE"/>
      </a:accent5>
      <a:accent6>
        <a:srgbClr val="DCE7F5"/>
      </a:accent6>
      <a:hlink>
        <a:srgbClr val="8FA6C6"/>
      </a:hlink>
      <a:folHlink>
        <a:srgbClr val="5A6B85"/>
      </a:folHlink>
    </a:clrScheme>
    <a:fontScheme name="VnNews Navy Black W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loại tin tức tiếng Việt — Đồ án Học máy</dc:title>
  <dc:subject>PptxGenJS Presentation</dc:subject>
  <dc:creator>[Họ tên sinh viên]</dc:creator>
  <cp:lastModifiedBy>[Họ tên sinh viên]</cp:lastModifiedBy>
  <cp:revision>1</cp:revision>
  <dcterms:created xsi:type="dcterms:W3CDTF">2026-10-26T14:06:58Z</dcterms:created>
  <dcterms:modified xsi:type="dcterms:W3CDTF">2026-10-26T14:06:58Z</dcterms:modified>
</cp:coreProperties>
</file>