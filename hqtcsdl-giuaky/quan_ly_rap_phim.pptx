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1fa5f9e7-70f5-5903-da9b-524824c1d9c0}">
          <p14:sldIdLst>
            <p14:sldId id="256"/>
            <p14:sldId id="257"/>
          </p14:sldIdLst>
        </p14:section>
        <p14:section name="Phân tích và thiết kế" id="{cbfe3d85-7b22-c73c-59b4-f84f49f88dea}">
          <p14:sldIdLst>
            <p14:sldId id="258"/>
            <p14:sldId id="259"/>
            <p14:sldId id="260"/>
          </p14:sldIdLst>
        </p14:section>
        <p14:section name="Cài đặt" id="{33f4b411-20e2-97a5-6f09-af499b437602}">
          <p14:sldIdLst>
            <p14:sldId id="261"/>
            <p14:sldId id="262"/>
          </p14:sldIdLst>
        </p14:section>
        <p14:section name="Kết thúc" id="{691fbfb6-e8b3-23cf-34a7-a4d11431b010}">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Tên: Kiểm tra giữa kỳ lần 1, học phần Hệ quản trị cơ sở dữ liệu. Nhớ điền lớp học phần, họ tên và MSSV. Đề tài: Quản lý đặt vé rạp chiếu phim, dữ liệu mô phỏng của Công ty Giải trí Ánh Sao, gồm 5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Nội dung gồm 5 phần: mô tả yêu cầu quản lý, mô hình ER, lược đồ quan hệ, dữ liệu mẫu và ràng buộc toàn vẹn.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Mô tả yêu cầu quản lý. Công ty Giải trí Ánh Sao (dữ liệu mô phỏng) kinh doanh cụm rạp chiếu phim. Năm đối tượng cần quản lý: phim, phòng chiếu, suất chiếu, khách hàng, vé; hoạt động chính là bán vé. Nêu quy tắc của từng đối tượng: một phim và một phòng có nhiều suất chiếu; một suất chiếu có nhiều vé; một khách hàng đặt nhiều vé; một ghế chỉ bán một lần cho mỗi suất.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Mô hình ER. Có 5 thực thể: PHIM, PHONGCHIEU, SUATCHIEU, KHACHHANG, VE (khóa chính được gạch chân). Quan hệ: PHIM 1-N SUATCHIEU (chiếu), PHONGCHIEU 1-N SUATCHIEU (tại), SUATCHIEU 1-N VE (bán), KHACHHANG 1-N VE (đặt). Giữa KHACHHANG và SUATCHIEU là quan hệ nhiều-nhiều (một khách đặt nhiều suất, một suất có nhiều khách) nên cần thực thể kết hợp VE; tương tự PHIM và PHONGCHIEU là nhiều-nhiều qua SUATCHIEU. Mô hình ER không ghi khóa ngoại; khóa ngoại xuất hiện khi chuyển sang lược đồ quan hệ ở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Lược đồ quan hệ, chuyển từ mô hình ER: mỗi thực thể thành một bảng, mỗi thuộc tính thành một cột, quan hệ 1-N thành khóa ngoại ở phía N. Khóa chính gạch chân, khóa ngoại in nghiêng. Có 5 bảng và 4 khóa ngoại: SUATCHIEU tham chiếu PHIM và PHONGCHIEU; VE tham chiếu SUATCHIEU và KHACHHANG.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Dữ liệu mẫu: dữ liệu mô phỏng của Công ty Giải trí Ánh Sao, được nhập vào MySQL bằng file quan_ly_rap_phim.sql (5 phim, 3 phòng chiếu, 6 suất chiếu, 5 khách hàng, 8 vé). Có thể chụp màn hình MySQL Workbench sau khi chạy lệnh SELECT * FROM từng bảng để minh họa. Chú ý: khách hàng KH03 đặt 2 ghế trong cùng suất S03, ghế A6 được bán ở hai suất khác nhau (S01 và S06).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Ràng buộc toàn vẹn gồm: miền giá trị (CHECK), khóa chính, khóa ngoại và ràng buộc khác (UNIQUE, NOT NULL). Có thể demo bằng 6 lệnh INSERT sai ở cuối file quan_ly_rap_phim.sql: mỗi lệnh đều bị MySQL từ chối. Lưu ý: CHECK chỉ có tác dụng trên MySQL 8.0.16 trở lên.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Cảm ơn. Mời thầy/cô và các bạn đặt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188720" y="2240280"/>
            <a:ext cx="6949440" cy="73152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chemeClr val="tx2"/>
                </a:solidFill>
              </a:rPr>
              <a:t>Hệ quản trị cơ sở dữ liệu  |  Quản lý đặt vé rạp chiếu phim</a:t>
            </a:r>
            <a:endParaRPr lang="en-US" sz="10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468880" y="2514600"/>
            <a:ext cx="5120640" cy="100584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xam label"/>
          <p:cNvSpPr txBox="1"/>
          <p:nvPr/>
        </p:nvSpPr>
        <p:spPr>
          <a:xfrm>
            <a:off x="731520" y="777240"/>
            <a:ext cx="7315200" cy="365760"/>
          </a:xfrm>
          <a:prstGeom prst="rect">
            <a:avLst/>
          </a:prstGeom>
          <a:noFill/>
          <a:ln/>
        </p:spPr>
        <p:txBody>
          <a:bodyPr wrap="square" lIns="0" tIns="0" rIns="0" bIns="0" rtlCol="0" anchor="t"/>
          <a:lstStyle/>
          <a:p>
            <a:pPr indent="0" marL="0">
              <a:buNone/>
            </a:pPr>
            <a:r>
              <a:rPr lang="en-US" sz="1800" b="1" spc="400" kern="0" dirty="0">
                <a:solidFill>
                  <a:schemeClr val="accent1"/>
                </a:solidFill>
              </a:rPr>
              <a:t>KIỂM TRA GIỮA KỲ LẦN 1</a:t>
            </a:r>
            <a:endParaRPr lang="en-US" sz="1800" dirty="0"/>
          </a:p>
        </p:txBody>
      </p:sp>
      <p:sp>
        <p:nvSpPr>
          <p:cNvPr id="3" name="Title ticket body"/>
          <p:cNvSpPr/>
          <p:nvPr/>
        </p:nvSpPr>
        <p:spPr>
          <a:xfrm>
            <a:off x="731520" y="1554480"/>
            <a:ext cx="10725912" cy="2377440"/>
          </a:xfrm>
          <a:prstGeom prst="roundRect">
            <a:avLst>
              <a:gd name="adj" fmla="val 6923"/>
            </a:avLst>
          </a:prstGeom>
          <a:solidFill>
            <a:schemeClr val="accent1"/>
          </a:solidFill>
          <a:ln w="12700">
            <a:solidFill>
              <a:schemeClr val="accent1"/>
            </a:solidFill>
            <a:prstDash val="solid"/>
          </a:ln>
        </p:spPr>
      </p:sp>
      <p:sp>
        <p:nvSpPr>
          <p:cNvPr id="4" name="Title ticket notch top"/>
          <p:cNvSpPr/>
          <p:nvPr/>
        </p:nvSpPr>
        <p:spPr>
          <a:xfrm>
            <a:off x="8513064" y="1353312"/>
            <a:ext cx="402336" cy="402336"/>
          </a:xfrm>
          <a:prstGeom prst="ellipse">
            <a:avLst/>
          </a:prstGeom>
          <a:solidFill>
            <a:schemeClr val="tx1"/>
          </a:solidFill>
          <a:ln w="12700">
            <a:solidFill>
              <a:schemeClr val="tx1"/>
            </a:solidFill>
            <a:prstDash val="solid"/>
          </a:ln>
        </p:spPr>
      </p:sp>
      <p:sp>
        <p:nvSpPr>
          <p:cNvPr id="5" name="Title ticket notch bottom"/>
          <p:cNvSpPr/>
          <p:nvPr/>
        </p:nvSpPr>
        <p:spPr>
          <a:xfrm>
            <a:off x="8513064" y="3730752"/>
            <a:ext cx="402336" cy="402336"/>
          </a:xfrm>
          <a:prstGeom prst="ellipse">
            <a:avLst/>
          </a:prstGeom>
          <a:solidFill>
            <a:schemeClr val="tx1"/>
          </a:solidFill>
          <a:ln w="12700">
            <a:solidFill>
              <a:schemeClr val="tx1"/>
            </a:solidFill>
            <a:prstDash val="solid"/>
          </a:ln>
        </p:spPr>
      </p:sp>
      <p:sp>
        <p:nvSpPr>
          <p:cNvPr id="6" name="Title ticket perforation"/>
          <p:cNvSpPr/>
          <p:nvPr/>
        </p:nvSpPr>
        <p:spPr>
          <a:xfrm>
            <a:off x="8714232" y="1847088"/>
            <a:ext cx="0" cy="1792224"/>
          </a:xfrm>
          <a:prstGeom prst="line">
            <a:avLst/>
          </a:prstGeom>
          <a:noFill/>
          <a:ln w="19050">
            <a:solidFill>
              <a:schemeClr val="tx1"/>
            </a:solidFill>
            <a:prstDash val="dash"/>
          </a:ln>
        </p:spPr>
      </p:sp>
      <p:sp>
        <p:nvSpPr>
          <p:cNvPr id="7" name="Topic label"/>
          <p:cNvSpPr txBox="1"/>
          <p:nvPr/>
        </p:nvSpPr>
        <p:spPr>
          <a:xfrm>
            <a:off x="1188720" y="1874520"/>
            <a:ext cx="2743200" cy="274320"/>
          </a:xfrm>
          <a:prstGeom prst="rect">
            <a:avLst/>
          </a:prstGeom>
          <a:noFill/>
          <a:ln/>
        </p:spPr>
        <p:txBody>
          <a:bodyPr wrap="square" lIns="0" tIns="0" rIns="0" bIns="0" rtlCol="0" anchor="t"/>
          <a:lstStyle/>
          <a:p>
            <a:pPr indent="0" marL="0">
              <a:buNone/>
            </a:pPr>
            <a:r>
              <a:rPr lang="en-US" sz="1300" b="1" spc="300" kern="0" dirty="0">
                <a:solidFill>
                  <a:schemeClr val="tx2"/>
                </a:solidFill>
              </a:rPr>
              <a:t>ĐỀ TÀI</a:t>
            </a:r>
            <a:endParaRPr lang="en-US" sz="1300" dirty="0"/>
          </a:p>
        </p:txBody>
      </p:sp>
      <p:sp>
        <p:nvSpPr>
          <p:cNvPr id="8" name="Text 0"/>
          <p:cNvSpPr/>
          <p:nvPr>
            <p:ph idx="100" type="title" hasCustomPrompt="1"/>
          </p:nvPr>
        </p:nvSpPr>
        <p:spPr>
          <a:xfrm>
            <a:off x="1188720" y="2240280"/>
            <a:ext cx="6949440" cy="731520"/>
          </a:xfrm>
          <a:prstGeom prst="rect">
            <a:avLst/>
          </a:prstGeom>
          <a:noFill/>
          <a:ln/>
        </p:spPr>
        <p:txBody>
          <a:bodyPr wrap="square" lIns="0" tIns="0" rIns="0" bIns="0" rtlCol="0" anchor="t"/>
          <a:lstStyle/>
          <a:p>
            <a:pPr algn="l" indent="0" marL="0">
              <a:buNone/>
            </a:pPr>
            <a:r>
              <a:rPr lang="en-US" sz="3800" b="1" dirty="0">
                <a:solidFill>
                  <a:schemeClr val="tx1"/>
                </a:solidFill>
              </a:rPr>
              <a:t>Quản lý đặt vé rạp chiếu phim</a:t>
            </a:r>
            <a:endParaRPr lang="en-US" sz="3800" dirty="0"/>
          </a:p>
        </p:txBody>
      </p:sp>
      <p:sp>
        <p:nvSpPr>
          <p:cNvPr id="9" name="Topic subtitle"/>
          <p:cNvSpPr txBox="1"/>
          <p:nvPr/>
        </p:nvSpPr>
        <p:spPr>
          <a:xfrm>
            <a:off x="1188720" y="3154680"/>
            <a:ext cx="6949440" cy="365760"/>
          </a:xfrm>
          <a:prstGeom prst="rect">
            <a:avLst/>
          </a:prstGeom>
          <a:noFill/>
          <a:ln/>
        </p:spPr>
        <p:txBody>
          <a:bodyPr wrap="square" lIns="0" tIns="0" rIns="0" bIns="0" rtlCol="0" anchor="t"/>
          <a:lstStyle/>
          <a:p>
            <a:pPr indent="0" marL="0">
              <a:buNone/>
            </a:pPr>
            <a:r>
              <a:rPr lang="en-US" sz="1800" dirty="0">
                <a:solidFill>
                  <a:schemeClr val="tx1"/>
                </a:solidFill>
              </a:rPr>
              <a:t>Dữ liệu mô phỏng: Công ty Giải trí Ánh Sao</a:t>
            </a:r>
            <a:endParaRPr lang="en-US" sz="1800" dirty="0"/>
          </a:p>
        </p:txBody>
      </p:sp>
      <p:sp>
        <p:nvSpPr>
          <p:cNvPr id="10" name="Stub number"/>
          <p:cNvSpPr txBox="1"/>
          <p:nvPr/>
        </p:nvSpPr>
        <p:spPr>
          <a:xfrm>
            <a:off x="8732520" y="1783080"/>
            <a:ext cx="2697480" cy="1188720"/>
          </a:xfrm>
          <a:prstGeom prst="rect">
            <a:avLst/>
          </a:prstGeom>
          <a:noFill/>
          <a:ln/>
        </p:spPr>
        <p:txBody>
          <a:bodyPr wrap="square" lIns="0" tIns="0" rIns="0" bIns="0" rtlCol="0" anchor="ctr"/>
          <a:lstStyle/>
          <a:p>
            <a:pPr algn="ctr" indent="0" marL="0">
              <a:buNone/>
            </a:pPr>
            <a:r>
              <a:rPr lang="en-US" sz="8000" b="1" dirty="0">
                <a:solidFill>
                  <a:schemeClr val="tx1"/>
                </a:solidFill>
                <a:latin typeface="Cambria" pitchFamily="34" charset="0"/>
                <a:ea typeface="Cambria" pitchFamily="34" charset="-122"/>
                <a:cs typeface="Cambria" pitchFamily="34" charset="-120"/>
              </a:rPr>
              <a:t>5</a:t>
            </a:r>
            <a:endParaRPr lang="en-US" sz="8000" dirty="0"/>
          </a:p>
        </p:txBody>
      </p:sp>
      <p:sp>
        <p:nvSpPr>
          <p:cNvPr id="11" name="Stub caption"/>
          <p:cNvSpPr txBox="1"/>
          <p:nvPr/>
        </p:nvSpPr>
        <p:spPr>
          <a:xfrm>
            <a:off x="8732520" y="3017520"/>
            <a:ext cx="2697480" cy="365760"/>
          </a:xfrm>
          <a:prstGeom prst="rect">
            <a:avLst/>
          </a:prstGeom>
          <a:noFill/>
          <a:ln/>
        </p:spPr>
        <p:txBody>
          <a:bodyPr wrap="square" lIns="0" tIns="0" rIns="0" bIns="0" rtlCol="0" anchor="t"/>
          <a:lstStyle/>
          <a:p>
            <a:pPr algn="ctr" indent="0" marL="0">
              <a:buNone/>
            </a:pPr>
            <a:r>
              <a:rPr lang="en-US" sz="1800" b="1" dirty="0">
                <a:solidFill>
                  <a:schemeClr val="tx1"/>
                </a:solidFill>
              </a:rPr>
              <a:t>bảng dữ liệu</a:t>
            </a:r>
            <a:endParaRPr lang="en-US" sz="1800" dirty="0"/>
          </a:p>
        </p:txBody>
      </p:sp>
      <p:sp>
        <p:nvSpPr>
          <p:cNvPr id="12" name="TÊN HỌC PHẦN label"/>
          <p:cNvSpPr txBox="1"/>
          <p:nvPr/>
        </p:nvSpPr>
        <p:spPr>
          <a:xfrm>
            <a:off x="731520" y="4572000"/>
            <a:ext cx="51206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TÊN HỌC PHẦN</a:t>
            </a:r>
            <a:endParaRPr lang="en-US" sz="1200" dirty="0"/>
          </a:p>
        </p:txBody>
      </p:sp>
      <p:sp>
        <p:nvSpPr>
          <p:cNvPr id="13" name="TÊN HỌC PHẦN value"/>
          <p:cNvSpPr txBox="1"/>
          <p:nvPr/>
        </p:nvSpPr>
        <p:spPr>
          <a:xfrm>
            <a:off x="731520" y="4864608"/>
            <a:ext cx="5120640" cy="457200"/>
          </a:xfrm>
          <a:prstGeom prst="rect">
            <a:avLst/>
          </a:prstGeom>
          <a:noFill/>
          <a:ln/>
        </p:spPr>
        <p:txBody>
          <a:bodyPr wrap="square" lIns="0" tIns="0" rIns="0" bIns="0" rtlCol="0" anchor="t"/>
          <a:lstStyle/>
          <a:p>
            <a:pPr indent="0" marL="0">
              <a:buNone/>
            </a:pPr>
            <a:r>
              <a:rPr lang="en-US" sz="2200" dirty="0">
                <a:solidFill>
                  <a:schemeClr val="bg1"/>
                </a:solidFill>
              </a:rPr>
              <a:t>Hệ quản trị cơ sở dữ liệu</a:t>
            </a:r>
            <a:endParaRPr lang="en-US" sz="2200" dirty="0"/>
          </a:p>
        </p:txBody>
      </p:sp>
      <p:sp>
        <p:nvSpPr>
          <p:cNvPr id="14" name="LỚP HỌC PHẦN label"/>
          <p:cNvSpPr txBox="1"/>
          <p:nvPr/>
        </p:nvSpPr>
        <p:spPr>
          <a:xfrm>
            <a:off x="6217920" y="4572000"/>
            <a:ext cx="51206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LỚP HỌC PHẦN</a:t>
            </a:r>
            <a:endParaRPr lang="en-US" sz="1200" dirty="0"/>
          </a:p>
        </p:txBody>
      </p:sp>
      <p:sp>
        <p:nvSpPr>
          <p:cNvPr id="15" name="LỚP HỌC PHẦN value"/>
          <p:cNvSpPr txBox="1"/>
          <p:nvPr/>
        </p:nvSpPr>
        <p:spPr>
          <a:xfrm>
            <a:off x="6217920" y="4864608"/>
            <a:ext cx="5120640" cy="457200"/>
          </a:xfrm>
          <a:prstGeom prst="rect">
            <a:avLst/>
          </a:prstGeom>
          <a:noFill/>
          <a:ln/>
        </p:spPr>
        <p:txBody>
          <a:bodyPr wrap="square" lIns="0" tIns="0" rIns="0" bIns="0" rtlCol="0" anchor="t"/>
          <a:lstStyle/>
          <a:p>
            <a:pPr indent="0" marL="0">
              <a:buNone/>
            </a:pPr>
            <a:r>
              <a:rPr lang="en-US" sz="2200" i="1" dirty="0">
                <a:solidFill>
                  <a:schemeClr val="bg1"/>
                </a:solidFill>
              </a:rPr>
              <a:t>[Điền lớp học phần]</a:t>
            </a:r>
            <a:endParaRPr lang="en-US" sz="2200" dirty="0"/>
          </a:p>
        </p:txBody>
      </p:sp>
      <p:sp>
        <p:nvSpPr>
          <p:cNvPr id="16" name="HỌ VÀ TÊN label"/>
          <p:cNvSpPr txBox="1"/>
          <p:nvPr/>
        </p:nvSpPr>
        <p:spPr>
          <a:xfrm>
            <a:off x="731520" y="5486400"/>
            <a:ext cx="51206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HỌ VÀ TÊN</a:t>
            </a:r>
            <a:endParaRPr lang="en-US" sz="1200" dirty="0"/>
          </a:p>
        </p:txBody>
      </p:sp>
      <p:sp>
        <p:nvSpPr>
          <p:cNvPr id="17" name="HỌ VÀ TÊN value"/>
          <p:cNvSpPr txBox="1"/>
          <p:nvPr/>
        </p:nvSpPr>
        <p:spPr>
          <a:xfrm>
            <a:off x="731520" y="5779008"/>
            <a:ext cx="5120640" cy="457200"/>
          </a:xfrm>
          <a:prstGeom prst="rect">
            <a:avLst/>
          </a:prstGeom>
          <a:noFill/>
          <a:ln/>
        </p:spPr>
        <p:txBody>
          <a:bodyPr wrap="square" lIns="0" tIns="0" rIns="0" bIns="0" rtlCol="0" anchor="t"/>
          <a:lstStyle/>
          <a:p>
            <a:pPr indent="0" marL="0">
              <a:buNone/>
            </a:pPr>
            <a:r>
              <a:rPr lang="en-US" sz="2200" i="1" dirty="0">
                <a:solidFill>
                  <a:schemeClr val="bg1"/>
                </a:solidFill>
              </a:rPr>
              <a:t>[Điền họ và tên]</a:t>
            </a:r>
            <a:endParaRPr lang="en-US" sz="2200" dirty="0"/>
          </a:p>
        </p:txBody>
      </p:sp>
      <p:sp>
        <p:nvSpPr>
          <p:cNvPr id="18" name="MSSV label"/>
          <p:cNvSpPr txBox="1"/>
          <p:nvPr/>
        </p:nvSpPr>
        <p:spPr>
          <a:xfrm>
            <a:off x="6217920" y="5486400"/>
            <a:ext cx="51206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MSSV</a:t>
            </a:r>
            <a:endParaRPr lang="en-US" sz="1200" dirty="0"/>
          </a:p>
        </p:txBody>
      </p:sp>
      <p:sp>
        <p:nvSpPr>
          <p:cNvPr id="19" name="MSSV value"/>
          <p:cNvSpPr txBox="1"/>
          <p:nvPr/>
        </p:nvSpPr>
        <p:spPr>
          <a:xfrm>
            <a:off x="6217920" y="5779008"/>
            <a:ext cx="5120640" cy="457200"/>
          </a:xfrm>
          <a:prstGeom prst="rect">
            <a:avLst/>
          </a:prstGeom>
          <a:noFill/>
          <a:ln/>
        </p:spPr>
        <p:txBody>
          <a:bodyPr wrap="square" lIns="0" tIns="0" rIns="0" bIns="0" rtlCol="0" anchor="t"/>
          <a:lstStyle/>
          <a:p>
            <a:pPr indent="0" marL="0">
              <a:buNone/>
            </a:pPr>
            <a:r>
              <a:rPr lang="en-US" sz="2200" i="1" dirty="0">
                <a:solidFill>
                  <a:schemeClr val="bg1"/>
                </a:solidFill>
              </a:rPr>
              <a:t>[Điền mã số sinh viên]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Nội dung</a:t>
            </a:r>
            <a:endParaRPr lang="en-US" sz="3000" dirty="0"/>
          </a:p>
        </p:txBody>
      </p:sp>
      <p:sp>
        <p:nvSpPr>
          <p:cNvPr id="3" name="Row 1"/>
          <p:cNvSpPr/>
          <p:nvPr/>
        </p:nvSpPr>
        <p:spPr>
          <a:xfrm>
            <a:off x="457200" y="1371600"/>
            <a:ext cx="11274552" cy="841248"/>
          </a:xfrm>
          <a:prstGeom prst="roundRect">
            <a:avLst>
              <a:gd name="adj" fmla="val 10870"/>
            </a:avLst>
          </a:prstGeom>
          <a:solidFill>
            <a:schemeClr val="bg2"/>
          </a:solidFill>
          <a:ln w="12700">
            <a:solidFill>
              <a:schemeClr val="bg2"/>
            </a:solidFill>
            <a:prstDash val="solid"/>
          </a:ln>
        </p:spPr>
      </p:sp>
      <p:sp>
        <p:nvSpPr>
          <p:cNvPr id="4" name="Number 1 circle"/>
          <p:cNvSpPr/>
          <p:nvPr/>
        </p:nvSpPr>
        <p:spPr>
          <a:xfrm>
            <a:off x="731520" y="1508760"/>
            <a:ext cx="566928" cy="566928"/>
          </a:xfrm>
          <a:prstGeom prst="ellipse">
            <a:avLst/>
          </a:prstGeom>
          <a:solidFill>
            <a:schemeClr val="tx1"/>
          </a:solidFill>
          <a:ln w="12700">
            <a:solidFill>
              <a:schemeClr val="tx1"/>
            </a:solidFill>
            <a:prstDash val="solid"/>
          </a:ln>
        </p:spPr>
      </p:sp>
      <p:sp>
        <p:nvSpPr>
          <p:cNvPr id="5" name="Number 1"/>
          <p:cNvSpPr txBox="1"/>
          <p:nvPr/>
        </p:nvSpPr>
        <p:spPr>
          <a:xfrm>
            <a:off x="731520" y="1508760"/>
            <a:ext cx="566928" cy="566928"/>
          </a:xfrm>
          <a:prstGeom prst="rect">
            <a:avLst/>
          </a:prstGeom>
          <a:noFill/>
          <a:ln/>
        </p:spPr>
        <p:txBody>
          <a:bodyPr wrap="square" lIns="0" tIns="0" rIns="0" bIns="0" rtlCol="0" anchor="ctr"/>
          <a:lstStyle/>
          <a:p>
            <a:pPr algn="ctr" indent="0" marL="0">
              <a:buNone/>
            </a:pPr>
            <a:r>
              <a:rPr lang="en-US" sz="2500" b="1" dirty="0">
                <a:solidFill>
                  <a:schemeClr val="accent1"/>
                </a:solidFill>
                <a:latin typeface="Cambria" pitchFamily="34" charset="0"/>
                <a:ea typeface="Cambria" pitchFamily="34" charset="-122"/>
                <a:cs typeface="Cambria" pitchFamily="34" charset="-120"/>
              </a:rPr>
              <a:t>1</a:t>
            </a:r>
            <a:endParaRPr lang="en-US" sz="2500" dirty="0"/>
          </a:p>
        </p:txBody>
      </p:sp>
      <p:sp>
        <p:nvSpPr>
          <p:cNvPr id="6" name="Heading 1"/>
          <p:cNvSpPr txBox="1"/>
          <p:nvPr/>
        </p:nvSpPr>
        <p:spPr>
          <a:xfrm>
            <a:off x="1554480" y="1371600"/>
            <a:ext cx="4572000" cy="841248"/>
          </a:xfrm>
          <a:prstGeom prst="rect">
            <a:avLst/>
          </a:prstGeom>
          <a:noFill/>
          <a:ln/>
        </p:spPr>
        <p:txBody>
          <a:bodyPr wrap="square" lIns="0" tIns="0" rIns="0" bIns="0" rtlCol="0" anchor="ctr"/>
          <a:lstStyle/>
          <a:p>
            <a:pPr indent="0" marL="0">
              <a:buNone/>
            </a:pPr>
            <a:r>
              <a:rPr lang="en-US" sz="2000" b="1" dirty="0">
                <a:solidFill>
                  <a:schemeClr val="tx1"/>
                </a:solidFill>
              </a:rPr>
              <a:t>Mô tả yêu cầu quản lý</a:t>
            </a:r>
            <a:endParaRPr lang="en-US" sz="2000" dirty="0"/>
          </a:p>
        </p:txBody>
      </p:sp>
      <p:sp>
        <p:nvSpPr>
          <p:cNvPr id="7" name="Description 1"/>
          <p:cNvSpPr txBox="1"/>
          <p:nvPr/>
        </p:nvSpPr>
        <p:spPr>
          <a:xfrm>
            <a:off x="6217920" y="1371600"/>
            <a:ext cx="3931920" cy="841248"/>
          </a:xfrm>
          <a:prstGeom prst="rect">
            <a:avLst/>
          </a:prstGeom>
          <a:noFill/>
          <a:ln/>
        </p:spPr>
        <p:txBody>
          <a:bodyPr wrap="square" lIns="0" tIns="0" rIns="0" bIns="0" rtlCol="0" anchor="ctr"/>
          <a:lstStyle/>
          <a:p>
            <a:pPr indent="0" marL="0">
              <a:buNone/>
            </a:pPr>
            <a:r>
              <a:rPr lang="en-US" sz="1400" dirty="0">
                <a:solidFill>
                  <a:schemeClr val="tx2"/>
                </a:solidFill>
              </a:rPr>
              <a:t>Doanh nghiệp, đối tượng và yêu cầu quản lý</a:t>
            </a:r>
            <a:endParaRPr lang="en-US" sz="1400" dirty="0"/>
          </a:p>
        </p:txBody>
      </p:sp>
      <p:sp>
        <p:nvSpPr>
          <p:cNvPr id="8" name="Slide tag 1"/>
          <p:cNvSpPr txBox="1"/>
          <p:nvPr/>
        </p:nvSpPr>
        <p:spPr>
          <a:xfrm>
            <a:off x="10149840" y="1371600"/>
            <a:ext cx="1325880" cy="841248"/>
          </a:xfrm>
          <a:prstGeom prst="rect">
            <a:avLst/>
          </a:prstGeom>
          <a:noFill/>
          <a:ln/>
        </p:spPr>
        <p:txBody>
          <a:bodyPr wrap="square" lIns="0" tIns="0" rIns="0" bIns="0" rtlCol="0" anchor="ctr"/>
          <a:lstStyle/>
          <a:p>
            <a:pPr algn="r" indent="0" marL="0">
              <a:buNone/>
            </a:pPr>
            <a:r>
              <a:rPr lang="en-US" sz="1200" b="1" spc="200" kern="0" dirty="0">
                <a:solidFill>
                  <a:schemeClr val="tx1"/>
                </a:solidFill>
              </a:rPr>
              <a:t>SLIDE 3</a:t>
            </a:r>
            <a:endParaRPr lang="en-US" sz="1200" dirty="0"/>
          </a:p>
        </p:txBody>
      </p:sp>
      <p:sp>
        <p:nvSpPr>
          <p:cNvPr id="9" name="Row 2"/>
          <p:cNvSpPr/>
          <p:nvPr/>
        </p:nvSpPr>
        <p:spPr>
          <a:xfrm>
            <a:off x="457200" y="2377440"/>
            <a:ext cx="11274552" cy="841248"/>
          </a:xfrm>
          <a:prstGeom prst="roundRect">
            <a:avLst>
              <a:gd name="adj" fmla="val 10870"/>
            </a:avLst>
          </a:prstGeom>
          <a:solidFill>
            <a:schemeClr val="bg2"/>
          </a:solidFill>
          <a:ln w="12700">
            <a:solidFill>
              <a:schemeClr val="bg2"/>
            </a:solidFill>
            <a:prstDash val="solid"/>
          </a:ln>
        </p:spPr>
      </p:sp>
      <p:sp>
        <p:nvSpPr>
          <p:cNvPr id="10" name="Number 2 circle"/>
          <p:cNvSpPr/>
          <p:nvPr/>
        </p:nvSpPr>
        <p:spPr>
          <a:xfrm>
            <a:off x="731520" y="2514600"/>
            <a:ext cx="566928" cy="566928"/>
          </a:xfrm>
          <a:prstGeom prst="ellipse">
            <a:avLst/>
          </a:prstGeom>
          <a:solidFill>
            <a:schemeClr val="tx1"/>
          </a:solidFill>
          <a:ln w="12700">
            <a:solidFill>
              <a:schemeClr val="tx1"/>
            </a:solidFill>
            <a:prstDash val="solid"/>
          </a:ln>
        </p:spPr>
      </p:sp>
      <p:sp>
        <p:nvSpPr>
          <p:cNvPr id="11" name="Number 2"/>
          <p:cNvSpPr txBox="1"/>
          <p:nvPr/>
        </p:nvSpPr>
        <p:spPr>
          <a:xfrm>
            <a:off x="731520" y="2514600"/>
            <a:ext cx="566928" cy="566928"/>
          </a:xfrm>
          <a:prstGeom prst="rect">
            <a:avLst/>
          </a:prstGeom>
          <a:noFill/>
          <a:ln/>
        </p:spPr>
        <p:txBody>
          <a:bodyPr wrap="square" lIns="0" tIns="0" rIns="0" bIns="0" rtlCol="0" anchor="ctr"/>
          <a:lstStyle/>
          <a:p>
            <a:pPr algn="ctr" indent="0" marL="0">
              <a:buNone/>
            </a:pPr>
            <a:r>
              <a:rPr lang="en-US" sz="2500" b="1" dirty="0">
                <a:solidFill>
                  <a:schemeClr val="accent1"/>
                </a:solidFill>
                <a:latin typeface="Cambria" pitchFamily="34" charset="0"/>
                <a:ea typeface="Cambria" pitchFamily="34" charset="-122"/>
                <a:cs typeface="Cambria" pitchFamily="34" charset="-120"/>
              </a:rPr>
              <a:t>2</a:t>
            </a:r>
            <a:endParaRPr lang="en-US" sz="2500" dirty="0"/>
          </a:p>
        </p:txBody>
      </p:sp>
      <p:sp>
        <p:nvSpPr>
          <p:cNvPr id="12" name="Heading 2"/>
          <p:cNvSpPr txBox="1"/>
          <p:nvPr/>
        </p:nvSpPr>
        <p:spPr>
          <a:xfrm>
            <a:off x="1554480" y="2377440"/>
            <a:ext cx="4572000" cy="841248"/>
          </a:xfrm>
          <a:prstGeom prst="rect">
            <a:avLst/>
          </a:prstGeom>
          <a:noFill/>
          <a:ln/>
        </p:spPr>
        <p:txBody>
          <a:bodyPr wrap="square" lIns="0" tIns="0" rIns="0" bIns="0" rtlCol="0" anchor="ctr"/>
          <a:lstStyle/>
          <a:p>
            <a:pPr indent="0" marL="0">
              <a:buNone/>
            </a:pPr>
            <a:r>
              <a:rPr lang="en-US" sz="2000" b="1" dirty="0">
                <a:solidFill>
                  <a:schemeClr val="tx1"/>
                </a:solidFill>
              </a:rPr>
              <a:t>Mô hình thực thể – quan hệ (ER)</a:t>
            </a:r>
            <a:endParaRPr lang="en-US" sz="2000" dirty="0"/>
          </a:p>
        </p:txBody>
      </p:sp>
      <p:sp>
        <p:nvSpPr>
          <p:cNvPr id="13" name="Description 2"/>
          <p:cNvSpPr txBox="1"/>
          <p:nvPr/>
        </p:nvSpPr>
        <p:spPr>
          <a:xfrm>
            <a:off x="6217920" y="2377440"/>
            <a:ext cx="3931920" cy="841248"/>
          </a:xfrm>
          <a:prstGeom prst="rect">
            <a:avLst/>
          </a:prstGeom>
          <a:noFill/>
          <a:ln/>
        </p:spPr>
        <p:txBody>
          <a:bodyPr wrap="square" lIns="0" tIns="0" rIns="0" bIns="0" rtlCol="0" anchor="ctr"/>
          <a:lstStyle/>
          <a:p>
            <a:pPr indent="0" marL="0">
              <a:buNone/>
            </a:pPr>
            <a:r>
              <a:rPr lang="en-US" sz="1400" dirty="0">
                <a:solidFill>
                  <a:schemeClr val="tx2"/>
                </a:solidFill>
              </a:rPr>
              <a:t>Thực thể, thuộc tính, quan hệ 1 – N và N – N</a:t>
            </a:r>
            <a:endParaRPr lang="en-US" sz="1400" dirty="0"/>
          </a:p>
        </p:txBody>
      </p:sp>
      <p:sp>
        <p:nvSpPr>
          <p:cNvPr id="14" name="Slide tag 2"/>
          <p:cNvSpPr txBox="1"/>
          <p:nvPr/>
        </p:nvSpPr>
        <p:spPr>
          <a:xfrm>
            <a:off x="10149840" y="2377440"/>
            <a:ext cx="1325880" cy="841248"/>
          </a:xfrm>
          <a:prstGeom prst="rect">
            <a:avLst/>
          </a:prstGeom>
          <a:noFill/>
          <a:ln/>
        </p:spPr>
        <p:txBody>
          <a:bodyPr wrap="square" lIns="0" tIns="0" rIns="0" bIns="0" rtlCol="0" anchor="ctr"/>
          <a:lstStyle/>
          <a:p>
            <a:pPr algn="r" indent="0" marL="0">
              <a:buNone/>
            </a:pPr>
            <a:r>
              <a:rPr lang="en-US" sz="1200" b="1" spc="200" kern="0" dirty="0">
                <a:solidFill>
                  <a:schemeClr val="tx1"/>
                </a:solidFill>
              </a:rPr>
              <a:t>SLIDE 4</a:t>
            </a:r>
            <a:endParaRPr lang="en-US" sz="1200" dirty="0"/>
          </a:p>
        </p:txBody>
      </p:sp>
      <p:sp>
        <p:nvSpPr>
          <p:cNvPr id="15" name="Row 3"/>
          <p:cNvSpPr/>
          <p:nvPr/>
        </p:nvSpPr>
        <p:spPr>
          <a:xfrm>
            <a:off x="457200" y="3383280"/>
            <a:ext cx="11274552" cy="841248"/>
          </a:xfrm>
          <a:prstGeom prst="roundRect">
            <a:avLst>
              <a:gd name="adj" fmla="val 10870"/>
            </a:avLst>
          </a:prstGeom>
          <a:solidFill>
            <a:schemeClr val="bg2"/>
          </a:solidFill>
          <a:ln w="12700">
            <a:solidFill>
              <a:schemeClr val="bg2"/>
            </a:solidFill>
            <a:prstDash val="solid"/>
          </a:ln>
        </p:spPr>
      </p:sp>
      <p:sp>
        <p:nvSpPr>
          <p:cNvPr id="16" name="Number 3 circle"/>
          <p:cNvSpPr/>
          <p:nvPr/>
        </p:nvSpPr>
        <p:spPr>
          <a:xfrm>
            <a:off x="731520" y="3520440"/>
            <a:ext cx="566928" cy="566928"/>
          </a:xfrm>
          <a:prstGeom prst="ellipse">
            <a:avLst/>
          </a:prstGeom>
          <a:solidFill>
            <a:schemeClr val="tx1"/>
          </a:solidFill>
          <a:ln w="12700">
            <a:solidFill>
              <a:schemeClr val="tx1"/>
            </a:solidFill>
            <a:prstDash val="solid"/>
          </a:ln>
        </p:spPr>
      </p:sp>
      <p:sp>
        <p:nvSpPr>
          <p:cNvPr id="17" name="Number 3"/>
          <p:cNvSpPr txBox="1"/>
          <p:nvPr/>
        </p:nvSpPr>
        <p:spPr>
          <a:xfrm>
            <a:off x="731520" y="3520440"/>
            <a:ext cx="566928" cy="566928"/>
          </a:xfrm>
          <a:prstGeom prst="rect">
            <a:avLst/>
          </a:prstGeom>
          <a:noFill/>
          <a:ln/>
        </p:spPr>
        <p:txBody>
          <a:bodyPr wrap="square" lIns="0" tIns="0" rIns="0" bIns="0" rtlCol="0" anchor="ctr"/>
          <a:lstStyle/>
          <a:p>
            <a:pPr algn="ctr" indent="0" marL="0">
              <a:buNone/>
            </a:pPr>
            <a:r>
              <a:rPr lang="en-US" sz="2500" b="1" dirty="0">
                <a:solidFill>
                  <a:schemeClr val="accent1"/>
                </a:solidFill>
                <a:latin typeface="Cambria" pitchFamily="34" charset="0"/>
                <a:ea typeface="Cambria" pitchFamily="34" charset="-122"/>
                <a:cs typeface="Cambria" pitchFamily="34" charset="-120"/>
              </a:rPr>
              <a:t>3</a:t>
            </a:r>
            <a:endParaRPr lang="en-US" sz="2500" dirty="0"/>
          </a:p>
        </p:txBody>
      </p:sp>
      <p:sp>
        <p:nvSpPr>
          <p:cNvPr id="18" name="Heading 3"/>
          <p:cNvSpPr txBox="1"/>
          <p:nvPr/>
        </p:nvSpPr>
        <p:spPr>
          <a:xfrm>
            <a:off x="1554480" y="3383280"/>
            <a:ext cx="4572000" cy="841248"/>
          </a:xfrm>
          <a:prstGeom prst="rect">
            <a:avLst/>
          </a:prstGeom>
          <a:noFill/>
          <a:ln/>
        </p:spPr>
        <p:txBody>
          <a:bodyPr wrap="square" lIns="0" tIns="0" rIns="0" bIns="0" rtlCol="0" anchor="ctr"/>
          <a:lstStyle/>
          <a:p>
            <a:pPr indent="0" marL="0">
              <a:buNone/>
            </a:pPr>
            <a:r>
              <a:rPr lang="en-US" sz="2000" b="1" dirty="0">
                <a:solidFill>
                  <a:schemeClr val="tx1"/>
                </a:solidFill>
              </a:rPr>
              <a:t>Lược đồ quan hệ</a:t>
            </a:r>
            <a:endParaRPr lang="en-US" sz="2000" dirty="0"/>
          </a:p>
        </p:txBody>
      </p:sp>
      <p:sp>
        <p:nvSpPr>
          <p:cNvPr id="19" name="Description 3"/>
          <p:cNvSpPr txBox="1"/>
          <p:nvPr/>
        </p:nvSpPr>
        <p:spPr>
          <a:xfrm>
            <a:off x="6217920" y="3383280"/>
            <a:ext cx="3931920" cy="841248"/>
          </a:xfrm>
          <a:prstGeom prst="rect">
            <a:avLst/>
          </a:prstGeom>
          <a:noFill/>
          <a:ln/>
        </p:spPr>
        <p:txBody>
          <a:bodyPr wrap="square" lIns="0" tIns="0" rIns="0" bIns="0" rtlCol="0" anchor="ctr"/>
          <a:lstStyle/>
          <a:p>
            <a:pPr indent="0" marL="0">
              <a:buNone/>
            </a:pPr>
            <a:r>
              <a:rPr lang="en-US" sz="1400" dirty="0">
                <a:solidFill>
                  <a:schemeClr val="tx2"/>
                </a:solidFill>
              </a:rPr>
              <a:t>5 bảng, khóa chính được gạch chân, khóa ngoại</a:t>
            </a:r>
            <a:endParaRPr lang="en-US" sz="1400" dirty="0"/>
          </a:p>
        </p:txBody>
      </p:sp>
      <p:sp>
        <p:nvSpPr>
          <p:cNvPr id="20" name="Slide tag 3"/>
          <p:cNvSpPr txBox="1"/>
          <p:nvPr/>
        </p:nvSpPr>
        <p:spPr>
          <a:xfrm>
            <a:off x="10149840" y="3383280"/>
            <a:ext cx="1325880" cy="841248"/>
          </a:xfrm>
          <a:prstGeom prst="rect">
            <a:avLst/>
          </a:prstGeom>
          <a:noFill/>
          <a:ln/>
        </p:spPr>
        <p:txBody>
          <a:bodyPr wrap="square" lIns="0" tIns="0" rIns="0" bIns="0" rtlCol="0" anchor="ctr"/>
          <a:lstStyle/>
          <a:p>
            <a:pPr algn="r" indent="0" marL="0">
              <a:buNone/>
            </a:pPr>
            <a:r>
              <a:rPr lang="en-US" sz="1200" b="1" spc="200" kern="0" dirty="0">
                <a:solidFill>
                  <a:schemeClr val="tx1"/>
                </a:solidFill>
              </a:rPr>
              <a:t>SLIDE 5</a:t>
            </a:r>
            <a:endParaRPr lang="en-US" sz="1200" dirty="0"/>
          </a:p>
        </p:txBody>
      </p:sp>
      <p:sp>
        <p:nvSpPr>
          <p:cNvPr id="21" name="Row 4"/>
          <p:cNvSpPr/>
          <p:nvPr/>
        </p:nvSpPr>
        <p:spPr>
          <a:xfrm>
            <a:off x="457200" y="4389120"/>
            <a:ext cx="11274552" cy="841248"/>
          </a:xfrm>
          <a:prstGeom prst="roundRect">
            <a:avLst>
              <a:gd name="adj" fmla="val 10870"/>
            </a:avLst>
          </a:prstGeom>
          <a:solidFill>
            <a:schemeClr val="bg2"/>
          </a:solidFill>
          <a:ln w="12700">
            <a:solidFill>
              <a:schemeClr val="bg2"/>
            </a:solidFill>
            <a:prstDash val="solid"/>
          </a:ln>
        </p:spPr>
      </p:sp>
      <p:sp>
        <p:nvSpPr>
          <p:cNvPr id="22" name="Number 4 circle"/>
          <p:cNvSpPr/>
          <p:nvPr/>
        </p:nvSpPr>
        <p:spPr>
          <a:xfrm>
            <a:off x="731520" y="4526280"/>
            <a:ext cx="566928" cy="566928"/>
          </a:xfrm>
          <a:prstGeom prst="ellipse">
            <a:avLst/>
          </a:prstGeom>
          <a:solidFill>
            <a:schemeClr val="tx1"/>
          </a:solidFill>
          <a:ln w="12700">
            <a:solidFill>
              <a:schemeClr val="tx1"/>
            </a:solidFill>
            <a:prstDash val="solid"/>
          </a:ln>
        </p:spPr>
      </p:sp>
      <p:sp>
        <p:nvSpPr>
          <p:cNvPr id="23" name="Number 4"/>
          <p:cNvSpPr txBox="1"/>
          <p:nvPr/>
        </p:nvSpPr>
        <p:spPr>
          <a:xfrm>
            <a:off x="731520" y="4526280"/>
            <a:ext cx="566928" cy="566928"/>
          </a:xfrm>
          <a:prstGeom prst="rect">
            <a:avLst/>
          </a:prstGeom>
          <a:noFill/>
          <a:ln/>
        </p:spPr>
        <p:txBody>
          <a:bodyPr wrap="square" lIns="0" tIns="0" rIns="0" bIns="0" rtlCol="0" anchor="ctr"/>
          <a:lstStyle/>
          <a:p>
            <a:pPr algn="ctr" indent="0" marL="0">
              <a:buNone/>
            </a:pPr>
            <a:r>
              <a:rPr lang="en-US" sz="2500" b="1" dirty="0">
                <a:solidFill>
                  <a:schemeClr val="accent1"/>
                </a:solidFill>
                <a:latin typeface="Cambria" pitchFamily="34" charset="0"/>
                <a:ea typeface="Cambria" pitchFamily="34" charset="-122"/>
                <a:cs typeface="Cambria" pitchFamily="34" charset="-120"/>
              </a:rPr>
              <a:t>4</a:t>
            </a:r>
            <a:endParaRPr lang="en-US" sz="2500" dirty="0"/>
          </a:p>
        </p:txBody>
      </p:sp>
      <p:sp>
        <p:nvSpPr>
          <p:cNvPr id="24" name="Heading 4"/>
          <p:cNvSpPr txBox="1"/>
          <p:nvPr/>
        </p:nvSpPr>
        <p:spPr>
          <a:xfrm>
            <a:off x="1554480" y="4389120"/>
            <a:ext cx="4572000" cy="841248"/>
          </a:xfrm>
          <a:prstGeom prst="rect">
            <a:avLst/>
          </a:prstGeom>
          <a:noFill/>
          <a:ln/>
        </p:spPr>
        <p:txBody>
          <a:bodyPr wrap="square" lIns="0" tIns="0" rIns="0" bIns="0" rtlCol="0" anchor="ctr"/>
          <a:lstStyle/>
          <a:p>
            <a:pPr indent="0" marL="0">
              <a:buNone/>
            </a:pPr>
            <a:r>
              <a:rPr lang="en-US" sz="2000" b="1" dirty="0">
                <a:solidFill>
                  <a:schemeClr val="tx1"/>
                </a:solidFill>
              </a:rPr>
              <a:t>Dữ liệu mẫu</a:t>
            </a:r>
            <a:endParaRPr lang="en-US" sz="2000" dirty="0"/>
          </a:p>
        </p:txBody>
      </p:sp>
      <p:sp>
        <p:nvSpPr>
          <p:cNvPr id="25" name="Description 4"/>
          <p:cNvSpPr txBox="1"/>
          <p:nvPr/>
        </p:nvSpPr>
        <p:spPr>
          <a:xfrm>
            <a:off x="6217920" y="4389120"/>
            <a:ext cx="3931920" cy="841248"/>
          </a:xfrm>
          <a:prstGeom prst="rect">
            <a:avLst/>
          </a:prstGeom>
          <a:noFill/>
          <a:ln/>
        </p:spPr>
        <p:txBody>
          <a:bodyPr wrap="square" lIns="0" tIns="0" rIns="0" bIns="0" rtlCol="0" anchor="ctr"/>
          <a:lstStyle/>
          <a:p>
            <a:pPr indent="0" marL="0">
              <a:buNone/>
            </a:pPr>
            <a:r>
              <a:rPr lang="en-US" sz="1400" dirty="0">
                <a:solidFill>
                  <a:schemeClr val="tx2"/>
                </a:solidFill>
              </a:rPr>
              <a:t>Dữ liệu mô phỏng nhập vào MySQL</a:t>
            </a:r>
            <a:endParaRPr lang="en-US" sz="1400" dirty="0"/>
          </a:p>
        </p:txBody>
      </p:sp>
      <p:sp>
        <p:nvSpPr>
          <p:cNvPr id="26" name="Slide tag 4"/>
          <p:cNvSpPr txBox="1"/>
          <p:nvPr/>
        </p:nvSpPr>
        <p:spPr>
          <a:xfrm>
            <a:off x="10149840" y="4389120"/>
            <a:ext cx="1325880" cy="841248"/>
          </a:xfrm>
          <a:prstGeom prst="rect">
            <a:avLst/>
          </a:prstGeom>
          <a:noFill/>
          <a:ln/>
        </p:spPr>
        <p:txBody>
          <a:bodyPr wrap="square" lIns="0" tIns="0" rIns="0" bIns="0" rtlCol="0" anchor="ctr"/>
          <a:lstStyle/>
          <a:p>
            <a:pPr algn="r" indent="0" marL="0">
              <a:buNone/>
            </a:pPr>
            <a:r>
              <a:rPr lang="en-US" sz="1200" b="1" spc="200" kern="0" dirty="0">
                <a:solidFill>
                  <a:schemeClr val="tx1"/>
                </a:solidFill>
              </a:rPr>
              <a:t>SLIDE 6</a:t>
            </a:r>
            <a:endParaRPr lang="en-US" sz="1200" dirty="0"/>
          </a:p>
        </p:txBody>
      </p:sp>
      <p:sp>
        <p:nvSpPr>
          <p:cNvPr id="27" name="Row 5"/>
          <p:cNvSpPr/>
          <p:nvPr/>
        </p:nvSpPr>
        <p:spPr>
          <a:xfrm>
            <a:off x="457200" y="5394960"/>
            <a:ext cx="11274552" cy="841248"/>
          </a:xfrm>
          <a:prstGeom prst="roundRect">
            <a:avLst>
              <a:gd name="adj" fmla="val 10870"/>
            </a:avLst>
          </a:prstGeom>
          <a:solidFill>
            <a:schemeClr val="bg2"/>
          </a:solidFill>
          <a:ln w="12700">
            <a:solidFill>
              <a:schemeClr val="bg2"/>
            </a:solidFill>
            <a:prstDash val="solid"/>
          </a:ln>
        </p:spPr>
      </p:sp>
      <p:sp>
        <p:nvSpPr>
          <p:cNvPr id="28" name="Number 5 circle"/>
          <p:cNvSpPr/>
          <p:nvPr/>
        </p:nvSpPr>
        <p:spPr>
          <a:xfrm>
            <a:off x="731520" y="5532120"/>
            <a:ext cx="566928" cy="566928"/>
          </a:xfrm>
          <a:prstGeom prst="ellipse">
            <a:avLst/>
          </a:prstGeom>
          <a:solidFill>
            <a:schemeClr val="tx1"/>
          </a:solidFill>
          <a:ln w="12700">
            <a:solidFill>
              <a:schemeClr val="tx1"/>
            </a:solidFill>
            <a:prstDash val="solid"/>
          </a:ln>
        </p:spPr>
      </p:sp>
      <p:sp>
        <p:nvSpPr>
          <p:cNvPr id="29" name="Number 5"/>
          <p:cNvSpPr txBox="1"/>
          <p:nvPr/>
        </p:nvSpPr>
        <p:spPr>
          <a:xfrm>
            <a:off x="731520" y="5532120"/>
            <a:ext cx="566928" cy="566928"/>
          </a:xfrm>
          <a:prstGeom prst="rect">
            <a:avLst/>
          </a:prstGeom>
          <a:noFill/>
          <a:ln/>
        </p:spPr>
        <p:txBody>
          <a:bodyPr wrap="square" lIns="0" tIns="0" rIns="0" bIns="0" rtlCol="0" anchor="ctr"/>
          <a:lstStyle/>
          <a:p>
            <a:pPr algn="ctr" indent="0" marL="0">
              <a:buNone/>
            </a:pPr>
            <a:r>
              <a:rPr lang="en-US" sz="2500" b="1" dirty="0">
                <a:solidFill>
                  <a:schemeClr val="accent1"/>
                </a:solidFill>
                <a:latin typeface="Cambria" pitchFamily="34" charset="0"/>
                <a:ea typeface="Cambria" pitchFamily="34" charset="-122"/>
                <a:cs typeface="Cambria" pitchFamily="34" charset="-120"/>
              </a:rPr>
              <a:t>5</a:t>
            </a:r>
            <a:endParaRPr lang="en-US" sz="2500" dirty="0"/>
          </a:p>
        </p:txBody>
      </p:sp>
      <p:sp>
        <p:nvSpPr>
          <p:cNvPr id="30" name="Heading 5"/>
          <p:cNvSpPr txBox="1"/>
          <p:nvPr/>
        </p:nvSpPr>
        <p:spPr>
          <a:xfrm>
            <a:off x="1554480" y="5394960"/>
            <a:ext cx="4572000" cy="841248"/>
          </a:xfrm>
          <a:prstGeom prst="rect">
            <a:avLst/>
          </a:prstGeom>
          <a:noFill/>
          <a:ln/>
        </p:spPr>
        <p:txBody>
          <a:bodyPr wrap="square" lIns="0" tIns="0" rIns="0" bIns="0" rtlCol="0" anchor="ctr"/>
          <a:lstStyle/>
          <a:p>
            <a:pPr indent="0" marL="0">
              <a:buNone/>
            </a:pPr>
            <a:r>
              <a:rPr lang="en-US" sz="2000" b="1" dirty="0">
                <a:solidFill>
                  <a:schemeClr val="tx1"/>
                </a:solidFill>
              </a:rPr>
              <a:t>Ràng buộc toàn vẹn</a:t>
            </a:r>
            <a:endParaRPr lang="en-US" sz="2000" dirty="0"/>
          </a:p>
        </p:txBody>
      </p:sp>
      <p:sp>
        <p:nvSpPr>
          <p:cNvPr id="31" name="Description 5"/>
          <p:cNvSpPr txBox="1"/>
          <p:nvPr/>
        </p:nvSpPr>
        <p:spPr>
          <a:xfrm>
            <a:off x="6217920" y="5394960"/>
            <a:ext cx="3931920" cy="841248"/>
          </a:xfrm>
          <a:prstGeom prst="rect">
            <a:avLst/>
          </a:prstGeom>
          <a:noFill/>
          <a:ln/>
        </p:spPr>
        <p:txBody>
          <a:bodyPr wrap="square" lIns="0" tIns="0" rIns="0" bIns="0" rtlCol="0" anchor="ctr"/>
          <a:lstStyle/>
          <a:p>
            <a:pPr indent="0" marL="0">
              <a:buNone/>
            </a:pPr>
            <a:r>
              <a:rPr lang="en-US" sz="1400" dirty="0">
                <a:solidFill>
                  <a:schemeClr val="tx2"/>
                </a:solidFill>
              </a:rPr>
              <a:t>Miền giá trị, khóa chính, khóa ngoại</a:t>
            </a:r>
            <a:endParaRPr lang="en-US" sz="1400" dirty="0"/>
          </a:p>
        </p:txBody>
      </p:sp>
      <p:sp>
        <p:nvSpPr>
          <p:cNvPr id="32" name="Slide tag 5"/>
          <p:cNvSpPr txBox="1"/>
          <p:nvPr/>
        </p:nvSpPr>
        <p:spPr>
          <a:xfrm>
            <a:off x="10149840" y="5394960"/>
            <a:ext cx="1325880" cy="841248"/>
          </a:xfrm>
          <a:prstGeom prst="rect">
            <a:avLst/>
          </a:prstGeom>
          <a:noFill/>
          <a:ln/>
        </p:spPr>
        <p:txBody>
          <a:bodyPr wrap="square" lIns="0" tIns="0" rIns="0" bIns="0" rtlCol="0" anchor="ctr"/>
          <a:lstStyle/>
          <a:p>
            <a:pPr algn="r" indent="0" marL="0">
              <a:buNone/>
            </a:pPr>
            <a:r>
              <a:rPr lang="en-US" sz="1200" b="1" spc="200" kern="0" dirty="0">
                <a:solidFill>
                  <a:schemeClr val="tx1"/>
                </a:solidFill>
              </a:rPr>
              <a:t>SLIDE 7</a:t>
            </a:r>
            <a:endParaRPr lang="en-US" sz="12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Mô tả yêu cầu quản lý</a:t>
            </a:r>
            <a:endParaRPr lang="en-US" sz="3000" dirty="0"/>
          </a:p>
        </p:txBody>
      </p:sp>
      <p:sp>
        <p:nvSpPr>
          <p:cNvPr id="3" name="Intro band"/>
          <p:cNvSpPr/>
          <p:nvPr/>
        </p:nvSpPr>
        <p:spPr>
          <a:xfrm>
            <a:off x="457200" y="1280160"/>
            <a:ext cx="11274552" cy="914400"/>
          </a:xfrm>
          <a:prstGeom prst="roundRect">
            <a:avLst>
              <a:gd name="adj" fmla="val 10000"/>
            </a:avLst>
          </a:prstGeom>
          <a:solidFill>
            <a:schemeClr val="tx1"/>
          </a:solidFill>
          <a:ln w="12700">
            <a:solidFill>
              <a:schemeClr val="tx1"/>
            </a:solidFill>
            <a:prstDash val="solid"/>
          </a:ln>
        </p:spPr>
      </p:sp>
      <p:sp>
        <p:nvSpPr>
          <p:cNvPr id="4" name="Intro label"/>
          <p:cNvSpPr/>
          <p:nvPr/>
        </p:nvSpPr>
        <p:spPr>
          <a:xfrm>
            <a:off x="685800" y="1508760"/>
            <a:ext cx="1737360" cy="457200"/>
          </a:xfrm>
          <a:prstGeom prst="roundRect">
            <a:avLst>
              <a:gd name="adj" fmla="val 20000"/>
            </a:avLst>
          </a:prstGeom>
          <a:solidFill>
            <a:schemeClr val="accent1"/>
          </a:solidFill>
          <a:ln>
            <a:solidFill>
              <a:schemeClr val="accent1"/>
            </a:solidFill>
          </a:ln>
        </p:spPr>
        <p:txBody>
          <a:bodyPr wrap="square" lIns="0" tIns="0" rIns="0" bIns="0" rtlCol="0" anchor="ctr"/>
          <a:lstStyle/>
          <a:p>
            <a:pPr algn="ctr" indent="0" marL="0">
              <a:buNone/>
            </a:pPr>
            <a:r>
              <a:rPr lang="en-US" sz="1200" b="1" spc="100" kern="0" dirty="0">
                <a:solidFill>
                  <a:schemeClr val="tx1"/>
                </a:solidFill>
              </a:rPr>
              <a:t>DOANH NGHIỆP</a:t>
            </a:r>
            <a:endParaRPr lang="en-US" sz="1200" dirty="0"/>
          </a:p>
        </p:txBody>
      </p:sp>
      <p:sp>
        <p:nvSpPr>
          <p:cNvPr id="5" name="Intro text"/>
          <p:cNvSpPr txBox="1"/>
          <p:nvPr/>
        </p:nvSpPr>
        <p:spPr>
          <a:xfrm>
            <a:off x="2697480" y="1280160"/>
            <a:ext cx="8823960" cy="914400"/>
          </a:xfrm>
          <a:prstGeom prst="rect">
            <a:avLst/>
          </a:prstGeom>
          <a:noFill/>
          <a:ln/>
        </p:spPr>
        <p:txBody>
          <a:bodyPr wrap="square" lIns="0" tIns="0" rIns="0" bIns="0" rtlCol="0" anchor="ctr"/>
          <a:lstStyle/>
          <a:p>
            <a:pPr indent="0" marL="0">
              <a:buNone/>
            </a:pPr>
            <a:r>
              <a:rPr lang="en-US" sz="1500" b="1" dirty="0">
                <a:solidFill>
                  <a:schemeClr val="bg1"/>
                </a:solidFill>
              </a:rPr>
              <a:t>Công ty Giải trí Ánh Sao </a:t>
            </a:r>
            <a:pPr indent="0" marL="0">
              <a:buNone/>
            </a:pPr>
            <a:r>
              <a:rPr lang="en-US" sz="1500" dirty="0">
                <a:solidFill>
                  <a:schemeClr val="bg1"/>
                </a:solidFill>
              </a:rPr>
              <a:t>(dữ liệu mô phỏng) kinh doanh một cụm rạp chiếu phim. Các đối tượng cần quản lý gồm phim, phòng chiếu, suất chiếu, khách hàng và vé. Hoạt động cần quản lý chính là việc bán vé xem phim.</a:t>
            </a:r>
            <a:endParaRPr lang="en-US" sz="1500" dirty="0"/>
          </a:p>
        </p:txBody>
      </p:sp>
      <p:sp>
        <p:nvSpPr>
          <p:cNvPr id="6" name="Card Phim"/>
          <p:cNvSpPr/>
          <p:nvPr/>
        </p:nvSpPr>
        <p:spPr>
          <a:xfrm>
            <a:off x="457200" y="2331720"/>
            <a:ext cx="3605784" cy="1920240"/>
          </a:xfrm>
          <a:prstGeom prst="roundRect">
            <a:avLst>
              <a:gd name="adj" fmla="val 4762"/>
            </a:avLst>
          </a:prstGeom>
          <a:solidFill>
            <a:schemeClr val="bg2"/>
          </a:solidFill>
          <a:ln w="12700">
            <a:solidFill>
              <a:schemeClr val="bg2"/>
            </a:solidFill>
            <a:prstDash val="solid"/>
          </a:ln>
        </p:spPr>
      </p:sp>
      <p:sp>
        <p:nvSpPr>
          <p:cNvPr id="7" name="Number Phim circle"/>
          <p:cNvSpPr/>
          <p:nvPr/>
        </p:nvSpPr>
        <p:spPr>
          <a:xfrm>
            <a:off x="640080" y="2487168"/>
            <a:ext cx="402336" cy="402336"/>
          </a:xfrm>
          <a:prstGeom prst="ellipse">
            <a:avLst/>
          </a:prstGeom>
          <a:solidFill>
            <a:schemeClr val="tx1"/>
          </a:solidFill>
          <a:ln w="12700">
            <a:solidFill>
              <a:schemeClr val="tx1"/>
            </a:solidFill>
            <a:prstDash val="solid"/>
          </a:ln>
        </p:spPr>
      </p:sp>
      <p:sp>
        <p:nvSpPr>
          <p:cNvPr id="8" name="Number Phim"/>
          <p:cNvSpPr txBox="1"/>
          <p:nvPr/>
        </p:nvSpPr>
        <p:spPr>
          <a:xfrm>
            <a:off x="640080" y="2487168"/>
            <a:ext cx="402336" cy="402336"/>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1</a:t>
            </a:r>
            <a:endParaRPr lang="en-US" sz="1800" dirty="0"/>
          </a:p>
        </p:txBody>
      </p:sp>
      <p:sp>
        <p:nvSpPr>
          <p:cNvPr id="9" name="Heading Phim"/>
          <p:cNvSpPr txBox="1"/>
          <p:nvPr/>
        </p:nvSpPr>
        <p:spPr>
          <a:xfrm>
            <a:off x="1188720" y="2468880"/>
            <a:ext cx="2691384" cy="438912"/>
          </a:xfrm>
          <a:prstGeom prst="rect">
            <a:avLst/>
          </a:prstGeom>
          <a:noFill/>
          <a:ln/>
        </p:spPr>
        <p:txBody>
          <a:bodyPr wrap="square" lIns="0" tIns="0" rIns="0" bIns="0" rtlCol="0" anchor="ctr"/>
          <a:lstStyle/>
          <a:p>
            <a:pPr indent="0" marL="0">
              <a:buNone/>
            </a:pPr>
            <a:r>
              <a:rPr lang="en-US" sz="1700" b="1" dirty="0">
                <a:solidFill>
                  <a:schemeClr val="tx1"/>
                </a:solidFill>
              </a:rPr>
              <a:t>Phim</a:t>
            </a:r>
            <a:endParaRPr lang="en-US" sz="1700" dirty="0"/>
          </a:p>
        </p:txBody>
      </p:sp>
      <p:sp>
        <p:nvSpPr>
          <p:cNvPr id="10" name="Requirements Phim"/>
          <p:cNvSpPr txBox="1"/>
          <p:nvPr/>
        </p:nvSpPr>
        <p:spPr>
          <a:xfrm>
            <a:off x="685800" y="3017520"/>
            <a:ext cx="3148584" cy="11430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Mỗi phim có mã, tên, thể loại, thời lượng và ngày khởi chiếu</a:t>
            </a:r>
            <a:endParaRPr lang="en-US" sz="1400" dirty="0"/>
          </a:p>
          <a:p>
            <a:pPr marL="177800" indent="-177800">
              <a:spcAft>
                <a:spcPts val="300"/>
              </a:spcAft>
              <a:buSzPct val="100000"/>
              <a:buChar char="•"/>
            </a:pPr>
            <a:r>
              <a:rPr lang="en-US" sz="1400" dirty="0">
                <a:solidFill>
                  <a:schemeClr val="tx1"/>
                </a:solidFill>
              </a:rPr>
              <a:t>Một phim có nhiều suất chiếu</a:t>
            </a:r>
            <a:endParaRPr lang="en-US" sz="1400" dirty="0"/>
          </a:p>
        </p:txBody>
      </p:sp>
      <p:sp>
        <p:nvSpPr>
          <p:cNvPr id="11" name="Card Phòng chiếu"/>
          <p:cNvSpPr/>
          <p:nvPr/>
        </p:nvSpPr>
        <p:spPr>
          <a:xfrm>
            <a:off x="4291584" y="2331720"/>
            <a:ext cx="3605784" cy="1920240"/>
          </a:xfrm>
          <a:prstGeom prst="roundRect">
            <a:avLst>
              <a:gd name="adj" fmla="val 4762"/>
            </a:avLst>
          </a:prstGeom>
          <a:solidFill>
            <a:schemeClr val="bg2"/>
          </a:solidFill>
          <a:ln w="12700">
            <a:solidFill>
              <a:schemeClr val="bg2"/>
            </a:solidFill>
            <a:prstDash val="solid"/>
          </a:ln>
        </p:spPr>
      </p:sp>
      <p:sp>
        <p:nvSpPr>
          <p:cNvPr id="12" name="Number Phòng chiếu circle"/>
          <p:cNvSpPr/>
          <p:nvPr/>
        </p:nvSpPr>
        <p:spPr>
          <a:xfrm>
            <a:off x="4474464" y="2487168"/>
            <a:ext cx="402336" cy="402336"/>
          </a:xfrm>
          <a:prstGeom prst="ellipse">
            <a:avLst/>
          </a:prstGeom>
          <a:solidFill>
            <a:schemeClr val="tx1"/>
          </a:solidFill>
          <a:ln w="12700">
            <a:solidFill>
              <a:schemeClr val="tx1"/>
            </a:solidFill>
            <a:prstDash val="solid"/>
          </a:ln>
        </p:spPr>
      </p:sp>
      <p:sp>
        <p:nvSpPr>
          <p:cNvPr id="13" name="Number Phòng chiếu"/>
          <p:cNvSpPr txBox="1"/>
          <p:nvPr/>
        </p:nvSpPr>
        <p:spPr>
          <a:xfrm>
            <a:off x="4474464" y="2487168"/>
            <a:ext cx="402336" cy="402336"/>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2</a:t>
            </a:r>
            <a:endParaRPr lang="en-US" sz="1800" dirty="0"/>
          </a:p>
        </p:txBody>
      </p:sp>
      <p:sp>
        <p:nvSpPr>
          <p:cNvPr id="14" name="Heading Phòng chiếu"/>
          <p:cNvSpPr txBox="1"/>
          <p:nvPr/>
        </p:nvSpPr>
        <p:spPr>
          <a:xfrm>
            <a:off x="5023104" y="2468880"/>
            <a:ext cx="2691384" cy="438912"/>
          </a:xfrm>
          <a:prstGeom prst="rect">
            <a:avLst/>
          </a:prstGeom>
          <a:noFill/>
          <a:ln/>
        </p:spPr>
        <p:txBody>
          <a:bodyPr wrap="square" lIns="0" tIns="0" rIns="0" bIns="0" rtlCol="0" anchor="ctr"/>
          <a:lstStyle/>
          <a:p>
            <a:pPr indent="0" marL="0">
              <a:buNone/>
            </a:pPr>
            <a:r>
              <a:rPr lang="en-US" sz="1700" b="1" dirty="0">
                <a:solidFill>
                  <a:schemeClr val="tx1"/>
                </a:solidFill>
              </a:rPr>
              <a:t>Phòng chiếu</a:t>
            </a:r>
            <a:endParaRPr lang="en-US" sz="1700" dirty="0"/>
          </a:p>
        </p:txBody>
      </p:sp>
      <p:sp>
        <p:nvSpPr>
          <p:cNvPr id="15" name="Requirements Phòng chiếu"/>
          <p:cNvSpPr txBox="1"/>
          <p:nvPr/>
        </p:nvSpPr>
        <p:spPr>
          <a:xfrm>
            <a:off x="4520184" y="3017520"/>
            <a:ext cx="3148584" cy="11430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Mỗi phòng có mã, tên, loại phòng (2D, 3D, IMAX) và sức chứa</a:t>
            </a:r>
            <a:endParaRPr lang="en-US" sz="1400" dirty="0"/>
          </a:p>
          <a:p>
            <a:pPr marL="177800" indent="-177800">
              <a:spcAft>
                <a:spcPts val="300"/>
              </a:spcAft>
              <a:buSzPct val="100000"/>
              <a:buChar char="•"/>
            </a:pPr>
            <a:r>
              <a:rPr lang="en-US" sz="1400" dirty="0">
                <a:solidFill>
                  <a:schemeClr val="tx1"/>
                </a:solidFill>
              </a:rPr>
              <a:t>Một phòng có nhiều suất chiếu</a:t>
            </a:r>
            <a:endParaRPr lang="en-US" sz="1400" dirty="0"/>
          </a:p>
        </p:txBody>
      </p:sp>
      <p:sp>
        <p:nvSpPr>
          <p:cNvPr id="16" name="Card Suất chiếu"/>
          <p:cNvSpPr/>
          <p:nvPr/>
        </p:nvSpPr>
        <p:spPr>
          <a:xfrm>
            <a:off x="8125968" y="2331720"/>
            <a:ext cx="3605784" cy="1920240"/>
          </a:xfrm>
          <a:prstGeom prst="roundRect">
            <a:avLst>
              <a:gd name="adj" fmla="val 4762"/>
            </a:avLst>
          </a:prstGeom>
          <a:solidFill>
            <a:schemeClr val="bg2"/>
          </a:solidFill>
          <a:ln w="12700">
            <a:solidFill>
              <a:schemeClr val="bg2"/>
            </a:solidFill>
            <a:prstDash val="solid"/>
          </a:ln>
        </p:spPr>
      </p:sp>
      <p:sp>
        <p:nvSpPr>
          <p:cNvPr id="17" name="Number Suất chiếu circle"/>
          <p:cNvSpPr/>
          <p:nvPr/>
        </p:nvSpPr>
        <p:spPr>
          <a:xfrm>
            <a:off x="8308848" y="2487168"/>
            <a:ext cx="402336" cy="402336"/>
          </a:xfrm>
          <a:prstGeom prst="ellipse">
            <a:avLst/>
          </a:prstGeom>
          <a:solidFill>
            <a:schemeClr val="tx1"/>
          </a:solidFill>
          <a:ln w="12700">
            <a:solidFill>
              <a:schemeClr val="tx1"/>
            </a:solidFill>
            <a:prstDash val="solid"/>
          </a:ln>
        </p:spPr>
      </p:sp>
      <p:sp>
        <p:nvSpPr>
          <p:cNvPr id="18" name="Number Suất chiếu"/>
          <p:cNvSpPr txBox="1"/>
          <p:nvPr/>
        </p:nvSpPr>
        <p:spPr>
          <a:xfrm>
            <a:off x="8308848" y="2487168"/>
            <a:ext cx="402336" cy="402336"/>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3</a:t>
            </a:r>
            <a:endParaRPr lang="en-US" sz="1800" dirty="0"/>
          </a:p>
        </p:txBody>
      </p:sp>
      <p:sp>
        <p:nvSpPr>
          <p:cNvPr id="19" name="Heading Suất chiếu"/>
          <p:cNvSpPr txBox="1"/>
          <p:nvPr/>
        </p:nvSpPr>
        <p:spPr>
          <a:xfrm>
            <a:off x="8857488" y="2468880"/>
            <a:ext cx="2691384" cy="438912"/>
          </a:xfrm>
          <a:prstGeom prst="rect">
            <a:avLst/>
          </a:prstGeom>
          <a:noFill/>
          <a:ln/>
        </p:spPr>
        <p:txBody>
          <a:bodyPr wrap="square" lIns="0" tIns="0" rIns="0" bIns="0" rtlCol="0" anchor="ctr"/>
          <a:lstStyle/>
          <a:p>
            <a:pPr indent="0" marL="0">
              <a:buNone/>
            </a:pPr>
            <a:r>
              <a:rPr lang="en-US" sz="1700" b="1" dirty="0">
                <a:solidFill>
                  <a:schemeClr val="tx1"/>
                </a:solidFill>
              </a:rPr>
              <a:t>Suất chiếu</a:t>
            </a:r>
            <a:endParaRPr lang="en-US" sz="1700" dirty="0"/>
          </a:p>
        </p:txBody>
      </p:sp>
      <p:sp>
        <p:nvSpPr>
          <p:cNvPr id="20" name="Requirements Suất chiếu"/>
          <p:cNvSpPr txBox="1"/>
          <p:nvPr/>
        </p:nvSpPr>
        <p:spPr>
          <a:xfrm>
            <a:off x="8354568" y="3017520"/>
            <a:ext cx="3148584" cy="11430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Mỗi suất thuộc một phim, chiếu tại một phòng, có ngày, giờ bắt đầu và giá vé</a:t>
            </a:r>
            <a:endParaRPr lang="en-US" sz="1400" dirty="0"/>
          </a:p>
          <a:p>
            <a:pPr marL="177800" indent="-177800">
              <a:spcAft>
                <a:spcPts val="300"/>
              </a:spcAft>
              <a:buSzPct val="100000"/>
              <a:buChar char="•"/>
            </a:pPr>
            <a:r>
              <a:rPr lang="en-US" sz="1400" dirty="0">
                <a:solidFill>
                  <a:schemeClr val="tx1"/>
                </a:solidFill>
              </a:rPr>
              <a:t>Một suất chiếu bán được nhiều vé</a:t>
            </a:r>
            <a:endParaRPr lang="en-US" sz="1400" dirty="0"/>
          </a:p>
        </p:txBody>
      </p:sp>
      <p:sp>
        <p:nvSpPr>
          <p:cNvPr id="21" name="Card Khách hàng"/>
          <p:cNvSpPr/>
          <p:nvPr/>
        </p:nvSpPr>
        <p:spPr>
          <a:xfrm>
            <a:off x="457200" y="4389120"/>
            <a:ext cx="3605784" cy="1920240"/>
          </a:xfrm>
          <a:prstGeom prst="roundRect">
            <a:avLst>
              <a:gd name="adj" fmla="val 4762"/>
            </a:avLst>
          </a:prstGeom>
          <a:solidFill>
            <a:schemeClr val="bg2"/>
          </a:solidFill>
          <a:ln w="12700">
            <a:solidFill>
              <a:schemeClr val="bg2"/>
            </a:solidFill>
            <a:prstDash val="solid"/>
          </a:ln>
        </p:spPr>
      </p:sp>
      <p:sp>
        <p:nvSpPr>
          <p:cNvPr id="22" name="Number Khách hàng circle"/>
          <p:cNvSpPr/>
          <p:nvPr/>
        </p:nvSpPr>
        <p:spPr>
          <a:xfrm>
            <a:off x="640080" y="4544568"/>
            <a:ext cx="402336" cy="402336"/>
          </a:xfrm>
          <a:prstGeom prst="ellipse">
            <a:avLst/>
          </a:prstGeom>
          <a:solidFill>
            <a:schemeClr val="tx1"/>
          </a:solidFill>
          <a:ln w="12700">
            <a:solidFill>
              <a:schemeClr val="tx1"/>
            </a:solidFill>
            <a:prstDash val="solid"/>
          </a:ln>
        </p:spPr>
      </p:sp>
      <p:sp>
        <p:nvSpPr>
          <p:cNvPr id="23" name="Number Khách hàng"/>
          <p:cNvSpPr txBox="1"/>
          <p:nvPr/>
        </p:nvSpPr>
        <p:spPr>
          <a:xfrm>
            <a:off x="640080" y="4544568"/>
            <a:ext cx="402336" cy="402336"/>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4</a:t>
            </a:r>
            <a:endParaRPr lang="en-US" sz="1800" dirty="0"/>
          </a:p>
        </p:txBody>
      </p:sp>
      <p:sp>
        <p:nvSpPr>
          <p:cNvPr id="24" name="Heading Khách hàng"/>
          <p:cNvSpPr txBox="1"/>
          <p:nvPr/>
        </p:nvSpPr>
        <p:spPr>
          <a:xfrm>
            <a:off x="1188720" y="4526280"/>
            <a:ext cx="2691384" cy="438912"/>
          </a:xfrm>
          <a:prstGeom prst="rect">
            <a:avLst/>
          </a:prstGeom>
          <a:noFill/>
          <a:ln/>
        </p:spPr>
        <p:txBody>
          <a:bodyPr wrap="square" lIns="0" tIns="0" rIns="0" bIns="0" rtlCol="0" anchor="ctr"/>
          <a:lstStyle/>
          <a:p>
            <a:pPr indent="0" marL="0">
              <a:buNone/>
            </a:pPr>
            <a:r>
              <a:rPr lang="en-US" sz="1700" b="1" dirty="0">
                <a:solidFill>
                  <a:schemeClr val="tx1"/>
                </a:solidFill>
              </a:rPr>
              <a:t>Khách hàng</a:t>
            </a:r>
            <a:endParaRPr lang="en-US" sz="1700" dirty="0"/>
          </a:p>
        </p:txBody>
      </p:sp>
      <p:sp>
        <p:nvSpPr>
          <p:cNvPr id="25" name="Requirements Khách hàng"/>
          <p:cNvSpPr txBox="1"/>
          <p:nvPr/>
        </p:nvSpPr>
        <p:spPr>
          <a:xfrm>
            <a:off x="685800" y="5074920"/>
            <a:ext cx="3148584" cy="11430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Lưu họ tên, số điện thoại (không trùng) và email</a:t>
            </a:r>
            <a:endParaRPr lang="en-US" sz="1400" dirty="0"/>
          </a:p>
          <a:p>
            <a:pPr marL="177800" indent="-177800">
              <a:spcAft>
                <a:spcPts val="300"/>
              </a:spcAft>
              <a:buSzPct val="100000"/>
              <a:buChar char="•"/>
            </a:pPr>
            <a:r>
              <a:rPr lang="en-US" sz="1400" dirty="0">
                <a:solidFill>
                  <a:schemeClr val="tx1"/>
                </a:solidFill>
              </a:rPr>
              <a:t>Một khách hàng có thể đặt nhiều vé</a:t>
            </a:r>
            <a:endParaRPr lang="en-US" sz="1400" dirty="0"/>
          </a:p>
        </p:txBody>
      </p:sp>
      <p:sp>
        <p:nvSpPr>
          <p:cNvPr id="26" name="Card Vé"/>
          <p:cNvSpPr/>
          <p:nvPr/>
        </p:nvSpPr>
        <p:spPr>
          <a:xfrm>
            <a:off x="4291584" y="4389120"/>
            <a:ext cx="3605784" cy="1920240"/>
          </a:xfrm>
          <a:prstGeom prst="roundRect">
            <a:avLst>
              <a:gd name="adj" fmla="val 4762"/>
            </a:avLst>
          </a:prstGeom>
          <a:solidFill>
            <a:schemeClr val="bg2"/>
          </a:solidFill>
          <a:ln w="12700">
            <a:solidFill>
              <a:schemeClr val="bg2"/>
            </a:solidFill>
            <a:prstDash val="solid"/>
          </a:ln>
        </p:spPr>
      </p:sp>
      <p:sp>
        <p:nvSpPr>
          <p:cNvPr id="27" name="Number Vé circle"/>
          <p:cNvSpPr/>
          <p:nvPr/>
        </p:nvSpPr>
        <p:spPr>
          <a:xfrm>
            <a:off x="4474464" y="4544568"/>
            <a:ext cx="402336" cy="402336"/>
          </a:xfrm>
          <a:prstGeom prst="ellipse">
            <a:avLst/>
          </a:prstGeom>
          <a:solidFill>
            <a:schemeClr val="tx1"/>
          </a:solidFill>
          <a:ln w="12700">
            <a:solidFill>
              <a:schemeClr val="tx1"/>
            </a:solidFill>
            <a:prstDash val="solid"/>
          </a:ln>
        </p:spPr>
      </p:sp>
      <p:sp>
        <p:nvSpPr>
          <p:cNvPr id="28" name="Number Vé"/>
          <p:cNvSpPr txBox="1"/>
          <p:nvPr/>
        </p:nvSpPr>
        <p:spPr>
          <a:xfrm>
            <a:off x="4474464" y="4544568"/>
            <a:ext cx="402336" cy="402336"/>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5</a:t>
            </a:r>
            <a:endParaRPr lang="en-US" sz="1800" dirty="0"/>
          </a:p>
        </p:txBody>
      </p:sp>
      <p:sp>
        <p:nvSpPr>
          <p:cNvPr id="29" name="Heading Vé"/>
          <p:cNvSpPr txBox="1"/>
          <p:nvPr/>
        </p:nvSpPr>
        <p:spPr>
          <a:xfrm>
            <a:off x="5023104" y="4526280"/>
            <a:ext cx="2691384" cy="438912"/>
          </a:xfrm>
          <a:prstGeom prst="rect">
            <a:avLst/>
          </a:prstGeom>
          <a:noFill/>
          <a:ln/>
        </p:spPr>
        <p:txBody>
          <a:bodyPr wrap="square" lIns="0" tIns="0" rIns="0" bIns="0" rtlCol="0" anchor="ctr"/>
          <a:lstStyle/>
          <a:p>
            <a:pPr indent="0" marL="0">
              <a:buNone/>
            </a:pPr>
            <a:r>
              <a:rPr lang="en-US" sz="1700" b="1" dirty="0">
                <a:solidFill>
                  <a:schemeClr val="tx1"/>
                </a:solidFill>
              </a:rPr>
              <a:t>Vé</a:t>
            </a:r>
            <a:endParaRPr lang="en-US" sz="1700" dirty="0"/>
          </a:p>
        </p:txBody>
      </p:sp>
      <p:sp>
        <p:nvSpPr>
          <p:cNvPr id="30" name="Requirements Vé"/>
          <p:cNvSpPr txBox="1"/>
          <p:nvPr/>
        </p:nvSpPr>
        <p:spPr>
          <a:xfrm>
            <a:off x="4520184" y="5074920"/>
            <a:ext cx="3148584" cy="11430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Mỗi vé có mã vé, số ghế và ngày đặt</a:t>
            </a:r>
            <a:endParaRPr lang="en-US" sz="1400" dirty="0"/>
          </a:p>
          <a:p>
            <a:pPr marL="177800" indent="-177800">
              <a:spcAft>
                <a:spcPts val="300"/>
              </a:spcAft>
              <a:buSzPct val="100000"/>
              <a:buChar char="•"/>
            </a:pPr>
            <a:r>
              <a:rPr lang="en-US" sz="1400" dirty="0">
                <a:solidFill>
                  <a:schemeClr val="tx1"/>
                </a:solidFill>
              </a:rPr>
              <a:t>Mỗi vé thuộc một khách hàng và một suất chiếu; một ghế chỉ bán một lần cho mỗi suất</a:t>
            </a:r>
            <a:endParaRPr lang="en-US" sz="1400" dirty="0"/>
          </a:p>
        </p:txBody>
      </p:sp>
      <p:sp>
        <p:nvSpPr>
          <p:cNvPr id="31" name="Card Yêu cầu quản lý"/>
          <p:cNvSpPr/>
          <p:nvPr/>
        </p:nvSpPr>
        <p:spPr>
          <a:xfrm>
            <a:off x="8125968" y="4389120"/>
            <a:ext cx="3605784" cy="1920240"/>
          </a:xfrm>
          <a:prstGeom prst="roundRect">
            <a:avLst>
              <a:gd name="adj" fmla="val 4762"/>
            </a:avLst>
          </a:prstGeom>
          <a:solidFill>
            <a:schemeClr val="tx1"/>
          </a:solidFill>
          <a:ln w="12700">
            <a:solidFill>
              <a:schemeClr val="tx1"/>
            </a:solidFill>
            <a:prstDash val="solid"/>
          </a:ln>
        </p:spPr>
      </p:sp>
      <p:sp>
        <p:nvSpPr>
          <p:cNvPr id="32" name="Heading Yêu cầu quản lý"/>
          <p:cNvSpPr txBox="1"/>
          <p:nvPr/>
        </p:nvSpPr>
        <p:spPr>
          <a:xfrm>
            <a:off x="8354568" y="4526280"/>
            <a:ext cx="2691384" cy="438912"/>
          </a:xfrm>
          <a:prstGeom prst="rect">
            <a:avLst/>
          </a:prstGeom>
          <a:noFill/>
          <a:ln/>
        </p:spPr>
        <p:txBody>
          <a:bodyPr wrap="square" lIns="0" tIns="0" rIns="0" bIns="0" rtlCol="0" anchor="ctr"/>
          <a:lstStyle/>
          <a:p>
            <a:pPr indent="0" marL="0">
              <a:buNone/>
            </a:pPr>
            <a:r>
              <a:rPr lang="en-US" sz="1700" b="1" dirty="0">
                <a:solidFill>
                  <a:schemeClr val="accent1"/>
                </a:solidFill>
              </a:rPr>
              <a:t>Yêu cầu quản lý</a:t>
            </a:r>
            <a:endParaRPr lang="en-US" sz="1700" dirty="0"/>
          </a:p>
        </p:txBody>
      </p:sp>
      <p:sp>
        <p:nvSpPr>
          <p:cNvPr id="33" name="Requirements Yêu cầu quản lý"/>
          <p:cNvSpPr txBox="1"/>
          <p:nvPr/>
        </p:nvSpPr>
        <p:spPr>
          <a:xfrm>
            <a:off x="8354568" y="5074920"/>
            <a:ext cx="3148584" cy="11430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bg1"/>
                </a:solidFill>
              </a:rPr>
              <a:t>Tra cứu lịch chiếu theo ngày, phim</a:t>
            </a:r>
            <a:endParaRPr lang="en-US" sz="1400" dirty="0"/>
          </a:p>
          <a:p>
            <a:pPr marL="177800" indent="-177800">
              <a:spcAft>
                <a:spcPts val="300"/>
              </a:spcAft>
              <a:buSzPct val="100000"/>
              <a:buChar char="•"/>
            </a:pPr>
            <a:r>
              <a:rPr lang="en-US" sz="1400" dirty="0">
                <a:solidFill>
                  <a:schemeClr val="bg1"/>
                </a:solidFill>
              </a:rPr>
              <a:t>Không bán trùng ghế trong một suất</a:t>
            </a:r>
            <a:endParaRPr lang="en-US" sz="1400" dirty="0"/>
          </a:p>
          <a:p>
            <a:pPr marL="177800" indent="-177800">
              <a:spcAft>
                <a:spcPts val="300"/>
              </a:spcAft>
              <a:buSzPct val="100000"/>
              <a:buChar char="•"/>
            </a:pPr>
            <a:r>
              <a:rPr lang="en-US" sz="1400" dirty="0">
                <a:solidFill>
                  <a:schemeClr val="bg1"/>
                </a:solidFill>
              </a:rPr>
              <a:t>Thống kê số vé đã bán, doanh thu</a:t>
            </a:r>
            <a:endParaRPr lang="en-US" sz="14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Mô hình thực thể – quan hệ (ER)</a:t>
            </a:r>
            <a:endParaRPr lang="en-US" sz="3000" dirty="0"/>
          </a:p>
        </p:txBody>
      </p:sp>
      <p:sp>
        <p:nvSpPr>
          <p:cNvPr id="3" name="Line PHIM-SUATCHIEU"/>
          <p:cNvSpPr/>
          <p:nvPr/>
        </p:nvSpPr>
        <p:spPr>
          <a:xfrm>
            <a:off x="2926080" y="2217420"/>
            <a:ext cx="1933956" cy="0"/>
          </a:xfrm>
          <a:prstGeom prst="line">
            <a:avLst/>
          </a:prstGeom>
          <a:noFill/>
          <a:ln w="25400">
            <a:solidFill>
              <a:schemeClr val="tx1"/>
            </a:solidFill>
            <a:prstDash val="solid"/>
          </a:ln>
        </p:spPr>
      </p:sp>
      <p:sp>
        <p:nvSpPr>
          <p:cNvPr id="4" name="Relationship PHIM-SUATCHIEU"/>
          <p:cNvSpPr/>
          <p:nvPr/>
        </p:nvSpPr>
        <p:spPr>
          <a:xfrm>
            <a:off x="3298698" y="1879092"/>
            <a:ext cx="1188720" cy="676656"/>
          </a:xfrm>
          <a:prstGeom prst="diamond">
            <a:avLst/>
          </a:prstGeom>
          <a:solidFill>
            <a:schemeClr val="bg1"/>
          </a:solidFill>
          <a:ln w="15875">
            <a:solidFill>
              <a:schemeClr val="tx1"/>
            </a:solidFill>
          </a:ln>
        </p:spPr>
        <p:txBody>
          <a:bodyPr wrap="square" lIns="0" tIns="0" rIns="0" bIns="0" rtlCol="0" anchor="ctr"/>
          <a:lstStyle/>
          <a:p>
            <a:pPr algn="ctr" indent="0" marL="0">
              <a:buNone/>
            </a:pPr>
            <a:r>
              <a:rPr lang="en-US" sz="1200" b="1" dirty="0">
                <a:solidFill>
                  <a:schemeClr val="tx1"/>
                </a:solidFill>
              </a:rPr>
              <a:t>chiếu</a:t>
            </a:r>
            <a:endParaRPr lang="en-US" sz="1200" dirty="0"/>
          </a:p>
        </p:txBody>
      </p:sp>
      <p:sp>
        <p:nvSpPr>
          <p:cNvPr id="5" name="Cardinality 1"/>
          <p:cNvSpPr txBox="1"/>
          <p:nvPr/>
        </p:nvSpPr>
        <p:spPr>
          <a:xfrm>
            <a:off x="2971800" y="1924812"/>
            <a:ext cx="237744" cy="237744"/>
          </a:xfrm>
          <a:prstGeom prst="rect">
            <a:avLst/>
          </a:prstGeom>
          <a:noFill/>
          <a:ln/>
        </p:spPr>
        <p:txBody>
          <a:bodyPr wrap="square" lIns="0" tIns="0" rIns="0" bIns="0" rtlCol="0" anchor="t"/>
          <a:lstStyle/>
          <a:p>
            <a:pPr algn="l" indent="0" marL="0">
              <a:buNone/>
            </a:pPr>
            <a:r>
              <a:rPr lang="en-US" sz="1300" b="1" dirty="0">
                <a:solidFill>
                  <a:schemeClr val="tx1"/>
                </a:solidFill>
              </a:rPr>
              <a:t>1</a:t>
            </a:r>
            <a:endParaRPr lang="en-US" sz="1300" dirty="0"/>
          </a:p>
        </p:txBody>
      </p:sp>
      <p:sp>
        <p:nvSpPr>
          <p:cNvPr id="6" name="Cardinality N"/>
          <p:cNvSpPr txBox="1"/>
          <p:nvPr/>
        </p:nvSpPr>
        <p:spPr>
          <a:xfrm>
            <a:off x="4576572" y="1924812"/>
            <a:ext cx="237744" cy="237744"/>
          </a:xfrm>
          <a:prstGeom prst="rect">
            <a:avLst/>
          </a:prstGeom>
          <a:noFill/>
          <a:ln/>
        </p:spPr>
        <p:txBody>
          <a:bodyPr wrap="square" lIns="0" tIns="0" rIns="0" bIns="0" rtlCol="0" anchor="t"/>
          <a:lstStyle/>
          <a:p>
            <a:pPr algn="r" indent="0" marL="0">
              <a:buNone/>
            </a:pPr>
            <a:r>
              <a:rPr lang="en-US" sz="1300" b="1" dirty="0">
                <a:solidFill>
                  <a:schemeClr val="tx1"/>
                </a:solidFill>
              </a:rPr>
              <a:t>N</a:t>
            </a:r>
            <a:endParaRPr lang="en-US" sz="1300" dirty="0"/>
          </a:p>
        </p:txBody>
      </p:sp>
      <p:sp>
        <p:nvSpPr>
          <p:cNvPr id="7" name="Line PHONGCHIEU-SUATCHIEU"/>
          <p:cNvSpPr/>
          <p:nvPr/>
        </p:nvSpPr>
        <p:spPr>
          <a:xfrm>
            <a:off x="7328916" y="2217420"/>
            <a:ext cx="1933956" cy="0"/>
          </a:xfrm>
          <a:prstGeom prst="line">
            <a:avLst/>
          </a:prstGeom>
          <a:noFill/>
          <a:ln w="25400">
            <a:solidFill>
              <a:schemeClr val="tx1"/>
            </a:solidFill>
            <a:prstDash val="solid"/>
          </a:ln>
        </p:spPr>
      </p:sp>
      <p:sp>
        <p:nvSpPr>
          <p:cNvPr id="8" name="Relationship PHONGCHIEU-SUATCHIEU"/>
          <p:cNvSpPr/>
          <p:nvPr/>
        </p:nvSpPr>
        <p:spPr>
          <a:xfrm>
            <a:off x="7701534" y="1879092"/>
            <a:ext cx="1188720" cy="676656"/>
          </a:xfrm>
          <a:prstGeom prst="diamond">
            <a:avLst/>
          </a:prstGeom>
          <a:solidFill>
            <a:schemeClr val="bg1"/>
          </a:solidFill>
          <a:ln w="15875">
            <a:solidFill>
              <a:schemeClr val="tx1"/>
            </a:solidFill>
          </a:ln>
        </p:spPr>
        <p:txBody>
          <a:bodyPr wrap="square" lIns="0" tIns="0" rIns="0" bIns="0" rtlCol="0" anchor="ctr"/>
          <a:lstStyle/>
          <a:p>
            <a:pPr algn="ctr" indent="0" marL="0">
              <a:buNone/>
            </a:pPr>
            <a:r>
              <a:rPr lang="en-US" sz="1200" b="1" dirty="0">
                <a:solidFill>
                  <a:schemeClr val="tx1"/>
                </a:solidFill>
              </a:rPr>
              <a:t>tại</a:t>
            </a:r>
            <a:endParaRPr lang="en-US" sz="1200" dirty="0"/>
          </a:p>
        </p:txBody>
      </p:sp>
      <p:sp>
        <p:nvSpPr>
          <p:cNvPr id="9" name="Cardinality N"/>
          <p:cNvSpPr txBox="1"/>
          <p:nvPr/>
        </p:nvSpPr>
        <p:spPr>
          <a:xfrm>
            <a:off x="7374636" y="1924812"/>
            <a:ext cx="237744" cy="237744"/>
          </a:xfrm>
          <a:prstGeom prst="rect">
            <a:avLst/>
          </a:prstGeom>
          <a:noFill/>
          <a:ln/>
        </p:spPr>
        <p:txBody>
          <a:bodyPr wrap="square" lIns="0" tIns="0" rIns="0" bIns="0" rtlCol="0" anchor="t"/>
          <a:lstStyle/>
          <a:p>
            <a:pPr algn="l" indent="0" marL="0">
              <a:buNone/>
            </a:pPr>
            <a:r>
              <a:rPr lang="en-US" sz="1300" b="1" dirty="0">
                <a:solidFill>
                  <a:schemeClr val="tx1"/>
                </a:solidFill>
              </a:rPr>
              <a:t>N</a:t>
            </a:r>
            <a:endParaRPr lang="en-US" sz="1300" dirty="0"/>
          </a:p>
        </p:txBody>
      </p:sp>
      <p:sp>
        <p:nvSpPr>
          <p:cNvPr id="10" name="Cardinality 1"/>
          <p:cNvSpPr txBox="1"/>
          <p:nvPr/>
        </p:nvSpPr>
        <p:spPr>
          <a:xfrm>
            <a:off x="8979408" y="1924812"/>
            <a:ext cx="237744" cy="237744"/>
          </a:xfrm>
          <a:prstGeom prst="rect">
            <a:avLst/>
          </a:prstGeom>
          <a:noFill/>
          <a:ln/>
        </p:spPr>
        <p:txBody>
          <a:bodyPr wrap="square" lIns="0" tIns="0" rIns="0" bIns="0" rtlCol="0" anchor="t"/>
          <a:lstStyle/>
          <a:p>
            <a:pPr algn="r" indent="0" marL="0">
              <a:buNone/>
            </a:pPr>
            <a:r>
              <a:rPr lang="en-US" sz="1300" b="1" dirty="0">
                <a:solidFill>
                  <a:schemeClr val="tx1"/>
                </a:solidFill>
              </a:rPr>
              <a:t>1</a:t>
            </a:r>
            <a:endParaRPr lang="en-US" sz="1300" dirty="0"/>
          </a:p>
        </p:txBody>
      </p:sp>
      <p:sp>
        <p:nvSpPr>
          <p:cNvPr id="11" name="Line SUATCHIEU-VE"/>
          <p:cNvSpPr/>
          <p:nvPr/>
        </p:nvSpPr>
        <p:spPr>
          <a:xfrm>
            <a:off x="6094476" y="3108960"/>
            <a:ext cx="0" cy="1143000"/>
          </a:xfrm>
          <a:prstGeom prst="line">
            <a:avLst/>
          </a:prstGeom>
          <a:noFill/>
          <a:ln w="25400">
            <a:solidFill>
              <a:schemeClr val="tx1"/>
            </a:solidFill>
            <a:prstDash val="solid"/>
          </a:ln>
        </p:spPr>
      </p:sp>
      <p:sp>
        <p:nvSpPr>
          <p:cNvPr id="12" name="Relationship SUATCHIEU-VE"/>
          <p:cNvSpPr/>
          <p:nvPr/>
        </p:nvSpPr>
        <p:spPr>
          <a:xfrm>
            <a:off x="5500116" y="3342132"/>
            <a:ext cx="1188720" cy="676656"/>
          </a:xfrm>
          <a:prstGeom prst="diamond">
            <a:avLst/>
          </a:prstGeom>
          <a:solidFill>
            <a:schemeClr val="bg1"/>
          </a:solidFill>
          <a:ln w="15875">
            <a:solidFill>
              <a:schemeClr val="tx1"/>
            </a:solidFill>
          </a:ln>
        </p:spPr>
        <p:txBody>
          <a:bodyPr wrap="square" lIns="0" tIns="0" rIns="0" bIns="0" rtlCol="0" anchor="ctr"/>
          <a:lstStyle/>
          <a:p>
            <a:pPr algn="ctr" indent="0" marL="0">
              <a:buNone/>
            </a:pPr>
            <a:r>
              <a:rPr lang="en-US" sz="1200" b="1" dirty="0">
                <a:solidFill>
                  <a:schemeClr val="tx1"/>
                </a:solidFill>
              </a:rPr>
              <a:t>bán</a:t>
            </a:r>
            <a:endParaRPr lang="en-US" sz="1200" dirty="0"/>
          </a:p>
        </p:txBody>
      </p:sp>
      <p:sp>
        <p:nvSpPr>
          <p:cNvPr id="13" name="Cardinality 1"/>
          <p:cNvSpPr txBox="1"/>
          <p:nvPr/>
        </p:nvSpPr>
        <p:spPr>
          <a:xfrm>
            <a:off x="5765292" y="3108960"/>
            <a:ext cx="237744" cy="237744"/>
          </a:xfrm>
          <a:prstGeom prst="rect">
            <a:avLst/>
          </a:prstGeom>
          <a:noFill/>
          <a:ln/>
        </p:spPr>
        <p:txBody>
          <a:bodyPr wrap="square" lIns="0" tIns="0" rIns="0" bIns="0" rtlCol="0" anchor="t"/>
          <a:lstStyle/>
          <a:p>
            <a:pPr algn="r" indent="0" marL="0">
              <a:buNone/>
            </a:pPr>
            <a:r>
              <a:rPr lang="en-US" sz="1300" b="1" dirty="0">
                <a:solidFill>
                  <a:schemeClr val="tx1"/>
                </a:solidFill>
              </a:rPr>
              <a:t>1</a:t>
            </a:r>
            <a:endParaRPr lang="en-US" sz="1300" dirty="0"/>
          </a:p>
        </p:txBody>
      </p:sp>
      <p:sp>
        <p:nvSpPr>
          <p:cNvPr id="14" name="Cardinality N"/>
          <p:cNvSpPr txBox="1"/>
          <p:nvPr/>
        </p:nvSpPr>
        <p:spPr>
          <a:xfrm>
            <a:off x="5765292" y="4014216"/>
            <a:ext cx="237744" cy="237744"/>
          </a:xfrm>
          <a:prstGeom prst="rect">
            <a:avLst/>
          </a:prstGeom>
          <a:noFill/>
          <a:ln/>
        </p:spPr>
        <p:txBody>
          <a:bodyPr wrap="square" lIns="0" tIns="0" rIns="0" bIns="0" rtlCol="0" anchor="t"/>
          <a:lstStyle/>
          <a:p>
            <a:pPr algn="r" indent="0" marL="0">
              <a:buNone/>
            </a:pPr>
            <a:r>
              <a:rPr lang="en-US" sz="1300" b="1" dirty="0">
                <a:solidFill>
                  <a:schemeClr val="tx1"/>
                </a:solidFill>
              </a:rPr>
              <a:t>N</a:t>
            </a:r>
            <a:endParaRPr lang="en-US" sz="1300" dirty="0"/>
          </a:p>
        </p:txBody>
      </p:sp>
      <p:sp>
        <p:nvSpPr>
          <p:cNvPr id="15" name="Line KHACHHANG-VE"/>
          <p:cNvSpPr/>
          <p:nvPr/>
        </p:nvSpPr>
        <p:spPr>
          <a:xfrm>
            <a:off x="2926080" y="5006340"/>
            <a:ext cx="1933956" cy="0"/>
          </a:xfrm>
          <a:prstGeom prst="line">
            <a:avLst/>
          </a:prstGeom>
          <a:noFill/>
          <a:ln w="25400">
            <a:solidFill>
              <a:schemeClr val="tx1"/>
            </a:solidFill>
            <a:prstDash val="solid"/>
          </a:ln>
        </p:spPr>
      </p:sp>
      <p:sp>
        <p:nvSpPr>
          <p:cNvPr id="16" name="Relationship KHACHHANG-VE"/>
          <p:cNvSpPr/>
          <p:nvPr/>
        </p:nvSpPr>
        <p:spPr>
          <a:xfrm>
            <a:off x="3298698" y="4668012"/>
            <a:ext cx="1188720" cy="676656"/>
          </a:xfrm>
          <a:prstGeom prst="diamond">
            <a:avLst/>
          </a:prstGeom>
          <a:solidFill>
            <a:schemeClr val="bg1"/>
          </a:solidFill>
          <a:ln w="15875">
            <a:solidFill>
              <a:schemeClr val="tx1"/>
            </a:solidFill>
          </a:ln>
        </p:spPr>
        <p:txBody>
          <a:bodyPr wrap="square" lIns="0" tIns="0" rIns="0" bIns="0" rtlCol="0" anchor="ctr"/>
          <a:lstStyle/>
          <a:p>
            <a:pPr algn="ctr" indent="0" marL="0">
              <a:buNone/>
            </a:pPr>
            <a:r>
              <a:rPr lang="en-US" sz="1200" b="1" dirty="0">
                <a:solidFill>
                  <a:schemeClr val="tx1"/>
                </a:solidFill>
              </a:rPr>
              <a:t>đặt</a:t>
            </a:r>
            <a:endParaRPr lang="en-US" sz="1200" dirty="0"/>
          </a:p>
        </p:txBody>
      </p:sp>
      <p:sp>
        <p:nvSpPr>
          <p:cNvPr id="17" name="Cardinality 1"/>
          <p:cNvSpPr txBox="1"/>
          <p:nvPr/>
        </p:nvSpPr>
        <p:spPr>
          <a:xfrm>
            <a:off x="2971800" y="4713732"/>
            <a:ext cx="237744" cy="237744"/>
          </a:xfrm>
          <a:prstGeom prst="rect">
            <a:avLst/>
          </a:prstGeom>
          <a:noFill/>
          <a:ln/>
        </p:spPr>
        <p:txBody>
          <a:bodyPr wrap="square" lIns="0" tIns="0" rIns="0" bIns="0" rtlCol="0" anchor="t"/>
          <a:lstStyle/>
          <a:p>
            <a:pPr algn="l" indent="0" marL="0">
              <a:buNone/>
            </a:pPr>
            <a:r>
              <a:rPr lang="en-US" sz="1300" b="1" dirty="0">
                <a:solidFill>
                  <a:schemeClr val="tx1"/>
                </a:solidFill>
              </a:rPr>
              <a:t>1</a:t>
            </a:r>
            <a:endParaRPr lang="en-US" sz="1300" dirty="0"/>
          </a:p>
        </p:txBody>
      </p:sp>
      <p:sp>
        <p:nvSpPr>
          <p:cNvPr id="18" name="Cardinality N"/>
          <p:cNvSpPr txBox="1"/>
          <p:nvPr/>
        </p:nvSpPr>
        <p:spPr>
          <a:xfrm>
            <a:off x="4576572" y="4713732"/>
            <a:ext cx="237744" cy="237744"/>
          </a:xfrm>
          <a:prstGeom prst="rect">
            <a:avLst/>
          </a:prstGeom>
          <a:noFill/>
          <a:ln/>
        </p:spPr>
        <p:txBody>
          <a:bodyPr wrap="square" lIns="0" tIns="0" rIns="0" bIns="0" rtlCol="0" anchor="t"/>
          <a:lstStyle/>
          <a:p>
            <a:pPr algn="r" indent="0" marL="0">
              <a:buNone/>
            </a:pPr>
            <a:r>
              <a:rPr lang="en-US" sz="1300" b="1" dirty="0">
                <a:solidFill>
                  <a:schemeClr val="tx1"/>
                </a:solidFill>
              </a:rPr>
              <a:t>N</a:t>
            </a:r>
            <a:endParaRPr lang="en-US" sz="1300" dirty="0"/>
          </a:p>
        </p:txBody>
      </p:sp>
      <p:sp>
        <p:nvSpPr>
          <p:cNvPr id="19" name="PHIM body"/>
          <p:cNvSpPr/>
          <p:nvPr/>
        </p:nvSpPr>
        <p:spPr>
          <a:xfrm>
            <a:off x="457200" y="1691640"/>
            <a:ext cx="2468880" cy="1417320"/>
          </a:xfrm>
          <a:prstGeom prst="rect">
            <a:avLst/>
          </a:prstGeom>
          <a:solidFill>
            <a:schemeClr val="bg1"/>
          </a:solidFill>
          <a:ln w="15875">
            <a:solidFill>
              <a:schemeClr val="tx1"/>
            </a:solidFill>
            <a:prstDash val="solid"/>
          </a:ln>
        </p:spPr>
      </p:sp>
      <p:sp>
        <p:nvSpPr>
          <p:cNvPr id="20" name="PHIM header"/>
          <p:cNvSpPr/>
          <p:nvPr/>
        </p:nvSpPr>
        <p:spPr>
          <a:xfrm>
            <a:off x="457200" y="1325880"/>
            <a:ext cx="2468880" cy="365760"/>
          </a:xfrm>
          <a:prstGeom prst="rect">
            <a:avLst/>
          </a:prstGeom>
          <a:solidFill>
            <a:schemeClr val="tx1"/>
          </a:solidFill>
          <a:ln w="15875">
            <a:solidFill>
              <a:schemeClr val="tx1"/>
            </a:solidFill>
          </a:ln>
        </p:spPr>
        <p:txBody>
          <a:bodyPr wrap="square" lIns="0" tIns="0" rIns="0" bIns="0" rtlCol="0" anchor="ctr"/>
          <a:lstStyle/>
          <a:p>
            <a:pPr algn="ctr" indent="0" marL="0">
              <a:buNone/>
            </a:pPr>
            <a:r>
              <a:rPr lang="en-US" sz="1400" b="1" dirty="0">
                <a:solidFill>
                  <a:schemeClr val="bg1"/>
                </a:solidFill>
              </a:rPr>
              <a:t>PHIM</a:t>
            </a:r>
            <a:endParaRPr lang="en-US" sz="1400" dirty="0"/>
          </a:p>
        </p:txBody>
      </p:sp>
      <p:sp>
        <p:nvSpPr>
          <p:cNvPr id="21" name="PHIM attributes"/>
          <p:cNvSpPr txBox="1"/>
          <p:nvPr/>
        </p:nvSpPr>
        <p:spPr>
          <a:xfrm>
            <a:off x="594360" y="1764792"/>
            <a:ext cx="2194560" cy="1325880"/>
          </a:xfrm>
          <a:prstGeom prst="rect">
            <a:avLst/>
          </a:prstGeom>
          <a:noFill/>
          <a:ln/>
        </p:spPr>
        <p:txBody>
          <a:bodyPr wrap="square" lIns="0" tIns="0" rIns="0" bIns="0" rtlCol="0" anchor="t"/>
          <a:lstStyle/>
          <a:p>
            <a:pPr indent="0" marL="0">
              <a:lnSpc>
                <a:spcPts val="1900"/>
              </a:lnSpc>
              <a:buNone/>
            </a:pPr>
            <a:r>
              <a:rPr lang="en-US" sz="1200" b="1" u="sng" dirty="0">
                <a:solidFill>
                  <a:schemeClr val="tx1"/>
                </a:solidFill>
              </a:rPr>
              <a:t>MaPhim</a:t>
            </a:r>
            <a:endParaRPr lang="en-US" sz="1200" dirty="0"/>
          </a:p>
          <a:p>
            <a:pPr indent="0" marL="0">
              <a:lnSpc>
                <a:spcPts val="1900"/>
              </a:lnSpc>
              <a:buNone/>
            </a:pPr>
            <a:r>
              <a:rPr lang="en-US" sz="1200" dirty="0">
                <a:solidFill>
                  <a:schemeClr val="tx1"/>
                </a:solidFill>
              </a:rPr>
              <a:t>TenPhim</a:t>
            </a:r>
            <a:endParaRPr lang="en-US" sz="1200" dirty="0"/>
          </a:p>
          <a:p>
            <a:pPr indent="0" marL="0">
              <a:lnSpc>
                <a:spcPts val="1900"/>
              </a:lnSpc>
              <a:buNone/>
            </a:pPr>
            <a:r>
              <a:rPr lang="en-US" sz="1200" dirty="0">
                <a:solidFill>
                  <a:schemeClr val="tx1"/>
                </a:solidFill>
              </a:rPr>
              <a:t>TheLoai</a:t>
            </a:r>
            <a:endParaRPr lang="en-US" sz="1200" dirty="0"/>
          </a:p>
          <a:p>
            <a:pPr indent="0" marL="0">
              <a:lnSpc>
                <a:spcPts val="1900"/>
              </a:lnSpc>
              <a:buNone/>
            </a:pPr>
            <a:r>
              <a:rPr lang="en-US" sz="1200" dirty="0">
                <a:solidFill>
                  <a:schemeClr val="tx1"/>
                </a:solidFill>
              </a:rPr>
              <a:t>ThoiLuong</a:t>
            </a:r>
            <a:endParaRPr lang="en-US" sz="1200" dirty="0"/>
          </a:p>
          <a:p>
            <a:pPr indent="0" marL="0">
              <a:lnSpc>
                <a:spcPts val="1900"/>
              </a:lnSpc>
              <a:buNone/>
            </a:pPr>
            <a:r>
              <a:rPr lang="en-US" sz="1200" dirty="0">
                <a:solidFill>
                  <a:schemeClr val="tx1"/>
                </a:solidFill>
              </a:rPr>
              <a:t>NgayKhoiChieu</a:t>
            </a:r>
            <a:endParaRPr lang="en-US" sz="1200" dirty="0"/>
          </a:p>
        </p:txBody>
      </p:sp>
      <p:sp>
        <p:nvSpPr>
          <p:cNvPr id="22" name="PHONGCHIEU body"/>
          <p:cNvSpPr/>
          <p:nvPr/>
        </p:nvSpPr>
        <p:spPr>
          <a:xfrm>
            <a:off x="9262872" y="1691640"/>
            <a:ext cx="2468880" cy="1417320"/>
          </a:xfrm>
          <a:prstGeom prst="rect">
            <a:avLst/>
          </a:prstGeom>
          <a:solidFill>
            <a:schemeClr val="bg1"/>
          </a:solidFill>
          <a:ln w="15875">
            <a:solidFill>
              <a:schemeClr val="tx1"/>
            </a:solidFill>
            <a:prstDash val="solid"/>
          </a:ln>
        </p:spPr>
      </p:sp>
      <p:sp>
        <p:nvSpPr>
          <p:cNvPr id="23" name="PHONGCHIEU header"/>
          <p:cNvSpPr/>
          <p:nvPr/>
        </p:nvSpPr>
        <p:spPr>
          <a:xfrm>
            <a:off x="9262872" y="1325880"/>
            <a:ext cx="2468880" cy="365760"/>
          </a:xfrm>
          <a:prstGeom prst="rect">
            <a:avLst/>
          </a:prstGeom>
          <a:solidFill>
            <a:schemeClr val="tx1"/>
          </a:solidFill>
          <a:ln w="15875">
            <a:solidFill>
              <a:schemeClr val="tx1"/>
            </a:solidFill>
          </a:ln>
        </p:spPr>
        <p:txBody>
          <a:bodyPr wrap="square" lIns="0" tIns="0" rIns="0" bIns="0" rtlCol="0" anchor="ctr"/>
          <a:lstStyle/>
          <a:p>
            <a:pPr algn="ctr" indent="0" marL="0">
              <a:buNone/>
            </a:pPr>
            <a:r>
              <a:rPr lang="en-US" sz="1400" b="1" dirty="0">
                <a:solidFill>
                  <a:schemeClr val="bg1"/>
                </a:solidFill>
              </a:rPr>
              <a:t>PHONGCHIEU</a:t>
            </a:r>
            <a:endParaRPr lang="en-US" sz="1400" dirty="0"/>
          </a:p>
        </p:txBody>
      </p:sp>
      <p:sp>
        <p:nvSpPr>
          <p:cNvPr id="24" name="PHONGCHIEU attributes"/>
          <p:cNvSpPr txBox="1"/>
          <p:nvPr/>
        </p:nvSpPr>
        <p:spPr>
          <a:xfrm>
            <a:off x="9400032" y="1764792"/>
            <a:ext cx="2194560" cy="1325880"/>
          </a:xfrm>
          <a:prstGeom prst="rect">
            <a:avLst/>
          </a:prstGeom>
          <a:noFill/>
          <a:ln/>
        </p:spPr>
        <p:txBody>
          <a:bodyPr wrap="square" lIns="0" tIns="0" rIns="0" bIns="0" rtlCol="0" anchor="t"/>
          <a:lstStyle/>
          <a:p>
            <a:pPr indent="0" marL="0">
              <a:lnSpc>
                <a:spcPts val="1900"/>
              </a:lnSpc>
              <a:buNone/>
            </a:pPr>
            <a:r>
              <a:rPr lang="en-US" sz="1200" b="1" u="sng" dirty="0">
                <a:solidFill>
                  <a:schemeClr val="tx1"/>
                </a:solidFill>
              </a:rPr>
              <a:t>MaPhong</a:t>
            </a:r>
            <a:endParaRPr lang="en-US" sz="1200" dirty="0"/>
          </a:p>
          <a:p>
            <a:pPr indent="0" marL="0">
              <a:lnSpc>
                <a:spcPts val="1900"/>
              </a:lnSpc>
              <a:buNone/>
            </a:pPr>
            <a:r>
              <a:rPr lang="en-US" sz="1200" dirty="0">
                <a:solidFill>
                  <a:schemeClr val="tx1"/>
                </a:solidFill>
              </a:rPr>
              <a:t>TenPhong</a:t>
            </a:r>
            <a:endParaRPr lang="en-US" sz="1200" dirty="0"/>
          </a:p>
          <a:p>
            <a:pPr indent="0" marL="0">
              <a:lnSpc>
                <a:spcPts val="1900"/>
              </a:lnSpc>
              <a:buNone/>
            </a:pPr>
            <a:r>
              <a:rPr lang="en-US" sz="1200" dirty="0">
                <a:solidFill>
                  <a:schemeClr val="tx1"/>
                </a:solidFill>
              </a:rPr>
              <a:t>LoaiPhong</a:t>
            </a:r>
            <a:endParaRPr lang="en-US" sz="1200" dirty="0"/>
          </a:p>
          <a:p>
            <a:pPr indent="0" marL="0">
              <a:lnSpc>
                <a:spcPts val="1900"/>
              </a:lnSpc>
              <a:buNone/>
            </a:pPr>
            <a:r>
              <a:rPr lang="en-US" sz="1200" dirty="0">
                <a:solidFill>
                  <a:schemeClr val="tx1"/>
                </a:solidFill>
              </a:rPr>
              <a:t>SucChua</a:t>
            </a:r>
            <a:endParaRPr lang="en-US" sz="1200" dirty="0"/>
          </a:p>
        </p:txBody>
      </p:sp>
      <p:sp>
        <p:nvSpPr>
          <p:cNvPr id="25" name="SUATCHIEU body"/>
          <p:cNvSpPr/>
          <p:nvPr/>
        </p:nvSpPr>
        <p:spPr>
          <a:xfrm>
            <a:off x="4860036" y="1691640"/>
            <a:ext cx="2468880" cy="1417320"/>
          </a:xfrm>
          <a:prstGeom prst="rect">
            <a:avLst/>
          </a:prstGeom>
          <a:solidFill>
            <a:schemeClr val="bg1"/>
          </a:solidFill>
          <a:ln w="15875">
            <a:solidFill>
              <a:schemeClr val="tx1"/>
            </a:solidFill>
            <a:prstDash val="solid"/>
          </a:ln>
        </p:spPr>
      </p:sp>
      <p:sp>
        <p:nvSpPr>
          <p:cNvPr id="26" name="SUATCHIEU header"/>
          <p:cNvSpPr/>
          <p:nvPr/>
        </p:nvSpPr>
        <p:spPr>
          <a:xfrm>
            <a:off x="4860036" y="1325880"/>
            <a:ext cx="2468880" cy="365760"/>
          </a:xfrm>
          <a:prstGeom prst="rect">
            <a:avLst/>
          </a:prstGeom>
          <a:solidFill>
            <a:schemeClr val="accent1"/>
          </a:solidFill>
          <a:ln w="15875">
            <a:solidFill>
              <a:schemeClr val="tx1"/>
            </a:solidFill>
          </a:ln>
        </p:spPr>
        <p:txBody>
          <a:bodyPr wrap="square" lIns="0" tIns="0" rIns="0" bIns="0" rtlCol="0" anchor="ctr"/>
          <a:lstStyle/>
          <a:p>
            <a:pPr algn="ctr" indent="0" marL="0">
              <a:buNone/>
            </a:pPr>
            <a:r>
              <a:rPr lang="en-US" sz="1400" b="1" dirty="0">
                <a:solidFill>
                  <a:schemeClr val="tx1"/>
                </a:solidFill>
              </a:rPr>
              <a:t>SUATCHIEU</a:t>
            </a:r>
            <a:endParaRPr lang="en-US" sz="1400" dirty="0"/>
          </a:p>
        </p:txBody>
      </p:sp>
      <p:sp>
        <p:nvSpPr>
          <p:cNvPr id="27" name="SUATCHIEU attributes"/>
          <p:cNvSpPr txBox="1"/>
          <p:nvPr/>
        </p:nvSpPr>
        <p:spPr>
          <a:xfrm>
            <a:off x="4997196" y="1764792"/>
            <a:ext cx="2194560" cy="1325880"/>
          </a:xfrm>
          <a:prstGeom prst="rect">
            <a:avLst/>
          </a:prstGeom>
          <a:noFill/>
          <a:ln/>
        </p:spPr>
        <p:txBody>
          <a:bodyPr wrap="square" lIns="0" tIns="0" rIns="0" bIns="0" rtlCol="0" anchor="t"/>
          <a:lstStyle/>
          <a:p>
            <a:pPr indent="0" marL="0">
              <a:lnSpc>
                <a:spcPts val="1900"/>
              </a:lnSpc>
              <a:buNone/>
            </a:pPr>
            <a:r>
              <a:rPr lang="en-US" sz="1200" b="1" u="sng" dirty="0">
                <a:solidFill>
                  <a:schemeClr val="tx1"/>
                </a:solidFill>
              </a:rPr>
              <a:t>MaSuat</a:t>
            </a:r>
            <a:endParaRPr lang="en-US" sz="1200" dirty="0"/>
          </a:p>
          <a:p>
            <a:pPr indent="0" marL="0">
              <a:lnSpc>
                <a:spcPts val="1900"/>
              </a:lnSpc>
              <a:buNone/>
            </a:pPr>
            <a:r>
              <a:rPr lang="en-US" sz="1200" dirty="0">
                <a:solidFill>
                  <a:schemeClr val="tx1"/>
                </a:solidFill>
              </a:rPr>
              <a:t>NgayChieu</a:t>
            </a:r>
            <a:endParaRPr lang="en-US" sz="1200" dirty="0"/>
          </a:p>
          <a:p>
            <a:pPr indent="0" marL="0">
              <a:lnSpc>
                <a:spcPts val="1900"/>
              </a:lnSpc>
              <a:buNone/>
            </a:pPr>
            <a:r>
              <a:rPr lang="en-US" sz="1200" dirty="0">
                <a:solidFill>
                  <a:schemeClr val="tx1"/>
                </a:solidFill>
              </a:rPr>
              <a:t>GioBatDau</a:t>
            </a:r>
            <a:endParaRPr lang="en-US" sz="1200" dirty="0"/>
          </a:p>
          <a:p>
            <a:pPr indent="0" marL="0">
              <a:lnSpc>
                <a:spcPts val="1900"/>
              </a:lnSpc>
              <a:buNone/>
            </a:pPr>
            <a:r>
              <a:rPr lang="en-US" sz="1200" dirty="0">
                <a:solidFill>
                  <a:schemeClr val="tx1"/>
                </a:solidFill>
              </a:rPr>
              <a:t>GiaVe</a:t>
            </a:r>
            <a:endParaRPr lang="en-US" sz="1200" dirty="0"/>
          </a:p>
        </p:txBody>
      </p:sp>
      <p:sp>
        <p:nvSpPr>
          <p:cNvPr id="28" name="KHACHHANG body"/>
          <p:cNvSpPr/>
          <p:nvPr/>
        </p:nvSpPr>
        <p:spPr>
          <a:xfrm>
            <a:off x="457200" y="4617720"/>
            <a:ext cx="2468880" cy="1143000"/>
          </a:xfrm>
          <a:prstGeom prst="rect">
            <a:avLst/>
          </a:prstGeom>
          <a:solidFill>
            <a:schemeClr val="bg1"/>
          </a:solidFill>
          <a:ln w="15875">
            <a:solidFill>
              <a:schemeClr val="tx1"/>
            </a:solidFill>
            <a:prstDash val="solid"/>
          </a:ln>
        </p:spPr>
      </p:sp>
      <p:sp>
        <p:nvSpPr>
          <p:cNvPr id="29" name="KHACHHANG header"/>
          <p:cNvSpPr/>
          <p:nvPr/>
        </p:nvSpPr>
        <p:spPr>
          <a:xfrm>
            <a:off x="457200" y="4251960"/>
            <a:ext cx="2468880" cy="365760"/>
          </a:xfrm>
          <a:prstGeom prst="rect">
            <a:avLst/>
          </a:prstGeom>
          <a:solidFill>
            <a:schemeClr val="tx1"/>
          </a:solidFill>
          <a:ln w="15875">
            <a:solidFill>
              <a:schemeClr val="tx1"/>
            </a:solidFill>
          </a:ln>
        </p:spPr>
        <p:txBody>
          <a:bodyPr wrap="square" lIns="0" tIns="0" rIns="0" bIns="0" rtlCol="0" anchor="ctr"/>
          <a:lstStyle/>
          <a:p>
            <a:pPr algn="ctr" indent="0" marL="0">
              <a:buNone/>
            </a:pPr>
            <a:r>
              <a:rPr lang="en-US" sz="1400" b="1" dirty="0">
                <a:solidFill>
                  <a:schemeClr val="bg1"/>
                </a:solidFill>
              </a:rPr>
              <a:t>KHACHHANG</a:t>
            </a:r>
            <a:endParaRPr lang="en-US" sz="1400" dirty="0"/>
          </a:p>
        </p:txBody>
      </p:sp>
      <p:sp>
        <p:nvSpPr>
          <p:cNvPr id="30" name="KHACHHANG attributes"/>
          <p:cNvSpPr txBox="1"/>
          <p:nvPr/>
        </p:nvSpPr>
        <p:spPr>
          <a:xfrm>
            <a:off x="594360" y="4690872"/>
            <a:ext cx="2194560" cy="1051560"/>
          </a:xfrm>
          <a:prstGeom prst="rect">
            <a:avLst/>
          </a:prstGeom>
          <a:noFill/>
          <a:ln/>
        </p:spPr>
        <p:txBody>
          <a:bodyPr wrap="square" lIns="0" tIns="0" rIns="0" bIns="0" rtlCol="0" anchor="t"/>
          <a:lstStyle/>
          <a:p>
            <a:pPr indent="0" marL="0">
              <a:lnSpc>
                <a:spcPts val="1900"/>
              </a:lnSpc>
              <a:buNone/>
            </a:pPr>
            <a:r>
              <a:rPr lang="en-US" sz="1200" b="1" u="sng" dirty="0">
                <a:solidFill>
                  <a:schemeClr val="tx1"/>
                </a:solidFill>
              </a:rPr>
              <a:t>MaKH</a:t>
            </a:r>
            <a:endParaRPr lang="en-US" sz="1200" dirty="0"/>
          </a:p>
          <a:p>
            <a:pPr indent="0" marL="0">
              <a:lnSpc>
                <a:spcPts val="1900"/>
              </a:lnSpc>
              <a:buNone/>
            </a:pPr>
            <a:r>
              <a:rPr lang="en-US" sz="1200" dirty="0">
                <a:solidFill>
                  <a:schemeClr val="tx1"/>
                </a:solidFill>
              </a:rPr>
              <a:t>HoTen</a:t>
            </a:r>
            <a:endParaRPr lang="en-US" sz="1200" dirty="0"/>
          </a:p>
          <a:p>
            <a:pPr indent="0" marL="0">
              <a:lnSpc>
                <a:spcPts val="1900"/>
              </a:lnSpc>
              <a:buNone/>
            </a:pPr>
            <a:r>
              <a:rPr lang="en-US" sz="1200" dirty="0">
                <a:solidFill>
                  <a:schemeClr val="tx1"/>
                </a:solidFill>
              </a:rPr>
              <a:t>SDT</a:t>
            </a:r>
            <a:endParaRPr lang="en-US" sz="1200" dirty="0"/>
          </a:p>
          <a:p>
            <a:pPr indent="0" marL="0">
              <a:lnSpc>
                <a:spcPts val="1900"/>
              </a:lnSpc>
              <a:buNone/>
            </a:pPr>
            <a:r>
              <a:rPr lang="en-US" sz="1200" dirty="0">
                <a:solidFill>
                  <a:schemeClr val="tx1"/>
                </a:solidFill>
              </a:rPr>
              <a:t>Email</a:t>
            </a:r>
            <a:endParaRPr lang="en-US" sz="1200" dirty="0"/>
          </a:p>
        </p:txBody>
      </p:sp>
      <p:sp>
        <p:nvSpPr>
          <p:cNvPr id="31" name="VE body"/>
          <p:cNvSpPr/>
          <p:nvPr/>
        </p:nvSpPr>
        <p:spPr>
          <a:xfrm>
            <a:off x="4860036" y="4617720"/>
            <a:ext cx="2468880" cy="1143000"/>
          </a:xfrm>
          <a:prstGeom prst="rect">
            <a:avLst/>
          </a:prstGeom>
          <a:solidFill>
            <a:schemeClr val="bg1"/>
          </a:solidFill>
          <a:ln w="15875">
            <a:solidFill>
              <a:schemeClr val="tx1"/>
            </a:solidFill>
            <a:prstDash val="solid"/>
          </a:ln>
        </p:spPr>
      </p:sp>
      <p:sp>
        <p:nvSpPr>
          <p:cNvPr id="32" name="VE header"/>
          <p:cNvSpPr/>
          <p:nvPr/>
        </p:nvSpPr>
        <p:spPr>
          <a:xfrm>
            <a:off x="4860036" y="4251960"/>
            <a:ext cx="2468880" cy="365760"/>
          </a:xfrm>
          <a:prstGeom prst="rect">
            <a:avLst/>
          </a:prstGeom>
          <a:solidFill>
            <a:schemeClr val="accent1"/>
          </a:solidFill>
          <a:ln w="15875">
            <a:solidFill>
              <a:schemeClr val="tx1"/>
            </a:solidFill>
          </a:ln>
        </p:spPr>
        <p:txBody>
          <a:bodyPr wrap="square" lIns="0" tIns="0" rIns="0" bIns="0" rtlCol="0" anchor="ctr"/>
          <a:lstStyle/>
          <a:p>
            <a:pPr algn="ctr" indent="0" marL="0">
              <a:buNone/>
            </a:pPr>
            <a:r>
              <a:rPr lang="en-US" sz="1400" b="1" dirty="0">
                <a:solidFill>
                  <a:schemeClr val="tx1"/>
                </a:solidFill>
              </a:rPr>
              <a:t>VE</a:t>
            </a:r>
            <a:endParaRPr lang="en-US" sz="1400" dirty="0"/>
          </a:p>
        </p:txBody>
      </p:sp>
      <p:sp>
        <p:nvSpPr>
          <p:cNvPr id="33" name="VE attributes"/>
          <p:cNvSpPr txBox="1"/>
          <p:nvPr/>
        </p:nvSpPr>
        <p:spPr>
          <a:xfrm>
            <a:off x="4997196" y="4690872"/>
            <a:ext cx="2194560" cy="1051560"/>
          </a:xfrm>
          <a:prstGeom prst="rect">
            <a:avLst/>
          </a:prstGeom>
          <a:noFill/>
          <a:ln/>
        </p:spPr>
        <p:txBody>
          <a:bodyPr wrap="square" lIns="0" tIns="0" rIns="0" bIns="0" rtlCol="0" anchor="t"/>
          <a:lstStyle/>
          <a:p>
            <a:pPr indent="0" marL="0">
              <a:lnSpc>
                <a:spcPts val="1900"/>
              </a:lnSpc>
              <a:buNone/>
            </a:pPr>
            <a:r>
              <a:rPr lang="en-US" sz="1200" b="1" u="sng" dirty="0">
                <a:solidFill>
                  <a:schemeClr val="tx1"/>
                </a:solidFill>
              </a:rPr>
              <a:t>MaVe</a:t>
            </a:r>
            <a:endParaRPr lang="en-US" sz="1200" dirty="0"/>
          </a:p>
          <a:p>
            <a:pPr indent="0" marL="0">
              <a:lnSpc>
                <a:spcPts val="1900"/>
              </a:lnSpc>
              <a:buNone/>
            </a:pPr>
            <a:r>
              <a:rPr lang="en-US" sz="1200" dirty="0">
                <a:solidFill>
                  <a:schemeClr val="tx1"/>
                </a:solidFill>
              </a:rPr>
              <a:t>SoGhe</a:t>
            </a:r>
            <a:endParaRPr lang="en-US" sz="1200" dirty="0"/>
          </a:p>
          <a:p>
            <a:pPr indent="0" marL="0">
              <a:lnSpc>
                <a:spcPts val="1900"/>
              </a:lnSpc>
              <a:buNone/>
            </a:pPr>
            <a:r>
              <a:rPr lang="en-US" sz="1200" dirty="0">
                <a:solidFill>
                  <a:schemeClr val="tx1"/>
                </a:solidFill>
              </a:rPr>
              <a:t>NgayDat</a:t>
            </a:r>
            <a:endParaRPr lang="en-US" sz="1200" dirty="0"/>
          </a:p>
        </p:txBody>
      </p:sp>
      <p:sp>
        <p:nvSpPr>
          <p:cNvPr id="34" name="Legend card"/>
          <p:cNvSpPr/>
          <p:nvPr/>
        </p:nvSpPr>
        <p:spPr>
          <a:xfrm>
            <a:off x="7694676" y="4251960"/>
            <a:ext cx="4037076" cy="1508760"/>
          </a:xfrm>
          <a:prstGeom prst="roundRect">
            <a:avLst>
              <a:gd name="adj" fmla="val 6061"/>
            </a:avLst>
          </a:prstGeom>
          <a:solidFill>
            <a:schemeClr val="bg2"/>
          </a:solidFill>
          <a:ln w="12700">
            <a:solidFill>
              <a:schemeClr val="bg2"/>
            </a:solidFill>
            <a:prstDash val="solid"/>
          </a:ln>
        </p:spPr>
      </p:sp>
      <p:sp>
        <p:nvSpPr>
          <p:cNvPr id="35" name="Legend title"/>
          <p:cNvSpPr txBox="1"/>
          <p:nvPr/>
        </p:nvSpPr>
        <p:spPr>
          <a:xfrm>
            <a:off x="7877556" y="4343400"/>
            <a:ext cx="2194560" cy="274320"/>
          </a:xfrm>
          <a:prstGeom prst="rect">
            <a:avLst/>
          </a:prstGeom>
          <a:noFill/>
          <a:ln/>
        </p:spPr>
        <p:txBody>
          <a:bodyPr wrap="square" lIns="0" tIns="0" rIns="0" bIns="0" rtlCol="0" anchor="t"/>
          <a:lstStyle/>
          <a:p>
            <a:pPr indent="0" marL="0">
              <a:buNone/>
            </a:pPr>
            <a:r>
              <a:rPr lang="en-US" sz="1300" b="1" dirty="0">
                <a:solidFill>
                  <a:schemeClr val="tx1"/>
                </a:solidFill>
              </a:rPr>
              <a:t>Chú thích</a:t>
            </a:r>
            <a:endParaRPr lang="en-US" sz="1300" dirty="0"/>
          </a:p>
        </p:txBody>
      </p:sp>
      <p:sp>
        <p:nvSpPr>
          <p:cNvPr id="36" name="Legend PK sample"/>
          <p:cNvSpPr txBox="1"/>
          <p:nvPr/>
        </p:nvSpPr>
        <p:spPr>
          <a:xfrm>
            <a:off x="7877556" y="4700016"/>
            <a:ext cx="822960" cy="237744"/>
          </a:xfrm>
          <a:prstGeom prst="rect">
            <a:avLst/>
          </a:prstGeom>
          <a:noFill/>
          <a:ln/>
        </p:spPr>
        <p:txBody>
          <a:bodyPr wrap="square" lIns="0" tIns="0" rIns="0" bIns="0" rtlCol="0" anchor="t"/>
          <a:lstStyle/>
          <a:p>
            <a:pPr indent="0" marL="0">
              <a:buNone/>
            </a:pPr>
            <a:r>
              <a:rPr lang="en-US" sz="1200" b="1" u="sng" dirty="0">
                <a:solidFill>
                  <a:schemeClr val="tx1"/>
                </a:solidFill>
              </a:rPr>
              <a:t>MaXX</a:t>
            </a:r>
            <a:endParaRPr lang="en-US" sz="1200" dirty="0"/>
          </a:p>
        </p:txBody>
      </p:sp>
      <p:sp>
        <p:nvSpPr>
          <p:cNvPr id="37" name="Legend PK text"/>
          <p:cNvSpPr txBox="1"/>
          <p:nvPr/>
        </p:nvSpPr>
        <p:spPr>
          <a:xfrm>
            <a:off x="8883396" y="4700016"/>
            <a:ext cx="2665476" cy="237744"/>
          </a:xfrm>
          <a:prstGeom prst="rect">
            <a:avLst/>
          </a:prstGeom>
          <a:noFill/>
          <a:ln/>
        </p:spPr>
        <p:txBody>
          <a:bodyPr wrap="square" lIns="0" tIns="0" rIns="0" bIns="0" rtlCol="0" anchor="t"/>
          <a:lstStyle/>
          <a:p>
            <a:pPr indent="0" marL="0">
              <a:buNone/>
            </a:pPr>
            <a:r>
              <a:rPr lang="en-US" sz="1200" dirty="0">
                <a:solidFill>
                  <a:schemeClr val="tx1"/>
                </a:solidFill>
              </a:rPr>
              <a:t>Khóa chính</a:t>
            </a:r>
            <a:endParaRPr lang="en-US" sz="1200" dirty="0"/>
          </a:p>
        </p:txBody>
      </p:sp>
      <p:sp>
        <p:nvSpPr>
          <p:cNvPr id="38" name="Legend relationship swatch"/>
          <p:cNvSpPr/>
          <p:nvPr/>
        </p:nvSpPr>
        <p:spPr>
          <a:xfrm>
            <a:off x="7877556" y="4965192"/>
            <a:ext cx="457200" cy="256032"/>
          </a:xfrm>
          <a:prstGeom prst="diamond">
            <a:avLst/>
          </a:prstGeom>
          <a:solidFill>
            <a:schemeClr val="bg1"/>
          </a:solidFill>
          <a:ln w="12700">
            <a:solidFill>
              <a:schemeClr val="tx1"/>
            </a:solidFill>
            <a:prstDash val="solid"/>
          </a:ln>
        </p:spPr>
      </p:sp>
      <p:sp>
        <p:nvSpPr>
          <p:cNvPr id="39" name="Legend relationship text"/>
          <p:cNvSpPr txBox="1"/>
          <p:nvPr/>
        </p:nvSpPr>
        <p:spPr>
          <a:xfrm>
            <a:off x="8883396" y="4974336"/>
            <a:ext cx="2665476" cy="237744"/>
          </a:xfrm>
          <a:prstGeom prst="rect">
            <a:avLst/>
          </a:prstGeom>
          <a:noFill/>
          <a:ln/>
        </p:spPr>
        <p:txBody>
          <a:bodyPr wrap="square" lIns="0" tIns="0" rIns="0" bIns="0" rtlCol="0" anchor="t"/>
          <a:lstStyle/>
          <a:p>
            <a:pPr indent="0" marL="0">
              <a:buNone/>
            </a:pPr>
            <a:r>
              <a:rPr lang="en-US" sz="1200" dirty="0">
                <a:solidFill>
                  <a:schemeClr val="tx1"/>
                </a:solidFill>
              </a:rPr>
              <a:t>Quan hệ giữa hai thực thể</a:t>
            </a:r>
            <a:endParaRPr lang="en-US" sz="1200" dirty="0"/>
          </a:p>
        </p:txBody>
      </p:sp>
      <p:sp>
        <p:nvSpPr>
          <p:cNvPr id="40" name="Legend associative swatch"/>
          <p:cNvSpPr/>
          <p:nvPr/>
        </p:nvSpPr>
        <p:spPr>
          <a:xfrm>
            <a:off x="7877556" y="5266944"/>
            <a:ext cx="457200" cy="201168"/>
          </a:xfrm>
          <a:prstGeom prst="rect">
            <a:avLst/>
          </a:prstGeom>
          <a:solidFill>
            <a:schemeClr val="accent1"/>
          </a:solidFill>
          <a:ln w="12700">
            <a:solidFill>
              <a:schemeClr val="tx1"/>
            </a:solidFill>
            <a:prstDash val="solid"/>
          </a:ln>
        </p:spPr>
      </p:sp>
      <p:sp>
        <p:nvSpPr>
          <p:cNvPr id="41" name="Legend associative text"/>
          <p:cNvSpPr txBox="1"/>
          <p:nvPr/>
        </p:nvSpPr>
        <p:spPr>
          <a:xfrm>
            <a:off x="8883396" y="5248656"/>
            <a:ext cx="2665476" cy="237744"/>
          </a:xfrm>
          <a:prstGeom prst="rect">
            <a:avLst/>
          </a:prstGeom>
          <a:noFill/>
          <a:ln/>
        </p:spPr>
        <p:txBody>
          <a:bodyPr wrap="square" lIns="0" tIns="0" rIns="0" bIns="0" rtlCol="0" anchor="t"/>
          <a:lstStyle/>
          <a:p>
            <a:pPr indent="0" marL="0">
              <a:buNone/>
            </a:pPr>
            <a:r>
              <a:rPr lang="en-US" sz="1200" dirty="0">
                <a:solidFill>
                  <a:schemeClr val="tx1"/>
                </a:solidFill>
              </a:rPr>
              <a:t>Thực thể kết hợp (quan hệ N – N)</a:t>
            </a:r>
            <a:endParaRPr lang="en-US" sz="1200" dirty="0"/>
          </a:p>
        </p:txBody>
      </p:sp>
      <p:sp>
        <p:nvSpPr>
          <p:cNvPr id="42" name="Legend cardinality sample"/>
          <p:cNvSpPr txBox="1"/>
          <p:nvPr/>
        </p:nvSpPr>
        <p:spPr>
          <a:xfrm>
            <a:off x="7877556" y="5522976"/>
            <a:ext cx="822960" cy="237744"/>
          </a:xfrm>
          <a:prstGeom prst="rect">
            <a:avLst/>
          </a:prstGeom>
          <a:noFill/>
          <a:ln/>
        </p:spPr>
        <p:txBody>
          <a:bodyPr wrap="square" lIns="0" tIns="0" rIns="0" bIns="0" rtlCol="0" anchor="t"/>
          <a:lstStyle/>
          <a:p>
            <a:pPr indent="0" marL="0">
              <a:buNone/>
            </a:pPr>
            <a:r>
              <a:rPr lang="en-US" sz="1200" b="1" dirty="0">
                <a:solidFill>
                  <a:schemeClr val="tx1"/>
                </a:solidFill>
              </a:rPr>
              <a:t>1 – N</a:t>
            </a:r>
            <a:endParaRPr lang="en-US" sz="1200" dirty="0"/>
          </a:p>
        </p:txBody>
      </p:sp>
      <p:sp>
        <p:nvSpPr>
          <p:cNvPr id="43" name="Legend cardinality text"/>
          <p:cNvSpPr txBox="1"/>
          <p:nvPr/>
        </p:nvSpPr>
        <p:spPr>
          <a:xfrm>
            <a:off x="8883396" y="5522976"/>
            <a:ext cx="2665476" cy="237744"/>
          </a:xfrm>
          <a:prstGeom prst="rect">
            <a:avLst/>
          </a:prstGeom>
          <a:noFill/>
          <a:ln/>
        </p:spPr>
        <p:txBody>
          <a:bodyPr wrap="square" lIns="0" tIns="0" rIns="0" bIns="0" rtlCol="0" anchor="t"/>
          <a:lstStyle/>
          <a:p>
            <a:pPr indent="0" marL="0">
              <a:buNone/>
            </a:pPr>
            <a:r>
              <a:rPr lang="en-US" sz="1200" dirty="0">
                <a:solidFill>
                  <a:schemeClr val="tx1"/>
                </a:solidFill>
              </a:rPr>
              <a:t>Một – nhiều</a:t>
            </a:r>
            <a:endParaRPr lang="en-US" sz="1200" dirty="0"/>
          </a:p>
        </p:txBody>
      </p:sp>
      <p:sp>
        <p:nvSpPr>
          <p:cNvPr id="44" name="N-N note card"/>
          <p:cNvSpPr/>
          <p:nvPr/>
        </p:nvSpPr>
        <p:spPr>
          <a:xfrm>
            <a:off x="457200" y="5852160"/>
            <a:ext cx="11274552" cy="502920"/>
          </a:xfrm>
          <a:prstGeom prst="roundRect">
            <a:avLst>
              <a:gd name="adj" fmla="val 18182"/>
            </a:avLst>
          </a:prstGeom>
          <a:solidFill>
            <a:schemeClr val="bg2"/>
          </a:solidFill>
          <a:ln w="12700">
            <a:solidFill>
              <a:schemeClr val="bg2"/>
            </a:solidFill>
            <a:prstDash val="solid"/>
          </a:ln>
        </p:spPr>
      </p:sp>
      <p:sp>
        <p:nvSpPr>
          <p:cNvPr id="45" name="N-N note"/>
          <p:cNvSpPr txBox="1"/>
          <p:nvPr/>
        </p:nvSpPr>
        <p:spPr>
          <a:xfrm>
            <a:off x="640080" y="5852160"/>
            <a:ext cx="10908792" cy="502920"/>
          </a:xfrm>
          <a:prstGeom prst="rect">
            <a:avLst/>
          </a:prstGeom>
          <a:noFill/>
          <a:ln/>
        </p:spPr>
        <p:txBody>
          <a:bodyPr wrap="square" lIns="0" tIns="0" rIns="0" bIns="0" rtlCol="0" anchor="ctr"/>
          <a:lstStyle/>
          <a:p>
            <a:pPr indent="0" marL="0">
              <a:buNone/>
            </a:pPr>
            <a:r>
              <a:rPr lang="en-US" sz="1250" b="1" dirty="0">
                <a:solidFill>
                  <a:schemeClr val="tx1"/>
                </a:solidFill>
              </a:rPr>
              <a:t>Quan hệ N – N: </a:t>
            </a:r>
            <a:pPr indent="0" marL="0">
              <a:buNone/>
            </a:pPr>
            <a:r>
              <a:rPr lang="en-US" sz="1250" dirty="0">
                <a:solidFill>
                  <a:schemeClr val="tx1"/>
                </a:solidFill>
              </a:rPr>
              <a:t>KHACHHANG – SUATCHIEU (qua thực thể kết hợp VE) và PHIM – PHONGCHIEU (qua SUATCHIEU). Khi chuyển sang lược đồ quan hệ, quan hệ 1 – N trở thành khóa ngoại ở phía N.</a:t>
            </a:r>
            <a:endParaRPr lang="en-US" sz="125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Lược đồ quan hệ</a:t>
            </a:r>
            <a:endParaRPr lang="en-US" sz="3000" dirty="0"/>
          </a:p>
        </p:txBody>
      </p:sp>
      <p:sp>
        <p:nvSpPr>
          <p:cNvPr id="3" name="Schema card"/>
          <p:cNvSpPr/>
          <p:nvPr/>
        </p:nvSpPr>
        <p:spPr>
          <a:xfrm>
            <a:off x="457200" y="1325880"/>
            <a:ext cx="7406640" cy="4983480"/>
          </a:xfrm>
          <a:prstGeom prst="roundRect">
            <a:avLst>
              <a:gd name="adj" fmla="val 1835"/>
            </a:avLst>
          </a:prstGeom>
          <a:solidFill>
            <a:schemeClr val="bg2"/>
          </a:solidFill>
          <a:ln w="12700">
            <a:solidFill>
              <a:schemeClr val="bg2"/>
            </a:solidFill>
            <a:prstDash val="solid"/>
          </a:ln>
        </p:spPr>
      </p:sp>
      <p:sp>
        <p:nvSpPr>
          <p:cNvPr id="4" name="Schema title"/>
          <p:cNvSpPr txBox="1"/>
          <p:nvPr/>
        </p:nvSpPr>
        <p:spPr>
          <a:xfrm>
            <a:off x="685800" y="1444752"/>
            <a:ext cx="3291840" cy="365760"/>
          </a:xfrm>
          <a:prstGeom prst="rect">
            <a:avLst/>
          </a:prstGeom>
          <a:noFill/>
          <a:ln/>
        </p:spPr>
        <p:txBody>
          <a:bodyPr wrap="square" lIns="0" tIns="0" rIns="0" bIns="0" rtlCol="0" anchor="ctr"/>
          <a:lstStyle/>
          <a:p>
            <a:pPr indent="0" marL="0">
              <a:buNone/>
            </a:pPr>
            <a:r>
              <a:rPr lang="en-US" sz="1800" b="1" dirty="0">
                <a:solidFill>
                  <a:schemeClr val="tx1"/>
                </a:solidFill>
              </a:rPr>
              <a:t>Lược đồ cơ sở dữ liệu</a:t>
            </a:r>
            <a:endParaRPr lang="en-US" sz="1800" dirty="0"/>
          </a:p>
        </p:txBody>
      </p:sp>
      <p:sp>
        <p:nvSpPr>
          <p:cNvPr id="5" name="Schema legend"/>
          <p:cNvSpPr txBox="1"/>
          <p:nvPr/>
        </p:nvSpPr>
        <p:spPr>
          <a:xfrm>
            <a:off x="3840480" y="1444752"/>
            <a:ext cx="3794760" cy="365760"/>
          </a:xfrm>
          <a:prstGeom prst="rect">
            <a:avLst/>
          </a:prstGeom>
          <a:noFill/>
          <a:ln/>
        </p:spPr>
        <p:txBody>
          <a:bodyPr wrap="square" lIns="0" tIns="0" rIns="0" bIns="0" rtlCol="0" anchor="ctr"/>
          <a:lstStyle/>
          <a:p>
            <a:pPr algn="r" indent="0" marL="0">
              <a:buNone/>
            </a:pPr>
            <a:r>
              <a:rPr lang="en-US" sz="1200" dirty="0">
                <a:solidFill>
                  <a:schemeClr val="tx2"/>
                </a:solidFill>
              </a:rPr>
              <a:t>Gạch chân: khóa chính   ·   In nghiêng: khóa ngoại</a:t>
            </a:r>
            <a:endParaRPr lang="en-US" sz="1200" dirty="0"/>
          </a:p>
        </p:txBody>
      </p:sp>
      <p:sp>
        <p:nvSpPr>
          <p:cNvPr id="6" name="Schema row PHIM"/>
          <p:cNvSpPr/>
          <p:nvPr/>
        </p:nvSpPr>
        <p:spPr>
          <a:xfrm>
            <a:off x="640080" y="1965960"/>
            <a:ext cx="7040880" cy="749808"/>
          </a:xfrm>
          <a:prstGeom prst="roundRect">
            <a:avLst>
              <a:gd name="adj" fmla="val 12195"/>
            </a:avLst>
          </a:prstGeom>
          <a:solidFill>
            <a:schemeClr val="bg1"/>
          </a:solidFill>
          <a:ln w="12700">
            <a:solidFill>
              <a:schemeClr val="bg1"/>
            </a:solidFill>
            <a:prstDash val="solid"/>
          </a:ln>
        </p:spPr>
      </p:sp>
      <p:sp>
        <p:nvSpPr>
          <p:cNvPr id="7" name="Schema relation PHIM"/>
          <p:cNvSpPr txBox="1"/>
          <p:nvPr/>
        </p:nvSpPr>
        <p:spPr>
          <a:xfrm>
            <a:off x="822960" y="2002536"/>
            <a:ext cx="6675120" cy="676656"/>
          </a:xfrm>
          <a:prstGeom prst="rect">
            <a:avLst/>
          </a:prstGeom>
          <a:noFill/>
          <a:ln/>
        </p:spPr>
        <p:txBody>
          <a:bodyPr wrap="square" lIns="0" tIns="0" rIns="0" bIns="0" rtlCol="0" anchor="ctr"/>
          <a:lstStyle/>
          <a:p>
            <a:pPr indent="0" marL="0">
              <a:buNone/>
            </a:pPr>
            <a:r>
              <a:rPr lang="en-US" sz="1600" b="1" dirty="0">
                <a:solidFill>
                  <a:schemeClr val="tx1"/>
                </a:solidFill>
              </a:rPr>
              <a:t>PHIM</a:t>
            </a:r>
            <a:pPr indent="0" marL="0">
              <a:buNone/>
            </a:pPr>
            <a:r>
              <a:rPr lang="en-US" sz="1600" dirty="0">
                <a:solidFill>
                  <a:schemeClr val="tx1"/>
                </a:solidFill>
              </a:rPr>
              <a:t> (</a:t>
            </a:r>
            <a:pPr indent="0" marL="0">
              <a:buNone/>
            </a:pPr>
            <a:r>
              <a:rPr lang="en-US" sz="1600" b="1" u="sng" dirty="0">
                <a:solidFill>
                  <a:schemeClr val="tx1"/>
                </a:solidFill>
              </a:rPr>
              <a:t>MaPhim</a:t>
            </a:r>
            <a:pPr indent="0" marL="0">
              <a:buNone/>
            </a:pPr>
            <a:r>
              <a:rPr lang="en-US" sz="1600" dirty="0">
                <a:solidFill>
                  <a:schemeClr val="tx1"/>
                </a:solidFill>
              </a:rPr>
              <a:t>, </a:t>
            </a:r>
            <a:pPr indent="0" marL="0">
              <a:buNone/>
            </a:pPr>
            <a:r>
              <a:rPr lang="en-US" sz="1600" dirty="0">
                <a:solidFill>
                  <a:schemeClr val="tx1"/>
                </a:solidFill>
              </a:rPr>
              <a:t>TenPhim</a:t>
            </a:r>
            <a:pPr indent="0" marL="0">
              <a:buNone/>
            </a:pPr>
            <a:r>
              <a:rPr lang="en-US" sz="1600" dirty="0">
                <a:solidFill>
                  <a:schemeClr val="tx1"/>
                </a:solidFill>
              </a:rPr>
              <a:t>, </a:t>
            </a:r>
            <a:pPr indent="0" marL="0">
              <a:buNone/>
            </a:pPr>
            <a:r>
              <a:rPr lang="en-US" sz="1600" dirty="0">
                <a:solidFill>
                  <a:schemeClr val="tx1"/>
                </a:solidFill>
              </a:rPr>
              <a:t>TheLoai</a:t>
            </a:r>
            <a:pPr indent="0" marL="0">
              <a:buNone/>
            </a:pPr>
            <a:r>
              <a:rPr lang="en-US" sz="1600" dirty="0">
                <a:solidFill>
                  <a:schemeClr val="tx1"/>
                </a:solidFill>
              </a:rPr>
              <a:t>, </a:t>
            </a:r>
            <a:pPr indent="0" marL="0">
              <a:buNone/>
            </a:pPr>
            <a:r>
              <a:rPr lang="en-US" sz="1600" dirty="0">
                <a:solidFill>
                  <a:schemeClr val="tx1"/>
                </a:solidFill>
              </a:rPr>
              <a:t>ThoiLuong</a:t>
            </a:r>
            <a:pPr indent="0" marL="0">
              <a:buNone/>
            </a:pPr>
            <a:r>
              <a:rPr lang="en-US" sz="1600" dirty="0">
                <a:solidFill>
                  <a:schemeClr val="tx1"/>
                </a:solidFill>
              </a:rPr>
              <a:t>, </a:t>
            </a:r>
            <a:pPr indent="0" marL="0">
              <a:buNone/>
            </a:pPr>
            <a:r>
              <a:rPr lang="en-US" sz="1600" dirty="0">
                <a:solidFill>
                  <a:schemeClr val="tx1"/>
                </a:solidFill>
              </a:rPr>
              <a:t>NgayKhoiChieu</a:t>
            </a:r>
            <a:pPr indent="0" marL="0">
              <a:buNone/>
            </a:pPr>
            <a:r>
              <a:rPr lang="en-US" sz="1600" dirty="0">
                <a:solidFill>
                  <a:schemeClr val="tx1"/>
                </a:solidFill>
              </a:rPr>
              <a:t>)</a:t>
            </a:r>
            <a:endParaRPr lang="en-US" sz="1600" dirty="0"/>
          </a:p>
          <a:p>
            <a:pPr indent="0" marL="0">
              <a:buNone/>
            </a:pPr>
            <a:r>
              <a:rPr lang="en-US" sz="1200" i="1" dirty="0">
                <a:solidFill>
                  <a:schemeClr val="tx2"/>
                </a:solidFill>
              </a:rPr>
              <a:t>Không có khóa ngoại</a:t>
            </a:r>
            <a:endParaRPr lang="en-US" sz="1600" dirty="0"/>
          </a:p>
        </p:txBody>
      </p:sp>
      <p:sp>
        <p:nvSpPr>
          <p:cNvPr id="8" name="Schema row PHONGCHIEU"/>
          <p:cNvSpPr/>
          <p:nvPr/>
        </p:nvSpPr>
        <p:spPr>
          <a:xfrm>
            <a:off x="640080" y="2816352"/>
            <a:ext cx="7040880" cy="749808"/>
          </a:xfrm>
          <a:prstGeom prst="roundRect">
            <a:avLst>
              <a:gd name="adj" fmla="val 12195"/>
            </a:avLst>
          </a:prstGeom>
          <a:solidFill>
            <a:schemeClr val="bg1"/>
          </a:solidFill>
          <a:ln w="12700">
            <a:solidFill>
              <a:schemeClr val="bg1"/>
            </a:solidFill>
            <a:prstDash val="solid"/>
          </a:ln>
        </p:spPr>
      </p:sp>
      <p:sp>
        <p:nvSpPr>
          <p:cNvPr id="9" name="Schema relation PHONGCHIEU"/>
          <p:cNvSpPr txBox="1"/>
          <p:nvPr/>
        </p:nvSpPr>
        <p:spPr>
          <a:xfrm>
            <a:off x="822960" y="2852928"/>
            <a:ext cx="6675120" cy="676656"/>
          </a:xfrm>
          <a:prstGeom prst="rect">
            <a:avLst/>
          </a:prstGeom>
          <a:noFill/>
          <a:ln/>
        </p:spPr>
        <p:txBody>
          <a:bodyPr wrap="square" lIns="0" tIns="0" rIns="0" bIns="0" rtlCol="0" anchor="ctr"/>
          <a:lstStyle/>
          <a:p>
            <a:pPr indent="0" marL="0">
              <a:buNone/>
            </a:pPr>
            <a:r>
              <a:rPr lang="en-US" sz="1600" b="1" dirty="0">
                <a:solidFill>
                  <a:schemeClr val="tx1"/>
                </a:solidFill>
              </a:rPr>
              <a:t>PHONGCHIEU</a:t>
            </a:r>
            <a:pPr indent="0" marL="0">
              <a:buNone/>
            </a:pPr>
            <a:r>
              <a:rPr lang="en-US" sz="1600" dirty="0">
                <a:solidFill>
                  <a:schemeClr val="tx1"/>
                </a:solidFill>
              </a:rPr>
              <a:t> (</a:t>
            </a:r>
            <a:pPr indent="0" marL="0">
              <a:buNone/>
            </a:pPr>
            <a:r>
              <a:rPr lang="en-US" sz="1600" b="1" u="sng" dirty="0">
                <a:solidFill>
                  <a:schemeClr val="tx1"/>
                </a:solidFill>
              </a:rPr>
              <a:t>MaPhong</a:t>
            </a:r>
            <a:pPr indent="0" marL="0">
              <a:buNone/>
            </a:pPr>
            <a:r>
              <a:rPr lang="en-US" sz="1600" dirty="0">
                <a:solidFill>
                  <a:schemeClr val="tx1"/>
                </a:solidFill>
              </a:rPr>
              <a:t>, </a:t>
            </a:r>
            <a:pPr indent="0" marL="0">
              <a:buNone/>
            </a:pPr>
            <a:r>
              <a:rPr lang="en-US" sz="1600" dirty="0">
                <a:solidFill>
                  <a:schemeClr val="tx1"/>
                </a:solidFill>
              </a:rPr>
              <a:t>TenPhong</a:t>
            </a:r>
            <a:pPr indent="0" marL="0">
              <a:buNone/>
            </a:pPr>
            <a:r>
              <a:rPr lang="en-US" sz="1600" dirty="0">
                <a:solidFill>
                  <a:schemeClr val="tx1"/>
                </a:solidFill>
              </a:rPr>
              <a:t>, </a:t>
            </a:r>
            <a:pPr indent="0" marL="0">
              <a:buNone/>
            </a:pPr>
            <a:r>
              <a:rPr lang="en-US" sz="1600" dirty="0">
                <a:solidFill>
                  <a:schemeClr val="tx1"/>
                </a:solidFill>
              </a:rPr>
              <a:t>LoaiPhong</a:t>
            </a:r>
            <a:pPr indent="0" marL="0">
              <a:buNone/>
            </a:pPr>
            <a:r>
              <a:rPr lang="en-US" sz="1600" dirty="0">
                <a:solidFill>
                  <a:schemeClr val="tx1"/>
                </a:solidFill>
              </a:rPr>
              <a:t>, </a:t>
            </a:r>
            <a:pPr indent="0" marL="0">
              <a:buNone/>
            </a:pPr>
            <a:r>
              <a:rPr lang="en-US" sz="1600" dirty="0">
                <a:solidFill>
                  <a:schemeClr val="tx1"/>
                </a:solidFill>
              </a:rPr>
              <a:t>SucChua</a:t>
            </a:r>
            <a:pPr indent="0" marL="0">
              <a:buNone/>
            </a:pPr>
            <a:r>
              <a:rPr lang="en-US" sz="1600" dirty="0">
                <a:solidFill>
                  <a:schemeClr val="tx1"/>
                </a:solidFill>
              </a:rPr>
              <a:t>)</a:t>
            </a:r>
            <a:endParaRPr lang="en-US" sz="1600" dirty="0"/>
          </a:p>
          <a:p>
            <a:pPr indent="0" marL="0">
              <a:buNone/>
            </a:pPr>
            <a:r>
              <a:rPr lang="en-US" sz="1200" i="1" dirty="0">
                <a:solidFill>
                  <a:schemeClr val="tx2"/>
                </a:solidFill>
              </a:rPr>
              <a:t>Không có khóa ngoại</a:t>
            </a:r>
            <a:endParaRPr lang="en-US" sz="1600" dirty="0"/>
          </a:p>
        </p:txBody>
      </p:sp>
      <p:sp>
        <p:nvSpPr>
          <p:cNvPr id="10" name="Schema row SUATCHIEU"/>
          <p:cNvSpPr/>
          <p:nvPr/>
        </p:nvSpPr>
        <p:spPr>
          <a:xfrm>
            <a:off x="640080" y="3666744"/>
            <a:ext cx="7040880" cy="749808"/>
          </a:xfrm>
          <a:prstGeom prst="roundRect">
            <a:avLst>
              <a:gd name="adj" fmla="val 12195"/>
            </a:avLst>
          </a:prstGeom>
          <a:solidFill>
            <a:schemeClr val="bg1"/>
          </a:solidFill>
          <a:ln w="12700">
            <a:solidFill>
              <a:schemeClr val="bg1"/>
            </a:solidFill>
            <a:prstDash val="solid"/>
          </a:ln>
        </p:spPr>
      </p:sp>
      <p:sp>
        <p:nvSpPr>
          <p:cNvPr id="11" name="Schema relation SUATCHIEU"/>
          <p:cNvSpPr txBox="1"/>
          <p:nvPr/>
        </p:nvSpPr>
        <p:spPr>
          <a:xfrm>
            <a:off x="822960" y="3703320"/>
            <a:ext cx="6675120" cy="676656"/>
          </a:xfrm>
          <a:prstGeom prst="rect">
            <a:avLst/>
          </a:prstGeom>
          <a:noFill/>
          <a:ln/>
        </p:spPr>
        <p:txBody>
          <a:bodyPr wrap="square" lIns="0" tIns="0" rIns="0" bIns="0" rtlCol="0" anchor="ctr"/>
          <a:lstStyle/>
          <a:p>
            <a:pPr indent="0" marL="0">
              <a:buNone/>
            </a:pPr>
            <a:r>
              <a:rPr lang="en-US" sz="1600" b="1" dirty="0">
                <a:solidFill>
                  <a:schemeClr val="tx1"/>
                </a:solidFill>
              </a:rPr>
              <a:t>SUATCHIEU</a:t>
            </a:r>
            <a:pPr indent="0" marL="0">
              <a:buNone/>
            </a:pPr>
            <a:r>
              <a:rPr lang="en-US" sz="1600" dirty="0">
                <a:solidFill>
                  <a:schemeClr val="tx1"/>
                </a:solidFill>
              </a:rPr>
              <a:t> (</a:t>
            </a:r>
            <a:pPr indent="0" marL="0">
              <a:buNone/>
            </a:pPr>
            <a:r>
              <a:rPr lang="en-US" sz="1600" b="1" u="sng" dirty="0">
                <a:solidFill>
                  <a:schemeClr val="tx1"/>
                </a:solidFill>
              </a:rPr>
              <a:t>MaSuat</a:t>
            </a:r>
            <a:pPr indent="0" marL="0">
              <a:buNone/>
            </a:pPr>
            <a:r>
              <a:rPr lang="en-US" sz="1600" dirty="0">
                <a:solidFill>
                  <a:schemeClr val="tx1"/>
                </a:solidFill>
              </a:rPr>
              <a:t>, </a:t>
            </a:r>
            <a:pPr indent="0" marL="0">
              <a:buNone/>
            </a:pPr>
            <a:r>
              <a:rPr lang="en-US" sz="1600" i="1" dirty="0">
                <a:solidFill>
                  <a:schemeClr val="tx2"/>
                </a:solidFill>
              </a:rPr>
              <a:t>MaPhim</a:t>
            </a:r>
            <a:pPr indent="0" marL="0">
              <a:buNone/>
            </a:pPr>
            <a:r>
              <a:rPr lang="en-US" sz="1600" dirty="0">
                <a:solidFill>
                  <a:schemeClr val="tx1"/>
                </a:solidFill>
              </a:rPr>
              <a:t>, </a:t>
            </a:r>
            <a:pPr indent="0" marL="0">
              <a:buNone/>
            </a:pPr>
            <a:r>
              <a:rPr lang="en-US" sz="1600" i="1" dirty="0">
                <a:solidFill>
                  <a:schemeClr val="tx2"/>
                </a:solidFill>
              </a:rPr>
              <a:t>MaPhong</a:t>
            </a:r>
            <a:pPr indent="0" marL="0">
              <a:buNone/>
            </a:pPr>
            <a:r>
              <a:rPr lang="en-US" sz="1600" dirty="0">
                <a:solidFill>
                  <a:schemeClr val="tx1"/>
                </a:solidFill>
              </a:rPr>
              <a:t>, </a:t>
            </a:r>
            <a:pPr indent="0" marL="0">
              <a:buNone/>
            </a:pPr>
            <a:r>
              <a:rPr lang="en-US" sz="1600" dirty="0">
                <a:solidFill>
                  <a:schemeClr val="tx1"/>
                </a:solidFill>
              </a:rPr>
              <a:t>NgayChieu</a:t>
            </a:r>
            <a:pPr indent="0" marL="0">
              <a:buNone/>
            </a:pPr>
            <a:r>
              <a:rPr lang="en-US" sz="1600" dirty="0">
                <a:solidFill>
                  <a:schemeClr val="tx1"/>
                </a:solidFill>
              </a:rPr>
              <a:t>, </a:t>
            </a:r>
            <a:pPr indent="0" marL="0">
              <a:buNone/>
            </a:pPr>
            <a:r>
              <a:rPr lang="en-US" sz="1600" dirty="0">
                <a:solidFill>
                  <a:schemeClr val="tx1"/>
                </a:solidFill>
              </a:rPr>
              <a:t>GioBatDau</a:t>
            </a:r>
            <a:pPr indent="0" marL="0">
              <a:buNone/>
            </a:pPr>
            <a:r>
              <a:rPr lang="en-US" sz="1600" dirty="0">
                <a:solidFill>
                  <a:schemeClr val="tx1"/>
                </a:solidFill>
              </a:rPr>
              <a:t>, </a:t>
            </a:r>
            <a:pPr indent="0" marL="0">
              <a:buNone/>
            </a:pPr>
            <a:r>
              <a:rPr lang="en-US" sz="1600" dirty="0">
                <a:solidFill>
                  <a:schemeClr val="tx1"/>
                </a:solidFill>
              </a:rPr>
              <a:t>GiaVe</a:t>
            </a:r>
            <a:pPr indent="0" marL="0">
              <a:buNone/>
            </a:pPr>
            <a:r>
              <a:rPr lang="en-US" sz="1600" dirty="0">
                <a:solidFill>
                  <a:schemeClr val="tx1"/>
                </a:solidFill>
              </a:rPr>
              <a:t>)</a:t>
            </a:r>
            <a:endParaRPr lang="en-US" sz="1600" dirty="0"/>
          </a:p>
          <a:p>
            <a:pPr indent="0" marL="0">
              <a:buNone/>
            </a:pPr>
            <a:r>
              <a:rPr lang="en-US" sz="1200" i="1" dirty="0">
                <a:solidFill>
                  <a:schemeClr val="tx2"/>
                </a:solidFill>
              </a:rPr>
              <a:t>Khóa ngoại: MaPhim → PHIM  ·  MaPhong → PHONGCHIEU</a:t>
            </a:r>
            <a:endParaRPr lang="en-US" sz="1600" dirty="0"/>
          </a:p>
        </p:txBody>
      </p:sp>
      <p:sp>
        <p:nvSpPr>
          <p:cNvPr id="12" name="Schema row KHACHHANG"/>
          <p:cNvSpPr/>
          <p:nvPr/>
        </p:nvSpPr>
        <p:spPr>
          <a:xfrm>
            <a:off x="640080" y="4517136"/>
            <a:ext cx="7040880" cy="749808"/>
          </a:xfrm>
          <a:prstGeom prst="roundRect">
            <a:avLst>
              <a:gd name="adj" fmla="val 12195"/>
            </a:avLst>
          </a:prstGeom>
          <a:solidFill>
            <a:schemeClr val="bg1"/>
          </a:solidFill>
          <a:ln w="12700">
            <a:solidFill>
              <a:schemeClr val="bg1"/>
            </a:solidFill>
            <a:prstDash val="solid"/>
          </a:ln>
        </p:spPr>
      </p:sp>
      <p:sp>
        <p:nvSpPr>
          <p:cNvPr id="13" name="Schema relation KHACHHANG"/>
          <p:cNvSpPr txBox="1"/>
          <p:nvPr/>
        </p:nvSpPr>
        <p:spPr>
          <a:xfrm>
            <a:off x="822960" y="4553712"/>
            <a:ext cx="6675120" cy="676656"/>
          </a:xfrm>
          <a:prstGeom prst="rect">
            <a:avLst/>
          </a:prstGeom>
          <a:noFill/>
          <a:ln/>
        </p:spPr>
        <p:txBody>
          <a:bodyPr wrap="square" lIns="0" tIns="0" rIns="0" bIns="0" rtlCol="0" anchor="ctr"/>
          <a:lstStyle/>
          <a:p>
            <a:pPr indent="0" marL="0">
              <a:buNone/>
            </a:pPr>
            <a:r>
              <a:rPr lang="en-US" sz="1600" b="1" dirty="0">
                <a:solidFill>
                  <a:schemeClr val="tx1"/>
                </a:solidFill>
              </a:rPr>
              <a:t>KHACHHANG</a:t>
            </a:r>
            <a:pPr indent="0" marL="0">
              <a:buNone/>
            </a:pPr>
            <a:r>
              <a:rPr lang="en-US" sz="1600" dirty="0">
                <a:solidFill>
                  <a:schemeClr val="tx1"/>
                </a:solidFill>
              </a:rPr>
              <a:t> (</a:t>
            </a:r>
            <a:pPr indent="0" marL="0">
              <a:buNone/>
            </a:pPr>
            <a:r>
              <a:rPr lang="en-US" sz="1600" b="1" u="sng" dirty="0">
                <a:solidFill>
                  <a:schemeClr val="tx1"/>
                </a:solidFill>
              </a:rPr>
              <a:t>MaKH</a:t>
            </a:r>
            <a:pPr indent="0" marL="0">
              <a:buNone/>
            </a:pPr>
            <a:r>
              <a:rPr lang="en-US" sz="1600" dirty="0">
                <a:solidFill>
                  <a:schemeClr val="tx1"/>
                </a:solidFill>
              </a:rPr>
              <a:t>, </a:t>
            </a:r>
            <a:pPr indent="0" marL="0">
              <a:buNone/>
            </a:pPr>
            <a:r>
              <a:rPr lang="en-US" sz="1600" dirty="0">
                <a:solidFill>
                  <a:schemeClr val="tx1"/>
                </a:solidFill>
              </a:rPr>
              <a:t>HoTen</a:t>
            </a:r>
            <a:pPr indent="0" marL="0">
              <a:buNone/>
            </a:pPr>
            <a:r>
              <a:rPr lang="en-US" sz="1600" dirty="0">
                <a:solidFill>
                  <a:schemeClr val="tx1"/>
                </a:solidFill>
              </a:rPr>
              <a:t>, </a:t>
            </a:r>
            <a:pPr indent="0" marL="0">
              <a:buNone/>
            </a:pPr>
            <a:r>
              <a:rPr lang="en-US" sz="1600" dirty="0">
                <a:solidFill>
                  <a:schemeClr val="tx1"/>
                </a:solidFill>
              </a:rPr>
              <a:t>SDT</a:t>
            </a:r>
            <a:pPr indent="0" marL="0">
              <a:buNone/>
            </a:pPr>
            <a:r>
              <a:rPr lang="en-US" sz="1600" dirty="0">
                <a:solidFill>
                  <a:schemeClr val="tx1"/>
                </a:solidFill>
              </a:rPr>
              <a:t>, </a:t>
            </a:r>
            <a:pPr indent="0" marL="0">
              <a:buNone/>
            </a:pPr>
            <a:r>
              <a:rPr lang="en-US" sz="1600" dirty="0">
                <a:solidFill>
                  <a:schemeClr val="tx1"/>
                </a:solidFill>
              </a:rPr>
              <a:t>Email</a:t>
            </a:r>
            <a:pPr indent="0" marL="0">
              <a:buNone/>
            </a:pPr>
            <a:r>
              <a:rPr lang="en-US" sz="1600" dirty="0">
                <a:solidFill>
                  <a:schemeClr val="tx1"/>
                </a:solidFill>
              </a:rPr>
              <a:t>)</a:t>
            </a:r>
            <a:endParaRPr lang="en-US" sz="1600" dirty="0"/>
          </a:p>
          <a:p>
            <a:pPr indent="0" marL="0">
              <a:buNone/>
            </a:pPr>
            <a:r>
              <a:rPr lang="en-US" sz="1200" i="1" dirty="0">
                <a:solidFill>
                  <a:schemeClr val="tx2"/>
                </a:solidFill>
              </a:rPr>
              <a:t>Không có khóa ngoại</a:t>
            </a:r>
            <a:endParaRPr lang="en-US" sz="1600" dirty="0"/>
          </a:p>
        </p:txBody>
      </p:sp>
      <p:sp>
        <p:nvSpPr>
          <p:cNvPr id="14" name="Schema row VE"/>
          <p:cNvSpPr/>
          <p:nvPr/>
        </p:nvSpPr>
        <p:spPr>
          <a:xfrm>
            <a:off x="640080" y="5367528"/>
            <a:ext cx="7040880" cy="749808"/>
          </a:xfrm>
          <a:prstGeom prst="roundRect">
            <a:avLst>
              <a:gd name="adj" fmla="val 12195"/>
            </a:avLst>
          </a:prstGeom>
          <a:solidFill>
            <a:schemeClr val="bg1"/>
          </a:solidFill>
          <a:ln w="12700">
            <a:solidFill>
              <a:schemeClr val="bg1"/>
            </a:solidFill>
            <a:prstDash val="solid"/>
          </a:ln>
        </p:spPr>
      </p:sp>
      <p:sp>
        <p:nvSpPr>
          <p:cNvPr id="15" name="Schema relation VE"/>
          <p:cNvSpPr txBox="1"/>
          <p:nvPr/>
        </p:nvSpPr>
        <p:spPr>
          <a:xfrm>
            <a:off x="822960" y="5404104"/>
            <a:ext cx="6675120" cy="676656"/>
          </a:xfrm>
          <a:prstGeom prst="rect">
            <a:avLst/>
          </a:prstGeom>
          <a:noFill/>
          <a:ln/>
        </p:spPr>
        <p:txBody>
          <a:bodyPr wrap="square" lIns="0" tIns="0" rIns="0" bIns="0" rtlCol="0" anchor="ctr"/>
          <a:lstStyle/>
          <a:p>
            <a:pPr indent="0" marL="0">
              <a:buNone/>
            </a:pPr>
            <a:r>
              <a:rPr lang="en-US" sz="1600" b="1" dirty="0">
                <a:solidFill>
                  <a:schemeClr val="tx1"/>
                </a:solidFill>
              </a:rPr>
              <a:t>VE</a:t>
            </a:r>
            <a:pPr indent="0" marL="0">
              <a:buNone/>
            </a:pPr>
            <a:r>
              <a:rPr lang="en-US" sz="1600" dirty="0">
                <a:solidFill>
                  <a:schemeClr val="tx1"/>
                </a:solidFill>
              </a:rPr>
              <a:t> (</a:t>
            </a:r>
            <a:pPr indent="0" marL="0">
              <a:buNone/>
            </a:pPr>
            <a:r>
              <a:rPr lang="en-US" sz="1600" b="1" u="sng" dirty="0">
                <a:solidFill>
                  <a:schemeClr val="tx1"/>
                </a:solidFill>
              </a:rPr>
              <a:t>MaVe</a:t>
            </a:r>
            <a:pPr indent="0" marL="0">
              <a:buNone/>
            </a:pPr>
            <a:r>
              <a:rPr lang="en-US" sz="1600" dirty="0">
                <a:solidFill>
                  <a:schemeClr val="tx1"/>
                </a:solidFill>
              </a:rPr>
              <a:t>, </a:t>
            </a:r>
            <a:pPr indent="0" marL="0">
              <a:buNone/>
            </a:pPr>
            <a:r>
              <a:rPr lang="en-US" sz="1600" i="1" dirty="0">
                <a:solidFill>
                  <a:schemeClr val="tx2"/>
                </a:solidFill>
              </a:rPr>
              <a:t>MaSuat</a:t>
            </a:r>
            <a:pPr indent="0" marL="0">
              <a:buNone/>
            </a:pPr>
            <a:r>
              <a:rPr lang="en-US" sz="1600" dirty="0">
                <a:solidFill>
                  <a:schemeClr val="tx1"/>
                </a:solidFill>
              </a:rPr>
              <a:t>, </a:t>
            </a:r>
            <a:pPr indent="0" marL="0">
              <a:buNone/>
            </a:pPr>
            <a:r>
              <a:rPr lang="en-US" sz="1600" i="1" dirty="0">
                <a:solidFill>
                  <a:schemeClr val="tx2"/>
                </a:solidFill>
              </a:rPr>
              <a:t>MaKH</a:t>
            </a:r>
            <a:pPr indent="0" marL="0">
              <a:buNone/>
            </a:pPr>
            <a:r>
              <a:rPr lang="en-US" sz="1600" dirty="0">
                <a:solidFill>
                  <a:schemeClr val="tx1"/>
                </a:solidFill>
              </a:rPr>
              <a:t>, </a:t>
            </a:r>
            <a:pPr indent="0" marL="0">
              <a:buNone/>
            </a:pPr>
            <a:r>
              <a:rPr lang="en-US" sz="1600" dirty="0">
                <a:solidFill>
                  <a:schemeClr val="tx1"/>
                </a:solidFill>
              </a:rPr>
              <a:t>SoGhe</a:t>
            </a:r>
            <a:pPr indent="0" marL="0">
              <a:buNone/>
            </a:pPr>
            <a:r>
              <a:rPr lang="en-US" sz="1600" dirty="0">
                <a:solidFill>
                  <a:schemeClr val="tx1"/>
                </a:solidFill>
              </a:rPr>
              <a:t>, </a:t>
            </a:r>
            <a:pPr indent="0" marL="0">
              <a:buNone/>
            </a:pPr>
            <a:r>
              <a:rPr lang="en-US" sz="1600" dirty="0">
                <a:solidFill>
                  <a:schemeClr val="tx1"/>
                </a:solidFill>
              </a:rPr>
              <a:t>NgayDat</a:t>
            </a:r>
            <a:pPr indent="0" marL="0">
              <a:buNone/>
            </a:pPr>
            <a:r>
              <a:rPr lang="en-US" sz="1600" dirty="0">
                <a:solidFill>
                  <a:schemeClr val="tx1"/>
                </a:solidFill>
              </a:rPr>
              <a:t>)</a:t>
            </a:r>
            <a:endParaRPr lang="en-US" sz="1600" dirty="0"/>
          </a:p>
          <a:p>
            <a:pPr indent="0" marL="0">
              <a:buNone/>
            </a:pPr>
            <a:r>
              <a:rPr lang="en-US" sz="1200" i="1" dirty="0">
                <a:solidFill>
                  <a:schemeClr val="tx2"/>
                </a:solidFill>
              </a:rPr>
              <a:t>Khóa ngoại: MaSuat → SUATCHIEU  ·  MaKH → KHACHHANG</a:t>
            </a:r>
            <a:endParaRPr lang="en-US" sz="1600" dirty="0"/>
          </a:p>
        </p:txBody>
      </p:sp>
      <p:sp>
        <p:nvSpPr>
          <p:cNvPr id="16" name="Rules card"/>
          <p:cNvSpPr/>
          <p:nvPr/>
        </p:nvSpPr>
        <p:spPr>
          <a:xfrm>
            <a:off x="8092440" y="1325880"/>
            <a:ext cx="3639312" cy="4983480"/>
          </a:xfrm>
          <a:prstGeom prst="roundRect">
            <a:avLst>
              <a:gd name="adj" fmla="val 2513"/>
            </a:avLst>
          </a:prstGeom>
          <a:solidFill>
            <a:schemeClr val="tx1"/>
          </a:solidFill>
          <a:ln w="12700">
            <a:solidFill>
              <a:schemeClr val="tx1"/>
            </a:solidFill>
            <a:prstDash val="solid"/>
          </a:ln>
        </p:spPr>
      </p:sp>
      <p:sp>
        <p:nvSpPr>
          <p:cNvPr id="17" name="Rules title"/>
          <p:cNvSpPr txBox="1"/>
          <p:nvPr/>
        </p:nvSpPr>
        <p:spPr>
          <a:xfrm>
            <a:off x="8366760" y="1481328"/>
            <a:ext cx="3090672" cy="365760"/>
          </a:xfrm>
          <a:prstGeom prst="rect">
            <a:avLst/>
          </a:prstGeom>
          <a:noFill/>
          <a:ln/>
        </p:spPr>
        <p:txBody>
          <a:bodyPr wrap="square" lIns="0" tIns="0" rIns="0" bIns="0" rtlCol="0" anchor="ctr"/>
          <a:lstStyle/>
          <a:p>
            <a:pPr indent="0" marL="0">
              <a:buNone/>
            </a:pPr>
            <a:r>
              <a:rPr lang="en-US" sz="1600" b="1" dirty="0">
                <a:solidFill>
                  <a:schemeClr val="accent1"/>
                </a:solidFill>
              </a:rPr>
              <a:t>Từ ER sang lược đồ quan hệ</a:t>
            </a:r>
            <a:endParaRPr lang="en-US" sz="1600" dirty="0"/>
          </a:p>
        </p:txBody>
      </p:sp>
      <p:sp>
        <p:nvSpPr>
          <p:cNvPr id="18" name="Rule 1 circle"/>
          <p:cNvSpPr/>
          <p:nvPr/>
        </p:nvSpPr>
        <p:spPr>
          <a:xfrm>
            <a:off x="8366760" y="2103120"/>
            <a:ext cx="457200" cy="457200"/>
          </a:xfrm>
          <a:prstGeom prst="ellipse">
            <a:avLst/>
          </a:prstGeom>
          <a:solidFill>
            <a:schemeClr val="accent1"/>
          </a:solidFill>
          <a:ln w="12700">
            <a:solidFill>
              <a:schemeClr val="accent1"/>
            </a:solidFill>
            <a:prstDash val="solid"/>
          </a:ln>
        </p:spPr>
      </p:sp>
      <p:sp>
        <p:nvSpPr>
          <p:cNvPr id="19" name="Rule 1"/>
          <p:cNvSpPr txBox="1"/>
          <p:nvPr/>
        </p:nvSpPr>
        <p:spPr>
          <a:xfrm>
            <a:off x="8366760" y="2103120"/>
            <a:ext cx="457200" cy="457200"/>
          </a:xfrm>
          <a:prstGeom prst="rect">
            <a:avLst/>
          </a:prstGeom>
          <a:noFill/>
          <a:ln/>
        </p:spPr>
        <p:txBody>
          <a:bodyPr wrap="square" lIns="0" tIns="0" rIns="0" bIns="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1</a:t>
            </a:r>
            <a:endParaRPr lang="en-US" sz="2000" dirty="0"/>
          </a:p>
        </p:txBody>
      </p:sp>
      <p:sp>
        <p:nvSpPr>
          <p:cNvPr id="20" name="Rule text 1"/>
          <p:cNvSpPr txBox="1"/>
          <p:nvPr/>
        </p:nvSpPr>
        <p:spPr>
          <a:xfrm>
            <a:off x="9006840" y="1920240"/>
            <a:ext cx="2450592" cy="822960"/>
          </a:xfrm>
          <a:prstGeom prst="rect">
            <a:avLst/>
          </a:prstGeom>
          <a:noFill/>
          <a:ln/>
        </p:spPr>
        <p:txBody>
          <a:bodyPr wrap="square" lIns="0" tIns="0" rIns="0" bIns="0" rtlCol="0" anchor="ctr"/>
          <a:lstStyle/>
          <a:p>
            <a:pPr indent="0" marL="0">
              <a:buNone/>
            </a:pPr>
            <a:r>
              <a:rPr lang="en-US" sz="1400" dirty="0">
                <a:solidFill>
                  <a:schemeClr val="bg1"/>
                </a:solidFill>
              </a:rPr>
              <a:t>Mỗi thực thể thành một bảng</a:t>
            </a:r>
            <a:endParaRPr lang="en-US" sz="1400" dirty="0"/>
          </a:p>
        </p:txBody>
      </p:sp>
      <p:sp>
        <p:nvSpPr>
          <p:cNvPr id="21" name="Rule 2 circle"/>
          <p:cNvSpPr/>
          <p:nvPr/>
        </p:nvSpPr>
        <p:spPr>
          <a:xfrm>
            <a:off x="8366760" y="3127248"/>
            <a:ext cx="457200" cy="457200"/>
          </a:xfrm>
          <a:prstGeom prst="ellipse">
            <a:avLst/>
          </a:prstGeom>
          <a:solidFill>
            <a:schemeClr val="accent1"/>
          </a:solidFill>
          <a:ln w="12700">
            <a:solidFill>
              <a:schemeClr val="accent1"/>
            </a:solidFill>
            <a:prstDash val="solid"/>
          </a:ln>
        </p:spPr>
      </p:sp>
      <p:sp>
        <p:nvSpPr>
          <p:cNvPr id="22" name="Rule 2"/>
          <p:cNvSpPr txBox="1"/>
          <p:nvPr/>
        </p:nvSpPr>
        <p:spPr>
          <a:xfrm>
            <a:off x="8366760" y="3127248"/>
            <a:ext cx="457200" cy="457200"/>
          </a:xfrm>
          <a:prstGeom prst="rect">
            <a:avLst/>
          </a:prstGeom>
          <a:noFill/>
          <a:ln/>
        </p:spPr>
        <p:txBody>
          <a:bodyPr wrap="square" lIns="0" tIns="0" rIns="0" bIns="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2</a:t>
            </a:r>
            <a:endParaRPr lang="en-US" sz="2000" dirty="0"/>
          </a:p>
        </p:txBody>
      </p:sp>
      <p:sp>
        <p:nvSpPr>
          <p:cNvPr id="23" name="Rule text 2"/>
          <p:cNvSpPr txBox="1"/>
          <p:nvPr/>
        </p:nvSpPr>
        <p:spPr>
          <a:xfrm>
            <a:off x="9006840" y="2944368"/>
            <a:ext cx="2450592" cy="822960"/>
          </a:xfrm>
          <a:prstGeom prst="rect">
            <a:avLst/>
          </a:prstGeom>
          <a:noFill/>
          <a:ln/>
        </p:spPr>
        <p:txBody>
          <a:bodyPr wrap="square" lIns="0" tIns="0" rIns="0" bIns="0" rtlCol="0" anchor="ctr"/>
          <a:lstStyle/>
          <a:p>
            <a:pPr indent="0" marL="0">
              <a:buNone/>
            </a:pPr>
            <a:r>
              <a:rPr lang="en-US" sz="1400" dirty="0">
                <a:solidFill>
                  <a:schemeClr val="bg1"/>
                </a:solidFill>
              </a:rPr>
              <a:t>Mỗi thuộc tính thành một cột; khóa chính được gạch chân</a:t>
            </a:r>
            <a:endParaRPr lang="en-US" sz="1400" dirty="0"/>
          </a:p>
        </p:txBody>
      </p:sp>
      <p:sp>
        <p:nvSpPr>
          <p:cNvPr id="24" name="Rule 3 circle"/>
          <p:cNvSpPr/>
          <p:nvPr/>
        </p:nvSpPr>
        <p:spPr>
          <a:xfrm>
            <a:off x="8366760" y="4151376"/>
            <a:ext cx="457200" cy="457200"/>
          </a:xfrm>
          <a:prstGeom prst="ellipse">
            <a:avLst/>
          </a:prstGeom>
          <a:solidFill>
            <a:schemeClr val="accent1"/>
          </a:solidFill>
          <a:ln w="12700">
            <a:solidFill>
              <a:schemeClr val="accent1"/>
            </a:solidFill>
            <a:prstDash val="solid"/>
          </a:ln>
        </p:spPr>
      </p:sp>
      <p:sp>
        <p:nvSpPr>
          <p:cNvPr id="25" name="Rule 3"/>
          <p:cNvSpPr txBox="1"/>
          <p:nvPr/>
        </p:nvSpPr>
        <p:spPr>
          <a:xfrm>
            <a:off x="8366760" y="4151376"/>
            <a:ext cx="457200" cy="457200"/>
          </a:xfrm>
          <a:prstGeom prst="rect">
            <a:avLst/>
          </a:prstGeom>
          <a:noFill/>
          <a:ln/>
        </p:spPr>
        <p:txBody>
          <a:bodyPr wrap="square" lIns="0" tIns="0" rIns="0" bIns="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3</a:t>
            </a:r>
            <a:endParaRPr lang="en-US" sz="2000" dirty="0"/>
          </a:p>
        </p:txBody>
      </p:sp>
      <p:sp>
        <p:nvSpPr>
          <p:cNvPr id="26" name="Rule text 3"/>
          <p:cNvSpPr txBox="1"/>
          <p:nvPr/>
        </p:nvSpPr>
        <p:spPr>
          <a:xfrm>
            <a:off x="9006840" y="3968496"/>
            <a:ext cx="2450592" cy="822960"/>
          </a:xfrm>
          <a:prstGeom prst="rect">
            <a:avLst/>
          </a:prstGeom>
          <a:noFill/>
          <a:ln/>
        </p:spPr>
        <p:txBody>
          <a:bodyPr wrap="square" lIns="0" tIns="0" rIns="0" bIns="0" rtlCol="0" anchor="ctr"/>
          <a:lstStyle/>
          <a:p>
            <a:pPr indent="0" marL="0">
              <a:buNone/>
            </a:pPr>
            <a:r>
              <a:rPr lang="en-US" sz="1400" dirty="0">
                <a:solidFill>
                  <a:schemeClr val="bg1"/>
                </a:solidFill>
              </a:rPr>
              <a:t>Quan hệ 1 – N: thêm khóa ngoại (in nghiêng) vào bảng ở phía N</a:t>
            </a:r>
            <a:endParaRPr lang="en-US" sz="1400" dirty="0"/>
          </a:p>
        </p:txBody>
      </p:sp>
      <p:sp>
        <p:nvSpPr>
          <p:cNvPr id="27" name="Stat number bảng"/>
          <p:cNvSpPr txBox="1"/>
          <p:nvPr/>
        </p:nvSpPr>
        <p:spPr>
          <a:xfrm>
            <a:off x="8366760" y="5120640"/>
            <a:ext cx="1463040" cy="6858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5</a:t>
            </a:r>
            <a:endParaRPr lang="en-US" sz="4400" dirty="0"/>
          </a:p>
        </p:txBody>
      </p:sp>
      <p:sp>
        <p:nvSpPr>
          <p:cNvPr id="28" name="Stat label bảng"/>
          <p:cNvSpPr txBox="1"/>
          <p:nvPr/>
        </p:nvSpPr>
        <p:spPr>
          <a:xfrm>
            <a:off x="8366760" y="5760720"/>
            <a:ext cx="1463040" cy="320040"/>
          </a:xfrm>
          <a:prstGeom prst="rect">
            <a:avLst/>
          </a:prstGeom>
          <a:noFill/>
          <a:ln/>
        </p:spPr>
        <p:txBody>
          <a:bodyPr wrap="square" lIns="0" tIns="0" rIns="0" bIns="0" rtlCol="0" anchor="t"/>
          <a:lstStyle/>
          <a:p>
            <a:pPr indent="0" marL="0">
              <a:buNone/>
            </a:pPr>
            <a:r>
              <a:rPr lang="en-US" sz="1400" dirty="0">
                <a:solidFill>
                  <a:schemeClr val="bg1"/>
                </a:solidFill>
              </a:rPr>
              <a:t>bảng</a:t>
            </a:r>
            <a:endParaRPr lang="en-US" sz="1400" dirty="0"/>
          </a:p>
        </p:txBody>
      </p:sp>
      <p:sp>
        <p:nvSpPr>
          <p:cNvPr id="29" name="Stat number khóa ngoại"/>
          <p:cNvSpPr txBox="1"/>
          <p:nvPr/>
        </p:nvSpPr>
        <p:spPr>
          <a:xfrm>
            <a:off x="9966960" y="5120640"/>
            <a:ext cx="1463040" cy="6858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a:t>
            </a:r>
            <a:endParaRPr lang="en-US" sz="4400" dirty="0"/>
          </a:p>
        </p:txBody>
      </p:sp>
      <p:sp>
        <p:nvSpPr>
          <p:cNvPr id="30" name="Stat label khóa ngoại"/>
          <p:cNvSpPr txBox="1"/>
          <p:nvPr/>
        </p:nvSpPr>
        <p:spPr>
          <a:xfrm>
            <a:off x="9966960" y="5760720"/>
            <a:ext cx="1463040" cy="320040"/>
          </a:xfrm>
          <a:prstGeom prst="rect">
            <a:avLst/>
          </a:prstGeom>
          <a:noFill/>
          <a:ln/>
        </p:spPr>
        <p:txBody>
          <a:bodyPr wrap="square" lIns="0" tIns="0" rIns="0" bIns="0" rtlCol="0" anchor="t"/>
          <a:lstStyle/>
          <a:p>
            <a:pPr indent="0" marL="0">
              <a:buNone/>
            </a:pPr>
            <a:r>
              <a:rPr lang="en-US" sz="1400" dirty="0">
                <a:solidFill>
                  <a:schemeClr val="bg1"/>
                </a:solidFill>
              </a:rPr>
              <a:t>khóa ngoại</a:t>
            </a:r>
            <a:endParaRPr lang="en-US" sz="14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Dữ liệu mẫu trong MySQL</a:t>
            </a:r>
            <a:endParaRPr lang="en-US" sz="3000" dirty="0"/>
          </a:p>
        </p:txBody>
      </p:sp>
      <p:graphicFrame>
        <p:nvGraphicFramePr>
          <p:cNvPr id="7" name="Sample data PHIM"/>
          <p:cNvGraphicFramePr>
            <a:graphicFrameLocks noGrp="1"/>
          </p:cNvGraphicFramePr>
          <p:nvPr>
            <p:extLst>
              <p:ext uri="{D42A27DB-BD31-4B8C-83A1-F6EECF244321}">
                <p14:modId xmlns:p14="http://schemas.microsoft.com/office/powerpoint/2010/main" val="1579011935"/>
              </p:ext>
            </p:extLst>
          </p:nvPr>
        </p:nvGraphicFramePr>
        <p:xfrm>
          <a:off x="457200" y="1325880"/>
          <a:ext cx="5532120" cy="914400"/>
        </p:xfrm>
        <a:graphic>
          <a:graphicData uri="http://schemas.openxmlformats.org/drawingml/2006/table">
            <a:tbl>
              <a:tblPr/>
              <a:tblGrid>
                <a:gridCol w="731520"/>
                <a:gridCol w="2011680"/>
                <a:gridCol w="914400"/>
                <a:gridCol w="777240"/>
                <a:gridCol w="1097280"/>
              </a:tblGrid>
              <a:tr h="219456">
                <a:tc gridSpan="5">
                  <a:txBody>
                    <a:bodyPr/>
                    <a:lstStyle/>
                    <a:p>
                      <a:pPr algn="l" indent="0" marL="0">
                        <a:buNone/>
                      </a:pPr>
                      <a:r>
                        <a:rPr lang="en-US" sz="1050" b="1" dirty="0">
                          <a:solidFill>
                            <a:schemeClr val="accent1"/>
                          </a:solidFill>
                          <a:latin typeface="Courier New" pitchFamily="34" charset="0"/>
                          <a:ea typeface="Courier New" pitchFamily="34" charset="-122"/>
                          <a:cs typeface="Courier New" pitchFamily="34" charset="-120"/>
                        </a:rPr>
                        <a:t>SELECT * FROM PHIM;  -- 5 dòng</a:t>
                      </a:r>
                      <a:endParaRPr lang="en-US" sz="1050" dirty="0">
                        <a:latin typeface="Courier New" charset="0"/>
                        <a:ea typeface="Courier New" charset="0"/>
                        <a:cs typeface="Courier New" charset="0"/>
                      </a:endParaRPr>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1"/>
                    </a:solidFill>
                  </a:tcPr>
                </a:tc>
                <a:tc hMerge="1">
                  <a:tcPr/>
                </a:tc>
                <a:tc hMerge="1">
                  <a:tcPr/>
                </a:tc>
                <a:tc hMerge="1">
                  <a:tcPr/>
                </a:tc>
                <a:tc hMerge="1">
                  <a:tcPr/>
                </a:tc>
              </a:tr>
              <a:tr h="219456">
                <a:tc>
                  <a:txBody>
                    <a:bodyPr/>
                    <a:lstStyle/>
                    <a:p>
                      <a:pPr algn="l" indent="0" marL="0">
                        <a:buNone/>
                      </a:pPr>
                      <a:r>
                        <a:rPr lang="en-US" sz="1100" b="1" u="sng" dirty="0">
                          <a:solidFill>
                            <a:schemeClr val="tx1"/>
                          </a:solidFill>
                        </a:rPr>
                        <a:t>MaPhim</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TenPhim</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TheLoai</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ThoiLuong</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NgayKhoiChieu</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r>
              <a:tr h="219456">
                <a:tc>
                  <a:txBody>
                    <a:bodyPr/>
                    <a:lstStyle/>
                    <a:p>
                      <a:pPr algn="l" indent="0" marL="0">
                        <a:buNone/>
                      </a:pPr>
                      <a:r>
                        <a:rPr lang="en-US" sz="1100" b="1" dirty="0">
                          <a:solidFill>
                            <a:schemeClr val="tx1"/>
                          </a:solidFill>
                        </a:rPr>
                        <a:t>F01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Mai</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Tâm lý</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131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2024-02-10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r h="219456">
                <a:tc>
                  <a:txBody>
                    <a:bodyPr/>
                    <a:lstStyle/>
                    <a:p>
                      <a:pPr algn="l" indent="0" marL="0">
                        <a:buNone/>
                      </a:pPr>
                      <a:r>
                        <a:rPr lang="en-US" sz="1100" b="1" dirty="0">
                          <a:solidFill>
                            <a:schemeClr val="tx1"/>
                          </a:solidFill>
                        </a:rPr>
                        <a:t>F02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Inside Out 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Hoạt hình</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96</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2024-06-14</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r>
              <a:tr h="219456">
                <a:tc>
                  <a:txBody>
                    <a:bodyPr/>
                    <a:lstStyle/>
                    <a:p>
                      <a:pPr algn="l" indent="0" marL="0">
                        <a:buNone/>
                      </a:pPr>
                      <a:r>
                        <a:rPr lang="en-US" sz="1100" b="1" dirty="0">
                          <a:solidFill>
                            <a:schemeClr val="tx1"/>
                          </a:solidFill>
                        </a:rPr>
                        <a:t>F03</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Avengers: Endgame</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Hành động</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181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2019-04-26</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r h="219456">
                <a:tc>
                  <a:txBody>
                    <a:bodyPr/>
                    <a:lstStyle/>
                    <a:p>
                      <a:pPr algn="l" indent="0" marL="0">
                        <a:buNone/>
                      </a:pPr>
                      <a:r>
                        <a:rPr lang="en-US" sz="1100" b="1" dirty="0">
                          <a:solidFill>
                            <a:schemeClr val="tx1"/>
                          </a:solidFill>
                        </a:rPr>
                        <a:t>F04</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Lật Mặt 7: Một Điều Ước</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Gia đình</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138</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2024-04-26</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r>
              <a:tr h="219456">
                <a:tc>
                  <a:txBody>
                    <a:bodyPr/>
                    <a:lstStyle/>
                    <a:p>
                      <a:pPr algn="l" indent="0" marL="0">
                        <a:buNone/>
                      </a:pPr>
                      <a:r>
                        <a:rPr lang="en-US" sz="1100" b="1" dirty="0">
                          <a:solidFill>
                            <a:schemeClr val="tx1"/>
                          </a:solidFill>
                        </a:rPr>
                        <a:t>F05</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Kung Fu Panda 4</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Hoạt hình</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94</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2024-03-08</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bl>
          </a:graphicData>
        </a:graphic>
      </p:graphicFrame>
      <p:graphicFrame>
        <p:nvGraphicFramePr>
          <p:cNvPr id="13" name="Sample data PHONGCHIEU"/>
          <p:cNvGraphicFramePr>
            <a:graphicFrameLocks noGrp="1"/>
          </p:cNvGraphicFramePr>
          <p:nvPr>
            <p:extLst>
              <p:ext uri="{D42A27DB-BD31-4B8C-83A1-F6EECF244321}">
                <p14:modId xmlns:p14="http://schemas.microsoft.com/office/powerpoint/2010/main" val="1579011935"/>
              </p:ext>
            </p:extLst>
          </p:nvPr>
        </p:nvGraphicFramePr>
        <p:xfrm>
          <a:off x="457200" y="2999232"/>
          <a:ext cx="5532120" cy="914400"/>
        </p:xfrm>
        <a:graphic>
          <a:graphicData uri="http://schemas.openxmlformats.org/drawingml/2006/table">
            <a:tbl>
              <a:tblPr/>
              <a:tblGrid>
                <a:gridCol w="914400"/>
                <a:gridCol w="2011680"/>
                <a:gridCol w="1371600"/>
                <a:gridCol w="1234440"/>
              </a:tblGrid>
              <a:tr h="219456">
                <a:tc gridSpan="4">
                  <a:txBody>
                    <a:bodyPr/>
                    <a:lstStyle/>
                    <a:p>
                      <a:pPr algn="l" indent="0" marL="0">
                        <a:buNone/>
                      </a:pPr>
                      <a:r>
                        <a:rPr lang="en-US" sz="1050" b="1" dirty="0">
                          <a:solidFill>
                            <a:schemeClr val="accent1"/>
                          </a:solidFill>
                          <a:latin typeface="Courier New" pitchFamily="34" charset="0"/>
                          <a:ea typeface="Courier New" pitchFamily="34" charset="-122"/>
                          <a:cs typeface="Courier New" pitchFamily="34" charset="-120"/>
                        </a:rPr>
                        <a:t>SELECT * FROM PHONGCHIEU;  -- 3 dòng</a:t>
                      </a:r>
                      <a:endParaRPr lang="en-US" sz="1050" dirty="0">
                        <a:latin typeface="Courier New" charset="0"/>
                        <a:ea typeface="Courier New" charset="0"/>
                        <a:cs typeface="Courier New" charset="0"/>
                      </a:endParaRPr>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1"/>
                    </a:solidFill>
                  </a:tcPr>
                </a:tc>
                <a:tc hMerge="1">
                  <a:tcPr/>
                </a:tc>
                <a:tc hMerge="1">
                  <a:tcPr/>
                </a:tc>
                <a:tc hMerge="1">
                  <a:tcPr/>
                </a:tc>
              </a:tr>
              <a:tr h="219456">
                <a:tc>
                  <a:txBody>
                    <a:bodyPr/>
                    <a:lstStyle/>
                    <a:p>
                      <a:pPr algn="l" indent="0" marL="0">
                        <a:buNone/>
                      </a:pPr>
                      <a:r>
                        <a:rPr lang="en-US" sz="1100" b="1" u="sng" dirty="0">
                          <a:solidFill>
                            <a:schemeClr val="tx1"/>
                          </a:solidFill>
                        </a:rPr>
                        <a:t>MaPhong</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TenPhong</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LoaiPhong</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SucChua</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r>
              <a:tr h="219456">
                <a:tc>
                  <a:txBody>
                    <a:bodyPr/>
                    <a:lstStyle/>
                    <a:p>
                      <a:pPr algn="l" indent="0" marL="0">
                        <a:buNone/>
                      </a:pPr>
                      <a:r>
                        <a:rPr lang="en-US" sz="1100" b="1" dirty="0">
                          <a:solidFill>
                            <a:schemeClr val="tx1"/>
                          </a:solidFill>
                        </a:rPr>
                        <a:t>R01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Phòng 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2D</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120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r h="219456">
                <a:tc>
                  <a:txBody>
                    <a:bodyPr/>
                    <a:lstStyle/>
                    <a:p>
                      <a:pPr algn="l" indent="0" marL="0">
                        <a:buNone/>
                      </a:pPr>
                      <a:r>
                        <a:rPr lang="en-US" sz="1100" b="1" dirty="0">
                          <a:solidFill>
                            <a:schemeClr val="tx1"/>
                          </a:solidFill>
                        </a:rPr>
                        <a:t>R02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Phòng 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3D</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100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r>
              <a:tr h="219456">
                <a:tc>
                  <a:txBody>
                    <a:bodyPr/>
                    <a:lstStyle/>
                    <a:p>
                      <a:pPr algn="l" indent="0" marL="0">
                        <a:buNone/>
                      </a:pPr>
                      <a:r>
                        <a:rPr lang="en-US" sz="1100" b="1" dirty="0">
                          <a:solidFill>
                            <a:schemeClr val="tx1"/>
                          </a:solidFill>
                        </a:rPr>
                        <a:t>R03</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Phòng IMAX</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IMAX</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150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bl>
          </a:graphicData>
        </a:graphic>
      </p:graphicFrame>
      <p:graphicFrame>
        <p:nvGraphicFramePr>
          <p:cNvPr id="19" name="Sample data SUATCHIEU"/>
          <p:cNvGraphicFramePr>
            <a:graphicFrameLocks noGrp="1"/>
          </p:cNvGraphicFramePr>
          <p:nvPr>
            <p:extLst>
              <p:ext uri="{D42A27DB-BD31-4B8C-83A1-F6EECF244321}">
                <p14:modId xmlns:p14="http://schemas.microsoft.com/office/powerpoint/2010/main" val="1579011935"/>
              </p:ext>
            </p:extLst>
          </p:nvPr>
        </p:nvGraphicFramePr>
        <p:xfrm>
          <a:off x="457200" y="4233672"/>
          <a:ext cx="5532120" cy="914400"/>
        </p:xfrm>
        <a:graphic>
          <a:graphicData uri="http://schemas.openxmlformats.org/drawingml/2006/table">
            <a:tbl>
              <a:tblPr/>
              <a:tblGrid>
                <a:gridCol w="777240"/>
                <a:gridCol w="822960"/>
                <a:gridCol w="914400"/>
                <a:gridCol w="1051560"/>
                <a:gridCol w="1051560"/>
                <a:gridCol w="914400"/>
              </a:tblGrid>
              <a:tr h="219456">
                <a:tc gridSpan="6">
                  <a:txBody>
                    <a:bodyPr/>
                    <a:lstStyle/>
                    <a:p>
                      <a:pPr algn="l" indent="0" marL="0">
                        <a:buNone/>
                      </a:pPr>
                      <a:r>
                        <a:rPr lang="en-US" sz="1050" b="1" dirty="0">
                          <a:solidFill>
                            <a:schemeClr val="accent1"/>
                          </a:solidFill>
                          <a:latin typeface="Courier New" pitchFamily="34" charset="0"/>
                          <a:ea typeface="Courier New" pitchFamily="34" charset="-122"/>
                          <a:cs typeface="Courier New" pitchFamily="34" charset="-120"/>
                        </a:rPr>
                        <a:t>SELECT * FROM SUATCHIEU;  -- 6 dòng</a:t>
                      </a:r>
                      <a:endParaRPr lang="en-US" sz="1050" dirty="0">
                        <a:latin typeface="Courier New" charset="0"/>
                        <a:ea typeface="Courier New" charset="0"/>
                        <a:cs typeface="Courier New" charset="0"/>
                      </a:endParaRPr>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1"/>
                    </a:solidFill>
                  </a:tcPr>
                </a:tc>
                <a:tc hMerge="1">
                  <a:tcPr/>
                </a:tc>
                <a:tc hMerge="1">
                  <a:tcPr/>
                </a:tc>
                <a:tc hMerge="1">
                  <a:tcPr/>
                </a:tc>
                <a:tc hMerge="1">
                  <a:tcPr/>
                </a:tc>
                <a:tc hMerge="1">
                  <a:tcPr/>
                </a:tc>
              </a:tr>
              <a:tr h="219456">
                <a:tc>
                  <a:txBody>
                    <a:bodyPr/>
                    <a:lstStyle/>
                    <a:p>
                      <a:pPr algn="l" indent="0" marL="0">
                        <a:buNone/>
                      </a:pPr>
                      <a:r>
                        <a:rPr lang="en-US" sz="1100" b="1" u="sng" dirty="0">
                          <a:solidFill>
                            <a:schemeClr val="tx1"/>
                          </a:solidFill>
                        </a:rPr>
                        <a:t>MaSuat</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i="1" dirty="0">
                          <a:solidFill>
                            <a:schemeClr val="tx1"/>
                          </a:solidFill>
                        </a:rPr>
                        <a:t>MaPhim</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i="1" dirty="0">
                          <a:solidFill>
                            <a:schemeClr val="tx1"/>
                          </a:solidFill>
                        </a:rPr>
                        <a:t>MaPhong</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NgayChieu</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GioBatDau</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GiaVe</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r>
              <a:tr h="219456">
                <a:tc>
                  <a:txBody>
                    <a:bodyPr/>
                    <a:lstStyle/>
                    <a:p>
                      <a:pPr algn="l" indent="0" marL="0">
                        <a:buNone/>
                      </a:pPr>
                      <a:r>
                        <a:rPr lang="en-US" sz="1100" b="1" dirty="0">
                          <a:solidFill>
                            <a:schemeClr val="tx1"/>
                          </a:solidFill>
                        </a:rPr>
                        <a:t>S01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F01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R01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2025-03-20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18:00:00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90000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r h="219456">
                <a:tc>
                  <a:txBody>
                    <a:bodyPr/>
                    <a:lstStyle/>
                    <a:p>
                      <a:pPr algn="l" indent="0" marL="0">
                        <a:buNone/>
                      </a:pPr>
                      <a:r>
                        <a:rPr lang="en-US" sz="1100" b="1" dirty="0">
                          <a:solidFill>
                            <a:schemeClr val="tx1"/>
                          </a:solidFill>
                        </a:rPr>
                        <a:t>S02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F02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R02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2025-03-20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20:30:00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110000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r>
              <a:tr h="219456">
                <a:tc>
                  <a:txBody>
                    <a:bodyPr/>
                    <a:lstStyle/>
                    <a:p>
                      <a:pPr algn="l" indent="0" marL="0">
                        <a:buNone/>
                      </a:pPr>
                      <a:r>
                        <a:rPr lang="en-US" sz="1100" b="1" dirty="0">
                          <a:solidFill>
                            <a:schemeClr val="tx1"/>
                          </a:solidFill>
                        </a:rPr>
                        <a:t>S03</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F03</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R03</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2025-03-21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19:00:00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150000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r h="219456">
                <a:tc>
                  <a:txBody>
                    <a:bodyPr/>
                    <a:lstStyle/>
                    <a:p>
                      <a:pPr algn="l" indent="0" marL="0">
                        <a:buNone/>
                      </a:pPr>
                      <a:r>
                        <a:rPr lang="en-US" sz="1100" b="1" dirty="0">
                          <a:solidFill>
                            <a:schemeClr val="tx1"/>
                          </a:solidFill>
                        </a:rPr>
                        <a:t>S04</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F04</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R01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2025-03-21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20:00:00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90000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r>
              <a:tr h="219456">
                <a:tc>
                  <a:txBody>
                    <a:bodyPr/>
                    <a:lstStyle/>
                    <a:p>
                      <a:pPr algn="l" indent="0" marL="0">
                        <a:buNone/>
                      </a:pPr>
                      <a:r>
                        <a:rPr lang="en-US" sz="1100" b="1" dirty="0">
                          <a:solidFill>
                            <a:schemeClr val="tx1"/>
                          </a:solidFill>
                        </a:rPr>
                        <a:t>S05</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F05</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R02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2025-03-22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09:30:00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80000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r h="219456">
                <a:tc>
                  <a:txBody>
                    <a:bodyPr/>
                    <a:lstStyle/>
                    <a:p>
                      <a:pPr algn="l" indent="0" marL="0">
                        <a:buNone/>
                      </a:pPr>
                      <a:r>
                        <a:rPr lang="en-US" sz="1100" b="1" dirty="0">
                          <a:solidFill>
                            <a:schemeClr val="tx1"/>
                          </a:solidFill>
                        </a:rPr>
                        <a:t>S06</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F01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R01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2025-03-22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19:30:00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100000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r>
            </a:tbl>
          </a:graphicData>
        </a:graphic>
      </p:graphicFrame>
      <p:graphicFrame>
        <p:nvGraphicFramePr>
          <p:cNvPr id="25" name="Sample data KHACHHANG"/>
          <p:cNvGraphicFramePr>
            <a:graphicFrameLocks noGrp="1"/>
          </p:cNvGraphicFramePr>
          <p:nvPr>
            <p:extLst>
              <p:ext uri="{D42A27DB-BD31-4B8C-83A1-F6EECF244321}">
                <p14:modId xmlns:p14="http://schemas.microsoft.com/office/powerpoint/2010/main" val="1579011935"/>
              </p:ext>
            </p:extLst>
          </p:nvPr>
        </p:nvGraphicFramePr>
        <p:xfrm>
          <a:off x="6199632" y="1325880"/>
          <a:ext cx="5532120" cy="914400"/>
        </p:xfrm>
        <a:graphic>
          <a:graphicData uri="http://schemas.openxmlformats.org/drawingml/2006/table">
            <a:tbl>
              <a:tblPr/>
              <a:tblGrid>
                <a:gridCol w="685800"/>
                <a:gridCol w="1417320"/>
                <a:gridCol w="1051560"/>
                <a:gridCol w="2377440"/>
              </a:tblGrid>
              <a:tr h="219456">
                <a:tc gridSpan="4">
                  <a:txBody>
                    <a:bodyPr/>
                    <a:lstStyle/>
                    <a:p>
                      <a:pPr algn="l" indent="0" marL="0">
                        <a:buNone/>
                      </a:pPr>
                      <a:r>
                        <a:rPr lang="en-US" sz="1050" b="1" dirty="0">
                          <a:solidFill>
                            <a:schemeClr val="accent1"/>
                          </a:solidFill>
                          <a:latin typeface="Courier New" pitchFamily="34" charset="0"/>
                          <a:ea typeface="Courier New" pitchFamily="34" charset="-122"/>
                          <a:cs typeface="Courier New" pitchFamily="34" charset="-120"/>
                        </a:rPr>
                        <a:t>SELECT * FROM KHACHHANG;  -- 5 dòng</a:t>
                      </a:r>
                      <a:endParaRPr lang="en-US" sz="1050" dirty="0">
                        <a:latin typeface="Courier New" charset="0"/>
                        <a:ea typeface="Courier New" charset="0"/>
                        <a:cs typeface="Courier New" charset="0"/>
                      </a:endParaRPr>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1"/>
                    </a:solidFill>
                  </a:tcPr>
                </a:tc>
                <a:tc hMerge="1">
                  <a:tcPr/>
                </a:tc>
                <a:tc hMerge="1">
                  <a:tcPr/>
                </a:tc>
                <a:tc hMerge="1">
                  <a:tcPr/>
                </a:tc>
              </a:tr>
              <a:tr h="219456">
                <a:tc>
                  <a:txBody>
                    <a:bodyPr/>
                    <a:lstStyle/>
                    <a:p>
                      <a:pPr algn="l" indent="0" marL="0">
                        <a:buNone/>
                      </a:pPr>
                      <a:r>
                        <a:rPr lang="en-US" sz="1100" b="1" u="sng" dirty="0">
                          <a:solidFill>
                            <a:schemeClr val="tx1"/>
                          </a:solidFill>
                        </a:rPr>
                        <a:t>MaKH</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HoTen</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SDT</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Email</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r>
              <a:tr h="219456">
                <a:tc>
                  <a:txBody>
                    <a:bodyPr/>
                    <a:lstStyle/>
                    <a:p>
                      <a:pPr algn="l" indent="0" marL="0">
                        <a:buNone/>
                      </a:pPr>
                      <a:r>
                        <a:rPr lang="en-US" sz="1100" b="1" dirty="0">
                          <a:solidFill>
                            <a:schemeClr val="tx1"/>
                          </a:solidFill>
                        </a:rPr>
                        <a:t>KH01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Nguyễn Văn An</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0901234567</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an.nguyen@example.com</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r h="219456">
                <a:tc>
                  <a:txBody>
                    <a:bodyPr/>
                    <a:lstStyle/>
                    <a:p>
                      <a:pPr algn="l" indent="0" marL="0">
                        <a:buNone/>
                      </a:pPr>
                      <a:r>
                        <a:rPr lang="en-US" sz="1100" b="1" dirty="0">
                          <a:solidFill>
                            <a:schemeClr val="tx1"/>
                          </a:solidFill>
                        </a:rPr>
                        <a:t>KH02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Trần Thị Bình</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0912345678</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binh.tran@example.com</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r>
              <a:tr h="219456">
                <a:tc>
                  <a:txBody>
                    <a:bodyPr/>
                    <a:lstStyle/>
                    <a:p>
                      <a:pPr algn="l" indent="0" marL="0">
                        <a:buNone/>
                      </a:pPr>
                      <a:r>
                        <a:rPr lang="en-US" sz="1100" b="1" dirty="0">
                          <a:solidFill>
                            <a:schemeClr val="tx1"/>
                          </a:solidFill>
                        </a:rPr>
                        <a:t>KH03</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Lê Hoàng Cường</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0987654321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cuong.le@example.com</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r h="219456">
                <a:tc>
                  <a:txBody>
                    <a:bodyPr/>
                    <a:lstStyle/>
                    <a:p>
                      <a:pPr algn="l" indent="0" marL="0">
                        <a:buNone/>
                      </a:pPr>
                      <a:r>
                        <a:rPr lang="en-US" sz="1100" b="1" dirty="0">
                          <a:solidFill>
                            <a:schemeClr val="tx1"/>
                          </a:solidFill>
                        </a:rPr>
                        <a:t>KH04</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Phạm Thu Dung</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0933456789</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dung.pham@example.com</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r>
              <a:tr h="219456">
                <a:tc>
                  <a:txBody>
                    <a:bodyPr/>
                    <a:lstStyle/>
                    <a:p>
                      <a:pPr algn="l" indent="0" marL="0">
                        <a:buNone/>
                      </a:pPr>
                      <a:r>
                        <a:rPr lang="en-US" sz="1100" b="1" dirty="0">
                          <a:solidFill>
                            <a:schemeClr val="tx1"/>
                          </a:solidFill>
                        </a:rPr>
                        <a:t>KH05</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Võ Minh Khôi</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0944567890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khoi.vo@example.com</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bl>
          </a:graphicData>
        </a:graphic>
      </p:graphicFrame>
      <p:graphicFrame>
        <p:nvGraphicFramePr>
          <p:cNvPr id="31" name="Sample data VE"/>
          <p:cNvGraphicFramePr>
            <a:graphicFrameLocks noGrp="1"/>
          </p:cNvGraphicFramePr>
          <p:nvPr>
            <p:extLst>
              <p:ext uri="{D42A27DB-BD31-4B8C-83A1-F6EECF244321}">
                <p14:modId xmlns:p14="http://schemas.microsoft.com/office/powerpoint/2010/main" val="1579011935"/>
              </p:ext>
            </p:extLst>
          </p:nvPr>
        </p:nvGraphicFramePr>
        <p:xfrm>
          <a:off x="6199632" y="2999232"/>
          <a:ext cx="5532120" cy="914400"/>
        </p:xfrm>
        <a:graphic>
          <a:graphicData uri="http://schemas.openxmlformats.org/drawingml/2006/table">
            <a:tbl>
              <a:tblPr/>
              <a:tblGrid>
                <a:gridCol w="777240"/>
                <a:gridCol w="1005840"/>
                <a:gridCol w="1005840"/>
                <a:gridCol w="1005840"/>
                <a:gridCol w="1737360"/>
              </a:tblGrid>
              <a:tr h="219456">
                <a:tc gridSpan="5">
                  <a:txBody>
                    <a:bodyPr/>
                    <a:lstStyle/>
                    <a:p>
                      <a:pPr algn="l" indent="0" marL="0">
                        <a:buNone/>
                      </a:pPr>
                      <a:r>
                        <a:rPr lang="en-US" sz="1050" b="1" dirty="0">
                          <a:solidFill>
                            <a:schemeClr val="accent1"/>
                          </a:solidFill>
                          <a:latin typeface="Courier New" pitchFamily="34" charset="0"/>
                          <a:ea typeface="Courier New" pitchFamily="34" charset="-122"/>
                          <a:cs typeface="Courier New" pitchFamily="34" charset="-120"/>
                        </a:rPr>
                        <a:t>SELECT * FROM VE;  -- 8 dòng</a:t>
                      </a:r>
                      <a:endParaRPr lang="en-US" sz="1050" dirty="0">
                        <a:latin typeface="Courier New" charset="0"/>
                        <a:ea typeface="Courier New" charset="0"/>
                        <a:cs typeface="Courier New" charset="0"/>
                      </a:endParaRPr>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tx1"/>
                    </a:solidFill>
                  </a:tcPr>
                </a:tc>
                <a:tc hMerge="1">
                  <a:tcPr/>
                </a:tc>
                <a:tc hMerge="1">
                  <a:tcPr/>
                </a:tc>
                <a:tc hMerge="1">
                  <a:tcPr/>
                </a:tc>
                <a:tc hMerge="1">
                  <a:tcPr/>
                </a:tc>
              </a:tr>
              <a:tr h="219456">
                <a:tc>
                  <a:txBody>
                    <a:bodyPr/>
                    <a:lstStyle/>
                    <a:p>
                      <a:pPr algn="l" indent="0" marL="0">
                        <a:buNone/>
                      </a:pPr>
                      <a:r>
                        <a:rPr lang="en-US" sz="1100" b="1" u="sng" dirty="0">
                          <a:solidFill>
                            <a:schemeClr val="tx1"/>
                          </a:solidFill>
                        </a:rPr>
                        <a:t>MaVe</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i="1" dirty="0">
                          <a:solidFill>
                            <a:schemeClr val="tx1"/>
                          </a:solidFill>
                        </a:rPr>
                        <a:t>MaSuat</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i="1" dirty="0">
                          <a:solidFill>
                            <a:schemeClr val="tx1"/>
                          </a:solidFill>
                        </a:rPr>
                        <a:t>MaKH</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SoGhe</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tx1"/>
                          </a:solidFill>
                        </a:rPr>
                        <a:t>NgayDat</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1"/>
                    </a:solidFill>
                  </a:tcPr>
                </a:tc>
              </a:tr>
              <a:tr h="219456">
                <a:tc>
                  <a:txBody>
                    <a:bodyPr/>
                    <a:lstStyle/>
                    <a:p>
                      <a:pPr algn="l" indent="0" marL="0">
                        <a:buNone/>
                      </a:pPr>
                      <a:r>
                        <a:rPr lang="en-US" sz="1100" b="1" dirty="0">
                          <a:solidFill>
                            <a:schemeClr val="tx1"/>
                          </a:solidFill>
                        </a:rPr>
                        <a:t>V01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S01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KH01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A5</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2025-03-18</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r h="219456">
                <a:tc>
                  <a:txBody>
                    <a:bodyPr/>
                    <a:lstStyle/>
                    <a:p>
                      <a:pPr algn="l" indent="0" marL="0">
                        <a:buNone/>
                      </a:pPr>
                      <a:r>
                        <a:rPr lang="en-US" sz="1100" b="1" dirty="0">
                          <a:solidFill>
                            <a:schemeClr val="tx1"/>
                          </a:solidFill>
                        </a:rPr>
                        <a:t>V02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S01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KH02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A6</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2025-03-18</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r>
              <a:tr h="219456">
                <a:tc>
                  <a:txBody>
                    <a:bodyPr/>
                    <a:lstStyle/>
                    <a:p>
                      <a:pPr algn="l" indent="0" marL="0">
                        <a:buNone/>
                      </a:pPr>
                      <a:r>
                        <a:rPr lang="en-US" sz="1100" b="1" dirty="0">
                          <a:solidFill>
                            <a:schemeClr val="tx1"/>
                          </a:solidFill>
                        </a:rPr>
                        <a:t>V03</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S02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KH01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B3</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2025-03-19</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r h="219456">
                <a:tc>
                  <a:txBody>
                    <a:bodyPr/>
                    <a:lstStyle/>
                    <a:p>
                      <a:pPr algn="l" indent="0" marL="0">
                        <a:buNone/>
                      </a:pPr>
                      <a:r>
                        <a:rPr lang="en-US" sz="1100" b="1" dirty="0">
                          <a:solidFill>
                            <a:schemeClr val="tx1"/>
                          </a:solidFill>
                        </a:rPr>
                        <a:t>V04</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S03</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KH03</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C7</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2025-03-19</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r>
              <a:tr h="219456">
                <a:tc>
                  <a:txBody>
                    <a:bodyPr/>
                    <a:lstStyle/>
                    <a:p>
                      <a:pPr algn="l" indent="0" marL="0">
                        <a:buNone/>
                      </a:pPr>
                      <a:r>
                        <a:rPr lang="en-US" sz="1100" b="1" dirty="0">
                          <a:solidFill>
                            <a:schemeClr val="tx1"/>
                          </a:solidFill>
                        </a:rPr>
                        <a:t>V05</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S03</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KH03</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C8</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2025-03-19</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r h="219456">
                <a:tc>
                  <a:txBody>
                    <a:bodyPr/>
                    <a:lstStyle/>
                    <a:p>
                      <a:pPr algn="l" indent="0" marL="0">
                        <a:buNone/>
                      </a:pPr>
                      <a:r>
                        <a:rPr lang="en-US" sz="1100" b="1" dirty="0">
                          <a:solidFill>
                            <a:schemeClr val="tx1"/>
                          </a:solidFill>
                        </a:rPr>
                        <a:t>V06</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S04</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KH04</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D2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2025-03-20</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r>
              <a:tr h="219456">
                <a:tc>
                  <a:txBody>
                    <a:bodyPr/>
                    <a:lstStyle/>
                    <a:p>
                      <a:pPr algn="l" indent="0" marL="0">
                        <a:buNone/>
                      </a:pPr>
                      <a:r>
                        <a:rPr lang="en-US" sz="1100" b="1" dirty="0">
                          <a:solidFill>
                            <a:schemeClr val="tx1"/>
                          </a:solidFill>
                        </a:rPr>
                        <a:t>V07</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S05</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KH05</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E4</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2025-03-21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r>
              <a:tr h="219456">
                <a:tc>
                  <a:txBody>
                    <a:bodyPr/>
                    <a:lstStyle/>
                    <a:p>
                      <a:pPr algn="l" indent="0" marL="0">
                        <a:buNone/>
                      </a:pPr>
                      <a:r>
                        <a:rPr lang="en-US" sz="1100" b="1" dirty="0">
                          <a:solidFill>
                            <a:schemeClr val="tx1"/>
                          </a:solidFill>
                        </a:rPr>
                        <a:t>V08</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S06</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KH02</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A6</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indent="0" marL="0">
                        <a:buNone/>
                      </a:pPr>
                      <a:r>
                        <a:rPr lang="en-US" sz="1100" dirty="0">
                          <a:solidFill>
                            <a:schemeClr val="tx1"/>
                          </a:solidFill>
                        </a:rPr>
                        <a:t>2025-03-21</a:t>
                      </a:r>
                      <a:endParaRPr lang="en-US" sz="1100" dirty="0"/>
                    </a:p>
                  </a:txBody>
                  <a:tcPr marL="64008" marR="64008" marT="13716" marB="1371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r>
            </a:tbl>
          </a:graphicData>
        </a:graphic>
      </p:graphicFrame>
      <p:sp>
        <p:nvSpPr>
          <p:cNvPr id="8" name="Data note card"/>
          <p:cNvSpPr/>
          <p:nvPr/>
        </p:nvSpPr>
        <p:spPr>
          <a:xfrm>
            <a:off x="6199632" y="5330952"/>
            <a:ext cx="5532120" cy="978408"/>
          </a:xfrm>
          <a:prstGeom prst="roundRect">
            <a:avLst>
              <a:gd name="adj" fmla="val 9346"/>
            </a:avLst>
          </a:prstGeom>
          <a:solidFill>
            <a:schemeClr val="bg2"/>
          </a:solidFill>
          <a:ln w="12700">
            <a:solidFill>
              <a:schemeClr val="bg2"/>
            </a:solidFill>
            <a:prstDash val="solid"/>
          </a:ln>
        </p:spPr>
      </p:sp>
      <p:sp>
        <p:nvSpPr>
          <p:cNvPr id="9" name="Data note"/>
          <p:cNvSpPr txBox="1"/>
          <p:nvPr/>
        </p:nvSpPr>
        <p:spPr>
          <a:xfrm>
            <a:off x="6382512" y="5330952"/>
            <a:ext cx="5166360" cy="978408"/>
          </a:xfrm>
          <a:prstGeom prst="rect">
            <a:avLst/>
          </a:prstGeom>
          <a:noFill/>
          <a:ln/>
        </p:spPr>
        <p:txBody>
          <a:bodyPr wrap="square" lIns="0" tIns="0" rIns="0" bIns="0" rtlCol="0" anchor="ctr"/>
          <a:lstStyle/>
          <a:p>
            <a:pPr indent="0" marL="0">
              <a:buNone/>
            </a:pPr>
            <a:r>
              <a:rPr lang="en-US" sz="1300" b="1" dirty="0">
                <a:solidFill>
                  <a:schemeClr val="tx1"/>
                </a:solidFill>
              </a:rPr>
              <a:t>Nhập vào MySQL bằng các lệnh INSERT </a:t>
            </a:r>
            <a:pPr indent="0" marL="0">
              <a:buNone/>
            </a:pPr>
            <a:r>
              <a:rPr lang="en-US" sz="1300" dirty="0">
                <a:solidFill>
                  <a:schemeClr val="tx1"/>
                </a:solidFill>
              </a:rPr>
              <a:t>(file quan_ly_rap_phim.sql). Tổng cộng 27 dòng cho 5 bảng, mô phỏng việc bán vé của Công ty Giải trí Ánh Sao từ 20 đến 22/03/2025.</a:t>
            </a:r>
            <a:endParaRPr lang="en-US" sz="13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31520"/>
          </a:xfrm>
          <a:prstGeom prst="rect">
            <a:avLst/>
          </a:prstGeom>
          <a:noFill/>
          <a:ln/>
        </p:spPr>
        <p:txBody>
          <a:bodyPr wrap="square" lIns="0" tIns="0" rIns="0" bIns="0" rtlCol="0" anchor="ctr"/>
          <a:lstStyle/>
          <a:p>
            <a:pPr algn="l" indent="0" marL="0">
              <a:buNone/>
            </a:pPr>
            <a:r>
              <a:rPr lang="en-US" sz="3000" b="1" dirty="0">
                <a:solidFill>
                  <a:schemeClr val="tx1"/>
                </a:solidFill>
              </a:rPr>
              <a:t>Ràng buộc toàn vẹn</a:t>
            </a:r>
            <a:endParaRPr lang="en-US" sz="3000" dirty="0"/>
          </a:p>
        </p:txBody>
      </p:sp>
      <p:sp>
        <p:nvSpPr>
          <p:cNvPr id="3" name="Card Miền giá trị"/>
          <p:cNvSpPr/>
          <p:nvPr/>
        </p:nvSpPr>
        <p:spPr>
          <a:xfrm>
            <a:off x="457200" y="1325880"/>
            <a:ext cx="5486400" cy="2423160"/>
          </a:xfrm>
          <a:prstGeom prst="roundRect">
            <a:avLst>
              <a:gd name="adj" fmla="val 3774"/>
            </a:avLst>
          </a:prstGeom>
          <a:solidFill>
            <a:schemeClr val="bg2"/>
          </a:solidFill>
          <a:ln w="12700">
            <a:solidFill>
              <a:schemeClr val="bg2"/>
            </a:solidFill>
            <a:prstDash val="solid"/>
          </a:ln>
        </p:spPr>
      </p:sp>
      <p:sp>
        <p:nvSpPr>
          <p:cNvPr id="4" name="Number Miền giá trị circle"/>
          <p:cNvSpPr/>
          <p:nvPr/>
        </p:nvSpPr>
        <p:spPr>
          <a:xfrm>
            <a:off x="731520" y="1554480"/>
            <a:ext cx="512064" cy="512064"/>
          </a:xfrm>
          <a:prstGeom prst="ellipse">
            <a:avLst/>
          </a:prstGeom>
          <a:solidFill>
            <a:schemeClr val="tx1"/>
          </a:solidFill>
          <a:ln w="12700">
            <a:solidFill>
              <a:schemeClr val="tx1"/>
            </a:solidFill>
            <a:prstDash val="solid"/>
          </a:ln>
        </p:spPr>
      </p:sp>
      <p:sp>
        <p:nvSpPr>
          <p:cNvPr id="5" name="Number Miền giá trị"/>
          <p:cNvSpPr txBox="1"/>
          <p:nvPr/>
        </p:nvSpPr>
        <p:spPr>
          <a:xfrm>
            <a:off x="731520" y="1554480"/>
            <a:ext cx="512064" cy="512064"/>
          </a:xfrm>
          <a:prstGeom prst="rect">
            <a:avLst/>
          </a:prstGeom>
          <a:noFill/>
          <a:ln/>
        </p:spPr>
        <p:txBody>
          <a:bodyPr wrap="square" lIns="0" tIns="0" rIns="0" bIns="0" rtlCol="0" anchor="ctr"/>
          <a:lstStyle/>
          <a:p>
            <a:pPr algn="ctr" indent="0" marL="0">
              <a:buNone/>
            </a:pPr>
            <a:r>
              <a:rPr lang="en-US" sz="2200" b="1" dirty="0">
                <a:solidFill>
                  <a:schemeClr val="accent1"/>
                </a:solidFill>
                <a:latin typeface="Cambria" pitchFamily="34" charset="0"/>
                <a:ea typeface="Cambria" pitchFamily="34" charset="-122"/>
                <a:cs typeface="Cambria" pitchFamily="34" charset="-120"/>
              </a:rPr>
              <a:t>1</a:t>
            </a:r>
            <a:endParaRPr lang="en-US" sz="2200" dirty="0"/>
          </a:p>
        </p:txBody>
      </p:sp>
      <p:sp>
        <p:nvSpPr>
          <p:cNvPr id="6" name="Heading Miền giá trị"/>
          <p:cNvSpPr txBox="1"/>
          <p:nvPr/>
        </p:nvSpPr>
        <p:spPr>
          <a:xfrm>
            <a:off x="1417320" y="1554480"/>
            <a:ext cx="2651760" cy="512064"/>
          </a:xfrm>
          <a:prstGeom prst="rect">
            <a:avLst/>
          </a:prstGeom>
          <a:noFill/>
          <a:ln/>
        </p:spPr>
        <p:txBody>
          <a:bodyPr wrap="square" lIns="0" tIns="0" rIns="0" bIns="0" rtlCol="0" anchor="ctr"/>
          <a:lstStyle/>
          <a:p>
            <a:pPr indent="0" marL="0">
              <a:buNone/>
            </a:pPr>
            <a:r>
              <a:rPr lang="en-US" sz="2000" b="1" dirty="0">
                <a:solidFill>
                  <a:schemeClr val="tx1"/>
                </a:solidFill>
              </a:rPr>
              <a:t>Miền giá trị</a:t>
            </a:r>
            <a:endParaRPr lang="en-US" sz="2000" dirty="0"/>
          </a:p>
        </p:txBody>
      </p:sp>
      <p:sp>
        <p:nvSpPr>
          <p:cNvPr id="7" name="Chip Miền giá trị"/>
          <p:cNvSpPr/>
          <p:nvPr/>
        </p:nvSpPr>
        <p:spPr>
          <a:xfrm>
            <a:off x="4709160" y="1636776"/>
            <a:ext cx="960120" cy="347472"/>
          </a:xfrm>
          <a:prstGeom prst="roundRect">
            <a:avLst>
              <a:gd name="adj" fmla="val 31579"/>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CHECK</a:t>
            </a:r>
            <a:endParaRPr lang="en-US" sz="1100" dirty="0"/>
          </a:p>
        </p:txBody>
      </p:sp>
      <p:sp>
        <p:nvSpPr>
          <p:cNvPr id="8" name="Constraints Miền giá trị"/>
          <p:cNvSpPr txBox="1"/>
          <p:nvPr/>
        </p:nvSpPr>
        <p:spPr>
          <a:xfrm>
            <a:off x="777240" y="2240280"/>
            <a:ext cx="4846320" cy="14173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PHIM.ThoiLuong &gt; 0 (phút)</a:t>
            </a:r>
            <a:endParaRPr lang="en-US" sz="1400" dirty="0"/>
          </a:p>
          <a:p>
            <a:pPr marL="177800" indent="-177800">
              <a:spcAft>
                <a:spcPts val="400"/>
              </a:spcAft>
              <a:buSzPct val="100000"/>
              <a:buChar char="•"/>
            </a:pPr>
            <a:r>
              <a:rPr lang="en-US" sz="1400" dirty="0">
                <a:solidFill>
                  <a:schemeClr val="tx1"/>
                </a:solidFill>
              </a:rPr>
              <a:t>PHONGCHIEU.SucChua &gt; 0</a:t>
            </a:r>
            <a:endParaRPr lang="en-US" sz="1400" dirty="0"/>
          </a:p>
          <a:p>
            <a:pPr marL="177800" indent="-177800">
              <a:spcAft>
                <a:spcPts val="400"/>
              </a:spcAft>
              <a:buSzPct val="100000"/>
              <a:buChar char="•"/>
            </a:pPr>
            <a:r>
              <a:rPr lang="en-US" sz="1400" dirty="0">
                <a:solidFill>
                  <a:schemeClr val="tx1"/>
                </a:solidFill>
              </a:rPr>
              <a:t>PHONGCHIEU.LoaiPhong chỉ nhận 2D, 3D hoặc IMAX</a:t>
            </a:r>
            <a:endParaRPr lang="en-US" sz="1400" dirty="0"/>
          </a:p>
          <a:p>
            <a:pPr marL="177800" indent="-177800">
              <a:spcAft>
                <a:spcPts val="400"/>
              </a:spcAft>
              <a:buSzPct val="100000"/>
              <a:buChar char="•"/>
            </a:pPr>
            <a:r>
              <a:rPr lang="en-US" sz="1400" dirty="0">
                <a:solidFill>
                  <a:schemeClr val="tx1"/>
                </a:solidFill>
              </a:rPr>
              <a:t>SUATCHIEU.GiaVe ≥ 0</a:t>
            </a:r>
            <a:endParaRPr lang="en-US" sz="1400" dirty="0"/>
          </a:p>
          <a:p>
            <a:pPr marL="177800" indent="-177800">
              <a:spcAft>
                <a:spcPts val="400"/>
              </a:spcAft>
              <a:buSzPct val="100000"/>
              <a:buChar char="•"/>
            </a:pPr>
            <a:r>
              <a:rPr lang="en-US" sz="1400" dirty="0">
                <a:solidFill>
                  <a:schemeClr val="tx1"/>
                </a:solidFill>
              </a:rPr>
              <a:t>KHACHHANG.SDT gồm đúng 10 chữ số</a:t>
            </a:r>
            <a:endParaRPr lang="en-US" sz="1400" dirty="0"/>
          </a:p>
        </p:txBody>
      </p:sp>
      <p:sp>
        <p:nvSpPr>
          <p:cNvPr id="9" name="Card Khóa chính"/>
          <p:cNvSpPr/>
          <p:nvPr/>
        </p:nvSpPr>
        <p:spPr>
          <a:xfrm>
            <a:off x="6245352" y="1325880"/>
            <a:ext cx="5486400" cy="2423160"/>
          </a:xfrm>
          <a:prstGeom prst="roundRect">
            <a:avLst>
              <a:gd name="adj" fmla="val 3774"/>
            </a:avLst>
          </a:prstGeom>
          <a:solidFill>
            <a:schemeClr val="bg2"/>
          </a:solidFill>
          <a:ln w="12700">
            <a:solidFill>
              <a:schemeClr val="bg2"/>
            </a:solidFill>
            <a:prstDash val="solid"/>
          </a:ln>
        </p:spPr>
      </p:sp>
      <p:sp>
        <p:nvSpPr>
          <p:cNvPr id="10" name="Number Khóa chính circle"/>
          <p:cNvSpPr/>
          <p:nvPr/>
        </p:nvSpPr>
        <p:spPr>
          <a:xfrm>
            <a:off x="6519672" y="1554480"/>
            <a:ext cx="512064" cy="512064"/>
          </a:xfrm>
          <a:prstGeom prst="ellipse">
            <a:avLst/>
          </a:prstGeom>
          <a:solidFill>
            <a:schemeClr val="tx1"/>
          </a:solidFill>
          <a:ln w="12700">
            <a:solidFill>
              <a:schemeClr val="tx1"/>
            </a:solidFill>
            <a:prstDash val="solid"/>
          </a:ln>
        </p:spPr>
      </p:sp>
      <p:sp>
        <p:nvSpPr>
          <p:cNvPr id="11" name="Number Khóa chính"/>
          <p:cNvSpPr txBox="1"/>
          <p:nvPr/>
        </p:nvSpPr>
        <p:spPr>
          <a:xfrm>
            <a:off x="6519672" y="1554480"/>
            <a:ext cx="512064" cy="512064"/>
          </a:xfrm>
          <a:prstGeom prst="rect">
            <a:avLst/>
          </a:prstGeom>
          <a:noFill/>
          <a:ln/>
        </p:spPr>
        <p:txBody>
          <a:bodyPr wrap="square" lIns="0" tIns="0" rIns="0" bIns="0" rtlCol="0" anchor="ctr"/>
          <a:lstStyle/>
          <a:p>
            <a:pPr algn="ctr" indent="0" marL="0">
              <a:buNone/>
            </a:pPr>
            <a:r>
              <a:rPr lang="en-US" sz="2200" b="1" dirty="0">
                <a:solidFill>
                  <a:schemeClr val="accent1"/>
                </a:solidFill>
                <a:latin typeface="Cambria" pitchFamily="34" charset="0"/>
                <a:ea typeface="Cambria" pitchFamily="34" charset="-122"/>
                <a:cs typeface="Cambria" pitchFamily="34" charset="-120"/>
              </a:rPr>
              <a:t>2</a:t>
            </a:r>
            <a:endParaRPr lang="en-US" sz="2200" dirty="0"/>
          </a:p>
        </p:txBody>
      </p:sp>
      <p:sp>
        <p:nvSpPr>
          <p:cNvPr id="12" name="Heading Khóa chính"/>
          <p:cNvSpPr txBox="1"/>
          <p:nvPr/>
        </p:nvSpPr>
        <p:spPr>
          <a:xfrm>
            <a:off x="7205472" y="1554480"/>
            <a:ext cx="2651760" cy="512064"/>
          </a:xfrm>
          <a:prstGeom prst="rect">
            <a:avLst/>
          </a:prstGeom>
          <a:noFill/>
          <a:ln/>
        </p:spPr>
        <p:txBody>
          <a:bodyPr wrap="square" lIns="0" tIns="0" rIns="0" bIns="0" rtlCol="0" anchor="ctr"/>
          <a:lstStyle/>
          <a:p>
            <a:pPr indent="0" marL="0">
              <a:buNone/>
            </a:pPr>
            <a:r>
              <a:rPr lang="en-US" sz="2000" b="1" dirty="0">
                <a:solidFill>
                  <a:schemeClr val="tx1"/>
                </a:solidFill>
              </a:rPr>
              <a:t>Khóa chính</a:t>
            </a:r>
            <a:endParaRPr lang="en-US" sz="2000" dirty="0"/>
          </a:p>
        </p:txBody>
      </p:sp>
      <p:sp>
        <p:nvSpPr>
          <p:cNvPr id="13" name="Chip Khóa chính"/>
          <p:cNvSpPr/>
          <p:nvPr/>
        </p:nvSpPr>
        <p:spPr>
          <a:xfrm>
            <a:off x="9994392" y="1636776"/>
            <a:ext cx="1463040" cy="347472"/>
          </a:xfrm>
          <a:prstGeom prst="roundRect">
            <a:avLst>
              <a:gd name="adj" fmla="val 31579"/>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PRIMARY KEY</a:t>
            </a:r>
            <a:endParaRPr lang="en-US" sz="1100" dirty="0"/>
          </a:p>
        </p:txBody>
      </p:sp>
      <p:sp>
        <p:nvSpPr>
          <p:cNvPr id="14" name="Constraints Khóa chính"/>
          <p:cNvSpPr txBox="1"/>
          <p:nvPr/>
        </p:nvSpPr>
        <p:spPr>
          <a:xfrm>
            <a:off x="6565392" y="2240280"/>
            <a:ext cx="4846320" cy="14173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PHIM (MaPhim), PHONGCHIEU (MaPhong)</a:t>
            </a:r>
            <a:endParaRPr lang="en-US" sz="1400" dirty="0"/>
          </a:p>
          <a:p>
            <a:pPr marL="177800" indent="-177800">
              <a:spcAft>
                <a:spcPts val="400"/>
              </a:spcAft>
              <a:buSzPct val="100000"/>
              <a:buChar char="•"/>
            </a:pPr>
            <a:r>
              <a:rPr lang="en-US" sz="1400" dirty="0">
                <a:solidFill>
                  <a:schemeClr val="tx1"/>
                </a:solidFill>
              </a:rPr>
              <a:t>SUATCHIEU (MaSuat), KHACHHANG (MaKH)</a:t>
            </a:r>
            <a:endParaRPr lang="en-US" sz="1400" dirty="0"/>
          </a:p>
          <a:p>
            <a:pPr marL="177800" indent="-177800">
              <a:spcAft>
                <a:spcPts val="400"/>
              </a:spcAft>
              <a:buSzPct val="100000"/>
              <a:buChar char="•"/>
            </a:pPr>
            <a:r>
              <a:rPr lang="en-US" sz="1400" dirty="0">
                <a:solidFill>
                  <a:schemeClr val="tx1"/>
                </a:solidFill>
              </a:rPr>
              <a:t>VE (MaVe)</a:t>
            </a:r>
            <a:endParaRPr lang="en-US" sz="1400" dirty="0"/>
          </a:p>
          <a:p>
            <a:pPr marL="177800" indent="-177800">
              <a:spcAft>
                <a:spcPts val="400"/>
              </a:spcAft>
              <a:buSzPct val="100000"/>
              <a:buChar char="•"/>
            </a:pPr>
            <a:r>
              <a:rPr lang="en-US" sz="1400" dirty="0">
                <a:solidFill>
                  <a:schemeClr val="tx1"/>
                </a:solidFill>
              </a:rPr>
              <a:t>Giá trị khóa chính là duy nhất và không được để trống (NULL)</a:t>
            </a:r>
            <a:endParaRPr lang="en-US" sz="1400" dirty="0"/>
          </a:p>
        </p:txBody>
      </p:sp>
      <p:sp>
        <p:nvSpPr>
          <p:cNvPr id="15" name="Card Khóa ngoại"/>
          <p:cNvSpPr/>
          <p:nvPr/>
        </p:nvSpPr>
        <p:spPr>
          <a:xfrm>
            <a:off x="457200" y="3931920"/>
            <a:ext cx="5486400" cy="2423160"/>
          </a:xfrm>
          <a:prstGeom prst="roundRect">
            <a:avLst>
              <a:gd name="adj" fmla="val 3774"/>
            </a:avLst>
          </a:prstGeom>
          <a:solidFill>
            <a:schemeClr val="bg2"/>
          </a:solidFill>
          <a:ln w="12700">
            <a:solidFill>
              <a:schemeClr val="bg2"/>
            </a:solidFill>
            <a:prstDash val="solid"/>
          </a:ln>
        </p:spPr>
      </p:sp>
      <p:sp>
        <p:nvSpPr>
          <p:cNvPr id="16" name="Number Khóa ngoại circle"/>
          <p:cNvSpPr/>
          <p:nvPr/>
        </p:nvSpPr>
        <p:spPr>
          <a:xfrm>
            <a:off x="731520" y="4160520"/>
            <a:ext cx="512064" cy="512064"/>
          </a:xfrm>
          <a:prstGeom prst="ellipse">
            <a:avLst/>
          </a:prstGeom>
          <a:solidFill>
            <a:schemeClr val="tx1"/>
          </a:solidFill>
          <a:ln w="12700">
            <a:solidFill>
              <a:schemeClr val="tx1"/>
            </a:solidFill>
            <a:prstDash val="solid"/>
          </a:ln>
        </p:spPr>
      </p:sp>
      <p:sp>
        <p:nvSpPr>
          <p:cNvPr id="17" name="Number Khóa ngoại"/>
          <p:cNvSpPr txBox="1"/>
          <p:nvPr/>
        </p:nvSpPr>
        <p:spPr>
          <a:xfrm>
            <a:off x="731520" y="4160520"/>
            <a:ext cx="512064" cy="512064"/>
          </a:xfrm>
          <a:prstGeom prst="rect">
            <a:avLst/>
          </a:prstGeom>
          <a:noFill/>
          <a:ln/>
        </p:spPr>
        <p:txBody>
          <a:bodyPr wrap="square" lIns="0" tIns="0" rIns="0" bIns="0" rtlCol="0" anchor="ctr"/>
          <a:lstStyle/>
          <a:p>
            <a:pPr algn="ctr" indent="0" marL="0">
              <a:buNone/>
            </a:pPr>
            <a:r>
              <a:rPr lang="en-US" sz="2200" b="1" dirty="0">
                <a:solidFill>
                  <a:schemeClr val="accent1"/>
                </a:solidFill>
                <a:latin typeface="Cambria" pitchFamily="34" charset="0"/>
                <a:ea typeface="Cambria" pitchFamily="34" charset="-122"/>
                <a:cs typeface="Cambria" pitchFamily="34" charset="-120"/>
              </a:rPr>
              <a:t>3</a:t>
            </a:r>
            <a:endParaRPr lang="en-US" sz="2200" dirty="0"/>
          </a:p>
        </p:txBody>
      </p:sp>
      <p:sp>
        <p:nvSpPr>
          <p:cNvPr id="18" name="Heading Khóa ngoại"/>
          <p:cNvSpPr txBox="1"/>
          <p:nvPr/>
        </p:nvSpPr>
        <p:spPr>
          <a:xfrm>
            <a:off x="1417320" y="4160520"/>
            <a:ext cx="2651760" cy="512064"/>
          </a:xfrm>
          <a:prstGeom prst="rect">
            <a:avLst/>
          </a:prstGeom>
          <a:noFill/>
          <a:ln/>
        </p:spPr>
        <p:txBody>
          <a:bodyPr wrap="square" lIns="0" tIns="0" rIns="0" bIns="0" rtlCol="0" anchor="ctr"/>
          <a:lstStyle/>
          <a:p>
            <a:pPr indent="0" marL="0">
              <a:buNone/>
            </a:pPr>
            <a:r>
              <a:rPr lang="en-US" sz="2000" b="1" dirty="0">
                <a:solidFill>
                  <a:schemeClr val="tx1"/>
                </a:solidFill>
              </a:rPr>
              <a:t>Khóa ngoại</a:t>
            </a:r>
            <a:endParaRPr lang="en-US" sz="2000" dirty="0"/>
          </a:p>
        </p:txBody>
      </p:sp>
      <p:sp>
        <p:nvSpPr>
          <p:cNvPr id="19" name="Chip Khóa ngoại"/>
          <p:cNvSpPr/>
          <p:nvPr/>
        </p:nvSpPr>
        <p:spPr>
          <a:xfrm>
            <a:off x="4206240" y="4242816"/>
            <a:ext cx="1463040" cy="347472"/>
          </a:xfrm>
          <a:prstGeom prst="roundRect">
            <a:avLst>
              <a:gd name="adj" fmla="val 31579"/>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FOREIGN KEY</a:t>
            </a:r>
            <a:endParaRPr lang="en-US" sz="1100" dirty="0"/>
          </a:p>
        </p:txBody>
      </p:sp>
      <p:sp>
        <p:nvSpPr>
          <p:cNvPr id="20" name="Constraints Khóa ngoại"/>
          <p:cNvSpPr txBox="1"/>
          <p:nvPr/>
        </p:nvSpPr>
        <p:spPr>
          <a:xfrm>
            <a:off x="777240" y="4846320"/>
            <a:ext cx="4846320" cy="14173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SUATCHIEU.MaPhim → PHIM.MaPhim</a:t>
            </a:r>
            <a:endParaRPr lang="en-US" sz="1400" dirty="0"/>
          </a:p>
          <a:p>
            <a:pPr marL="177800" indent="-177800">
              <a:spcAft>
                <a:spcPts val="400"/>
              </a:spcAft>
              <a:buSzPct val="100000"/>
              <a:buChar char="•"/>
            </a:pPr>
            <a:r>
              <a:rPr lang="en-US" sz="1400" dirty="0">
                <a:solidFill>
                  <a:schemeClr val="tx1"/>
                </a:solidFill>
              </a:rPr>
              <a:t>SUATCHIEU.MaPhong → PHONGCHIEU.MaPhong</a:t>
            </a:r>
            <a:endParaRPr lang="en-US" sz="1400" dirty="0"/>
          </a:p>
          <a:p>
            <a:pPr marL="177800" indent="-177800">
              <a:spcAft>
                <a:spcPts val="400"/>
              </a:spcAft>
              <a:buSzPct val="100000"/>
              <a:buChar char="•"/>
            </a:pPr>
            <a:r>
              <a:rPr lang="en-US" sz="1400" dirty="0">
                <a:solidFill>
                  <a:schemeClr val="tx1"/>
                </a:solidFill>
              </a:rPr>
              <a:t>VE.MaSuat → SUATCHIEU.MaSuat</a:t>
            </a:r>
            <a:endParaRPr lang="en-US" sz="1400" dirty="0"/>
          </a:p>
          <a:p>
            <a:pPr marL="177800" indent="-177800">
              <a:spcAft>
                <a:spcPts val="400"/>
              </a:spcAft>
              <a:buSzPct val="100000"/>
              <a:buChar char="•"/>
            </a:pPr>
            <a:r>
              <a:rPr lang="en-US" sz="1400" dirty="0">
                <a:solidFill>
                  <a:schemeClr val="tx1"/>
                </a:solidFill>
              </a:rPr>
              <a:t>VE.MaKH → KHACHHANG.MaKH</a:t>
            </a:r>
            <a:endParaRPr lang="en-US" sz="1400" dirty="0"/>
          </a:p>
          <a:p>
            <a:pPr marL="177800" indent="-177800">
              <a:spcAft>
                <a:spcPts val="400"/>
              </a:spcAft>
              <a:buSzPct val="100000"/>
              <a:buChar char="•"/>
            </a:pPr>
            <a:r>
              <a:rPr lang="en-US" sz="1400" dirty="0">
                <a:solidFill>
                  <a:schemeClr val="tx1"/>
                </a:solidFill>
              </a:rPr>
              <a:t>Chỉ được tham chiếu đến dòng đã có ở bảng cha</a:t>
            </a:r>
            <a:endParaRPr lang="en-US" sz="1400" dirty="0"/>
          </a:p>
        </p:txBody>
      </p:sp>
      <p:sp>
        <p:nvSpPr>
          <p:cNvPr id="21" name="Card Ràng buộc khác"/>
          <p:cNvSpPr/>
          <p:nvPr/>
        </p:nvSpPr>
        <p:spPr>
          <a:xfrm>
            <a:off x="6245352" y="3931920"/>
            <a:ext cx="5486400" cy="2423160"/>
          </a:xfrm>
          <a:prstGeom prst="roundRect">
            <a:avLst>
              <a:gd name="adj" fmla="val 3774"/>
            </a:avLst>
          </a:prstGeom>
          <a:solidFill>
            <a:schemeClr val="bg2"/>
          </a:solidFill>
          <a:ln w="12700">
            <a:solidFill>
              <a:schemeClr val="bg2"/>
            </a:solidFill>
            <a:prstDash val="solid"/>
          </a:ln>
        </p:spPr>
      </p:sp>
      <p:sp>
        <p:nvSpPr>
          <p:cNvPr id="22" name="Number Ràng buộc khác circle"/>
          <p:cNvSpPr/>
          <p:nvPr/>
        </p:nvSpPr>
        <p:spPr>
          <a:xfrm>
            <a:off x="6519672" y="4160520"/>
            <a:ext cx="512064" cy="512064"/>
          </a:xfrm>
          <a:prstGeom prst="ellipse">
            <a:avLst/>
          </a:prstGeom>
          <a:solidFill>
            <a:schemeClr val="tx1"/>
          </a:solidFill>
          <a:ln w="12700">
            <a:solidFill>
              <a:schemeClr val="tx1"/>
            </a:solidFill>
            <a:prstDash val="solid"/>
          </a:ln>
        </p:spPr>
      </p:sp>
      <p:sp>
        <p:nvSpPr>
          <p:cNvPr id="23" name="Number Ràng buộc khác"/>
          <p:cNvSpPr txBox="1"/>
          <p:nvPr/>
        </p:nvSpPr>
        <p:spPr>
          <a:xfrm>
            <a:off x="6519672" y="4160520"/>
            <a:ext cx="512064" cy="512064"/>
          </a:xfrm>
          <a:prstGeom prst="rect">
            <a:avLst/>
          </a:prstGeom>
          <a:noFill/>
          <a:ln/>
        </p:spPr>
        <p:txBody>
          <a:bodyPr wrap="square" lIns="0" tIns="0" rIns="0" bIns="0" rtlCol="0" anchor="ctr"/>
          <a:lstStyle/>
          <a:p>
            <a:pPr algn="ctr" indent="0" marL="0">
              <a:buNone/>
            </a:pPr>
            <a:r>
              <a:rPr lang="en-US" sz="2200" b="1" dirty="0">
                <a:solidFill>
                  <a:schemeClr val="accent1"/>
                </a:solidFill>
                <a:latin typeface="Cambria" pitchFamily="34" charset="0"/>
                <a:ea typeface="Cambria" pitchFamily="34" charset="-122"/>
                <a:cs typeface="Cambria" pitchFamily="34" charset="-120"/>
              </a:rPr>
              <a:t>4</a:t>
            </a:r>
            <a:endParaRPr lang="en-US" sz="2200" dirty="0"/>
          </a:p>
        </p:txBody>
      </p:sp>
      <p:sp>
        <p:nvSpPr>
          <p:cNvPr id="24" name="Heading Ràng buộc khác"/>
          <p:cNvSpPr txBox="1"/>
          <p:nvPr/>
        </p:nvSpPr>
        <p:spPr>
          <a:xfrm>
            <a:off x="7205472" y="4160520"/>
            <a:ext cx="2651760" cy="512064"/>
          </a:xfrm>
          <a:prstGeom prst="rect">
            <a:avLst/>
          </a:prstGeom>
          <a:noFill/>
          <a:ln/>
        </p:spPr>
        <p:txBody>
          <a:bodyPr wrap="square" lIns="0" tIns="0" rIns="0" bIns="0" rtlCol="0" anchor="ctr"/>
          <a:lstStyle/>
          <a:p>
            <a:pPr indent="0" marL="0">
              <a:buNone/>
            </a:pPr>
            <a:r>
              <a:rPr lang="en-US" sz="2000" b="1" dirty="0">
                <a:solidFill>
                  <a:schemeClr val="tx1"/>
                </a:solidFill>
              </a:rPr>
              <a:t>Ràng buộc khác</a:t>
            </a:r>
            <a:endParaRPr lang="en-US" sz="2000" dirty="0"/>
          </a:p>
        </p:txBody>
      </p:sp>
      <p:sp>
        <p:nvSpPr>
          <p:cNvPr id="25" name="Chip Ràng buộc khác"/>
          <p:cNvSpPr/>
          <p:nvPr/>
        </p:nvSpPr>
        <p:spPr>
          <a:xfrm>
            <a:off x="9491472" y="4242816"/>
            <a:ext cx="1965960" cy="347472"/>
          </a:xfrm>
          <a:prstGeom prst="roundRect">
            <a:avLst>
              <a:gd name="adj" fmla="val 31579"/>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UNIQUE  ·  NOT NULL</a:t>
            </a:r>
            <a:endParaRPr lang="en-US" sz="1100" dirty="0"/>
          </a:p>
        </p:txBody>
      </p:sp>
      <p:sp>
        <p:nvSpPr>
          <p:cNvPr id="26" name="Constraints Ràng buộc khác"/>
          <p:cNvSpPr txBox="1"/>
          <p:nvPr/>
        </p:nvSpPr>
        <p:spPr>
          <a:xfrm>
            <a:off x="6565392" y="4846320"/>
            <a:ext cx="4846320" cy="141732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KHACHHANG.SDT không được trùng</a:t>
            </a:r>
            <a:endParaRPr lang="en-US" sz="1400" dirty="0"/>
          </a:p>
          <a:p>
            <a:pPr marL="177800" indent="-177800">
              <a:spcAft>
                <a:spcPts val="400"/>
              </a:spcAft>
              <a:buSzPct val="100000"/>
              <a:buChar char="•"/>
            </a:pPr>
            <a:r>
              <a:rPr lang="en-US" sz="1400" dirty="0">
                <a:solidFill>
                  <a:schemeClr val="tx1"/>
                </a:solidFill>
              </a:rPr>
              <a:t>VE: không trùng (MaSuat, SoGhe), một ghế chỉ bán một lần cho mỗi suất</a:t>
            </a:r>
            <a:endParaRPr lang="en-US" sz="1400" dirty="0"/>
          </a:p>
          <a:p>
            <a:pPr marL="177800" indent="-177800">
              <a:spcAft>
                <a:spcPts val="400"/>
              </a:spcAft>
              <a:buSzPct val="100000"/>
              <a:buChar char="•"/>
            </a:pPr>
            <a:r>
              <a:rPr lang="en-US" sz="1400" dirty="0">
                <a:solidFill>
                  <a:schemeClr val="tx1"/>
                </a:solidFill>
              </a:rPr>
              <a:t>Mọi cột đều bắt buộc nhập (NOT NULL), trừ KHACHHANG.Email</a:t>
            </a:r>
            <a:endParaRPr lang="en-US" sz="14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hank-you ticket body"/>
          <p:cNvSpPr/>
          <p:nvPr/>
        </p:nvSpPr>
        <p:spPr>
          <a:xfrm>
            <a:off x="2011680" y="2103120"/>
            <a:ext cx="8165592" cy="2468880"/>
          </a:xfrm>
          <a:prstGeom prst="roundRect">
            <a:avLst>
              <a:gd name="adj" fmla="val 6667"/>
            </a:avLst>
          </a:prstGeom>
          <a:solidFill>
            <a:schemeClr val="accent1"/>
          </a:solidFill>
          <a:ln w="12700">
            <a:solidFill>
              <a:schemeClr val="accent1"/>
            </a:solidFill>
            <a:prstDash val="solid"/>
          </a:ln>
        </p:spPr>
      </p:sp>
      <p:sp>
        <p:nvSpPr>
          <p:cNvPr id="3" name="Thank-you ticket notch top"/>
          <p:cNvSpPr/>
          <p:nvPr/>
        </p:nvSpPr>
        <p:spPr>
          <a:xfrm>
            <a:off x="7598664" y="1901952"/>
            <a:ext cx="402336" cy="402336"/>
          </a:xfrm>
          <a:prstGeom prst="ellipse">
            <a:avLst/>
          </a:prstGeom>
          <a:solidFill>
            <a:schemeClr val="tx1"/>
          </a:solidFill>
          <a:ln w="12700">
            <a:solidFill>
              <a:schemeClr val="tx1"/>
            </a:solidFill>
            <a:prstDash val="solid"/>
          </a:ln>
        </p:spPr>
      </p:sp>
      <p:sp>
        <p:nvSpPr>
          <p:cNvPr id="4" name="Thank-you ticket notch bottom"/>
          <p:cNvSpPr/>
          <p:nvPr/>
        </p:nvSpPr>
        <p:spPr>
          <a:xfrm>
            <a:off x="7598664" y="4370832"/>
            <a:ext cx="402336" cy="402336"/>
          </a:xfrm>
          <a:prstGeom prst="ellipse">
            <a:avLst/>
          </a:prstGeom>
          <a:solidFill>
            <a:schemeClr val="tx1"/>
          </a:solidFill>
          <a:ln w="12700">
            <a:solidFill>
              <a:schemeClr val="tx1"/>
            </a:solidFill>
            <a:prstDash val="solid"/>
          </a:ln>
        </p:spPr>
      </p:sp>
      <p:sp>
        <p:nvSpPr>
          <p:cNvPr id="5" name="Thank-you ticket perforation"/>
          <p:cNvSpPr/>
          <p:nvPr/>
        </p:nvSpPr>
        <p:spPr>
          <a:xfrm>
            <a:off x="7799832" y="2395728"/>
            <a:ext cx="0" cy="1883664"/>
          </a:xfrm>
          <a:prstGeom prst="line">
            <a:avLst/>
          </a:prstGeom>
          <a:noFill/>
          <a:ln w="19050">
            <a:solidFill>
              <a:schemeClr val="tx1"/>
            </a:solidFill>
            <a:prstDash val="dash"/>
          </a:ln>
        </p:spPr>
      </p:sp>
      <p:sp>
        <p:nvSpPr>
          <p:cNvPr id="6" name="Text 0"/>
          <p:cNvSpPr/>
          <p:nvPr>
            <p:ph idx="100" type="title" hasCustomPrompt="1"/>
          </p:nvPr>
        </p:nvSpPr>
        <p:spPr>
          <a:xfrm>
            <a:off x="2468880" y="2514600"/>
            <a:ext cx="5120640" cy="1005840"/>
          </a:xfrm>
          <a:prstGeom prst="rect">
            <a:avLst/>
          </a:prstGeom>
          <a:noFill/>
          <a:ln/>
        </p:spPr>
        <p:txBody>
          <a:bodyPr wrap="square" lIns="0" tIns="0" rIns="0" bIns="0" rtlCol="0" anchor="ctr"/>
          <a:lstStyle/>
          <a:p>
            <a:pPr algn="l" indent="0" marL="0">
              <a:buNone/>
            </a:pPr>
            <a:r>
              <a:rPr lang="en-US" sz="5400" b="1" dirty="0">
                <a:solidFill>
                  <a:schemeClr val="tx1"/>
                </a:solidFill>
              </a:rPr>
              <a:t>Cảm ơn</a:t>
            </a:r>
            <a:endParaRPr lang="en-US" sz="5400" dirty="0"/>
          </a:p>
        </p:txBody>
      </p:sp>
      <p:sp>
        <p:nvSpPr>
          <p:cNvPr id="7" name="Thanks line"/>
          <p:cNvSpPr txBox="1"/>
          <p:nvPr/>
        </p:nvSpPr>
        <p:spPr>
          <a:xfrm>
            <a:off x="2468880" y="3611880"/>
            <a:ext cx="5394960" cy="457200"/>
          </a:xfrm>
          <a:prstGeom prst="rect">
            <a:avLst/>
          </a:prstGeom>
          <a:noFill/>
          <a:ln/>
        </p:spPr>
        <p:txBody>
          <a:bodyPr wrap="square" lIns="0" tIns="0" rIns="0" bIns="0" rtlCol="0" anchor="t"/>
          <a:lstStyle/>
          <a:p>
            <a:pPr indent="0" marL="0">
              <a:buNone/>
            </a:pPr>
            <a:r>
              <a:rPr lang="en-US" sz="1800" dirty="0">
                <a:solidFill>
                  <a:schemeClr val="tx1"/>
                </a:solidFill>
              </a:rPr>
              <a:t>Xin cảm ơn thầy/cô và các bạn đã lắng nghe</a:t>
            </a:r>
            <a:endParaRPr lang="en-US" sz="1800" dirty="0"/>
          </a:p>
        </p:txBody>
      </p:sp>
      <p:sp>
        <p:nvSpPr>
          <p:cNvPr id="8" name="Stub Q&amp;amp;A"/>
          <p:cNvSpPr txBox="1"/>
          <p:nvPr/>
        </p:nvSpPr>
        <p:spPr>
          <a:xfrm>
            <a:off x="7818120" y="2606040"/>
            <a:ext cx="2194560" cy="82296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Q&amp;A</a:t>
            </a:r>
            <a:endParaRPr lang="en-US" sz="4400" dirty="0"/>
          </a:p>
        </p:txBody>
      </p:sp>
      <p:sp>
        <p:nvSpPr>
          <p:cNvPr id="9" name="Stub caption"/>
          <p:cNvSpPr txBox="1"/>
          <p:nvPr/>
        </p:nvSpPr>
        <p:spPr>
          <a:xfrm>
            <a:off x="7818120" y="3429000"/>
            <a:ext cx="2194560" cy="365760"/>
          </a:xfrm>
          <a:prstGeom prst="rect">
            <a:avLst/>
          </a:prstGeom>
          <a:noFill/>
          <a:ln/>
        </p:spPr>
        <p:txBody>
          <a:bodyPr wrap="square" lIns="0" tIns="0" rIns="0" bIns="0" rtlCol="0" anchor="t"/>
          <a:lstStyle/>
          <a:p>
            <a:pPr algn="ctr" indent="0" marL="0">
              <a:buNone/>
            </a:pPr>
            <a:r>
              <a:rPr lang="en-US" sz="1800" b="1" dirty="0">
                <a:solidFill>
                  <a:schemeClr val="tx1"/>
                </a:solidFill>
              </a:rPr>
              <a:t>Câu hỏi</a:t>
            </a:r>
            <a:endParaRPr lang="en-US" sz="1800" dirty="0"/>
          </a:p>
        </p:txBody>
      </p:sp>
      <p:sp>
        <p:nvSpPr>
          <p:cNvPr id="10" name="Closing line"/>
          <p:cNvSpPr txBox="1"/>
          <p:nvPr/>
        </p:nvSpPr>
        <p:spPr>
          <a:xfrm>
            <a:off x="2011680" y="5120640"/>
            <a:ext cx="8165592" cy="365760"/>
          </a:xfrm>
          <a:prstGeom prst="rect">
            <a:avLst/>
          </a:prstGeom>
          <a:noFill/>
          <a:ln/>
        </p:spPr>
        <p:txBody>
          <a:bodyPr wrap="square" lIns="0" tIns="0" rIns="0" bIns="0" rtlCol="0" anchor="t"/>
          <a:lstStyle/>
          <a:p>
            <a:pPr algn="ctr" indent="0" marL="0">
              <a:buNone/>
            </a:pPr>
            <a:r>
              <a:rPr lang="en-US" sz="1400" dirty="0">
                <a:solidFill>
                  <a:schemeClr val="bg1"/>
                </a:solidFill>
              </a:rPr>
              <a:t>Quản lý đặt vé rạp chiếu phim  |  Hệ quản trị cơ sở dữ liệu</a:t>
            </a:r>
            <a:endParaRPr lang="en-US" sz="1400" dirty="0"/>
          </a:p>
        </p:txBody>
      </p:sp>
    </p:spTree>
  </p:cSld>
  <p:clrMapOvr>
    <a:masterClrMapping/>
  </p:clrMapOvr>
</p:sld>
</file>

<file path=ppt/theme/theme1.xml><?xml version="1.0" encoding="utf-8"?>
<a:theme xmlns:a="http://schemas.openxmlformats.org/drawingml/2006/main" name="Rap Chieu Phim">
  <a:themeElements>
    <a:clrScheme name="Rap Chieu Phim">
      <a:dk1>
        <a:srgbClr val="1B1F3B"/>
      </a:dk1>
      <a:lt1>
        <a:srgbClr val="FFFFFF"/>
      </a:lt1>
      <a:dk2>
        <a:srgbClr val="3A3F73"/>
      </a:dk2>
      <a:lt2>
        <a:srgbClr val="EEF0F8"/>
      </a:lt2>
      <a:accent1>
        <a:srgbClr val="E4A63A"/>
      </a:accent1>
      <a:accent2>
        <a:srgbClr val="C0392B"/>
      </a:accent2>
      <a:accent3>
        <a:srgbClr val="2E86AB"/>
      </a:accent3>
      <a:accent4>
        <a:srgbClr val="5C6BC0"/>
      </a:accent4>
      <a:accent5>
        <a:srgbClr val="3F8F6B"/>
      </a:accent5>
      <a:accent6>
        <a:srgbClr val="8E5BA6"/>
      </a:accent6>
      <a:hlink>
        <a:srgbClr val="2E86AB"/>
      </a:hlink>
      <a:folHlink>
        <a:srgbClr val="8E5BA6"/>
      </a:folHlink>
    </a:clrScheme>
    <a:fontScheme name="Rap Chieu Phi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lý đặt vé rạp chiếu phim</dc:title>
  <dc:subject>Hệ quản trị cơ sở dữ liệu - Kiểm tra giữa kỳ lần 1</dc:subject>
  <dc:creator>PptxGenJS</dc:creator>
  <cp:lastModifiedBy>PptxGenJS</cp:lastModifiedBy>
  <cp:revision>1</cp:revision>
  <dcterms:created xsi:type="dcterms:W3CDTF">2026-10-13T08:53:16Z</dcterms:created>
  <dcterms:modified xsi:type="dcterms:W3CDTF">2026-10-13T08:53:16Z</dcterms:modified>
</cp:coreProperties>
</file>