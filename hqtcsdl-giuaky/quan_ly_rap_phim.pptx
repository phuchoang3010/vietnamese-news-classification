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54fd1444-01a9-b123-9869-c660c24e7b6a}">
          <p14:sldIdLst>
            <p14:sldId id="256"/>
            <p14:sldId id="257"/>
          </p14:sldIdLst>
        </p14:section>
        <p14:section name="Thiết kế cơ sở dữ liệu" id="{69461afd-3e79-a89a-90a7-f47577d6779e}">
          <p14:sldIdLst>
            <p14:sldId id="258"/>
            <p14:sldId id="259"/>
          </p14:sldIdLst>
        </p14:section>
        <p14:section name="Kết thúc" id="{1aeff8f6-1150-a85a-b34b-3724b8d5c2af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1 - Giới thiệu: Kiểm tra giữa kỳ lần 1, học phần Hệ quản trị cơ sở dữ liệu. Nhớ điền lớp học phần, họ tên và MSSV. Đề tài: Quản lý đặt vé rạp chiếu phim, gồm 5 bảng.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2 - Nội dung bài trình bày gồm 4 phần: mô tả bài toán, mô hình ERD, lược đồ CSDL kèm dữ liệu mẫu, và các ràng buộc.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3 - Mô tả bài toán và ERD. Nêu 5 thực thể: PHIM, PHONGCHIEU, SUATCHIEU, KHACHHANG, VE. Quan hệ: PHIM 1-N SUATCHIEU, PHONGCHIEU 1-N SUATCHIEU, KHACHHANG 1-N VE, SUATCHIEU 1-N VE. Giữa KHACHHANG và SUATCHIEU là quan hệ nhiều-nhiều (một khách đặt nhiều suất, một suất có nhiều khách) nên tách bằng bảng VE. Tương tự PHIM và PHONGCHIEU là nhiều-nhiều qua SUATCHIEU.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4 - Lược đồ CSDL: khóa chính gạch chân, khóa ngoại in nghiêng. Dữ liệu mẫu được nhập bằng file quan_ly_rap_phim.sql trong MySQL; có thể thay các bảng bên phải bằng ảnh chụp màn hình kết quả SELECT trong MySQL Workbench. Ràng buộc: khóa chính, khóa ngoại, miền giá trị (CHECK),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5 - Cảm ơn. Mời thầy/cô và các bạn đặt câu hỏi.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240280"/>
            <a:ext cx="6949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455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Hệ quản trị cơ sở dữ liệu  |  Quản lý đặt vé rạp chiếu phim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468880" y="2514600"/>
            <a:ext cx="51206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xam label"/>
          <p:cNvSpPr txBox="1"/>
          <p:nvPr/>
        </p:nvSpPr>
        <p:spPr>
          <a:xfrm>
            <a:off x="73152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chemeClr val="accent1"/>
                </a:solidFill>
              </a:rPr>
              <a:t>KIỂM TRA GIỮA KỲ LẦN 1</a:t>
            </a:r>
            <a:endParaRPr lang="en-US" sz="1800" dirty="0"/>
          </a:p>
        </p:txBody>
      </p:sp>
      <p:sp>
        <p:nvSpPr>
          <p:cNvPr id="3" name="Title ticket body"/>
          <p:cNvSpPr/>
          <p:nvPr/>
        </p:nvSpPr>
        <p:spPr>
          <a:xfrm>
            <a:off x="731520" y="1554480"/>
            <a:ext cx="10725912" cy="2377440"/>
          </a:xfrm>
          <a:prstGeom prst="roundRect">
            <a:avLst>
              <a:gd name="adj" fmla="val 692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itle ticket notch top"/>
          <p:cNvSpPr/>
          <p:nvPr/>
        </p:nvSpPr>
        <p:spPr>
          <a:xfrm>
            <a:off x="8513064" y="1353312"/>
            <a:ext cx="402336" cy="40233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itle ticket notch bottom"/>
          <p:cNvSpPr/>
          <p:nvPr/>
        </p:nvSpPr>
        <p:spPr>
          <a:xfrm>
            <a:off x="8513064" y="3730752"/>
            <a:ext cx="402336" cy="40233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itle ticket perforation"/>
          <p:cNvSpPr/>
          <p:nvPr/>
        </p:nvSpPr>
        <p:spPr>
          <a:xfrm>
            <a:off x="8714232" y="1847088"/>
            <a:ext cx="0" cy="1792224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</a:ln>
        </p:spPr>
      </p:sp>
      <p:sp>
        <p:nvSpPr>
          <p:cNvPr id="7" name="Topic label"/>
          <p:cNvSpPr txBox="1"/>
          <p:nvPr/>
        </p:nvSpPr>
        <p:spPr>
          <a:xfrm>
            <a:off x="118872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tx2"/>
                </a:solidFill>
              </a:rPr>
              <a:t>ĐỀ TÀI</a:t>
            </a:r>
            <a:endParaRPr lang="en-US" sz="13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1188720" y="22402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Quản lý đặt vé rạp chiếu phim</a:t>
            </a:r>
            <a:endParaRPr lang="en-US" sz="3800" dirty="0"/>
          </a:p>
        </p:txBody>
      </p:sp>
      <p:sp>
        <p:nvSpPr>
          <p:cNvPr id="9" name="Topic subtitle"/>
          <p:cNvSpPr txBox="1"/>
          <p:nvPr/>
        </p:nvSpPr>
        <p:spPr>
          <a:xfrm>
            <a:off x="1188720" y="3154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Thiết kế và cài đặt cơ sở dữ liệu trên MySQL</a:t>
            </a:r>
            <a:endParaRPr lang="en-US" sz="1800" dirty="0"/>
          </a:p>
        </p:txBody>
      </p:sp>
      <p:sp>
        <p:nvSpPr>
          <p:cNvPr id="10" name="Stub number"/>
          <p:cNvSpPr txBox="1"/>
          <p:nvPr/>
        </p:nvSpPr>
        <p:spPr>
          <a:xfrm>
            <a:off x="8732520" y="178308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8000" dirty="0"/>
          </a:p>
        </p:txBody>
      </p:sp>
      <p:sp>
        <p:nvSpPr>
          <p:cNvPr id="11" name="Stub caption"/>
          <p:cNvSpPr txBox="1"/>
          <p:nvPr/>
        </p:nvSpPr>
        <p:spPr>
          <a:xfrm>
            <a:off x="8732520" y="30175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bảng dữ liệu</a:t>
            </a:r>
            <a:endParaRPr lang="en-US" sz="1800" dirty="0"/>
          </a:p>
        </p:txBody>
      </p:sp>
      <p:sp>
        <p:nvSpPr>
          <p:cNvPr id="12" name="TÊN HỌC PHẦN label"/>
          <p:cNvSpPr txBox="1"/>
          <p:nvPr/>
        </p:nvSpPr>
        <p:spPr>
          <a:xfrm>
            <a:off x="731520" y="4572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TÊN HỌC PHẦN</a:t>
            </a:r>
            <a:endParaRPr lang="en-US" sz="1200" dirty="0"/>
          </a:p>
        </p:txBody>
      </p:sp>
      <p:sp>
        <p:nvSpPr>
          <p:cNvPr id="13" name="TÊN HỌC PHẦN value"/>
          <p:cNvSpPr txBox="1"/>
          <p:nvPr/>
        </p:nvSpPr>
        <p:spPr>
          <a:xfrm>
            <a:off x="731520" y="48646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Hệ quản trị cơ sở dữ liệu</a:t>
            </a:r>
            <a:endParaRPr lang="en-US" sz="2200" dirty="0"/>
          </a:p>
        </p:txBody>
      </p:sp>
      <p:sp>
        <p:nvSpPr>
          <p:cNvPr id="14" name="LỚP HỌC PHẦN label"/>
          <p:cNvSpPr txBox="1"/>
          <p:nvPr/>
        </p:nvSpPr>
        <p:spPr>
          <a:xfrm>
            <a:off x="6217920" y="4572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LỚP HỌC PHẦN</a:t>
            </a:r>
            <a:endParaRPr lang="en-US" sz="1200" dirty="0"/>
          </a:p>
        </p:txBody>
      </p:sp>
      <p:sp>
        <p:nvSpPr>
          <p:cNvPr id="15" name="LỚP HỌC PHẦN value"/>
          <p:cNvSpPr txBox="1"/>
          <p:nvPr/>
        </p:nvSpPr>
        <p:spPr>
          <a:xfrm>
            <a:off x="6217920" y="48646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bg1"/>
                </a:solidFill>
              </a:rPr>
              <a:t>[Điền lớp học phần]</a:t>
            </a:r>
            <a:endParaRPr lang="en-US" sz="2200" dirty="0"/>
          </a:p>
        </p:txBody>
      </p:sp>
      <p:sp>
        <p:nvSpPr>
          <p:cNvPr id="16" name="HỌ VÀ TÊN label"/>
          <p:cNvSpPr txBox="1"/>
          <p:nvPr/>
        </p:nvSpPr>
        <p:spPr>
          <a:xfrm>
            <a:off x="731520" y="5486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HỌ VÀ TÊN</a:t>
            </a:r>
            <a:endParaRPr lang="en-US" sz="1200" dirty="0"/>
          </a:p>
        </p:txBody>
      </p:sp>
      <p:sp>
        <p:nvSpPr>
          <p:cNvPr id="17" name="HỌ VÀ TÊN value"/>
          <p:cNvSpPr txBox="1"/>
          <p:nvPr/>
        </p:nvSpPr>
        <p:spPr>
          <a:xfrm>
            <a:off x="731520" y="57790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bg1"/>
                </a:solidFill>
              </a:rPr>
              <a:t>[Điền họ và tên]</a:t>
            </a:r>
            <a:endParaRPr lang="en-US" sz="2200" dirty="0"/>
          </a:p>
        </p:txBody>
      </p:sp>
      <p:sp>
        <p:nvSpPr>
          <p:cNvPr id="18" name="MSSV label"/>
          <p:cNvSpPr txBox="1"/>
          <p:nvPr/>
        </p:nvSpPr>
        <p:spPr>
          <a:xfrm>
            <a:off x="6217920" y="5486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MSSV</a:t>
            </a:r>
            <a:endParaRPr lang="en-US" sz="1200" dirty="0"/>
          </a:p>
        </p:txBody>
      </p:sp>
      <p:sp>
        <p:nvSpPr>
          <p:cNvPr id="19" name="MSSV value"/>
          <p:cNvSpPr txBox="1"/>
          <p:nvPr/>
        </p:nvSpPr>
        <p:spPr>
          <a:xfrm>
            <a:off x="6217920" y="57790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bg1"/>
                </a:solidFill>
              </a:rPr>
              <a:t>[Điền mã số sinh viên]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Nội dung</a:t>
            </a:r>
            <a:endParaRPr lang="en-US" sz="3000" dirty="0"/>
          </a:p>
        </p:txBody>
      </p:sp>
      <p:sp>
        <p:nvSpPr>
          <p:cNvPr id="3" name="Card 1"/>
          <p:cNvSpPr/>
          <p:nvPr/>
        </p:nvSpPr>
        <p:spPr>
          <a:xfrm>
            <a:off x="457200" y="1371600"/>
            <a:ext cx="548640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ber circle 1"/>
          <p:cNvSpPr/>
          <p:nvPr/>
        </p:nvSpPr>
        <p:spPr>
          <a:xfrm>
            <a:off x="777240" y="169164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Number 1"/>
          <p:cNvSpPr txBox="1"/>
          <p:nvPr/>
        </p:nvSpPr>
        <p:spPr>
          <a:xfrm>
            <a:off x="77724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Heading 1"/>
          <p:cNvSpPr txBox="1"/>
          <p:nvPr/>
        </p:nvSpPr>
        <p:spPr>
          <a:xfrm>
            <a:off x="1783080" y="16916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Mô tả bài toán</a:t>
            </a:r>
            <a:endParaRPr lang="en-US" sz="2200" dirty="0"/>
          </a:p>
        </p:txBody>
      </p:sp>
      <p:sp>
        <p:nvSpPr>
          <p:cNvPr id="7" name="Description 1"/>
          <p:cNvSpPr txBox="1"/>
          <p:nvPr/>
        </p:nvSpPr>
        <p:spPr>
          <a:xfrm>
            <a:off x="1783080" y="2468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Các đối tượng cần quản lý của rạp chiếu phim và yêu cầu của từng đối tượng</a:t>
            </a:r>
            <a:endParaRPr lang="en-US" sz="1500" dirty="0"/>
          </a:p>
        </p:txBody>
      </p:sp>
      <p:sp>
        <p:nvSpPr>
          <p:cNvPr id="8" name="Slide tag 1"/>
          <p:cNvSpPr txBox="1"/>
          <p:nvPr/>
        </p:nvSpPr>
        <p:spPr>
          <a:xfrm>
            <a:off x="178308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1"/>
                </a:solidFill>
              </a:rPr>
              <a:t>SLIDE 3</a:t>
            </a:r>
            <a:endParaRPr lang="en-US" sz="1200" dirty="0"/>
          </a:p>
        </p:txBody>
      </p:sp>
      <p:sp>
        <p:nvSpPr>
          <p:cNvPr id="9" name="Card 2"/>
          <p:cNvSpPr/>
          <p:nvPr/>
        </p:nvSpPr>
        <p:spPr>
          <a:xfrm>
            <a:off x="6245352" y="1371600"/>
            <a:ext cx="548640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umber circle 2"/>
          <p:cNvSpPr/>
          <p:nvPr/>
        </p:nvSpPr>
        <p:spPr>
          <a:xfrm>
            <a:off x="6565392" y="169164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Number 2"/>
          <p:cNvSpPr txBox="1"/>
          <p:nvPr/>
        </p:nvSpPr>
        <p:spPr>
          <a:xfrm>
            <a:off x="6565392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Heading 2"/>
          <p:cNvSpPr txBox="1"/>
          <p:nvPr/>
        </p:nvSpPr>
        <p:spPr>
          <a:xfrm>
            <a:off x="7571232" y="16916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Mô hình thực thể quan hệ (ERD)</a:t>
            </a:r>
            <a:endParaRPr lang="en-US" sz="2200" dirty="0"/>
          </a:p>
        </p:txBody>
      </p:sp>
      <p:sp>
        <p:nvSpPr>
          <p:cNvPr id="13" name="Description 2"/>
          <p:cNvSpPr txBox="1"/>
          <p:nvPr/>
        </p:nvSpPr>
        <p:spPr>
          <a:xfrm>
            <a:off x="7571232" y="2468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5 thực thể, thuộc tính, quan hệ một – nhiều và nhiều – nhiều</a:t>
            </a:r>
            <a:endParaRPr lang="en-US" sz="1500" dirty="0"/>
          </a:p>
        </p:txBody>
      </p:sp>
      <p:sp>
        <p:nvSpPr>
          <p:cNvPr id="14" name="Slide tag 2"/>
          <p:cNvSpPr txBox="1"/>
          <p:nvPr/>
        </p:nvSpPr>
        <p:spPr>
          <a:xfrm>
            <a:off x="7571232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1"/>
                </a:solidFill>
              </a:rPr>
              <a:t>SLIDE 3</a:t>
            </a:r>
            <a:endParaRPr lang="en-US" sz="1200" dirty="0"/>
          </a:p>
        </p:txBody>
      </p:sp>
      <p:sp>
        <p:nvSpPr>
          <p:cNvPr id="15" name="Card 3"/>
          <p:cNvSpPr/>
          <p:nvPr/>
        </p:nvSpPr>
        <p:spPr>
          <a:xfrm>
            <a:off x="457200" y="3886200"/>
            <a:ext cx="548640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Number circle 3"/>
          <p:cNvSpPr/>
          <p:nvPr/>
        </p:nvSpPr>
        <p:spPr>
          <a:xfrm>
            <a:off x="777240" y="420624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Number 3"/>
          <p:cNvSpPr txBox="1"/>
          <p:nvPr/>
        </p:nvSpPr>
        <p:spPr>
          <a:xfrm>
            <a:off x="777240" y="4206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Heading 3"/>
          <p:cNvSpPr txBox="1"/>
          <p:nvPr/>
        </p:nvSpPr>
        <p:spPr>
          <a:xfrm>
            <a:off x="1783080" y="4206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Lược đồ CSDL và dữ liệu mẫu</a:t>
            </a:r>
            <a:endParaRPr lang="en-US" sz="2200" dirty="0"/>
          </a:p>
        </p:txBody>
      </p:sp>
      <p:sp>
        <p:nvSpPr>
          <p:cNvPr id="19" name="Description 3"/>
          <p:cNvSpPr txBox="1"/>
          <p:nvPr/>
        </p:nvSpPr>
        <p:spPr>
          <a:xfrm>
            <a:off x="1783080" y="49834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Khóa chính được gạch chân, các bảng và dữ liệu mẫu nhập vào MySQL</a:t>
            </a:r>
            <a:endParaRPr lang="en-US" sz="1500" dirty="0"/>
          </a:p>
        </p:txBody>
      </p:sp>
      <p:sp>
        <p:nvSpPr>
          <p:cNvPr id="20" name="Slide tag 3"/>
          <p:cNvSpPr txBox="1"/>
          <p:nvPr/>
        </p:nvSpPr>
        <p:spPr>
          <a:xfrm>
            <a:off x="1783080" y="5669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1"/>
                </a:solidFill>
              </a:rPr>
              <a:t>SLIDE 4</a:t>
            </a:r>
            <a:endParaRPr lang="en-US" sz="1200" dirty="0"/>
          </a:p>
        </p:txBody>
      </p:sp>
      <p:sp>
        <p:nvSpPr>
          <p:cNvPr id="21" name="Card 4"/>
          <p:cNvSpPr/>
          <p:nvPr/>
        </p:nvSpPr>
        <p:spPr>
          <a:xfrm>
            <a:off x="6245352" y="3886200"/>
            <a:ext cx="548640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Number circle 4"/>
          <p:cNvSpPr/>
          <p:nvPr/>
        </p:nvSpPr>
        <p:spPr>
          <a:xfrm>
            <a:off x="6565392" y="420624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Number 4"/>
          <p:cNvSpPr txBox="1"/>
          <p:nvPr/>
        </p:nvSpPr>
        <p:spPr>
          <a:xfrm>
            <a:off x="6565392" y="4206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24" name="Heading 4"/>
          <p:cNvSpPr txBox="1"/>
          <p:nvPr/>
        </p:nvSpPr>
        <p:spPr>
          <a:xfrm>
            <a:off x="7571232" y="4206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Ràng buộc trong phần mềm</a:t>
            </a:r>
            <a:endParaRPr lang="en-US" sz="2200" dirty="0"/>
          </a:p>
        </p:txBody>
      </p:sp>
      <p:sp>
        <p:nvSpPr>
          <p:cNvPr id="25" name="Description 4"/>
          <p:cNvSpPr txBox="1"/>
          <p:nvPr/>
        </p:nvSpPr>
        <p:spPr>
          <a:xfrm>
            <a:off x="7571232" y="49834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Miền giá trị, khóa chính và khóa ngoại được cài đặt trong MySQL</a:t>
            </a:r>
            <a:endParaRPr lang="en-US" sz="1500" dirty="0"/>
          </a:p>
        </p:txBody>
      </p:sp>
      <p:sp>
        <p:nvSpPr>
          <p:cNvPr id="26" name="Slide tag 4"/>
          <p:cNvSpPr txBox="1"/>
          <p:nvPr/>
        </p:nvSpPr>
        <p:spPr>
          <a:xfrm>
            <a:off x="7571232" y="5669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1"/>
                </a:solidFill>
              </a:rPr>
              <a:t>SLIDE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Mô tả bài toán và mô hình ERD</a:t>
            </a:r>
            <a:endParaRPr lang="en-US" sz="3000" dirty="0"/>
          </a:p>
        </p:txBody>
      </p:sp>
      <p:sp>
        <p:nvSpPr>
          <p:cNvPr id="3" name="Description card"/>
          <p:cNvSpPr/>
          <p:nvPr/>
        </p:nvSpPr>
        <p:spPr>
          <a:xfrm>
            <a:off x="457200" y="1371600"/>
            <a:ext cx="3657600" cy="49377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roblem description"/>
          <p:cNvSpPr txBox="1"/>
          <p:nvPr/>
        </p:nvSpPr>
        <p:spPr>
          <a:xfrm>
            <a:off x="640080" y="1508760"/>
            <a:ext cx="32918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Mô tả bài toán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Một cụm rạp chiếu phim cần quản lý việc bán vé. Các đối tượng cần quản lý gồm phim, phòng chiếu, suất chiếu, khách hàng và vé.</a:t>
            </a:r>
            <a:endParaRPr lang="en-US" sz="1800" dirty="0"/>
          </a:p>
          <a:p>
            <a:pPr indent="0" marL="0">
              <a:spcBef>
                <a:spcPts val="10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Phim và phòng chiếu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Phim có mã, tên, thể loại, thời lượng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Phòng chiếu có tên, loại phòng, số ghế</a:t>
            </a:r>
            <a:endParaRPr lang="en-US" sz="1800" dirty="0"/>
          </a:p>
          <a:p>
            <a:pPr indent="0" marL="0">
              <a:spcBef>
                <a:spcPts val="10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Suất chiếu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Mỗi suất thuộc một phim, chiếu tại một phòng, có ngày giờ và giá vé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Một phim (hoặc một phòng) có nhiều suất chiếu</a:t>
            </a:r>
            <a:endParaRPr lang="en-US" sz="1800" dirty="0"/>
          </a:p>
          <a:p>
            <a:pPr indent="0" marL="0">
              <a:spcBef>
                <a:spcPts val="10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Khách hàng và vé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Một khách hàng có thể đặt nhiều vé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Mỗi vé thuộc một khách hàng và một suất chiếu</a:t>
            </a:r>
            <a:endParaRPr lang="en-US" sz="1800" dirty="0"/>
          </a:p>
        </p:txBody>
      </p:sp>
      <p:sp>
        <p:nvSpPr>
          <p:cNvPr id="5" name="PHIM body"/>
          <p:cNvSpPr/>
          <p:nvPr/>
        </p:nvSpPr>
        <p:spPr>
          <a:xfrm>
            <a:off x="4389120" y="1682496"/>
            <a:ext cx="1874520" cy="1563624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6" name="PHIM header"/>
          <p:cNvSpPr/>
          <p:nvPr/>
        </p:nvSpPr>
        <p:spPr>
          <a:xfrm>
            <a:off x="4389120" y="1371600"/>
            <a:ext cx="1874520" cy="310896"/>
          </a:xfrm>
          <a:prstGeom prst="rect">
            <a:avLst/>
          </a:prstGeom>
          <a:solidFill>
            <a:schemeClr val="tx1"/>
          </a:solidFill>
          <a:ln w="1587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PHIM</a:t>
            </a:r>
            <a:endParaRPr lang="en-US" sz="1200" dirty="0"/>
          </a:p>
        </p:txBody>
      </p:sp>
      <p:sp>
        <p:nvSpPr>
          <p:cNvPr id="7" name="PHIM attributes"/>
          <p:cNvSpPr txBox="1"/>
          <p:nvPr/>
        </p:nvSpPr>
        <p:spPr>
          <a:xfrm>
            <a:off x="4498848" y="1746504"/>
            <a:ext cx="165506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u="sng" dirty="0">
                <a:solidFill>
                  <a:schemeClr val="tx1"/>
                </a:solidFill>
              </a:rPr>
              <a:t>MaPhim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TenPhim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TheLoai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ThoiLuong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NgayKhoiChieu</a:t>
            </a:r>
            <a:endParaRPr lang="en-US" sz="1050" dirty="0"/>
          </a:p>
        </p:txBody>
      </p:sp>
      <p:sp>
        <p:nvSpPr>
          <p:cNvPr id="8" name="SUATCHIEU body"/>
          <p:cNvSpPr/>
          <p:nvPr/>
        </p:nvSpPr>
        <p:spPr>
          <a:xfrm>
            <a:off x="7114032" y="1682496"/>
            <a:ext cx="1874520" cy="1563624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9" name="SUATCHIEU header"/>
          <p:cNvSpPr/>
          <p:nvPr/>
        </p:nvSpPr>
        <p:spPr>
          <a:xfrm>
            <a:off x="7114032" y="1371600"/>
            <a:ext cx="1874520" cy="310896"/>
          </a:xfrm>
          <a:prstGeom prst="rect">
            <a:avLst/>
          </a:prstGeom>
          <a:solidFill>
            <a:schemeClr val="accent1"/>
          </a:solidFill>
          <a:ln w="1587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SUATCHIEU</a:t>
            </a:r>
            <a:endParaRPr lang="en-US" sz="1200" dirty="0"/>
          </a:p>
        </p:txBody>
      </p:sp>
      <p:sp>
        <p:nvSpPr>
          <p:cNvPr id="10" name="SUATCHIEU attributes"/>
          <p:cNvSpPr txBox="1"/>
          <p:nvPr/>
        </p:nvSpPr>
        <p:spPr>
          <a:xfrm>
            <a:off x="7223760" y="1746504"/>
            <a:ext cx="165506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u="sng" dirty="0">
                <a:solidFill>
                  <a:schemeClr val="tx1"/>
                </a:solidFill>
              </a:rPr>
              <a:t>MaSuat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i="1" dirty="0">
                <a:solidFill>
                  <a:schemeClr val="tx2"/>
                </a:solidFill>
              </a:rPr>
              <a:t>MaPhim (FK)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i="1" dirty="0">
                <a:solidFill>
                  <a:schemeClr val="tx2"/>
                </a:solidFill>
              </a:rPr>
              <a:t>MaPhong (FK)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NgayChieu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GioBatDau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GiaVe</a:t>
            </a:r>
            <a:endParaRPr lang="en-US" sz="1050" dirty="0"/>
          </a:p>
        </p:txBody>
      </p:sp>
      <p:sp>
        <p:nvSpPr>
          <p:cNvPr id="11" name="PHONGCHIEU body"/>
          <p:cNvSpPr/>
          <p:nvPr/>
        </p:nvSpPr>
        <p:spPr>
          <a:xfrm>
            <a:off x="9838944" y="1682496"/>
            <a:ext cx="1874520" cy="1563624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12" name="PHONGCHIEU header"/>
          <p:cNvSpPr/>
          <p:nvPr/>
        </p:nvSpPr>
        <p:spPr>
          <a:xfrm>
            <a:off x="9838944" y="1371600"/>
            <a:ext cx="1874520" cy="310896"/>
          </a:xfrm>
          <a:prstGeom prst="rect">
            <a:avLst/>
          </a:prstGeom>
          <a:solidFill>
            <a:schemeClr val="tx1"/>
          </a:solidFill>
          <a:ln w="1587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PHONGCHIEU</a:t>
            </a:r>
            <a:endParaRPr lang="en-US" sz="1200" dirty="0"/>
          </a:p>
        </p:txBody>
      </p:sp>
      <p:sp>
        <p:nvSpPr>
          <p:cNvPr id="13" name="PHONGCHIEU attributes"/>
          <p:cNvSpPr txBox="1"/>
          <p:nvPr/>
        </p:nvSpPr>
        <p:spPr>
          <a:xfrm>
            <a:off x="9948672" y="1746504"/>
            <a:ext cx="165506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u="sng" dirty="0">
                <a:solidFill>
                  <a:schemeClr val="tx1"/>
                </a:solidFill>
              </a:rPr>
              <a:t>MaPhong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TenPhong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LoaiPhong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SoGhe</a:t>
            </a:r>
            <a:endParaRPr lang="en-US" sz="1050" dirty="0"/>
          </a:p>
        </p:txBody>
      </p:sp>
      <p:sp>
        <p:nvSpPr>
          <p:cNvPr id="14" name="KHACHHANG body"/>
          <p:cNvSpPr/>
          <p:nvPr/>
        </p:nvSpPr>
        <p:spPr>
          <a:xfrm>
            <a:off x="4389120" y="4334256"/>
            <a:ext cx="1874520" cy="1289304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15" name="KHACHHANG header"/>
          <p:cNvSpPr/>
          <p:nvPr/>
        </p:nvSpPr>
        <p:spPr>
          <a:xfrm>
            <a:off x="4389120" y="4023360"/>
            <a:ext cx="1874520" cy="310896"/>
          </a:xfrm>
          <a:prstGeom prst="rect">
            <a:avLst/>
          </a:prstGeom>
          <a:solidFill>
            <a:schemeClr val="tx1"/>
          </a:solidFill>
          <a:ln w="1587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KHACHHANG</a:t>
            </a:r>
            <a:endParaRPr lang="en-US" sz="1200" dirty="0"/>
          </a:p>
        </p:txBody>
      </p:sp>
      <p:sp>
        <p:nvSpPr>
          <p:cNvPr id="16" name="KHACHHANG attributes"/>
          <p:cNvSpPr txBox="1"/>
          <p:nvPr/>
        </p:nvSpPr>
        <p:spPr>
          <a:xfrm>
            <a:off x="4498848" y="4398264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u="sng" dirty="0">
                <a:solidFill>
                  <a:schemeClr val="tx1"/>
                </a:solidFill>
              </a:rPr>
              <a:t>MaKH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HoTen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SDT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Email</a:t>
            </a:r>
            <a:endParaRPr lang="en-US" sz="1050" dirty="0"/>
          </a:p>
        </p:txBody>
      </p:sp>
      <p:sp>
        <p:nvSpPr>
          <p:cNvPr id="17" name="VE body"/>
          <p:cNvSpPr/>
          <p:nvPr/>
        </p:nvSpPr>
        <p:spPr>
          <a:xfrm>
            <a:off x="7114032" y="4334256"/>
            <a:ext cx="1874520" cy="1289304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18" name="VE header"/>
          <p:cNvSpPr/>
          <p:nvPr/>
        </p:nvSpPr>
        <p:spPr>
          <a:xfrm>
            <a:off x="7114032" y="4023360"/>
            <a:ext cx="1874520" cy="310896"/>
          </a:xfrm>
          <a:prstGeom prst="rect">
            <a:avLst/>
          </a:prstGeom>
          <a:solidFill>
            <a:schemeClr val="accent1"/>
          </a:solidFill>
          <a:ln w="1587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VE</a:t>
            </a:r>
            <a:endParaRPr lang="en-US" sz="1200" dirty="0"/>
          </a:p>
        </p:txBody>
      </p:sp>
      <p:sp>
        <p:nvSpPr>
          <p:cNvPr id="19" name="VE attributes"/>
          <p:cNvSpPr txBox="1"/>
          <p:nvPr/>
        </p:nvSpPr>
        <p:spPr>
          <a:xfrm>
            <a:off x="7223760" y="4398264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u="sng" dirty="0">
                <a:solidFill>
                  <a:schemeClr val="tx1"/>
                </a:solidFill>
              </a:rPr>
              <a:t>MaVe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i="1" dirty="0">
                <a:solidFill>
                  <a:schemeClr val="tx2"/>
                </a:solidFill>
              </a:rPr>
              <a:t>MaSuat (FK)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i="1" dirty="0">
                <a:solidFill>
                  <a:schemeClr val="tx2"/>
                </a:solidFill>
              </a:rPr>
              <a:t>MaKH (FK)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SoGhe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NgayDat</a:t>
            </a:r>
            <a:endParaRPr lang="en-US" sz="1050" dirty="0"/>
          </a:p>
        </p:txBody>
      </p:sp>
      <p:sp>
        <p:nvSpPr>
          <p:cNvPr id="20" name="Line PHIM-SUATCHIEU"/>
          <p:cNvSpPr/>
          <p:nvPr/>
        </p:nvSpPr>
        <p:spPr>
          <a:xfrm>
            <a:off x="6263640" y="2308860"/>
            <a:ext cx="850392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</a:ln>
        </p:spPr>
      </p:sp>
      <p:sp>
        <p:nvSpPr>
          <p:cNvPr id="21" name="Relationship được chiếu"/>
          <p:cNvSpPr txBox="1"/>
          <p:nvPr/>
        </p:nvSpPr>
        <p:spPr>
          <a:xfrm>
            <a:off x="6263640" y="20345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chemeClr val="tx2"/>
                </a:solidFill>
              </a:rPr>
              <a:t>được chiếu</a:t>
            </a:r>
            <a:endParaRPr lang="en-US" sz="1050" dirty="0"/>
          </a:p>
        </p:txBody>
      </p:sp>
      <p:sp>
        <p:nvSpPr>
          <p:cNvPr id="22" name="Cardinality 1"/>
          <p:cNvSpPr txBox="1"/>
          <p:nvPr/>
        </p:nvSpPr>
        <p:spPr>
          <a:xfrm>
            <a:off x="6309360" y="234543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1</a:t>
            </a:r>
            <a:endParaRPr lang="en-US" sz="1050" dirty="0"/>
          </a:p>
        </p:txBody>
      </p:sp>
      <p:sp>
        <p:nvSpPr>
          <p:cNvPr id="23" name="Cardinality N"/>
          <p:cNvSpPr txBox="1"/>
          <p:nvPr/>
        </p:nvSpPr>
        <p:spPr>
          <a:xfrm>
            <a:off x="6793992" y="234543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</a:t>
            </a:r>
            <a:endParaRPr lang="en-US" sz="1050" dirty="0"/>
          </a:p>
        </p:txBody>
      </p:sp>
      <p:sp>
        <p:nvSpPr>
          <p:cNvPr id="24" name="Line SUATCHIEU-PHONGCHIEU"/>
          <p:cNvSpPr/>
          <p:nvPr/>
        </p:nvSpPr>
        <p:spPr>
          <a:xfrm>
            <a:off x="8988552" y="2308860"/>
            <a:ext cx="850392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</a:ln>
        </p:spPr>
      </p:sp>
      <p:sp>
        <p:nvSpPr>
          <p:cNvPr id="25" name="Relationship diễn ra tại"/>
          <p:cNvSpPr txBox="1"/>
          <p:nvPr/>
        </p:nvSpPr>
        <p:spPr>
          <a:xfrm>
            <a:off x="8988552" y="20345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chemeClr val="tx2"/>
                </a:solidFill>
              </a:rPr>
              <a:t>diễn ra tại</a:t>
            </a:r>
            <a:endParaRPr lang="en-US" sz="1050" dirty="0"/>
          </a:p>
        </p:txBody>
      </p:sp>
      <p:sp>
        <p:nvSpPr>
          <p:cNvPr id="26" name="Cardinality N"/>
          <p:cNvSpPr txBox="1"/>
          <p:nvPr/>
        </p:nvSpPr>
        <p:spPr>
          <a:xfrm>
            <a:off x="9034272" y="234543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</a:t>
            </a:r>
            <a:endParaRPr lang="en-US" sz="1050" dirty="0"/>
          </a:p>
        </p:txBody>
      </p:sp>
      <p:sp>
        <p:nvSpPr>
          <p:cNvPr id="27" name="Cardinality 1"/>
          <p:cNvSpPr txBox="1"/>
          <p:nvPr/>
        </p:nvSpPr>
        <p:spPr>
          <a:xfrm>
            <a:off x="9518904" y="234543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1</a:t>
            </a:r>
            <a:endParaRPr lang="en-US" sz="1050" dirty="0"/>
          </a:p>
        </p:txBody>
      </p:sp>
      <p:sp>
        <p:nvSpPr>
          <p:cNvPr id="28" name="Line SUATCHIEU-VE"/>
          <p:cNvSpPr/>
          <p:nvPr/>
        </p:nvSpPr>
        <p:spPr>
          <a:xfrm>
            <a:off x="8051292" y="3246120"/>
            <a:ext cx="0" cy="7772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</a:ln>
        </p:spPr>
      </p:sp>
      <p:sp>
        <p:nvSpPr>
          <p:cNvPr id="29" name="Cardinality 1"/>
          <p:cNvSpPr txBox="1"/>
          <p:nvPr/>
        </p:nvSpPr>
        <p:spPr>
          <a:xfrm>
            <a:off x="7731252" y="3273552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1</a:t>
            </a:r>
            <a:endParaRPr lang="en-US" sz="1050" dirty="0"/>
          </a:p>
        </p:txBody>
      </p:sp>
      <p:sp>
        <p:nvSpPr>
          <p:cNvPr id="30" name="Cardinality N"/>
          <p:cNvSpPr txBox="1"/>
          <p:nvPr/>
        </p:nvSpPr>
        <p:spPr>
          <a:xfrm>
            <a:off x="7731252" y="3776472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</a:t>
            </a:r>
            <a:endParaRPr lang="en-US" sz="1050" dirty="0"/>
          </a:p>
        </p:txBody>
      </p:sp>
      <p:sp>
        <p:nvSpPr>
          <p:cNvPr id="31" name="Relationship có vé"/>
          <p:cNvSpPr txBox="1"/>
          <p:nvPr/>
        </p:nvSpPr>
        <p:spPr>
          <a:xfrm>
            <a:off x="8161020" y="35250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chemeClr val="tx2"/>
                </a:solidFill>
              </a:rPr>
              <a:t>có vé</a:t>
            </a:r>
            <a:endParaRPr lang="en-US" sz="1050" dirty="0"/>
          </a:p>
        </p:txBody>
      </p:sp>
      <p:sp>
        <p:nvSpPr>
          <p:cNvPr id="32" name="Line KHACHHANG-VE"/>
          <p:cNvSpPr/>
          <p:nvPr/>
        </p:nvSpPr>
        <p:spPr>
          <a:xfrm>
            <a:off x="6263640" y="4823460"/>
            <a:ext cx="850392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</a:ln>
        </p:spPr>
      </p:sp>
      <p:sp>
        <p:nvSpPr>
          <p:cNvPr id="33" name="Relationship đặt"/>
          <p:cNvSpPr txBox="1"/>
          <p:nvPr/>
        </p:nvSpPr>
        <p:spPr>
          <a:xfrm>
            <a:off x="6263640" y="45491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chemeClr val="tx2"/>
                </a:solidFill>
              </a:rPr>
              <a:t>đặt</a:t>
            </a:r>
            <a:endParaRPr lang="en-US" sz="1050" dirty="0"/>
          </a:p>
        </p:txBody>
      </p:sp>
      <p:sp>
        <p:nvSpPr>
          <p:cNvPr id="34" name="Cardinality 1"/>
          <p:cNvSpPr txBox="1"/>
          <p:nvPr/>
        </p:nvSpPr>
        <p:spPr>
          <a:xfrm>
            <a:off x="6309360" y="486003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1</a:t>
            </a:r>
            <a:endParaRPr lang="en-US" sz="1050" dirty="0"/>
          </a:p>
        </p:txBody>
      </p:sp>
      <p:sp>
        <p:nvSpPr>
          <p:cNvPr id="35" name="Cardinality N"/>
          <p:cNvSpPr txBox="1"/>
          <p:nvPr/>
        </p:nvSpPr>
        <p:spPr>
          <a:xfrm>
            <a:off x="6793992" y="486003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</a:t>
            </a:r>
            <a:endParaRPr lang="en-US" sz="1050" dirty="0"/>
          </a:p>
        </p:txBody>
      </p:sp>
      <p:sp>
        <p:nvSpPr>
          <p:cNvPr id="36" name="Legend card"/>
          <p:cNvSpPr/>
          <p:nvPr/>
        </p:nvSpPr>
        <p:spPr>
          <a:xfrm>
            <a:off x="9838944" y="4023360"/>
            <a:ext cx="187452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Legend title"/>
          <p:cNvSpPr txBox="1"/>
          <p:nvPr/>
        </p:nvSpPr>
        <p:spPr>
          <a:xfrm>
            <a:off x="9976104" y="411480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Chú thích</a:t>
            </a:r>
            <a:endParaRPr lang="en-US" sz="1100" dirty="0"/>
          </a:p>
        </p:txBody>
      </p:sp>
      <p:sp>
        <p:nvSpPr>
          <p:cNvPr id="38" name="Legend PK sample"/>
          <p:cNvSpPr txBox="1"/>
          <p:nvPr/>
        </p:nvSpPr>
        <p:spPr>
          <a:xfrm>
            <a:off x="9976104" y="44348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u="sng" dirty="0">
                <a:solidFill>
                  <a:schemeClr val="tx1"/>
                </a:solidFill>
              </a:rPr>
              <a:t>MaXX</a:t>
            </a:r>
            <a:endParaRPr lang="en-US" sz="1050" dirty="0"/>
          </a:p>
        </p:txBody>
      </p:sp>
      <p:sp>
        <p:nvSpPr>
          <p:cNvPr id="39" name="Legend PK text"/>
          <p:cNvSpPr txBox="1"/>
          <p:nvPr/>
        </p:nvSpPr>
        <p:spPr>
          <a:xfrm>
            <a:off x="10707624" y="44348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Khóa chính</a:t>
            </a:r>
            <a:endParaRPr lang="en-US" sz="1050" dirty="0"/>
          </a:p>
        </p:txBody>
      </p:sp>
      <p:sp>
        <p:nvSpPr>
          <p:cNvPr id="40" name="Legend FK sample"/>
          <p:cNvSpPr txBox="1"/>
          <p:nvPr/>
        </p:nvSpPr>
        <p:spPr>
          <a:xfrm>
            <a:off x="9976104" y="473659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tx2"/>
                </a:solidFill>
              </a:rPr>
              <a:t>MaXX</a:t>
            </a:r>
            <a:endParaRPr lang="en-US" sz="1050" dirty="0"/>
          </a:p>
        </p:txBody>
      </p:sp>
      <p:sp>
        <p:nvSpPr>
          <p:cNvPr id="41" name="Legend FK text"/>
          <p:cNvSpPr txBox="1"/>
          <p:nvPr/>
        </p:nvSpPr>
        <p:spPr>
          <a:xfrm>
            <a:off x="10707624" y="47365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Khóa ngoại</a:t>
            </a:r>
            <a:endParaRPr lang="en-US" sz="1050" dirty="0"/>
          </a:p>
        </p:txBody>
      </p:sp>
      <p:sp>
        <p:nvSpPr>
          <p:cNvPr id="42" name="Legend junction swatch"/>
          <p:cNvSpPr/>
          <p:nvPr/>
        </p:nvSpPr>
        <p:spPr>
          <a:xfrm>
            <a:off x="9976104" y="5065776"/>
            <a:ext cx="502920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3" name="Legend junction text"/>
          <p:cNvSpPr txBox="1"/>
          <p:nvPr/>
        </p:nvSpPr>
        <p:spPr>
          <a:xfrm>
            <a:off x="10707624" y="504748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Bảng liên kết</a:t>
            </a:r>
            <a:endParaRPr lang="en-US" sz="1050" dirty="0"/>
          </a:p>
        </p:txBody>
      </p:sp>
      <p:sp>
        <p:nvSpPr>
          <p:cNvPr id="44" name="Legend cardinality sample"/>
          <p:cNvSpPr txBox="1"/>
          <p:nvPr/>
        </p:nvSpPr>
        <p:spPr>
          <a:xfrm>
            <a:off x="9976104" y="532180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1 – N</a:t>
            </a:r>
            <a:endParaRPr lang="en-US" sz="1050" dirty="0"/>
          </a:p>
        </p:txBody>
      </p:sp>
      <p:sp>
        <p:nvSpPr>
          <p:cNvPr id="45" name="Legend cardinality text"/>
          <p:cNvSpPr txBox="1"/>
          <p:nvPr/>
        </p:nvSpPr>
        <p:spPr>
          <a:xfrm>
            <a:off x="10707624" y="532180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Một – nhiều</a:t>
            </a:r>
            <a:endParaRPr lang="en-US" sz="1050" dirty="0"/>
          </a:p>
        </p:txBody>
      </p:sp>
      <p:sp>
        <p:nvSpPr>
          <p:cNvPr id="46" name="N-N note card"/>
          <p:cNvSpPr/>
          <p:nvPr/>
        </p:nvSpPr>
        <p:spPr>
          <a:xfrm>
            <a:off x="4389120" y="5760720"/>
            <a:ext cx="7324344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N-N note"/>
          <p:cNvSpPr txBox="1"/>
          <p:nvPr/>
        </p:nvSpPr>
        <p:spPr>
          <a:xfrm>
            <a:off x="4526280" y="5760720"/>
            <a:ext cx="7050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Quan hệ N – N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được tách thành hai quan hệ 1 – N qua bảng liên kết: KHACHHANG – SUATCHIEU qua bảng VE; PHIM – PHONGCHIEU qua bảng SUATCHIEU.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Lược đồ CSDL, dữ liệu mẫu và ràng buộc</a:t>
            </a:r>
            <a:endParaRPr lang="en-US" sz="3000" dirty="0"/>
          </a:p>
        </p:txBody>
      </p:sp>
      <p:sp>
        <p:nvSpPr>
          <p:cNvPr id="3" name="Schema card"/>
          <p:cNvSpPr/>
          <p:nvPr/>
        </p:nvSpPr>
        <p:spPr>
          <a:xfrm>
            <a:off x="457200" y="1280160"/>
            <a:ext cx="5440680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chema title"/>
          <p:cNvSpPr txBox="1"/>
          <p:nvPr/>
        </p:nvSpPr>
        <p:spPr>
          <a:xfrm>
            <a:off x="640080" y="1389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Lược đồ cơ sở dữ liệu</a:t>
            </a:r>
            <a:endParaRPr lang="en-US" sz="1500" dirty="0"/>
          </a:p>
        </p:txBody>
      </p:sp>
      <p:sp>
        <p:nvSpPr>
          <p:cNvPr id="5" name="Schema legend"/>
          <p:cNvSpPr txBox="1"/>
          <p:nvPr/>
        </p:nvSpPr>
        <p:spPr>
          <a:xfrm>
            <a:off x="640080" y="168249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Gạch chân: khóa chính  ·  In nghiêng: khóa ngoại</a:t>
            </a:r>
            <a:endParaRPr lang="en-US" sz="1050" dirty="0"/>
          </a:p>
        </p:txBody>
      </p:sp>
      <p:sp>
        <p:nvSpPr>
          <p:cNvPr id="6" name="Schema relations"/>
          <p:cNvSpPr txBox="1"/>
          <p:nvPr/>
        </p:nvSpPr>
        <p:spPr>
          <a:xfrm>
            <a:off x="640080" y="1993392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PHIM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 (</a:t>
            </a:r>
            <a:pPr indent="0" marL="0">
              <a:lnSpc>
                <a:spcPts val="1900"/>
              </a:lnSpc>
              <a:buNone/>
            </a:pPr>
            <a:r>
              <a:rPr lang="en-US" sz="1200" b="1" u="sng" dirty="0">
                <a:solidFill>
                  <a:schemeClr val="tx1"/>
                </a:solidFill>
              </a:rPr>
              <a:t>MaPhim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TenPhim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TheLoai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ThoiLuong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NgayKhoiChieu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)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PHONGCHIEU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 (</a:t>
            </a:r>
            <a:pPr indent="0" marL="0">
              <a:lnSpc>
                <a:spcPts val="1900"/>
              </a:lnSpc>
              <a:buNone/>
            </a:pPr>
            <a:r>
              <a:rPr lang="en-US" sz="1200" b="1" u="sng" dirty="0">
                <a:solidFill>
                  <a:schemeClr val="tx1"/>
                </a:solidFill>
              </a:rPr>
              <a:t>MaPhong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TenPhong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LoaiPhong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SoGhe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)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SUATCHIEU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 (</a:t>
            </a:r>
            <a:pPr indent="0" marL="0">
              <a:lnSpc>
                <a:spcPts val="1900"/>
              </a:lnSpc>
              <a:buNone/>
            </a:pPr>
            <a:r>
              <a:rPr lang="en-US" sz="1200" b="1" u="sng" dirty="0">
                <a:solidFill>
                  <a:schemeClr val="tx1"/>
                </a:solidFill>
              </a:rPr>
              <a:t>MaSuat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i="1" dirty="0">
                <a:solidFill>
                  <a:schemeClr val="tx2"/>
                </a:solidFill>
              </a:rPr>
              <a:t>MaPhim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i="1" dirty="0">
                <a:solidFill>
                  <a:schemeClr val="tx2"/>
                </a:solidFill>
              </a:rPr>
              <a:t>MaPhong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NgayChieu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GioBatDau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GiaVe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)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KHACHHANG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 (</a:t>
            </a:r>
            <a:pPr indent="0" marL="0">
              <a:lnSpc>
                <a:spcPts val="1900"/>
              </a:lnSpc>
              <a:buNone/>
            </a:pPr>
            <a:r>
              <a:rPr lang="en-US" sz="1200" b="1" u="sng" dirty="0">
                <a:solidFill>
                  <a:schemeClr val="tx1"/>
                </a:solidFill>
              </a:rPr>
              <a:t>MaKH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HoTen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SDT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Email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)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VE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 (</a:t>
            </a:r>
            <a:pPr indent="0" marL="0">
              <a:lnSpc>
                <a:spcPts val="1900"/>
              </a:lnSpc>
              <a:buNone/>
            </a:pPr>
            <a:r>
              <a:rPr lang="en-US" sz="1200" b="1" u="sng" dirty="0">
                <a:solidFill>
                  <a:schemeClr val="tx1"/>
                </a:solidFill>
              </a:rPr>
              <a:t>MaVe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i="1" dirty="0">
                <a:solidFill>
                  <a:schemeClr val="tx2"/>
                </a:solidFill>
              </a:rPr>
              <a:t>MaSuat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i="1" dirty="0">
                <a:solidFill>
                  <a:schemeClr val="tx2"/>
                </a:solidFill>
              </a:rPr>
              <a:t>MaKH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SoGhe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NgayDat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)</a:t>
            </a:r>
            <a:endParaRPr lang="en-US" sz="1200" dirty="0"/>
          </a:p>
        </p:txBody>
      </p:sp>
      <p:sp>
        <p:nvSpPr>
          <p:cNvPr id="7" name="Constraints card"/>
          <p:cNvSpPr/>
          <p:nvPr/>
        </p:nvSpPr>
        <p:spPr>
          <a:xfrm>
            <a:off x="457200" y="3520440"/>
            <a:ext cx="5440680" cy="2788920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onstraints text"/>
          <p:cNvSpPr txBox="1"/>
          <p:nvPr/>
        </p:nvSpPr>
        <p:spPr>
          <a:xfrm>
            <a:off x="640080" y="3630168"/>
            <a:ext cx="5120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Ràng buộc trong phần mềm</a:t>
            </a:r>
            <a:endParaRPr lang="en-US" sz="15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250" b="1" dirty="0">
                <a:solidFill>
                  <a:schemeClr val="tx2"/>
                </a:solidFill>
              </a:rPr>
              <a:t>Khóa chính (PRIMARY KEY)</a:t>
            </a:r>
            <a:endParaRPr lang="en-US" sz="15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MaPhim, MaPhong, MaSuat, MaKH, MaVe: duy nhất, không NULL</a:t>
            </a:r>
            <a:endParaRPr lang="en-US" sz="15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250" b="1" dirty="0">
                <a:solidFill>
                  <a:schemeClr val="tx2"/>
                </a:solidFill>
              </a:rPr>
              <a:t>Khóa ngoại (FOREIGN KEY)</a:t>
            </a:r>
            <a:endParaRPr lang="en-US" sz="15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SUATCHIEU.MaPhim → PHIM;  SUATCHIEU.MaPhong → PHONGCHIEU</a:t>
            </a:r>
            <a:endParaRPr lang="en-US" sz="15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VE.MaSuat → SUATCHIEU;  VE.MaKH → KHACHHANG</a:t>
            </a:r>
            <a:endParaRPr lang="en-US" sz="15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250" b="1" dirty="0">
                <a:solidFill>
                  <a:schemeClr val="tx2"/>
                </a:solidFill>
              </a:rPr>
              <a:t>Miền giá trị (CHECK, UNIQUE)</a:t>
            </a:r>
            <a:endParaRPr lang="en-US" sz="15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ThoiLuong &gt; 0;  SoGhe &gt; 0;  GiaVe ≥ 0</a:t>
            </a:r>
            <a:endParaRPr lang="en-US" sz="15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LoaiPhong chỉ nhận 2D, 3D hoặc IMAX</a:t>
            </a:r>
            <a:endParaRPr lang="en-US" sz="15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SDT gồm 10 chữ số, không trùng</a:t>
            </a:r>
            <a:endParaRPr lang="en-US" sz="15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VE: UNIQUE (MaSuat, SoGhe), một ghế chỉ bán một lần cho mỗi suất</a:t>
            </a:r>
            <a:endParaRPr lang="en-US" sz="1500" dirty="0"/>
          </a:p>
        </p:txBody>
      </p:sp>
      <p:sp>
        <p:nvSpPr>
          <p:cNvPr id="9" name="Sample data title"/>
          <p:cNvSpPr txBox="1"/>
          <p:nvPr/>
        </p:nvSpPr>
        <p:spPr>
          <a:xfrm>
            <a:off x="6126480" y="1280160"/>
            <a:ext cx="5605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Dữ liệu mẫu nhập vào MySQL</a:t>
            </a:r>
            <a:endParaRPr lang="en-US" sz="1500" dirty="0"/>
          </a:p>
        </p:txBody>
      </p:sp>
      <p:graphicFrame>
        <p:nvGraphicFramePr>
          <p:cNvPr id="5" name="Sample data PHIM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627632"/>
          <a:ext cx="560527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960120"/>
                <a:gridCol w="868680"/>
                <a:gridCol w="1261872"/>
              </a:tblGrid>
              <a:tr h="173736">
                <a:tc gridSpan="5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PHIM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u="sng" dirty="0">
                          <a:solidFill>
                            <a:schemeClr val="tx1"/>
                          </a:solidFill>
                        </a:rPr>
                        <a:t>MaPhim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TenPhim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TheLoai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ThoiLuong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NgayKhoiChieu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Mai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Tâm lý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2024-02-10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Inside Out 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Hoạt hình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96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2024-06-14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F03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Avengers: Endgame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Hành động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2019-04-26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Sample data PHONGCHIE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560320"/>
          <a:ext cx="560527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1463040"/>
                <a:gridCol w="1307592"/>
              </a:tblGrid>
              <a:tr h="173736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PHONGCHIEU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u="sng" dirty="0">
                          <a:solidFill>
                            <a:schemeClr val="tx1"/>
                          </a:solidFill>
                        </a:rPr>
                        <a:t>MaPhong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TenPhong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LoaiPhong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SoGhe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Phòng 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2D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Phòng 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3D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R03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Phòng IMAX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IMAX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Sample data SUATCHIE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3493008"/>
          <a:ext cx="560527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777240"/>
                <a:gridCol w="868680"/>
                <a:gridCol w="1097280"/>
                <a:gridCol w="1097280"/>
                <a:gridCol w="987552"/>
              </a:tblGrid>
              <a:tr h="173736">
                <a:tc gridSpan="6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SUATCHIEU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u="sng" dirty="0">
                          <a:solidFill>
                            <a:schemeClr val="tx1"/>
                          </a:solidFill>
                        </a:rPr>
                        <a:t>MaSuat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i="1" dirty="0">
                          <a:solidFill>
                            <a:schemeClr val="tx1"/>
                          </a:solidFill>
                        </a:rPr>
                        <a:t>MaPhim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i="1" dirty="0">
                          <a:solidFill>
                            <a:schemeClr val="tx1"/>
                          </a:solidFill>
                        </a:rPr>
                        <a:t>MaPhong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NgayChieu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GioBatDau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GiaVe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2025-03-20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18:00:00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90000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2025-03-20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20:30:00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110000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S03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F03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R03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2025-03-21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19:00:00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150000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Sample data KHACHHA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4425696"/>
          <a:ext cx="560527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170432"/>
                <a:gridCol w="2286000"/>
              </a:tblGrid>
              <a:tr h="173736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KHACHHANG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u="sng" dirty="0">
                          <a:solidFill>
                            <a:schemeClr val="tx1"/>
                          </a:solidFill>
                        </a:rPr>
                        <a:t>MaKH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HoTen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SDT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Email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KH01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Nguyễn Văn An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0901234567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an.nguyen@example.com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KH02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Trần Thị Bình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0912345678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binh.tran@example.com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KH03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Lê Hoàng Cường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0987654321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cuong.le@example.com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Sample data V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5358384"/>
          <a:ext cx="56052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05840"/>
                <a:gridCol w="1005840"/>
                <a:gridCol w="1764792"/>
              </a:tblGrid>
              <a:tr h="173736">
                <a:tc gridSpan="5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VE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u="sng" dirty="0">
                          <a:solidFill>
                            <a:schemeClr val="tx1"/>
                          </a:solidFill>
                        </a:rPr>
                        <a:t>MaVe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i="1" dirty="0">
                          <a:solidFill>
                            <a:schemeClr val="tx1"/>
                          </a:solidFill>
                        </a:rPr>
                        <a:t>MaSuat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i="1" dirty="0">
                          <a:solidFill>
                            <a:schemeClr val="tx1"/>
                          </a:solidFill>
                        </a:rPr>
                        <a:t>MaKH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SoGhe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NgayDat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V01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KH01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2025-03-18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V02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KH02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2025-03-18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V03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KH01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2025-03-19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-you ticket body"/>
          <p:cNvSpPr/>
          <p:nvPr/>
        </p:nvSpPr>
        <p:spPr>
          <a:xfrm>
            <a:off x="2011680" y="2103120"/>
            <a:ext cx="8165592" cy="246888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hank-you ticket notch top"/>
          <p:cNvSpPr/>
          <p:nvPr/>
        </p:nvSpPr>
        <p:spPr>
          <a:xfrm>
            <a:off x="7598664" y="1901952"/>
            <a:ext cx="402336" cy="40233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hank-you ticket notch bottom"/>
          <p:cNvSpPr/>
          <p:nvPr/>
        </p:nvSpPr>
        <p:spPr>
          <a:xfrm>
            <a:off x="7598664" y="4370832"/>
            <a:ext cx="402336" cy="40233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hank-you ticket perforation"/>
          <p:cNvSpPr/>
          <p:nvPr/>
        </p:nvSpPr>
        <p:spPr>
          <a:xfrm>
            <a:off x="7799832" y="2395728"/>
            <a:ext cx="0" cy="1883664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2468880" y="25146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Cảm ơn</a:t>
            </a:r>
            <a:endParaRPr lang="en-US" sz="5400" dirty="0"/>
          </a:p>
        </p:txBody>
      </p:sp>
      <p:sp>
        <p:nvSpPr>
          <p:cNvPr id="7" name="Thanks line"/>
          <p:cNvSpPr txBox="1"/>
          <p:nvPr/>
        </p:nvSpPr>
        <p:spPr>
          <a:xfrm>
            <a:off x="2468880" y="36118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Xin cảm ơn thầy/cô và các bạn đã lắng nghe</a:t>
            </a:r>
            <a:endParaRPr lang="en-US" sz="1800" dirty="0"/>
          </a:p>
        </p:txBody>
      </p:sp>
      <p:sp>
        <p:nvSpPr>
          <p:cNvPr id="8" name="Stub Q&amp;amp;A"/>
          <p:cNvSpPr txBox="1"/>
          <p:nvPr/>
        </p:nvSpPr>
        <p:spPr>
          <a:xfrm>
            <a:off x="78181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4400" dirty="0"/>
          </a:p>
        </p:txBody>
      </p:sp>
      <p:sp>
        <p:nvSpPr>
          <p:cNvPr id="9" name="Stub caption"/>
          <p:cNvSpPr txBox="1"/>
          <p:nvPr/>
        </p:nvSpPr>
        <p:spPr>
          <a:xfrm>
            <a:off x="7818120" y="3429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Câu hỏi</a:t>
            </a:r>
            <a:endParaRPr lang="en-US" sz="1800" dirty="0"/>
          </a:p>
        </p:txBody>
      </p:sp>
      <p:sp>
        <p:nvSpPr>
          <p:cNvPr id="10" name="Closing line"/>
          <p:cNvSpPr txBox="1"/>
          <p:nvPr/>
        </p:nvSpPr>
        <p:spPr>
          <a:xfrm>
            <a:off x="2011680" y="5120640"/>
            <a:ext cx="816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Quản lý đặt vé rạp chiếu phim  |  Hệ quản trị cơ sở dữ liệu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p Chieu Phim">
  <a:themeElements>
    <a:clrScheme name="Rap Chieu Phim">
      <a:dk1>
        <a:srgbClr val="1B1F3B"/>
      </a:dk1>
      <a:lt1>
        <a:srgbClr val="FFFFFF"/>
      </a:lt1>
      <a:dk2>
        <a:srgbClr val="3A3F73"/>
      </a:dk2>
      <a:lt2>
        <a:srgbClr val="EEF0F8"/>
      </a:lt2>
      <a:accent1>
        <a:srgbClr val="E4A63A"/>
      </a:accent1>
      <a:accent2>
        <a:srgbClr val="C0392B"/>
      </a:accent2>
      <a:accent3>
        <a:srgbClr val="2E86AB"/>
      </a:accent3>
      <a:accent4>
        <a:srgbClr val="5C6BC0"/>
      </a:accent4>
      <a:accent5>
        <a:srgbClr val="3F8F6B"/>
      </a:accent5>
      <a:accent6>
        <a:srgbClr val="8E5BA6"/>
      </a:accent6>
      <a:hlink>
        <a:srgbClr val="2E86AB"/>
      </a:hlink>
      <a:folHlink>
        <a:srgbClr val="8E5BA6"/>
      </a:folHlink>
    </a:clrScheme>
    <a:fontScheme name="Rap Chieu Phi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Quản lý đặt vé rạp chiếu phim</dc:title>
  <dc:subject>Hệ quản trị cơ sở dữ liệu - Kiểm tra giữa kỳ lần 1</dc:subject>
  <dc:creator>PptxGenJS</dc:creator>
  <cp:lastModifiedBy>PptxGenJS</cp:lastModifiedBy>
  <cp:revision>1</cp:revision>
  <dcterms:created xsi:type="dcterms:W3CDTF">2026-10-12T15:14:51Z</dcterms:created>
  <dcterms:modified xsi:type="dcterms:W3CDTF">2026-10-12T15:14:51Z</dcterms:modified>
</cp:coreProperties>
</file>