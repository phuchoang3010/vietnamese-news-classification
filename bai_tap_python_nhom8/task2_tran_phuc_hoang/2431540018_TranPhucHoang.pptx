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ở đầu" id="{738746d1-a3a1-0dff-7207-85bad1651c69}">
          <p14:sldIdLst>
            <p14:sldId id="256"/>
            <p14:sldId id="257"/>
          </p14:sldIdLst>
        </p14:section>
        <p14:section name="Chuẩn hóa dữ liệu" id="{987e8be1-8579-f428-99b3-3c9a01d304cf}">
          <p14:sldIdLst>
            <p14:sldId id="258"/>
            <p14:sldId id="259"/>
            <p14:sldId id="260"/>
          </p14:sldIdLst>
        </p14:section>
        <p14:section name="Mô hình kho dữ liệu" id="{80c6aa58-f64a-0f8e-1fd9-8b6df576dfed}">
          <p14:sldIdLst>
            <p14:sldId id="261"/>
            <p14:sldId id="262"/>
            <p14:sldId id="263"/>
          </p14:sldIdLst>
        </p14:section>
        <p14:section name="Kết quả &amp; tổng kết" id="{7b63ae4e-ff35-ded2-adde-e75229f98026}">
          <p14:sldIdLst>
            <p14:sldId id="264"/>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E3D2F"/>
                </a:solidFill>
                <a:latin typeface="+mn-lt"/>
              </a:defRPr>
            </a:pPr>
            <a:r>
              <a:rPr sz="1400" b="0" i="0" u="none" strike="noStrike">
                <a:solidFill>
                  <a:srgbClr val="1E3D2F"/>
                </a:solidFill>
                <a:latin typeface="+mn-lt"/>
              </a:rPr>
              <a:t>Số ứng viên không đạt ở mỗi vòng (dữ liệu mẫu)</a:t>
            </a:r>
          </a:p>
        </c:rich>
      </c:tx>
      <c:layout/>
      <c:overlay val="0"/>
    </c:title>
    <c:autoTitleDeleted val="0"/>
    <c:plotArea>
      <c:layout/>
      <c:barChart>
        <c:barDir val="col"/>
        <c:grouping val="clustered"/>
        <c:varyColors val="0"/>
        <c:ser>
          <c:idx val="0"/>
          <c:order val="0"/>
          <c:tx>
            <c:strRef>
              <c:f>Sheet1!$B$1</c:f>
              <c:strCache>
                <c:ptCount val="1"/>
                <c:pt idx="0">
                  <c:v>Không đạt</c:v>
                </c:pt>
              </c:strCache>
            </c:strRef>
          </c:tx>
          <c:spPr>
            <a:solidFill>
              <a:srgbClr val="C0392B"/>
            </a:solidFill>
            <a:effectLst/>
          </c:spPr>
          <c:invertIfNegative val="0"/>
          <c:dLbls>
            <c:numFmt formatCode="#,##0" sourceLinked="0"/>
            <c:txPr>
              <a:bodyPr/>
              <a:lstStyle/>
              <a:p>
                <a:pPr>
                  <a:defRPr b="0" i="0" strike="noStrike" sz="1400" u="none">
                    <a:solidFill>
                      <a:srgbClr val="1B2A24"/>
                    </a:solidFill>
                    <a:latin typeface="+mn-lt"/>
                  </a:defRPr>
                </a:pPr>
              </a:p>
            </c:txPr>
            <c:showLegendKey val="0"/>
            <c:showVal val="1"/>
            <c:showCatName val="0"/>
            <c:showSerName val="0"/>
            <c:showPercent val="0"/>
            <c:showBubbleSize val="0"/>
            <c:showLeaderLines val="0"/>
          </c:dLbls>
          <c:cat>
            <c:multiLvlStrRef>
              <c:f>Sheet1!$A$2:$A$4</c:f>
              <c:multiLvlStrCache>
                <c:ptCount val="3"/>
                <c:lvl>
                  <c:pt idx="0">
                    <c:v>Sàng lọc</c:v>
                  </c:pt>
                  <c:pt idx="1">
                    <c:v>Phỏng vấn</c:v>
                  </c:pt>
                  <c:pt idx="2">
                    <c:v>Đề nghị</c:v>
                  </c:pt>
                </c:lvl>
              </c:multiLvlStrCache>
            </c:multiLvlStrRef>
          </c:cat>
          <c:val>
            <c:numRef>
              <c:f>Sheet1!$B$2:$B$4</c:f>
              <c:numCache>
                <c:formatCode>General</c:formatCode>
                <c:ptCount val="3"/>
                <c:pt idx="0">
                  <c:v>34</c:v>
                </c:pt>
                <c:pt idx="1">
                  <c:v>27</c:v>
                </c:pt>
                <c:pt idx="2">
                  <c:v>5</c:v>
                </c:pt>
              </c:numCache>
            </c:numRef>
          </c:val>
        </c:ser>
        <c:dLbls>
          <c:numFmt formatCode="#,##0" sourceLinked="0"/>
          <c:txPr>
            <a:bodyPr/>
            <a:lstStyle/>
            <a:p>
              <a:pPr>
                <a:defRPr b="0" i="0" strike="noStrike" sz="1400" u="none">
                  <a:solidFill>
                    <a:srgbClr val="1B2A24"/>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5E6B66"/>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1EBE4"/>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E6B66"/>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 chào thầy cô và các bạn. Em là Trần Phúc Hoàng, thành viên nhóm 8. Phần của em là Task 2: đặt quy tắc chuẩn hóa dữ liệu ứng viên và thiết kế các bảng cho kho dữ liệu của nhóm.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Khi mỗi người ghi một kiểu thì máy tính sẽ hiểu “DA” và “Data Analyst” là hai vị trí khác nhau, nên báo cáo bị sai. Vì vậy mục tiêu của em là đặt quy tắc ghi thống nhất và thiết kế các bảng để lưu dữ liệu gọn gàng, đúng chuẩn.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 chia dữ liệu tuyển dụng thành 5 nhóm thông tin như đề bài gợi ý: ứng viên, vị trí, nguồn, vòng phỏng vấn và trạng thái. Cả 5 nhóm gặp nhau ở hồ sơ ứng tuyển: mỗi hồ sơ cho biết ai nộp, nộp vị trí nào, từ nguồn nào, đang ở vòng nào và kết quả ra sao. Năm nhóm này sẽ trở thành các bảng (thực thể) trong sơ đồ ERD ở slide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bộ quy tắc chung cho từng thông tin của ứng viên. Ví dụ ngày tháng em chọn dạng năm-tháng-ngày theo chuẩn quốc tế ISO 8601, vì sắp xếp đúng thứ tự và không bị nhầm ngày với tháng. Nhờ ghi giống nhau mà máy tính mới so sánh và đếm đúng được.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Vòng và trạng thái là hai thông tin bị ghi lộn xộn nhất. Em quy định 5 vòng có thứ tự và 4 trạng thái cố định, mọi cách ghi khác đều được đổi về danh sách này. Nhờ tách riêng vòng và trạng thái mà ta biết được ứng viên bị loại ở vòng nào.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Nếu để chung một bảng, tên vị trí và phòng ban bị lặp lại ở rất nhiều dòng, muốn đổi tên phải sửa từng dòng và dễ sót. Em tách những thông tin lặp ra bảng riêng, trong hồ sơ chỉ lưu mã số, ứng viên cũng được tách tương tự. Cách làm này gọi là chuẩn hóa bảng, giúp dữ liệu gọn và không mâu thuẫn.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sơ đồ ERD, tức sơ đồ thực thể – quan hệ, của kho dữ liệu 6 bảng: bảng ho_so_ung_tuyen ở giữa, mỗi dòng là một lần nộp hồ sơ. Mỗi đường nối đi từ cột FK của bảng chính tới cột PK của một bảng xung quanh, số 1 và n cho biết quan hệ một – nhiều. Ví dụ một ứng viên có thể nộp nhiều vị trí, nên một ứng viên nối với nhiều hồ sơ.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Ngoài quy tắc trong code Python, em còn đặt ràng buộc ngay trong cơ sở dữ liệu, chữ màu cam trong code chính là các ràng buộc này. Ví dụ hai ứng viên không thể có cùng email, điểm AI không thể là 150, và không thể ghi một vòng không có trong danh mục. Nếu dữ liệu sai, cơ sở dữ liệu sẽ tự từ chối không cho lưu.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 chạy thử file tao_kho_du_lieu.py với 221 dòng dữ liệu mẫu: 17 cách ghi vòng khác nhau được gom về 5 vòng chuẩn, 5 dòng lỗi được tách ra cho HR kiểm tra, 9 hồ sơ trùng bị bỏ, còn lại 207 hồ sơ. Nhờ tách vòng và trạng thái, em đếm được số người trượt ở từng vòng, nhiều nhất là vòng sàng lọc. Khi thử lưu 3 dữ liệu sai, cơ sở dữ liệu đều chặn lại.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Khó nhất là một giá trị có quá nhiều cách ghi và phải thống nhất danh mục với cả nhóm. Sau này em muốn thêm bảng lịch sử để biết ngày ứng viên qua từng vòng, thêm bảng kỹ năng cho phần AI và tự động kiểm tra chất lượng dữ liệu mỗi ngày. Em xin cảm ơn thầy cô và các bạn đã lắng nghe.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1234440"/>
            <a:ext cx="7223760" cy="1737360"/>
          </a:xfrm>
          <a:prstGeom prst="rect">
            <a:avLst/>
          </a:prstGeom>
          <a:noFill/>
          <a:ln/>
        </p:spPr>
        <p:txBody>
          <a:bodyPr wrap="square" rtlCol="0"/>
          <a:lstStyle>
            <a:lvl1pPr algn="l" indent="0" marL="0">
              <a:buNone/>
              <a:defRPr lang="en-US" sz="40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3" name="Text 0"/>
          <p:cNvSpPr/>
          <p:nvPr>
            <p:ph idx="101" type="body" hasCustomPrompt="1"/>
          </p:nvPr>
        </p:nvSpPr>
        <p:spPr>
          <a:xfrm>
            <a:off x="640080" y="3063240"/>
            <a:ext cx="7223760" cy="868680"/>
          </a:xfrm>
          <a:prstGeom prst="rect">
            <a:avLst/>
          </a:prstGeom>
          <a:noFill/>
          <a:ln/>
        </p:spPr>
        <p:txBody>
          <a:bodyPr wrap="square" rtlCol="0"/>
          <a:lstStyle>
            <a:lvl1pPr indent="0" marL="0">
              <a:buNone/>
              <a:defRPr lang="en-US" sz="1800" dirty="0">
                <a:solidFill>
                  <a:schemeClr val="accent6"/>
                </a:solidFill>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77240"/>
          </a:xfrm>
          <a:prstGeom prst="rect">
            <a:avLst/>
          </a:prstGeom>
          <a:noFill/>
          <a:ln/>
        </p:spPr>
        <p:txBody>
          <a:bodyPr wrap="square" rtlCol="0"/>
          <a:lstStyle>
            <a:lvl1pPr algn="l" indent="0" marL="0">
              <a:buNone/>
              <a:defRPr lang="en-US" sz="3200" b="1" dirty="0">
                <a:solidFill>
                  <a:schemeClr val="tx2"/>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3" name="Text 0"/>
          <p:cNvSpPr/>
          <p:nvPr/>
        </p:nvSpPr>
        <p:spPr>
          <a:xfrm>
            <a:off x="548640" y="6355080"/>
            <a:ext cx="7315200" cy="320040"/>
          </a:xfrm>
          <a:prstGeom prst="rect">
            <a:avLst/>
          </a:prstGeom>
          <a:noFill/>
          <a:ln/>
        </p:spPr>
        <p:txBody>
          <a:bodyPr wrap="square" lIns="0" tIns="0" rIns="0" bIns="0" rtlCol="0" anchor="ctr"/>
          <a:lstStyle/>
          <a:p>
            <a:pPr indent="0" marL="0">
              <a:buNone/>
            </a:pPr>
            <a:r>
              <a:rPr lang="en-US" sz="1000" dirty="0">
                <a:solidFill>
                  <a:schemeClr val="accent4"/>
                </a:solidFill>
              </a:rPr>
              <a:t>Nhóm 8 · Đề tài AI 9 · Task 2 – Trần Phúc Hoàng</a:t>
            </a:r>
            <a:endParaRPr lang="en-US" sz="1000" dirty="0"/>
          </a:p>
        </p:txBody>
      </p:sp>
      <p:sp>
        <p:nvSpPr>
          <p:cNvPr id="25" name="Slide Number Placeholder 0"/>
          <p:cNvSpPr>
            <a:spLocks noGrp="1"/>
          </p:cNvSpPr>
          <p:nvPr>
            <p:ph type="sldNum" sz="quarter" idx="4294967295"/>
          </p:nvPr>
        </p:nvSpPr>
        <p:spPr>
          <a:xfrm>
            <a:off x="11183112" y="635508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77240"/>
          </a:xfrm>
          <a:prstGeom prst="rect">
            <a:avLst/>
          </a:prstGeom>
          <a:noFill/>
          <a:ln/>
        </p:spPr>
        <p:txBody>
          <a:bodyPr wrap="square" rtlCol="0"/>
          <a:lstStyle>
            <a:lvl1pPr algn="l" indent="0" marL="0">
              <a:buNone/>
              <a:defRPr lang="en-US" sz="32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183112" y="635508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3112" y="635508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2.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3.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3.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4.xml"/><Relationship Id="rId5"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Course tag"/>
          <p:cNvSpPr txBox="1"/>
          <p:nvPr/>
        </p:nvSpPr>
        <p:spPr>
          <a:xfrm>
            <a:off x="640080" y="685800"/>
            <a:ext cx="7223760" cy="365760"/>
          </a:xfrm>
          <a:prstGeom prst="rect">
            <a:avLst/>
          </a:prstGeom>
          <a:noFill/>
          <a:ln/>
        </p:spPr>
        <p:txBody>
          <a:bodyPr wrap="square" lIns="0" tIns="0" rIns="0" bIns="0" rtlCol="0" anchor="ctr"/>
          <a:lstStyle/>
          <a:p>
            <a:pPr indent="0" marL="0">
              <a:buNone/>
            </a:pPr>
            <a:r>
              <a:rPr lang="en-US" sz="1400" b="1" spc="200" kern="0" dirty="0">
                <a:solidFill>
                  <a:schemeClr val="accent2"/>
                </a:solidFill>
              </a:rPr>
              <a:t>MÔN LẬP TRÌNH PYTHON · BÀI TẬP LỚN THEO NHÓM</a:t>
            </a:r>
            <a:endParaRPr lang="en-US" sz="1400" dirty="0"/>
          </a:p>
        </p:txBody>
      </p:sp>
      <p:sp>
        <p:nvSpPr>
          <p:cNvPr id="3" name="Text 0"/>
          <p:cNvSpPr/>
          <p:nvPr>
            <p:ph idx="100" type="title" hasCustomPrompt="1"/>
          </p:nvPr>
        </p:nvSpPr>
        <p:spPr>
          <a:xfrm>
            <a:off x="640080" y="1234440"/>
            <a:ext cx="7223760" cy="1737360"/>
          </a:xfrm>
          <a:prstGeom prst="rect">
            <a:avLst/>
          </a:prstGeom>
          <a:noFill/>
          <a:ln/>
        </p:spPr>
        <p:txBody>
          <a:bodyPr wrap="square" lIns="0" tIns="0" rIns="0" bIns="0" rtlCol="0" anchor="t"/>
          <a:lstStyle/>
          <a:p>
            <a:pPr algn="l" indent="0" marL="0">
              <a:buNone/>
            </a:pPr>
            <a:r>
              <a:rPr lang="en-US" sz="4000" b="1" dirty="0">
                <a:solidFill>
                  <a:schemeClr val="bg1"/>
                </a:solidFill>
                <a:latin typeface="Cambria" pitchFamily="34" charset="0"/>
                <a:ea typeface="Cambria" pitchFamily="34" charset="-122"/>
                <a:cs typeface="Cambria" pitchFamily="34" charset="-120"/>
              </a:rPr>
              <a:t>Chuẩn hóa dữ liệu ứng viên và mô hình kho dữ liệu</a:t>
            </a:r>
            <a:endParaRPr lang="en-US" sz="4000" dirty="0"/>
          </a:p>
        </p:txBody>
      </p:sp>
      <p:sp>
        <p:nvSpPr>
          <p:cNvPr id="4" name="Text 0"/>
          <p:cNvSpPr/>
          <p:nvPr>
            <p:ph idx="101" type="body" hasCustomPrompt="1"/>
          </p:nvPr>
        </p:nvSpPr>
        <p:spPr>
          <a:xfrm>
            <a:off x="640080" y="3063240"/>
            <a:ext cx="7223760" cy="868680"/>
          </a:xfrm>
          <a:prstGeom prst="rect">
            <a:avLst/>
          </a:prstGeom>
          <a:noFill/>
          <a:ln/>
        </p:spPr>
        <p:txBody>
          <a:bodyPr wrap="square" lIns="0" tIns="0" rIns="0" bIns="0" rtlCol="0" anchor="t"/>
          <a:lstStyle/>
          <a:p>
            <a:pPr indent="0" marL="0">
              <a:buNone/>
            </a:pPr>
            <a:r>
              <a:rPr lang="en-US" sz="1800" dirty="0">
                <a:solidFill>
                  <a:schemeClr val="accent6"/>
                </a:solidFill>
              </a:rPr>
              <a:t>Task 2 · Đề tài AI 9: Kho dữ liệu tuyển dụng có AI phân tích pipeline ứng viên</a:t>
            </a:r>
            <a:endParaRPr lang="en-US" sz="1800" dirty="0"/>
          </a:p>
        </p:txBody>
      </p:sp>
      <p:sp>
        <p:nvSpPr>
          <p:cNvPr id="5" name="Author card"/>
          <p:cNvSpPr/>
          <p:nvPr/>
        </p:nvSpPr>
        <p:spPr>
          <a:xfrm>
            <a:off x="640080" y="4251960"/>
            <a:ext cx="7223760" cy="1691640"/>
          </a:xfrm>
          <a:prstGeom prst="roundRect">
            <a:avLst>
              <a:gd name="adj" fmla="val 6486"/>
            </a:avLst>
          </a:prstGeom>
          <a:solidFill>
            <a:schemeClr val="bg1">
              <a:alpha val="12000"/>
            </a:schemeClr>
          </a:solidFill>
          <a:ln w="9525">
            <a:solidFill>
              <a:schemeClr val="accent6">
                <a:alpha val="50000"/>
              </a:schemeClr>
            </a:solidFill>
            <a:prstDash val="solid"/>
          </a:ln>
        </p:spPr>
      </p:sp>
      <p:sp>
        <p:nvSpPr>
          <p:cNvPr id="6" name="Author info"/>
          <p:cNvSpPr txBox="1"/>
          <p:nvPr/>
        </p:nvSpPr>
        <p:spPr>
          <a:xfrm>
            <a:off x="914400" y="4389120"/>
            <a:ext cx="6675120" cy="1417320"/>
          </a:xfrm>
          <a:prstGeom prst="rect">
            <a:avLst/>
          </a:prstGeom>
          <a:noFill/>
          <a:ln/>
        </p:spPr>
        <p:txBody>
          <a:bodyPr wrap="square" lIns="0" tIns="0" rIns="0" bIns="0" rtlCol="0" anchor="ctr"/>
          <a:lstStyle/>
          <a:p>
            <a:pPr indent="0" marL="0">
              <a:spcAft>
                <a:spcPts val="400"/>
              </a:spcAft>
              <a:buNone/>
            </a:pPr>
            <a:r>
              <a:rPr lang="en-US" sz="2400" b="1" dirty="0">
                <a:solidFill>
                  <a:schemeClr val="bg1"/>
                </a:solidFill>
              </a:rPr>
              <a:t>Trần Phúc Hoàng</a:t>
            </a:r>
            <a:endParaRPr lang="en-US" sz="2400" dirty="0"/>
          </a:p>
          <a:p>
            <a:pPr indent="0" marL="0">
              <a:spcAft>
                <a:spcPts val="400"/>
              </a:spcAft>
              <a:buNone/>
            </a:pPr>
            <a:r>
              <a:rPr lang="en-US" sz="1600" dirty="0">
                <a:solidFill>
                  <a:schemeClr val="accent2"/>
                </a:solidFill>
              </a:rPr>
              <a:t>Thành viên · Nhóm 8</a:t>
            </a:r>
            <a:endParaRPr lang="en-US" sz="2400" dirty="0"/>
          </a:p>
          <a:p>
            <a:pPr indent="0" marL="0">
              <a:spcAft>
                <a:spcPts val="400"/>
              </a:spcAft>
              <a:buNone/>
            </a:pPr>
            <a:r>
              <a:rPr lang="en-US" sz="1600" dirty="0">
                <a:solidFill>
                  <a:schemeClr val="accent6"/>
                </a:solidFill>
              </a:rPr>
              <a:t>MSSV: 2431540018   ·   Lớp: 24ĐHTT01</a:t>
            </a:r>
            <a:endParaRPr lang="en-US" sz="2400" dirty="0"/>
          </a:p>
        </p:txBody>
      </p:sp>
      <p:sp>
        <p:nvSpPr>
          <p:cNvPr id="7" name="Pipeline line"/>
          <p:cNvSpPr/>
          <p:nvPr/>
        </p:nvSpPr>
        <p:spPr>
          <a:xfrm>
            <a:off x="9098280" y="1280160"/>
            <a:ext cx="0" cy="4114800"/>
          </a:xfrm>
          <a:prstGeom prst="line">
            <a:avLst/>
          </a:prstGeom>
          <a:noFill/>
          <a:ln w="25400">
            <a:solidFill>
              <a:schemeClr val="accent6"/>
            </a:solidFill>
            <a:prstDash val="dash"/>
          </a:ln>
        </p:spPr>
      </p:sp>
      <p:sp>
        <p:nvSpPr>
          <p:cNvPr id="8" name="Pipeline 1 circle"/>
          <p:cNvSpPr/>
          <p:nvPr/>
        </p:nvSpPr>
        <p:spPr>
          <a:xfrm>
            <a:off x="8686800" y="914400"/>
            <a:ext cx="822960" cy="822960"/>
          </a:xfrm>
          <a:prstGeom prst="ellipse">
            <a:avLst/>
          </a:prstGeom>
          <a:solidFill>
            <a:schemeClr val="accent1"/>
          </a:solidFill>
          <a:ln w="12700">
            <a:solidFill>
              <a:schemeClr val="accent1"/>
            </a:solidFill>
            <a:prstDash val="solid"/>
          </a:ln>
        </p:spPr>
      </p:sp>
      <p:pic>
        <p:nvPicPr>
          <p:cNvPr id="9" name="Pipeline 1 icon" descr="Pipeline 1">    </p:cNvPr>
          <p:cNvPicPr>
            <a:picLocks noChangeAspect="1"/>
          </p:cNvPicPr>
          <p:nvPr/>
        </p:nvPicPr>
        <p:blipFill>
          <a:blip r:embed="rId1"/>
          <a:stretch>
            <a:fillRect/>
          </a:stretch>
        </p:blipFill>
        <p:spPr>
          <a:xfrm>
            <a:off x="8892540" y="1120140"/>
            <a:ext cx="411480" cy="411480"/>
          </a:xfrm>
          <a:prstGeom prst="rect">
            <a:avLst/>
          </a:prstGeom>
        </p:spPr>
      </p:pic>
      <p:sp>
        <p:nvSpPr>
          <p:cNvPr id="10" name="Pipeline label 1"/>
          <p:cNvSpPr txBox="1"/>
          <p:nvPr/>
        </p:nvSpPr>
        <p:spPr>
          <a:xfrm>
            <a:off x="9692640" y="914400"/>
            <a:ext cx="2194560" cy="822960"/>
          </a:xfrm>
          <a:prstGeom prst="rect">
            <a:avLst/>
          </a:prstGeom>
          <a:noFill/>
          <a:ln/>
        </p:spPr>
        <p:txBody>
          <a:bodyPr wrap="square" lIns="0" tIns="0" rIns="0" bIns="0" rtlCol="0" anchor="ctr"/>
          <a:lstStyle/>
          <a:p>
            <a:pPr indent="0" marL="0">
              <a:buNone/>
            </a:pPr>
            <a:r>
              <a:rPr lang="en-US" sz="1500" b="1" dirty="0">
                <a:solidFill>
                  <a:schemeClr val="bg1"/>
                </a:solidFill>
              </a:rPr>
              <a:t>Dữ liệu ghi nhiều kiểu</a:t>
            </a:r>
            <a:endParaRPr lang="en-US" sz="1500" dirty="0"/>
          </a:p>
        </p:txBody>
      </p:sp>
      <p:sp>
        <p:nvSpPr>
          <p:cNvPr id="11" name="Pipeline 2 circle"/>
          <p:cNvSpPr/>
          <p:nvPr/>
        </p:nvSpPr>
        <p:spPr>
          <a:xfrm>
            <a:off x="8686800" y="2286000"/>
            <a:ext cx="822960" cy="822960"/>
          </a:xfrm>
          <a:prstGeom prst="ellipse">
            <a:avLst/>
          </a:prstGeom>
          <a:solidFill>
            <a:schemeClr val="accent1"/>
          </a:solidFill>
          <a:ln w="12700">
            <a:solidFill>
              <a:schemeClr val="accent1"/>
            </a:solidFill>
            <a:prstDash val="solid"/>
          </a:ln>
        </p:spPr>
      </p:sp>
      <p:pic>
        <p:nvPicPr>
          <p:cNvPr id="12" name="Pipeline 2 icon" descr="Pipeline 2">    </p:cNvPr>
          <p:cNvPicPr>
            <a:picLocks noChangeAspect="1"/>
          </p:cNvPicPr>
          <p:nvPr/>
        </p:nvPicPr>
        <p:blipFill>
          <a:blip r:embed="rId2"/>
          <a:stretch>
            <a:fillRect/>
          </a:stretch>
        </p:blipFill>
        <p:spPr>
          <a:xfrm>
            <a:off x="8892540" y="2491740"/>
            <a:ext cx="411480" cy="411480"/>
          </a:xfrm>
          <a:prstGeom prst="rect">
            <a:avLst/>
          </a:prstGeom>
        </p:spPr>
      </p:pic>
      <p:sp>
        <p:nvSpPr>
          <p:cNvPr id="13" name="Pipeline label 2"/>
          <p:cNvSpPr txBox="1"/>
          <p:nvPr/>
        </p:nvSpPr>
        <p:spPr>
          <a:xfrm>
            <a:off x="9692640" y="2286000"/>
            <a:ext cx="2194560" cy="822960"/>
          </a:xfrm>
          <a:prstGeom prst="rect">
            <a:avLst/>
          </a:prstGeom>
          <a:noFill/>
          <a:ln/>
        </p:spPr>
        <p:txBody>
          <a:bodyPr wrap="square" lIns="0" tIns="0" rIns="0" bIns="0" rtlCol="0" anchor="ctr"/>
          <a:lstStyle/>
          <a:p>
            <a:pPr indent="0" marL="0">
              <a:buNone/>
            </a:pPr>
            <a:r>
              <a:rPr lang="en-US" sz="1500" b="1" dirty="0">
                <a:solidFill>
                  <a:schemeClr val="bg1"/>
                </a:solidFill>
              </a:rPr>
              <a:t>Chuẩn hóa theo quy tắc</a:t>
            </a:r>
            <a:endParaRPr lang="en-US" sz="1500" dirty="0"/>
          </a:p>
        </p:txBody>
      </p:sp>
      <p:sp>
        <p:nvSpPr>
          <p:cNvPr id="14" name="Pipeline 3 circle"/>
          <p:cNvSpPr/>
          <p:nvPr/>
        </p:nvSpPr>
        <p:spPr>
          <a:xfrm>
            <a:off x="8686800" y="3657600"/>
            <a:ext cx="822960" cy="822960"/>
          </a:xfrm>
          <a:prstGeom prst="ellipse">
            <a:avLst/>
          </a:prstGeom>
          <a:solidFill>
            <a:schemeClr val="accent1"/>
          </a:solidFill>
          <a:ln w="12700">
            <a:solidFill>
              <a:schemeClr val="accent1"/>
            </a:solidFill>
            <a:prstDash val="solid"/>
          </a:ln>
        </p:spPr>
      </p:sp>
      <p:pic>
        <p:nvPicPr>
          <p:cNvPr id="15" name="Pipeline 3 icon" descr="Pipeline 3">    </p:cNvPr>
          <p:cNvPicPr>
            <a:picLocks noChangeAspect="1"/>
          </p:cNvPicPr>
          <p:nvPr/>
        </p:nvPicPr>
        <p:blipFill>
          <a:blip r:embed="rId3"/>
          <a:stretch>
            <a:fillRect/>
          </a:stretch>
        </p:blipFill>
        <p:spPr>
          <a:xfrm>
            <a:off x="8892540" y="3863340"/>
            <a:ext cx="411480" cy="411480"/>
          </a:xfrm>
          <a:prstGeom prst="rect">
            <a:avLst/>
          </a:prstGeom>
        </p:spPr>
      </p:pic>
      <p:sp>
        <p:nvSpPr>
          <p:cNvPr id="16" name="Pipeline label 3"/>
          <p:cNvSpPr txBox="1"/>
          <p:nvPr/>
        </p:nvSpPr>
        <p:spPr>
          <a:xfrm>
            <a:off x="9692640" y="3657600"/>
            <a:ext cx="2194560" cy="822960"/>
          </a:xfrm>
          <a:prstGeom prst="rect">
            <a:avLst/>
          </a:prstGeom>
          <a:noFill/>
          <a:ln/>
        </p:spPr>
        <p:txBody>
          <a:bodyPr wrap="square" lIns="0" tIns="0" rIns="0" bIns="0" rtlCol="0" anchor="ctr"/>
          <a:lstStyle/>
          <a:p>
            <a:pPr indent="0" marL="0">
              <a:buNone/>
            </a:pPr>
            <a:r>
              <a:rPr lang="en-US" sz="1500" b="1" dirty="0">
                <a:solidFill>
                  <a:schemeClr val="bg1"/>
                </a:solidFill>
              </a:rPr>
              <a:t>Thiết kế 6 bảng</a:t>
            </a:r>
            <a:endParaRPr lang="en-US" sz="1500" dirty="0"/>
          </a:p>
        </p:txBody>
      </p:sp>
      <p:sp>
        <p:nvSpPr>
          <p:cNvPr id="17" name="Pipeline 4 circle"/>
          <p:cNvSpPr/>
          <p:nvPr/>
        </p:nvSpPr>
        <p:spPr>
          <a:xfrm>
            <a:off x="8686800" y="5029200"/>
            <a:ext cx="822960" cy="822960"/>
          </a:xfrm>
          <a:prstGeom prst="ellipse">
            <a:avLst/>
          </a:prstGeom>
          <a:solidFill>
            <a:schemeClr val="accent2"/>
          </a:solidFill>
          <a:ln w="12700">
            <a:solidFill>
              <a:schemeClr val="accent2"/>
            </a:solidFill>
            <a:prstDash val="solid"/>
          </a:ln>
        </p:spPr>
      </p:sp>
      <p:pic>
        <p:nvPicPr>
          <p:cNvPr id="18" name="Pipeline 4 icon" descr="Pipeline 4">    </p:cNvPr>
          <p:cNvPicPr>
            <a:picLocks noChangeAspect="1"/>
          </p:cNvPicPr>
          <p:nvPr/>
        </p:nvPicPr>
        <p:blipFill>
          <a:blip r:embed="rId4"/>
          <a:stretch>
            <a:fillRect/>
          </a:stretch>
        </p:blipFill>
        <p:spPr>
          <a:xfrm>
            <a:off x="8892540" y="5234940"/>
            <a:ext cx="411480" cy="411480"/>
          </a:xfrm>
          <a:prstGeom prst="rect">
            <a:avLst/>
          </a:prstGeom>
        </p:spPr>
      </p:pic>
      <p:sp>
        <p:nvSpPr>
          <p:cNvPr id="19" name="Pipeline label 4"/>
          <p:cNvSpPr txBox="1"/>
          <p:nvPr/>
        </p:nvSpPr>
        <p:spPr>
          <a:xfrm>
            <a:off x="9692640" y="5029200"/>
            <a:ext cx="2194560" cy="822960"/>
          </a:xfrm>
          <a:prstGeom prst="rect">
            <a:avLst/>
          </a:prstGeom>
          <a:noFill/>
          <a:ln/>
        </p:spPr>
        <p:txBody>
          <a:bodyPr wrap="square" lIns="0" tIns="0" rIns="0" bIns="0" rtlCol="0" anchor="ctr"/>
          <a:lstStyle/>
          <a:p>
            <a:pPr indent="0" marL="0">
              <a:buNone/>
            </a:pPr>
            <a:r>
              <a:rPr lang="en-US" sz="1500" b="1" dirty="0">
                <a:solidFill>
                  <a:schemeClr val="bg1"/>
                </a:solidFill>
              </a:rPr>
              <a:t>Kho dữ liệu PostgreSQL</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Đặt vấn đề và mục tiêu</a:t>
            </a:r>
            <a:endParaRPr lang="en-US" sz="3200" dirty="0"/>
          </a:p>
        </p:txBody>
      </p:sp>
      <p:sp>
        <p:nvSpPr>
          <p:cNvPr id="3" name="Vấn đề hiện tại card"/>
          <p:cNvSpPr/>
          <p:nvPr/>
        </p:nvSpPr>
        <p:spPr>
          <a:xfrm>
            <a:off x="548640" y="1371600"/>
            <a:ext cx="5349240" cy="4617720"/>
          </a:xfrm>
          <a:prstGeom prst="roundRect">
            <a:avLst>
              <a:gd name="adj" fmla="val 2970"/>
            </a:avLst>
          </a:prstGeom>
          <a:solidFill>
            <a:schemeClr val="bg2"/>
          </a:solidFill>
          <a:ln w="12700">
            <a:solidFill>
              <a:schemeClr val="bg2"/>
            </a:solidFill>
            <a:prstDash val="solid"/>
          </a:ln>
        </p:spPr>
      </p:sp>
      <p:sp>
        <p:nvSpPr>
          <p:cNvPr id="4" name="Vấn đề hiện tại circle"/>
          <p:cNvSpPr/>
          <p:nvPr/>
        </p:nvSpPr>
        <p:spPr>
          <a:xfrm>
            <a:off x="914400" y="1691640"/>
            <a:ext cx="685800" cy="685800"/>
          </a:xfrm>
          <a:prstGeom prst="ellipse">
            <a:avLst/>
          </a:prstGeom>
          <a:solidFill>
            <a:schemeClr val="accent3"/>
          </a:solidFill>
          <a:ln w="12700">
            <a:solidFill>
              <a:schemeClr val="accent3"/>
            </a:solidFill>
            <a:prstDash val="solid"/>
          </a:ln>
        </p:spPr>
      </p:sp>
      <p:pic>
        <p:nvPicPr>
          <p:cNvPr id="5" name="Vấn đề hiện tại icon" descr="Vấn đề hiện tại">    </p:cNvPr>
          <p:cNvPicPr>
            <a:picLocks noChangeAspect="1"/>
          </p:cNvPicPr>
          <p:nvPr/>
        </p:nvPicPr>
        <p:blipFill>
          <a:blip r:embed="rId1"/>
          <a:stretch>
            <a:fillRect/>
          </a:stretch>
        </p:blipFill>
        <p:spPr>
          <a:xfrm>
            <a:off x="1085850" y="1863090"/>
            <a:ext cx="342900" cy="342900"/>
          </a:xfrm>
          <a:prstGeom prst="rect">
            <a:avLst/>
          </a:prstGeom>
        </p:spPr>
      </p:pic>
      <p:sp>
        <p:nvSpPr>
          <p:cNvPr id="6" name="Vấn đề hiện tại header"/>
          <p:cNvSpPr txBox="1"/>
          <p:nvPr/>
        </p:nvSpPr>
        <p:spPr>
          <a:xfrm>
            <a:off x="1783080" y="1691640"/>
            <a:ext cx="3840480" cy="685800"/>
          </a:xfrm>
          <a:prstGeom prst="rect">
            <a:avLst/>
          </a:prstGeom>
          <a:noFill/>
          <a:ln/>
        </p:spPr>
        <p:txBody>
          <a:bodyPr wrap="square" lIns="0" tIns="0" rIns="0" bIns="0" rtlCol="0" anchor="ctr"/>
          <a:lstStyle/>
          <a:p>
            <a:pPr indent="0" marL="0">
              <a:buNone/>
            </a:pPr>
            <a:r>
              <a:rPr lang="en-US" sz="2200" b="1" dirty="0">
                <a:solidFill>
                  <a:schemeClr val="tx2"/>
                </a:solidFill>
              </a:rPr>
              <a:t>Vấn đề hiện tại</a:t>
            </a:r>
            <a:endParaRPr lang="en-US" sz="2200" dirty="0"/>
          </a:p>
        </p:txBody>
      </p:sp>
      <p:sp>
        <p:nvSpPr>
          <p:cNvPr id="7" name="Vấn đề hiện tại bullets"/>
          <p:cNvSpPr txBox="1"/>
          <p:nvPr/>
        </p:nvSpPr>
        <p:spPr>
          <a:xfrm>
            <a:off x="914400" y="2697480"/>
            <a:ext cx="4663440" cy="3108960"/>
          </a:xfrm>
          <a:prstGeom prst="rect">
            <a:avLst/>
          </a:prstGeom>
          <a:noFill/>
          <a:ln/>
        </p:spPr>
        <p:txBody>
          <a:bodyPr wrap="square" lIns="0" tIns="0" rIns="0" bIns="0" rtlCol="0" anchor="t"/>
          <a:lstStyle/>
          <a:p>
            <a:pPr marL="228600" indent="-228600">
              <a:spcAft>
                <a:spcPts val="1800"/>
              </a:spcAft>
              <a:buSzPct val="100000"/>
              <a:buChar char="•"/>
            </a:pPr>
            <a:r>
              <a:rPr lang="en-US" sz="1800" dirty="0">
                <a:solidFill>
                  <a:schemeClr val="tx1"/>
                </a:solidFill>
              </a:rPr>
              <a:t>Cùng một vị trí mà ghi nhiều kiểu: “DA”, “data analyst”…</a:t>
            </a:r>
            <a:endParaRPr lang="en-US" sz="1800" dirty="0"/>
          </a:p>
          <a:p>
            <a:pPr marL="228600" indent="-228600">
              <a:spcAft>
                <a:spcPts val="1800"/>
              </a:spcAft>
              <a:buSzPct val="100000"/>
              <a:buChar char="•"/>
            </a:pPr>
            <a:r>
              <a:rPr lang="en-US" sz="1800" dirty="0">
                <a:solidFill>
                  <a:schemeClr val="tx1"/>
                </a:solidFill>
              </a:rPr>
              <a:t>Kết quả ghi lẫn lộn: “PV”, “interview”, “Trượt”, “Rớt”…</a:t>
            </a:r>
            <a:endParaRPr lang="en-US" sz="1800" dirty="0"/>
          </a:p>
          <a:p>
            <a:pPr marL="228600" indent="-228600">
              <a:spcAft>
                <a:spcPts val="1800"/>
              </a:spcAft>
              <a:buSzPct val="100000"/>
              <a:buChar char="•"/>
            </a:pPr>
            <a:r>
              <a:rPr lang="en-US" sz="1800" dirty="0">
                <a:solidFill>
                  <a:schemeClr val="tx1"/>
                </a:solidFill>
              </a:rPr>
              <a:t>Thông tin lặp lại ở nhiều dòng, sửa một chỗ dễ sót</a:t>
            </a:r>
            <a:endParaRPr lang="en-US" sz="1800" dirty="0"/>
          </a:p>
          <a:p>
            <a:pPr marL="228600" indent="-228600">
              <a:spcAft>
                <a:spcPts val="1800"/>
              </a:spcAft>
              <a:buSzPct val="100000"/>
              <a:buChar char="•"/>
            </a:pPr>
            <a:r>
              <a:rPr lang="en-US" sz="1800" dirty="0">
                <a:solidFill>
                  <a:schemeClr val="tx1"/>
                </a:solidFill>
              </a:rPr>
              <a:t>Chưa có cấu trúc bảng chung cho cả nhóm</a:t>
            </a:r>
            <a:endParaRPr lang="en-US" sz="1800" dirty="0"/>
          </a:p>
        </p:txBody>
      </p:sp>
      <p:sp>
        <p:nvSpPr>
          <p:cNvPr id="8" name="Mục tiêu của Task 2 card"/>
          <p:cNvSpPr/>
          <p:nvPr/>
        </p:nvSpPr>
        <p:spPr>
          <a:xfrm>
            <a:off x="6291072" y="1371600"/>
            <a:ext cx="5349240" cy="4617720"/>
          </a:xfrm>
          <a:prstGeom prst="roundRect">
            <a:avLst>
              <a:gd name="adj" fmla="val 2970"/>
            </a:avLst>
          </a:prstGeom>
          <a:solidFill>
            <a:schemeClr val="bg2"/>
          </a:solidFill>
          <a:ln w="12700">
            <a:solidFill>
              <a:schemeClr val="bg2"/>
            </a:solidFill>
            <a:prstDash val="solid"/>
          </a:ln>
        </p:spPr>
      </p:sp>
      <p:sp>
        <p:nvSpPr>
          <p:cNvPr id="9" name="Mục tiêu của Task 2 circle"/>
          <p:cNvSpPr/>
          <p:nvPr/>
        </p:nvSpPr>
        <p:spPr>
          <a:xfrm>
            <a:off x="6656832" y="1691640"/>
            <a:ext cx="685800" cy="685800"/>
          </a:xfrm>
          <a:prstGeom prst="ellipse">
            <a:avLst/>
          </a:prstGeom>
          <a:solidFill>
            <a:schemeClr val="accent1"/>
          </a:solidFill>
          <a:ln w="12700">
            <a:solidFill>
              <a:schemeClr val="accent1"/>
            </a:solidFill>
            <a:prstDash val="solid"/>
          </a:ln>
        </p:spPr>
      </p:sp>
      <p:pic>
        <p:nvPicPr>
          <p:cNvPr id="10" name="Mục tiêu của Task 2 icon" descr="Mục tiêu của Task 2">    </p:cNvPr>
          <p:cNvPicPr>
            <a:picLocks noChangeAspect="1"/>
          </p:cNvPicPr>
          <p:nvPr/>
        </p:nvPicPr>
        <p:blipFill>
          <a:blip r:embed="rId2"/>
          <a:stretch>
            <a:fillRect/>
          </a:stretch>
        </p:blipFill>
        <p:spPr>
          <a:xfrm>
            <a:off x="6828282" y="1863090"/>
            <a:ext cx="342900" cy="342900"/>
          </a:xfrm>
          <a:prstGeom prst="rect">
            <a:avLst/>
          </a:prstGeom>
        </p:spPr>
      </p:pic>
      <p:sp>
        <p:nvSpPr>
          <p:cNvPr id="11" name="Mục tiêu của Task 2 header"/>
          <p:cNvSpPr txBox="1"/>
          <p:nvPr/>
        </p:nvSpPr>
        <p:spPr>
          <a:xfrm>
            <a:off x="7525512" y="1691640"/>
            <a:ext cx="3840480" cy="685800"/>
          </a:xfrm>
          <a:prstGeom prst="rect">
            <a:avLst/>
          </a:prstGeom>
          <a:noFill/>
          <a:ln/>
        </p:spPr>
        <p:txBody>
          <a:bodyPr wrap="square" lIns="0" tIns="0" rIns="0" bIns="0" rtlCol="0" anchor="ctr"/>
          <a:lstStyle/>
          <a:p>
            <a:pPr indent="0" marL="0">
              <a:buNone/>
            </a:pPr>
            <a:r>
              <a:rPr lang="en-US" sz="2200" b="1" dirty="0">
                <a:solidFill>
                  <a:schemeClr val="tx2"/>
                </a:solidFill>
              </a:rPr>
              <a:t>Mục tiêu của Task 2</a:t>
            </a:r>
            <a:endParaRPr lang="en-US" sz="2200" dirty="0"/>
          </a:p>
        </p:txBody>
      </p:sp>
      <p:sp>
        <p:nvSpPr>
          <p:cNvPr id="12" name="Mục tiêu của Task 2 bullets"/>
          <p:cNvSpPr txBox="1"/>
          <p:nvPr/>
        </p:nvSpPr>
        <p:spPr>
          <a:xfrm>
            <a:off x="6656832" y="2697480"/>
            <a:ext cx="4663440" cy="3108960"/>
          </a:xfrm>
          <a:prstGeom prst="rect">
            <a:avLst/>
          </a:prstGeom>
          <a:noFill/>
          <a:ln/>
        </p:spPr>
        <p:txBody>
          <a:bodyPr wrap="square" lIns="0" tIns="0" rIns="0" bIns="0" rtlCol="0" anchor="t"/>
          <a:lstStyle/>
          <a:p>
            <a:pPr marL="228600" indent="-228600">
              <a:spcAft>
                <a:spcPts val="1800"/>
              </a:spcAft>
              <a:buSzPct val="100000"/>
              <a:buChar char="•"/>
            </a:pPr>
            <a:r>
              <a:rPr lang="en-US" sz="1800" dirty="0">
                <a:solidFill>
                  <a:schemeClr val="tx1"/>
                </a:solidFill>
              </a:rPr>
              <a:t>Xác định 5 nhóm thông tin chính cần lưu</a:t>
            </a:r>
            <a:endParaRPr lang="en-US" sz="1800" dirty="0"/>
          </a:p>
          <a:p>
            <a:pPr marL="228600" indent="-228600">
              <a:spcAft>
                <a:spcPts val="1800"/>
              </a:spcAft>
              <a:buSzPct val="100000"/>
              <a:buChar char="•"/>
            </a:pPr>
            <a:r>
              <a:rPr lang="en-US" sz="1800" dirty="0">
                <a:solidFill>
                  <a:schemeClr val="tx1"/>
                </a:solidFill>
              </a:rPr>
              <a:t>Đặt quy tắc chuẩn hóa cho từng loại thông tin</a:t>
            </a:r>
            <a:endParaRPr lang="en-US" sz="1800" dirty="0"/>
          </a:p>
          <a:p>
            <a:pPr marL="228600" indent="-228600">
              <a:spcAft>
                <a:spcPts val="1800"/>
              </a:spcAft>
              <a:buSzPct val="100000"/>
              <a:buChar char="•"/>
            </a:pPr>
            <a:r>
              <a:rPr lang="en-US" sz="1800" dirty="0">
                <a:solidFill>
                  <a:schemeClr val="tx1"/>
                </a:solidFill>
              </a:rPr>
              <a:t>Thiết kế các bảng cho kho dữ liệu PostgreSQL</a:t>
            </a:r>
            <a:endParaRPr lang="en-US" sz="1800" dirty="0"/>
          </a:p>
          <a:p>
            <a:pPr marL="228600" indent="-228600">
              <a:spcAft>
                <a:spcPts val="1800"/>
              </a:spcAft>
              <a:buSzPct val="100000"/>
              <a:buChar char="•"/>
            </a:pPr>
            <a:r>
              <a:rPr lang="en-US" sz="1800" dirty="0">
                <a:solidFill>
                  <a:schemeClr val="tx1"/>
                </a:solidFill>
              </a:rPr>
              <a:t>Chạy thử với dữ liệu mẫu để kiểm tra</a:t>
            </a:r>
            <a:endParaRPr lang="en-US" sz="1800" dirty="0"/>
          </a:p>
        </p:txBody>
      </p:sp>
      <p:sp>
        <p:nvSpPr>
          <p:cNvPr id="13" name="Problem to goal circle"/>
          <p:cNvSpPr/>
          <p:nvPr/>
        </p:nvSpPr>
        <p:spPr>
          <a:xfrm>
            <a:off x="5824728" y="3364992"/>
            <a:ext cx="548640" cy="548640"/>
          </a:xfrm>
          <a:prstGeom prst="ellipse">
            <a:avLst/>
          </a:prstGeom>
          <a:solidFill>
            <a:schemeClr val="accent2"/>
          </a:solidFill>
          <a:ln w="12700">
            <a:solidFill>
              <a:schemeClr val="accent2"/>
            </a:solidFill>
            <a:prstDash val="solid"/>
          </a:ln>
        </p:spPr>
      </p:sp>
      <p:pic>
        <p:nvPicPr>
          <p:cNvPr id="14" name="Problem to goal icon" descr="Problem to goal">    </p:cNvPr>
          <p:cNvPicPr>
            <a:picLocks noChangeAspect="1"/>
          </p:cNvPicPr>
          <p:nvPr/>
        </p:nvPicPr>
        <p:blipFill>
          <a:blip r:embed="rId3"/>
          <a:stretch>
            <a:fillRect/>
          </a:stretch>
        </p:blipFill>
        <p:spPr>
          <a:xfrm>
            <a:off x="5961888" y="3502152"/>
            <a:ext cx="274320" cy="274320"/>
          </a:xfrm>
          <a:prstGeom prst="rect">
            <a:avLst/>
          </a:prstGeom>
        </p:spPr>
      </p:pic>
      <p:sp>
        <p:nvSpPr>
          <p:cNvPr id="25" name="Slide Number Placeholder 0"/>
          <p:cNvSpPr>
            <a:spLocks noGrp="1"/>
          </p:cNvSpPr>
          <p:nvPr>
            <p:ph type="sldNum" sz="quarter" idx="4294967295"/>
          </p:nvPr>
        </p:nvSpPr>
        <p:spPr>
          <a:xfrm>
            <a:off x="11183112" y="635508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5 nhóm thông tin chính cần quản lý</a:t>
            </a:r>
            <a:endParaRPr lang="en-US" sz="3200" dirty="0"/>
          </a:p>
        </p:txBody>
      </p:sp>
      <p:sp>
        <p:nvSpPr>
          <p:cNvPr id="3" name="Entity card 1"/>
          <p:cNvSpPr/>
          <p:nvPr/>
        </p:nvSpPr>
        <p:spPr>
          <a:xfrm>
            <a:off x="548640" y="1371600"/>
            <a:ext cx="2057400" cy="3154680"/>
          </a:xfrm>
          <a:prstGeom prst="roundRect">
            <a:avLst>
              <a:gd name="adj" fmla="val 5333"/>
            </a:avLst>
          </a:prstGeom>
          <a:solidFill>
            <a:schemeClr val="bg2"/>
          </a:solidFill>
          <a:ln w="12700">
            <a:solidFill>
              <a:schemeClr val="bg2"/>
            </a:solidFill>
            <a:prstDash val="solid"/>
          </a:ln>
        </p:spPr>
      </p:sp>
      <p:sp>
        <p:nvSpPr>
          <p:cNvPr id="4" name="Entity icon 1 circle"/>
          <p:cNvSpPr/>
          <p:nvPr/>
        </p:nvSpPr>
        <p:spPr>
          <a:xfrm>
            <a:off x="777240" y="1600200"/>
            <a:ext cx="731520" cy="731520"/>
          </a:xfrm>
          <a:prstGeom prst="ellipse">
            <a:avLst/>
          </a:prstGeom>
          <a:solidFill>
            <a:schemeClr val="accent1"/>
          </a:solidFill>
          <a:ln w="12700">
            <a:solidFill>
              <a:schemeClr val="accent1"/>
            </a:solidFill>
            <a:prstDash val="solid"/>
          </a:ln>
        </p:spPr>
      </p:sp>
      <p:pic>
        <p:nvPicPr>
          <p:cNvPr id="5" name="Entity icon 1 icon" descr="Entity icon 1">    </p:cNvPr>
          <p:cNvPicPr>
            <a:picLocks noChangeAspect="1"/>
          </p:cNvPicPr>
          <p:nvPr/>
        </p:nvPicPr>
        <p:blipFill>
          <a:blip r:embed="rId1"/>
          <a:stretch>
            <a:fillRect/>
          </a:stretch>
        </p:blipFill>
        <p:spPr>
          <a:xfrm>
            <a:off x="960120" y="1783080"/>
            <a:ext cx="365760" cy="365760"/>
          </a:xfrm>
          <a:prstGeom prst="rect">
            <a:avLst/>
          </a:prstGeom>
        </p:spPr>
      </p:pic>
      <p:sp>
        <p:nvSpPr>
          <p:cNvPr id="6" name="Entity name 1"/>
          <p:cNvSpPr txBox="1"/>
          <p:nvPr/>
        </p:nvSpPr>
        <p:spPr>
          <a:xfrm>
            <a:off x="777240" y="2514600"/>
            <a:ext cx="1737360" cy="411480"/>
          </a:xfrm>
          <a:prstGeom prst="rect">
            <a:avLst/>
          </a:prstGeom>
          <a:noFill/>
          <a:ln/>
        </p:spPr>
        <p:txBody>
          <a:bodyPr wrap="square" lIns="0" tIns="0" rIns="0" bIns="0" rtlCol="0" anchor="ctr"/>
          <a:lstStyle/>
          <a:p>
            <a:pPr indent="0" marL="0">
              <a:buNone/>
            </a:pPr>
            <a:r>
              <a:rPr lang="en-US" sz="1900" b="1" dirty="0">
                <a:solidFill>
                  <a:schemeClr val="tx2"/>
                </a:solidFill>
              </a:rPr>
              <a:t>Ứng viên</a:t>
            </a:r>
            <a:endParaRPr lang="en-US" sz="1900" dirty="0"/>
          </a:p>
        </p:txBody>
      </p:sp>
      <p:sp>
        <p:nvSpPr>
          <p:cNvPr id="7" name="Entity desc 1"/>
          <p:cNvSpPr txBox="1"/>
          <p:nvPr/>
        </p:nvSpPr>
        <p:spPr>
          <a:xfrm>
            <a:off x="777240" y="2971800"/>
            <a:ext cx="1691640" cy="594360"/>
          </a:xfrm>
          <a:prstGeom prst="rect">
            <a:avLst/>
          </a:prstGeom>
          <a:noFill/>
          <a:ln/>
        </p:spPr>
        <p:txBody>
          <a:bodyPr wrap="square" lIns="0" tIns="0" rIns="0" bIns="0" rtlCol="0" anchor="t"/>
          <a:lstStyle/>
          <a:p>
            <a:pPr indent="0" marL="0">
              <a:buNone/>
            </a:pPr>
            <a:r>
              <a:rPr lang="en-US" sz="1500" dirty="0">
                <a:solidFill>
                  <a:schemeClr val="tx1"/>
                </a:solidFill>
              </a:rPr>
              <a:t>Người nộp hồ sơ</a:t>
            </a:r>
            <a:endParaRPr lang="en-US" sz="1500" dirty="0"/>
          </a:p>
        </p:txBody>
      </p:sp>
      <p:sp>
        <p:nvSpPr>
          <p:cNvPr id="8" name="Entity example 1"/>
          <p:cNvSpPr txBox="1"/>
          <p:nvPr/>
        </p:nvSpPr>
        <p:spPr>
          <a:xfrm>
            <a:off x="777240" y="3611880"/>
            <a:ext cx="1691640" cy="777240"/>
          </a:xfrm>
          <a:prstGeom prst="rect">
            <a:avLst/>
          </a:prstGeom>
          <a:noFill/>
          <a:ln/>
        </p:spPr>
        <p:txBody>
          <a:bodyPr wrap="square" lIns="0" tIns="0" rIns="0" bIns="0" rtlCol="0" anchor="t"/>
          <a:lstStyle/>
          <a:p>
            <a:pPr indent="0" marL="0">
              <a:buNone/>
            </a:pPr>
            <a:r>
              <a:rPr lang="en-US" sz="1300" i="1" dirty="0">
                <a:solidFill>
                  <a:schemeClr val="accent4"/>
                </a:solidFill>
              </a:rPr>
              <a:t>Họ tên, email, số điện thoại</a:t>
            </a:r>
            <a:endParaRPr lang="en-US" sz="1300" dirty="0"/>
          </a:p>
        </p:txBody>
      </p:sp>
      <p:sp>
        <p:nvSpPr>
          <p:cNvPr id="9" name="Entity card 2"/>
          <p:cNvSpPr/>
          <p:nvPr/>
        </p:nvSpPr>
        <p:spPr>
          <a:xfrm>
            <a:off x="2807208" y="1371600"/>
            <a:ext cx="2057400" cy="3154680"/>
          </a:xfrm>
          <a:prstGeom prst="roundRect">
            <a:avLst>
              <a:gd name="adj" fmla="val 5333"/>
            </a:avLst>
          </a:prstGeom>
          <a:solidFill>
            <a:schemeClr val="bg2"/>
          </a:solidFill>
          <a:ln w="12700">
            <a:solidFill>
              <a:schemeClr val="bg2"/>
            </a:solidFill>
            <a:prstDash val="solid"/>
          </a:ln>
        </p:spPr>
      </p:sp>
      <p:sp>
        <p:nvSpPr>
          <p:cNvPr id="10" name="Entity icon 2 circle"/>
          <p:cNvSpPr/>
          <p:nvPr/>
        </p:nvSpPr>
        <p:spPr>
          <a:xfrm>
            <a:off x="3035808" y="1600200"/>
            <a:ext cx="731520" cy="731520"/>
          </a:xfrm>
          <a:prstGeom prst="ellipse">
            <a:avLst/>
          </a:prstGeom>
          <a:solidFill>
            <a:schemeClr val="accent1"/>
          </a:solidFill>
          <a:ln w="12700">
            <a:solidFill>
              <a:schemeClr val="accent1"/>
            </a:solidFill>
            <a:prstDash val="solid"/>
          </a:ln>
        </p:spPr>
      </p:sp>
      <p:pic>
        <p:nvPicPr>
          <p:cNvPr id="11" name="Entity icon 2 icon" descr="Entity icon 2">    </p:cNvPr>
          <p:cNvPicPr>
            <a:picLocks noChangeAspect="1"/>
          </p:cNvPicPr>
          <p:nvPr/>
        </p:nvPicPr>
        <p:blipFill>
          <a:blip r:embed="rId2"/>
          <a:stretch>
            <a:fillRect/>
          </a:stretch>
        </p:blipFill>
        <p:spPr>
          <a:xfrm>
            <a:off x="3218688" y="1783080"/>
            <a:ext cx="365760" cy="365760"/>
          </a:xfrm>
          <a:prstGeom prst="rect">
            <a:avLst/>
          </a:prstGeom>
        </p:spPr>
      </p:pic>
      <p:sp>
        <p:nvSpPr>
          <p:cNvPr id="12" name="Entity name 2"/>
          <p:cNvSpPr txBox="1"/>
          <p:nvPr/>
        </p:nvSpPr>
        <p:spPr>
          <a:xfrm>
            <a:off x="3035808" y="2514600"/>
            <a:ext cx="1737360" cy="411480"/>
          </a:xfrm>
          <a:prstGeom prst="rect">
            <a:avLst/>
          </a:prstGeom>
          <a:noFill/>
          <a:ln/>
        </p:spPr>
        <p:txBody>
          <a:bodyPr wrap="square" lIns="0" tIns="0" rIns="0" bIns="0" rtlCol="0" anchor="ctr"/>
          <a:lstStyle/>
          <a:p>
            <a:pPr indent="0" marL="0">
              <a:buNone/>
            </a:pPr>
            <a:r>
              <a:rPr lang="en-US" sz="1900" b="1" dirty="0">
                <a:solidFill>
                  <a:schemeClr val="tx2"/>
                </a:solidFill>
              </a:rPr>
              <a:t>Vị trí</a:t>
            </a:r>
            <a:endParaRPr lang="en-US" sz="1900" dirty="0"/>
          </a:p>
        </p:txBody>
      </p:sp>
      <p:sp>
        <p:nvSpPr>
          <p:cNvPr id="13" name="Entity desc 2"/>
          <p:cNvSpPr txBox="1"/>
          <p:nvPr/>
        </p:nvSpPr>
        <p:spPr>
          <a:xfrm>
            <a:off x="3035808" y="2971800"/>
            <a:ext cx="1691640" cy="594360"/>
          </a:xfrm>
          <a:prstGeom prst="rect">
            <a:avLst/>
          </a:prstGeom>
          <a:noFill/>
          <a:ln/>
        </p:spPr>
        <p:txBody>
          <a:bodyPr wrap="square" lIns="0" tIns="0" rIns="0" bIns="0" rtlCol="0" anchor="t"/>
          <a:lstStyle/>
          <a:p>
            <a:pPr indent="0" marL="0">
              <a:buNone/>
            </a:pPr>
            <a:r>
              <a:rPr lang="en-US" sz="1500" dirty="0">
                <a:solidFill>
                  <a:schemeClr val="tx1"/>
                </a:solidFill>
              </a:rPr>
              <a:t>Công việc cần tuyển</a:t>
            </a:r>
            <a:endParaRPr lang="en-US" sz="1500" dirty="0"/>
          </a:p>
        </p:txBody>
      </p:sp>
      <p:sp>
        <p:nvSpPr>
          <p:cNvPr id="14" name="Entity example 2"/>
          <p:cNvSpPr txBox="1"/>
          <p:nvPr/>
        </p:nvSpPr>
        <p:spPr>
          <a:xfrm>
            <a:off x="3035808" y="3611880"/>
            <a:ext cx="1691640" cy="777240"/>
          </a:xfrm>
          <a:prstGeom prst="rect">
            <a:avLst/>
          </a:prstGeom>
          <a:noFill/>
          <a:ln/>
        </p:spPr>
        <p:txBody>
          <a:bodyPr wrap="square" lIns="0" tIns="0" rIns="0" bIns="0" rtlCol="0" anchor="t"/>
          <a:lstStyle/>
          <a:p>
            <a:pPr indent="0" marL="0">
              <a:buNone/>
            </a:pPr>
            <a:r>
              <a:rPr lang="en-US" sz="1300" i="1" dirty="0">
                <a:solidFill>
                  <a:schemeClr val="accent4"/>
                </a:solidFill>
              </a:rPr>
              <a:t>Data Analyst, Lập trình viên Python…</a:t>
            </a:r>
            <a:endParaRPr lang="en-US" sz="1300" dirty="0"/>
          </a:p>
        </p:txBody>
      </p:sp>
      <p:sp>
        <p:nvSpPr>
          <p:cNvPr id="15" name="Entity card 3"/>
          <p:cNvSpPr/>
          <p:nvPr/>
        </p:nvSpPr>
        <p:spPr>
          <a:xfrm>
            <a:off x="5065776" y="1371600"/>
            <a:ext cx="2057400" cy="3154680"/>
          </a:xfrm>
          <a:prstGeom prst="roundRect">
            <a:avLst>
              <a:gd name="adj" fmla="val 5333"/>
            </a:avLst>
          </a:prstGeom>
          <a:solidFill>
            <a:schemeClr val="bg2"/>
          </a:solidFill>
          <a:ln w="12700">
            <a:solidFill>
              <a:schemeClr val="bg2"/>
            </a:solidFill>
            <a:prstDash val="solid"/>
          </a:ln>
        </p:spPr>
      </p:sp>
      <p:sp>
        <p:nvSpPr>
          <p:cNvPr id="16" name="Entity icon 3 circle"/>
          <p:cNvSpPr/>
          <p:nvPr/>
        </p:nvSpPr>
        <p:spPr>
          <a:xfrm>
            <a:off x="5294376" y="1600200"/>
            <a:ext cx="731520" cy="731520"/>
          </a:xfrm>
          <a:prstGeom prst="ellipse">
            <a:avLst/>
          </a:prstGeom>
          <a:solidFill>
            <a:schemeClr val="accent1"/>
          </a:solidFill>
          <a:ln w="12700">
            <a:solidFill>
              <a:schemeClr val="accent1"/>
            </a:solidFill>
            <a:prstDash val="solid"/>
          </a:ln>
        </p:spPr>
      </p:sp>
      <p:pic>
        <p:nvPicPr>
          <p:cNvPr id="17" name="Entity icon 3 icon" descr="Entity icon 3">    </p:cNvPr>
          <p:cNvPicPr>
            <a:picLocks noChangeAspect="1"/>
          </p:cNvPicPr>
          <p:nvPr/>
        </p:nvPicPr>
        <p:blipFill>
          <a:blip r:embed="rId3"/>
          <a:stretch>
            <a:fillRect/>
          </a:stretch>
        </p:blipFill>
        <p:spPr>
          <a:xfrm>
            <a:off x="5477256" y="1783080"/>
            <a:ext cx="365760" cy="365760"/>
          </a:xfrm>
          <a:prstGeom prst="rect">
            <a:avLst/>
          </a:prstGeom>
        </p:spPr>
      </p:pic>
      <p:sp>
        <p:nvSpPr>
          <p:cNvPr id="18" name="Entity name 3"/>
          <p:cNvSpPr txBox="1"/>
          <p:nvPr/>
        </p:nvSpPr>
        <p:spPr>
          <a:xfrm>
            <a:off x="5294376" y="2514600"/>
            <a:ext cx="1737360" cy="411480"/>
          </a:xfrm>
          <a:prstGeom prst="rect">
            <a:avLst/>
          </a:prstGeom>
          <a:noFill/>
          <a:ln/>
        </p:spPr>
        <p:txBody>
          <a:bodyPr wrap="square" lIns="0" tIns="0" rIns="0" bIns="0" rtlCol="0" anchor="ctr"/>
          <a:lstStyle/>
          <a:p>
            <a:pPr indent="0" marL="0">
              <a:buNone/>
            </a:pPr>
            <a:r>
              <a:rPr lang="en-US" sz="1900" b="1" dirty="0">
                <a:solidFill>
                  <a:schemeClr val="tx2"/>
                </a:solidFill>
              </a:rPr>
              <a:t>Nguồn</a:t>
            </a:r>
            <a:endParaRPr lang="en-US" sz="1900" dirty="0"/>
          </a:p>
        </p:txBody>
      </p:sp>
      <p:sp>
        <p:nvSpPr>
          <p:cNvPr id="19" name="Entity desc 3"/>
          <p:cNvSpPr txBox="1"/>
          <p:nvPr/>
        </p:nvSpPr>
        <p:spPr>
          <a:xfrm>
            <a:off x="5294376" y="2971800"/>
            <a:ext cx="1691640" cy="594360"/>
          </a:xfrm>
          <a:prstGeom prst="rect">
            <a:avLst/>
          </a:prstGeom>
          <a:noFill/>
          <a:ln/>
        </p:spPr>
        <p:txBody>
          <a:bodyPr wrap="square" lIns="0" tIns="0" rIns="0" bIns="0" rtlCol="0" anchor="t"/>
          <a:lstStyle/>
          <a:p>
            <a:pPr indent="0" marL="0">
              <a:buNone/>
            </a:pPr>
            <a:r>
              <a:rPr lang="en-US" sz="1500" dirty="0">
                <a:solidFill>
                  <a:schemeClr val="tx1"/>
                </a:solidFill>
              </a:rPr>
              <a:t>Hồ sơ đến từ đâu</a:t>
            </a:r>
            <a:endParaRPr lang="en-US" sz="1500" dirty="0"/>
          </a:p>
        </p:txBody>
      </p:sp>
      <p:sp>
        <p:nvSpPr>
          <p:cNvPr id="20" name="Entity example 3"/>
          <p:cNvSpPr txBox="1"/>
          <p:nvPr/>
        </p:nvSpPr>
        <p:spPr>
          <a:xfrm>
            <a:off x="5294376" y="3611880"/>
            <a:ext cx="1691640" cy="777240"/>
          </a:xfrm>
          <a:prstGeom prst="rect">
            <a:avLst/>
          </a:prstGeom>
          <a:noFill/>
          <a:ln/>
        </p:spPr>
        <p:txBody>
          <a:bodyPr wrap="square" lIns="0" tIns="0" rIns="0" bIns="0" rtlCol="0" anchor="t"/>
          <a:lstStyle/>
          <a:p>
            <a:pPr indent="0" marL="0">
              <a:buNone/>
            </a:pPr>
            <a:r>
              <a:rPr lang="en-US" sz="1300" i="1" dirty="0">
                <a:solidFill>
                  <a:schemeClr val="accent4"/>
                </a:solidFill>
              </a:rPr>
              <a:t>TopCV, VietnamWorks, Google Form…</a:t>
            </a:r>
            <a:endParaRPr lang="en-US" sz="1300" dirty="0"/>
          </a:p>
        </p:txBody>
      </p:sp>
      <p:sp>
        <p:nvSpPr>
          <p:cNvPr id="21" name="Entity card 4"/>
          <p:cNvSpPr/>
          <p:nvPr/>
        </p:nvSpPr>
        <p:spPr>
          <a:xfrm>
            <a:off x="7324344" y="1371600"/>
            <a:ext cx="2057400" cy="3154680"/>
          </a:xfrm>
          <a:prstGeom prst="roundRect">
            <a:avLst>
              <a:gd name="adj" fmla="val 5333"/>
            </a:avLst>
          </a:prstGeom>
          <a:solidFill>
            <a:schemeClr val="bg2"/>
          </a:solidFill>
          <a:ln w="12700">
            <a:solidFill>
              <a:schemeClr val="bg2"/>
            </a:solidFill>
            <a:prstDash val="solid"/>
          </a:ln>
        </p:spPr>
      </p:sp>
      <p:sp>
        <p:nvSpPr>
          <p:cNvPr id="22" name="Entity icon 4 circle"/>
          <p:cNvSpPr/>
          <p:nvPr/>
        </p:nvSpPr>
        <p:spPr>
          <a:xfrm>
            <a:off x="7552944" y="1600200"/>
            <a:ext cx="731520" cy="731520"/>
          </a:xfrm>
          <a:prstGeom prst="ellipse">
            <a:avLst/>
          </a:prstGeom>
          <a:solidFill>
            <a:schemeClr val="accent1"/>
          </a:solidFill>
          <a:ln w="12700">
            <a:solidFill>
              <a:schemeClr val="accent1"/>
            </a:solidFill>
            <a:prstDash val="solid"/>
          </a:ln>
        </p:spPr>
      </p:sp>
      <p:pic>
        <p:nvPicPr>
          <p:cNvPr id="23" name="Entity icon 4 icon" descr="Entity icon 4">    </p:cNvPr>
          <p:cNvPicPr>
            <a:picLocks noChangeAspect="1"/>
          </p:cNvPicPr>
          <p:nvPr/>
        </p:nvPicPr>
        <p:blipFill>
          <a:blip r:embed="rId4"/>
          <a:stretch>
            <a:fillRect/>
          </a:stretch>
        </p:blipFill>
        <p:spPr>
          <a:xfrm>
            <a:off x="7735824" y="1783080"/>
            <a:ext cx="365760" cy="365760"/>
          </a:xfrm>
          <a:prstGeom prst="rect">
            <a:avLst/>
          </a:prstGeom>
        </p:spPr>
      </p:pic>
      <p:sp>
        <p:nvSpPr>
          <p:cNvPr id="24" name="Entity name 4"/>
          <p:cNvSpPr txBox="1"/>
          <p:nvPr/>
        </p:nvSpPr>
        <p:spPr>
          <a:xfrm>
            <a:off x="7552944" y="2514600"/>
            <a:ext cx="1737360" cy="411480"/>
          </a:xfrm>
          <a:prstGeom prst="rect">
            <a:avLst/>
          </a:prstGeom>
          <a:noFill/>
          <a:ln/>
        </p:spPr>
        <p:txBody>
          <a:bodyPr wrap="square" lIns="0" tIns="0" rIns="0" bIns="0" rtlCol="0" anchor="ctr"/>
          <a:lstStyle/>
          <a:p>
            <a:pPr indent="0" marL="0">
              <a:buNone/>
            </a:pPr>
            <a:r>
              <a:rPr lang="en-US" sz="1900" b="1" dirty="0">
                <a:solidFill>
                  <a:schemeClr val="tx2"/>
                </a:solidFill>
              </a:rPr>
              <a:t>Vòng phỏng vấn</a:t>
            </a:r>
            <a:endParaRPr lang="en-US" sz="1900" dirty="0"/>
          </a:p>
        </p:txBody>
      </p:sp>
      <p:sp>
        <p:nvSpPr>
          <p:cNvPr id="25" name="Entity desc 4"/>
          <p:cNvSpPr txBox="1"/>
          <p:nvPr/>
        </p:nvSpPr>
        <p:spPr>
          <a:xfrm>
            <a:off x="7552944" y="2971800"/>
            <a:ext cx="1691640" cy="594360"/>
          </a:xfrm>
          <a:prstGeom prst="rect">
            <a:avLst/>
          </a:prstGeom>
          <a:noFill/>
          <a:ln/>
        </p:spPr>
        <p:txBody>
          <a:bodyPr wrap="square" lIns="0" tIns="0" rIns="0" bIns="0" rtlCol="0" anchor="t"/>
          <a:lstStyle/>
          <a:p>
            <a:pPr indent="0" marL="0">
              <a:buNone/>
            </a:pPr>
            <a:r>
              <a:rPr lang="en-US" sz="1500" dirty="0">
                <a:solidFill>
                  <a:schemeClr val="tx1"/>
                </a:solidFill>
              </a:rPr>
              <a:t>Ứng viên đang ở bước nào</a:t>
            </a:r>
            <a:endParaRPr lang="en-US" sz="1500" dirty="0"/>
          </a:p>
        </p:txBody>
      </p:sp>
      <p:sp>
        <p:nvSpPr>
          <p:cNvPr id="26" name="Entity example 4"/>
          <p:cNvSpPr txBox="1"/>
          <p:nvPr/>
        </p:nvSpPr>
        <p:spPr>
          <a:xfrm>
            <a:off x="7552944" y="3611880"/>
            <a:ext cx="1691640" cy="777240"/>
          </a:xfrm>
          <a:prstGeom prst="rect">
            <a:avLst/>
          </a:prstGeom>
          <a:noFill/>
          <a:ln/>
        </p:spPr>
        <p:txBody>
          <a:bodyPr wrap="square" lIns="0" tIns="0" rIns="0" bIns="0" rtlCol="0" anchor="t"/>
          <a:lstStyle/>
          <a:p>
            <a:pPr indent="0" marL="0">
              <a:buNone/>
            </a:pPr>
            <a:r>
              <a:rPr lang="en-US" sz="1300" i="1" dirty="0">
                <a:solidFill>
                  <a:schemeClr val="accent4"/>
                </a:solidFill>
              </a:rPr>
              <a:t>Nộp hồ sơ → … → Nhận việc</a:t>
            </a:r>
            <a:endParaRPr lang="en-US" sz="1300" dirty="0"/>
          </a:p>
        </p:txBody>
      </p:sp>
      <p:sp>
        <p:nvSpPr>
          <p:cNvPr id="27" name="Entity card 5"/>
          <p:cNvSpPr/>
          <p:nvPr/>
        </p:nvSpPr>
        <p:spPr>
          <a:xfrm>
            <a:off x="9582912" y="1371600"/>
            <a:ext cx="2057400" cy="3154680"/>
          </a:xfrm>
          <a:prstGeom prst="roundRect">
            <a:avLst>
              <a:gd name="adj" fmla="val 5333"/>
            </a:avLst>
          </a:prstGeom>
          <a:solidFill>
            <a:schemeClr val="bg2"/>
          </a:solidFill>
          <a:ln w="12700">
            <a:solidFill>
              <a:schemeClr val="bg2"/>
            </a:solidFill>
            <a:prstDash val="solid"/>
          </a:ln>
        </p:spPr>
      </p:sp>
      <p:sp>
        <p:nvSpPr>
          <p:cNvPr id="28" name="Entity icon 5 circle"/>
          <p:cNvSpPr/>
          <p:nvPr/>
        </p:nvSpPr>
        <p:spPr>
          <a:xfrm>
            <a:off x="9811512" y="1600200"/>
            <a:ext cx="731520" cy="731520"/>
          </a:xfrm>
          <a:prstGeom prst="ellipse">
            <a:avLst/>
          </a:prstGeom>
          <a:solidFill>
            <a:schemeClr val="accent1"/>
          </a:solidFill>
          <a:ln w="12700">
            <a:solidFill>
              <a:schemeClr val="accent1"/>
            </a:solidFill>
            <a:prstDash val="solid"/>
          </a:ln>
        </p:spPr>
      </p:sp>
      <p:pic>
        <p:nvPicPr>
          <p:cNvPr id="29" name="Entity icon 5 icon" descr="Entity icon 5">    </p:cNvPr>
          <p:cNvPicPr>
            <a:picLocks noChangeAspect="1"/>
          </p:cNvPicPr>
          <p:nvPr/>
        </p:nvPicPr>
        <p:blipFill>
          <a:blip r:embed="rId5"/>
          <a:stretch>
            <a:fillRect/>
          </a:stretch>
        </p:blipFill>
        <p:spPr>
          <a:xfrm>
            <a:off x="9994392" y="1783080"/>
            <a:ext cx="365760" cy="365760"/>
          </a:xfrm>
          <a:prstGeom prst="rect">
            <a:avLst/>
          </a:prstGeom>
        </p:spPr>
      </p:pic>
      <p:sp>
        <p:nvSpPr>
          <p:cNvPr id="30" name="Entity name 5"/>
          <p:cNvSpPr txBox="1"/>
          <p:nvPr/>
        </p:nvSpPr>
        <p:spPr>
          <a:xfrm>
            <a:off x="9811512" y="2514600"/>
            <a:ext cx="1737360" cy="411480"/>
          </a:xfrm>
          <a:prstGeom prst="rect">
            <a:avLst/>
          </a:prstGeom>
          <a:noFill/>
          <a:ln/>
        </p:spPr>
        <p:txBody>
          <a:bodyPr wrap="square" lIns="0" tIns="0" rIns="0" bIns="0" rtlCol="0" anchor="ctr"/>
          <a:lstStyle/>
          <a:p>
            <a:pPr indent="0" marL="0">
              <a:buNone/>
            </a:pPr>
            <a:r>
              <a:rPr lang="en-US" sz="1900" b="1" dirty="0">
                <a:solidFill>
                  <a:schemeClr val="tx2"/>
                </a:solidFill>
              </a:rPr>
              <a:t>Trạng thái</a:t>
            </a:r>
            <a:endParaRPr lang="en-US" sz="1900" dirty="0"/>
          </a:p>
        </p:txBody>
      </p:sp>
      <p:sp>
        <p:nvSpPr>
          <p:cNvPr id="31" name="Entity desc 5"/>
          <p:cNvSpPr txBox="1"/>
          <p:nvPr/>
        </p:nvSpPr>
        <p:spPr>
          <a:xfrm>
            <a:off x="9811512" y="2971800"/>
            <a:ext cx="1691640" cy="594360"/>
          </a:xfrm>
          <a:prstGeom prst="rect">
            <a:avLst/>
          </a:prstGeom>
          <a:noFill/>
          <a:ln/>
        </p:spPr>
        <p:txBody>
          <a:bodyPr wrap="square" lIns="0" tIns="0" rIns="0" bIns="0" rtlCol="0" anchor="t"/>
          <a:lstStyle/>
          <a:p>
            <a:pPr indent="0" marL="0">
              <a:buNone/>
            </a:pPr>
            <a:r>
              <a:rPr lang="en-US" sz="1500" dirty="0">
                <a:solidFill>
                  <a:schemeClr val="tx1"/>
                </a:solidFill>
              </a:rPr>
              <a:t>Kết quả ở bước đó</a:t>
            </a:r>
            <a:endParaRPr lang="en-US" sz="1500" dirty="0"/>
          </a:p>
        </p:txBody>
      </p:sp>
      <p:sp>
        <p:nvSpPr>
          <p:cNvPr id="32" name="Entity example 5"/>
          <p:cNvSpPr txBox="1"/>
          <p:nvPr/>
        </p:nvSpPr>
        <p:spPr>
          <a:xfrm>
            <a:off x="9811512" y="3611880"/>
            <a:ext cx="1691640" cy="777240"/>
          </a:xfrm>
          <a:prstGeom prst="rect">
            <a:avLst/>
          </a:prstGeom>
          <a:noFill/>
          <a:ln/>
        </p:spPr>
        <p:txBody>
          <a:bodyPr wrap="square" lIns="0" tIns="0" rIns="0" bIns="0" rtlCol="0" anchor="t"/>
          <a:lstStyle/>
          <a:p>
            <a:pPr indent="0" marL="0">
              <a:buNone/>
            </a:pPr>
            <a:r>
              <a:rPr lang="en-US" sz="1300" i="1" dirty="0">
                <a:solidFill>
                  <a:schemeClr val="accent4"/>
                </a:solidFill>
              </a:rPr>
              <a:t>Đang xử lý, Đạt, Không đạt, Rút hồ sơ</a:t>
            </a:r>
            <a:endParaRPr lang="en-US" sz="1300" dirty="0"/>
          </a:p>
        </p:txBody>
      </p:sp>
      <p:sp>
        <p:nvSpPr>
          <p:cNvPr id="33" name="Key idea banner"/>
          <p:cNvSpPr/>
          <p:nvPr/>
        </p:nvSpPr>
        <p:spPr>
          <a:xfrm>
            <a:off x="548640" y="4846320"/>
            <a:ext cx="11091672" cy="1097280"/>
          </a:xfrm>
          <a:prstGeom prst="roundRect">
            <a:avLst>
              <a:gd name="adj" fmla="val 10000"/>
            </a:avLst>
          </a:prstGeom>
          <a:solidFill>
            <a:schemeClr val="tx2"/>
          </a:solidFill>
          <a:ln w="12700">
            <a:solidFill>
              <a:schemeClr val="tx2"/>
            </a:solidFill>
            <a:prstDash val="solid"/>
          </a:ln>
        </p:spPr>
      </p:sp>
      <p:sp>
        <p:nvSpPr>
          <p:cNvPr id="34" name="Key idea circle"/>
          <p:cNvSpPr/>
          <p:nvPr/>
        </p:nvSpPr>
        <p:spPr>
          <a:xfrm>
            <a:off x="822960" y="5074920"/>
            <a:ext cx="640080" cy="640080"/>
          </a:xfrm>
          <a:prstGeom prst="ellipse">
            <a:avLst/>
          </a:prstGeom>
          <a:solidFill>
            <a:schemeClr val="accent2"/>
          </a:solidFill>
          <a:ln w="12700">
            <a:solidFill>
              <a:schemeClr val="accent2"/>
            </a:solidFill>
            <a:prstDash val="solid"/>
          </a:ln>
        </p:spPr>
      </p:sp>
      <p:pic>
        <p:nvPicPr>
          <p:cNvPr id="35" name="Key idea icon" descr="Key idea">    </p:cNvPr>
          <p:cNvPicPr>
            <a:picLocks noChangeAspect="1"/>
          </p:cNvPicPr>
          <p:nvPr/>
        </p:nvPicPr>
        <p:blipFill>
          <a:blip r:embed="rId6"/>
          <a:stretch>
            <a:fillRect/>
          </a:stretch>
        </p:blipFill>
        <p:spPr>
          <a:xfrm>
            <a:off x="982980" y="5234940"/>
            <a:ext cx="320040" cy="320040"/>
          </a:xfrm>
          <a:prstGeom prst="rect">
            <a:avLst/>
          </a:prstGeom>
        </p:spPr>
      </p:pic>
      <p:sp>
        <p:nvSpPr>
          <p:cNvPr id="36" name="Key idea text"/>
          <p:cNvSpPr txBox="1"/>
          <p:nvPr/>
        </p:nvSpPr>
        <p:spPr>
          <a:xfrm>
            <a:off x="1691640" y="4846320"/>
            <a:ext cx="9692640" cy="1097280"/>
          </a:xfrm>
          <a:prstGeom prst="rect">
            <a:avLst/>
          </a:prstGeom>
          <a:noFill/>
          <a:ln/>
        </p:spPr>
        <p:txBody>
          <a:bodyPr wrap="square" lIns="0" tIns="0" rIns="0" bIns="0" rtlCol="0" anchor="ctr"/>
          <a:lstStyle/>
          <a:p>
            <a:pPr indent="0" marL="0">
              <a:buNone/>
            </a:pPr>
            <a:r>
              <a:rPr lang="en-US" sz="1800" b="1" dirty="0">
                <a:solidFill>
                  <a:schemeClr val="accent2"/>
                </a:solidFill>
              </a:rPr>
              <a:t>1 hồ sơ ứng tuyển nối cả 5 nhóm: </a:t>
            </a:r>
            <a:r>
              <a:rPr lang="en-US" sz="1800" dirty="0">
                <a:solidFill>
                  <a:schemeClr val="bg1"/>
                </a:solidFill>
              </a:rPr>
              <a:t>ai nộp, vị trí nào, nguồn nào, vòng nào, kết quả ra sao</a:t>
            </a:r>
            <a:endParaRPr lang="en-US" sz="1800" dirty="0"/>
          </a:p>
        </p:txBody>
      </p:sp>
      <p:sp>
        <p:nvSpPr>
          <p:cNvPr id="25" name="Slide Number Placeholder 0"/>
          <p:cNvSpPr>
            <a:spLocks noGrp="1"/>
          </p:cNvSpPr>
          <p:nvPr>
            <p:ph type="sldNum" sz="quarter" idx="4294967295"/>
          </p:nvPr>
        </p:nvSpPr>
        <p:spPr>
          <a:xfrm>
            <a:off x="11183112" y="635508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Quy tắc chuẩn hóa thông tin ứng viên</a:t>
            </a:r>
            <a:endParaRPr lang="en-US" sz="3200" dirty="0"/>
          </a:p>
        </p:txBody>
      </p:sp>
      <p:graphicFrame>
        <p:nvGraphicFramePr>
          <p:cNvPr id="5" name="Rules table"/>
          <p:cNvGraphicFramePr>
            <a:graphicFrameLocks noGrp="1"/>
          </p:cNvGraphicFramePr>
          <p:nvPr>
            <p:extLst>
              <p:ext uri="{D42A27DB-BD31-4B8C-83A1-F6EECF244321}">
                <p14:modId xmlns:p14="http://schemas.microsoft.com/office/powerpoint/2010/main" val="1579011935"/>
              </p:ext>
            </p:extLst>
          </p:nvPr>
        </p:nvGraphicFramePr>
        <p:xfrm>
          <a:off x="548640" y="1371600"/>
          <a:ext cx="11091672" cy="914400"/>
        </p:xfrm>
        <a:graphic>
          <a:graphicData uri="http://schemas.openxmlformats.org/drawingml/2006/table">
            <a:tbl>
              <a:tblPr/>
              <a:tblGrid>
                <a:gridCol w="1828800"/>
                <a:gridCol w="4206240"/>
                <a:gridCol w="2514600"/>
                <a:gridCol w="2542032"/>
              </a:tblGrid>
              <a:tr h="530352">
                <a:tc>
                  <a:txBody>
                    <a:bodyPr/>
                    <a:lstStyle/>
                    <a:p>
                      <a:pPr indent="0" marL="0">
                        <a:buNone/>
                      </a:pPr>
                      <a:r>
                        <a:rPr lang="en-US" sz="1500" b="1" dirty="0">
                          <a:solidFill>
                            <a:schemeClr val="bg1"/>
                          </a:solidFill>
                        </a:rPr>
                        <a:t>Thông tin</a:t>
                      </a:r>
                      <a:endParaRPr lang="en-US" sz="1500" dirty="0"/>
                    </a:p>
                  </a:txBody>
                  <a:tcPr marL="109728" marR="109728" marT="54864" marB="54864" anchor="ctr">
                    <a:lnL w="9525" cap="flat" cmpd="sng" algn="ctr">
                      <a:solidFill>
                        <a:srgbClr val="C3DCCB"/>
                      </a:solidFill>
                      <a:prstDash val="solid"/>
                      <a:round/>
                      <a:headEnd type="none" w="med" len="med"/>
                      <a:tailEnd type="none" w="med" len="med"/>
                    </a:lnL>
                    <a:lnR w="9525" cap="flat" cmpd="sng" algn="ctr">
                      <a:solidFill>
                        <a:srgbClr val="C3DCCB"/>
                      </a:solidFill>
                      <a:prstDash val="solid"/>
                      <a:round/>
                      <a:headEnd type="none" w="med" len="med"/>
                      <a:tailEnd type="none" w="med" len="med"/>
                    </a:lnR>
                    <a:lnT w="9525" cap="flat" cmpd="sng" algn="ctr">
                      <a:solidFill>
                        <a:srgbClr val="C3DCCB"/>
                      </a:solidFill>
                      <a:prstDash val="solid"/>
                      <a:round/>
                      <a:headEnd type="none" w="med" len="med"/>
                      <a:tailEnd type="none" w="med" len="med"/>
                    </a:lnT>
                    <a:lnB w="9525" cap="flat" cmpd="sng" algn="ctr">
                      <a:solidFill>
                        <a:srgbClr val="C3DCCB"/>
                      </a:solidFill>
                      <a:prstDash val="solid"/>
                      <a:round/>
                      <a:headEnd type="none" w="med" len="med"/>
                      <a:tailEnd type="none" w="med" len="med"/>
                    </a:lnB>
                    <a:solidFill>
                      <a:schemeClr val="tx2"/>
                    </a:solidFill>
                  </a:tcPr>
                </a:tc>
                <a:tc>
                  <a:txBody>
                    <a:bodyPr/>
                    <a:lstStyle/>
                    <a:p>
                      <a:pPr indent="0" marL="0">
                        <a:buNone/>
                      </a:pPr>
                      <a:r>
                        <a:rPr lang="en-US" sz="1500" b="1" dirty="0">
                          <a:solidFill>
                            <a:schemeClr val="bg1"/>
                          </a:solidFill>
                        </a:rPr>
                        <a:t>Quy tắc chuẩn</a:t>
                      </a:r>
                      <a:endParaRPr lang="en-US" sz="1500" dirty="0"/>
                    </a:p>
                  </a:txBody>
                  <a:tcPr marL="109728" marR="109728" marT="54864" marB="54864" anchor="ctr">
                    <a:lnL w="9525" cap="flat" cmpd="sng" algn="ctr">
                      <a:solidFill>
                        <a:srgbClr val="C3DCCB"/>
                      </a:solidFill>
                      <a:prstDash val="solid"/>
                      <a:round/>
                      <a:headEnd type="none" w="med" len="med"/>
                      <a:tailEnd type="none" w="med" len="med"/>
                    </a:lnL>
                    <a:lnR w="9525" cap="flat" cmpd="sng" algn="ctr">
                      <a:solidFill>
                        <a:srgbClr val="C3DCCB"/>
                      </a:solidFill>
                      <a:prstDash val="solid"/>
                      <a:round/>
                      <a:headEnd type="none" w="med" len="med"/>
                      <a:tailEnd type="none" w="med" len="med"/>
                    </a:lnR>
                    <a:lnT w="9525" cap="flat" cmpd="sng" algn="ctr">
                      <a:solidFill>
                        <a:srgbClr val="C3DCCB"/>
                      </a:solidFill>
                      <a:prstDash val="solid"/>
                      <a:round/>
                      <a:headEnd type="none" w="med" len="med"/>
                      <a:tailEnd type="none" w="med" len="med"/>
                    </a:lnT>
                    <a:lnB w="9525" cap="flat" cmpd="sng" algn="ctr">
                      <a:solidFill>
                        <a:srgbClr val="C3DCCB"/>
                      </a:solidFill>
                      <a:prstDash val="solid"/>
                      <a:round/>
                      <a:headEnd type="none" w="med" len="med"/>
                      <a:tailEnd type="none" w="med" len="med"/>
                    </a:lnB>
                    <a:solidFill>
                      <a:schemeClr val="tx2"/>
                    </a:solidFill>
                  </a:tcPr>
                </a:tc>
                <a:tc>
                  <a:txBody>
                    <a:bodyPr/>
                    <a:lstStyle/>
                    <a:p>
                      <a:pPr indent="0" marL="0">
                        <a:buNone/>
                      </a:pPr>
                      <a:r>
                        <a:rPr lang="en-US" sz="1500" b="1" dirty="0">
                          <a:solidFill>
                            <a:schemeClr val="bg1"/>
                          </a:solidFill>
                        </a:rPr>
                        <a:t>Trước</a:t>
                      </a:r>
                      <a:endParaRPr lang="en-US" sz="1500" dirty="0"/>
                    </a:p>
                  </a:txBody>
                  <a:tcPr marL="109728" marR="109728" marT="54864" marB="54864" anchor="ctr">
                    <a:lnL w="9525" cap="flat" cmpd="sng" algn="ctr">
                      <a:solidFill>
                        <a:srgbClr val="C3DCCB"/>
                      </a:solidFill>
                      <a:prstDash val="solid"/>
                      <a:round/>
                      <a:headEnd type="none" w="med" len="med"/>
                      <a:tailEnd type="none" w="med" len="med"/>
                    </a:lnL>
                    <a:lnR w="9525" cap="flat" cmpd="sng" algn="ctr">
                      <a:solidFill>
                        <a:srgbClr val="C3DCCB"/>
                      </a:solidFill>
                      <a:prstDash val="solid"/>
                      <a:round/>
                      <a:headEnd type="none" w="med" len="med"/>
                      <a:tailEnd type="none" w="med" len="med"/>
                    </a:lnR>
                    <a:lnT w="9525" cap="flat" cmpd="sng" algn="ctr">
                      <a:solidFill>
                        <a:srgbClr val="C3DCCB"/>
                      </a:solidFill>
                      <a:prstDash val="solid"/>
                      <a:round/>
                      <a:headEnd type="none" w="med" len="med"/>
                      <a:tailEnd type="none" w="med" len="med"/>
                    </a:lnT>
                    <a:lnB w="9525" cap="flat" cmpd="sng" algn="ctr">
                      <a:solidFill>
                        <a:srgbClr val="C3DCCB"/>
                      </a:solidFill>
                      <a:prstDash val="solid"/>
                      <a:round/>
                      <a:headEnd type="none" w="med" len="med"/>
                      <a:tailEnd type="none" w="med" len="med"/>
                    </a:lnB>
                    <a:solidFill>
                      <a:schemeClr val="tx2"/>
                    </a:solidFill>
                  </a:tcPr>
                </a:tc>
                <a:tc>
                  <a:txBody>
                    <a:bodyPr/>
                    <a:lstStyle/>
                    <a:p>
                      <a:pPr indent="0" marL="0">
                        <a:buNone/>
                      </a:pPr>
                      <a:r>
                        <a:rPr lang="en-US" sz="1500" b="1" dirty="0">
                          <a:solidFill>
                            <a:schemeClr val="bg1"/>
                          </a:solidFill>
                        </a:rPr>
                        <a:t>Sau</a:t>
                      </a:r>
                      <a:endParaRPr lang="en-US" sz="1500" dirty="0"/>
                    </a:p>
                  </a:txBody>
                  <a:tcPr marL="109728" marR="109728" marT="54864" marB="54864" anchor="ctr">
                    <a:lnL w="9525" cap="flat" cmpd="sng" algn="ctr">
                      <a:solidFill>
                        <a:srgbClr val="C3DCCB"/>
                      </a:solidFill>
                      <a:prstDash val="solid"/>
                      <a:round/>
                      <a:headEnd type="none" w="med" len="med"/>
                      <a:tailEnd type="none" w="med" len="med"/>
                    </a:lnL>
                    <a:lnR w="9525" cap="flat" cmpd="sng" algn="ctr">
                      <a:solidFill>
                        <a:srgbClr val="C3DCCB"/>
                      </a:solidFill>
                      <a:prstDash val="solid"/>
                      <a:round/>
                      <a:headEnd type="none" w="med" len="med"/>
                      <a:tailEnd type="none" w="med" len="med"/>
                    </a:lnR>
                    <a:lnT w="9525" cap="flat" cmpd="sng" algn="ctr">
                      <a:solidFill>
                        <a:srgbClr val="C3DCCB"/>
                      </a:solidFill>
                      <a:prstDash val="solid"/>
                      <a:round/>
                      <a:headEnd type="none" w="med" len="med"/>
                      <a:tailEnd type="none" w="med" len="med"/>
                    </a:lnT>
                    <a:lnB w="9525" cap="flat" cmpd="sng" algn="ctr">
                      <a:solidFill>
                        <a:srgbClr val="C3DCCB"/>
                      </a:solidFill>
                      <a:prstDash val="solid"/>
                      <a:round/>
                      <a:headEnd type="none" w="med" len="med"/>
                      <a:tailEnd type="none" w="med" len="med"/>
                    </a:lnB>
                    <a:solidFill>
                      <a:schemeClr val="tx2"/>
                    </a:solidFill>
                  </a:tcPr>
                </a:tc>
              </a:tr>
              <a:tr h="530352">
                <a:tc>
                  <a:txBody>
                    <a:bodyPr/>
                    <a:lstStyle/>
                    <a:p>
                      <a:pPr indent="0" marL="0">
                        <a:buNone/>
                      </a:pPr>
                      <a:r>
                        <a:rPr lang="en-US" sz="1500" b="1" dirty="0">
                          <a:solidFill>
                            <a:schemeClr val="tx2"/>
                          </a:solidFill>
                        </a:rPr>
                        <a:t>Họ tên</a:t>
                      </a:r>
                      <a:endParaRPr lang="en-US" sz="1500" dirty="0"/>
                    </a:p>
                  </a:txBody>
                  <a:tcPr marL="109728" marR="109728" marT="54864" marB="54864" anchor="ctr">
                    <a:lnL w="9525" cap="flat" cmpd="sng" algn="ctr">
                      <a:solidFill>
                        <a:srgbClr val="C3DCCB"/>
                      </a:solidFill>
                      <a:prstDash val="solid"/>
                      <a:round/>
                      <a:headEnd type="none" w="med" len="med"/>
                      <a:tailEnd type="none" w="med" len="med"/>
                    </a:lnL>
                    <a:lnR w="9525" cap="flat" cmpd="sng" algn="ctr">
                      <a:solidFill>
                        <a:srgbClr val="C3DCCB"/>
                      </a:solidFill>
                      <a:prstDash val="solid"/>
                      <a:round/>
                      <a:headEnd type="none" w="med" len="med"/>
                      <a:tailEnd type="none" w="med" len="med"/>
                    </a:lnR>
                    <a:lnT w="9525" cap="flat" cmpd="sng" algn="ctr">
                      <a:solidFill>
                        <a:srgbClr val="C3DCCB"/>
                      </a:solidFill>
                      <a:prstDash val="solid"/>
                      <a:round/>
                      <a:headEnd type="none" w="med" len="med"/>
                      <a:tailEnd type="none" w="med" len="med"/>
                    </a:lnT>
                    <a:lnB w="9525" cap="flat" cmpd="sng" algn="ctr">
                      <a:solidFill>
                        <a:srgbClr val="C3DCCB"/>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Bỏ khoảng trắng thừa, viết hoa chữ cái đầu</a:t>
                      </a:r>
                      <a:endParaRPr lang="en-US" sz="1500" dirty="0"/>
                    </a:p>
                  </a:txBody>
                  <a:tcPr marL="109728" marR="109728" marT="54864" marB="54864" anchor="ctr">
                    <a:lnL w="9525" cap="flat" cmpd="sng" algn="ctr">
                      <a:solidFill>
                        <a:srgbClr val="C3DCCB"/>
                      </a:solidFill>
                      <a:prstDash val="solid"/>
                      <a:round/>
                      <a:headEnd type="none" w="med" len="med"/>
                      <a:tailEnd type="none" w="med" len="med"/>
                    </a:lnL>
                    <a:lnR w="9525" cap="flat" cmpd="sng" algn="ctr">
                      <a:solidFill>
                        <a:srgbClr val="C3DCCB"/>
                      </a:solidFill>
                      <a:prstDash val="solid"/>
                      <a:round/>
                      <a:headEnd type="none" w="med" len="med"/>
                      <a:tailEnd type="none" w="med" len="med"/>
                    </a:lnR>
                    <a:lnT w="9525" cap="flat" cmpd="sng" algn="ctr">
                      <a:solidFill>
                        <a:srgbClr val="C3DCCB"/>
                      </a:solidFill>
                      <a:prstDash val="solid"/>
                      <a:round/>
                      <a:headEnd type="none" w="med" len="med"/>
                      <a:tailEnd type="none" w="med" len="med"/>
                    </a:lnT>
                    <a:lnB w="9525" cap="flat" cmpd="sng" algn="ctr">
                      <a:solidFill>
                        <a:srgbClr val="C3DCCB"/>
                      </a:solidFill>
                      <a:prstDash val="solid"/>
                      <a:round/>
                      <a:headEnd type="none" w="med" len="med"/>
                      <a:tailEnd type="none" w="med" len="med"/>
                    </a:lnB>
                    <a:solidFill>
                      <a:schemeClr val="bg2"/>
                    </a:solidFill>
                  </a:tcPr>
                </a:tc>
                <a:tc>
                  <a:txBody>
                    <a:bodyPr/>
                    <a:lstStyle/>
                    <a:p>
                      <a:pPr indent="0" marL="0">
                        <a:buNone/>
                      </a:pPr>
                      <a:r>
                        <a:rPr lang="en-US" sz="1500" dirty="0">
                          <a:solidFill>
                            <a:schemeClr val="accent3"/>
                          </a:solidFill>
                        </a:rPr>
                        <a:t>  trần  văn AN</a:t>
                      </a:r>
                      <a:endParaRPr lang="en-US" sz="1500" dirty="0"/>
                    </a:p>
                  </a:txBody>
                  <a:tcPr marL="109728" marR="109728" marT="54864" marB="54864" anchor="ctr">
                    <a:lnL w="9525" cap="flat" cmpd="sng" algn="ctr">
                      <a:solidFill>
                        <a:srgbClr val="C3DCCB"/>
                      </a:solidFill>
                      <a:prstDash val="solid"/>
                      <a:round/>
                      <a:headEnd type="none" w="med" len="med"/>
                      <a:tailEnd type="none" w="med" len="med"/>
                    </a:lnL>
                    <a:lnR w="9525" cap="flat" cmpd="sng" algn="ctr">
                      <a:solidFill>
                        <a:srgbClr val="C3DCCB"/>
                      </a:solidFill>
                      <a:prstDash val="solid"/>
                      <a:round/>
                      <a:headEnd type="none" w="med" len="med"/>
                      <a:tailEnd type="none" w="med" len="med"/>
                    </a:lnR>
                    <a:lnT w="9525" cap="flat" cmpd="sng" algn="ctr">
                      <a:solidFill>
                        <a:srgbClr val="C3DCCB"/>
                      </a:solidFill>
                      <a:prstDash val="solid"/>
                      <a:round/>
                      <a:headEnd type="none" w="med" len="med"/>
                      <a:tailEnd type="none" w="med" len="med"/>
                    </a:lnT>
                    <a:lnB w="9525" cap="flat" cmpd="sng" algn="ctr">
                      <a:solidFill>
                        <a:srgbClr val="C3DCCB"/>
                      </a:solidFill>
                      <a:prstDash val="solid"/>
                      <a:round/>
                      <a:headEnd type="none" w="med" len="med"/>
                      <a:tailEnd type="none" w="med" len="med"/>
                    </a:lnB>
                    <a:solidFill>
                      <a:schemeClr val="bg2"/>
                    </a:solidFill>
                  </a:tcPr>
                </a:tc>
                <a:tc>
                  <a:txBody>
                    <a:bodyPr/>
                    <a:lstStyle/>
                    <a:p>
                      <a:pPr indent="0" marL="0">
                        <a:buNone/>
                      </a:pPr>
                      <a:r>
                        <a:rPr lang="en-US" sz="1500" dirty="0">
                          <a:solidFill>
                            <a:schemeClr val="accent5"/>
                          </a:solidFill>
                        </a:rPr>
                        <a:t>Trần Văn An</a:t>
                      </a:r>
                      <a:endParaRPr lang="en-US" sz="1500" dirty="0"/>
                    </a:p>
                  </a:txBody>
                  <a:tcPr marL="109728" marR="109728" marT="54864" marB="54864" anchor="ctr">
                    <a:lnL w="9525" cap="flat" cmpd="sng" algn="ctr">
                      <a:solidFill>
                        <a:srgbClr val="C3DCCB"/>
                      </a:solidFill>
                      <a:prstDash val="solid"/>
                      <a:round/>
                      <a:headEnd type="none" w="med" len="med"/>
                      <a:tailEnd type="none" w="med" len="med"/>
                    </a:lnL>
                    <a:lnR w="9525" cap="flat" cmpd="sng" algn="ctr">
                      <a:solidFill>
                        <a:srgbClr val="C3DCCB"/>
                      </a:solidFill>
                      <a:prstDash val="solid"/>
                      <a:round/>
                      <a:headEnd type="none" w="med" len="med"/>
                      <a:tailEnd type="none" w="med" len="med"/>
                    </a:lnR>
                    <a:lnT w="9525" cap="flat" cmpd="sng" algn="ctr">
                      <a:solidFill>
                        <a:srgbClr val="C3DCCB"/>
                      </a:solidFill>
                      <a:prstDash val="solid"/>
                      <a:round/>
                      <a:headEnd type="none" w="med" len="med"/>
                      <a:tailEnd type="none" w="med" len="med"/>
                    </a:lnT>
                    <a:lnB w="9525" cap="flat" cmpd="sng" algn="ctr">
                      <a:solidFill>
                        <a:srgbClr val="C3DCCB"/>
                      </a:solidFill>
                      <a:prstDash val="solid"/>
                      <a:round/>
                      <a:headEnd type="none" w="med" len="med"/>
                      <a:tailEnd type="none" w="med" len="med"/>
                    </a:lnB>
                    <a:solidFill>
                      <a:schemeClr val="bg2"/>
                    </a:solidFill>
                  </a:tcPr>
                </a:tc>
              </a:tr>
              <a:tr h="530352">
                <a:tc>
                  <a:txBody>
                    <a:bodyPr/>
                    <a:lstStyle/>
                    <a:p>
                      <a:pPr indent="0" marL="0">
                        <a:buNone/>
                      </a:pPr>
                      <a:r>
                        <a:rPr lang="en-US" sz="1500" b="1" dirty="0">
                          <a:solidFill>
                            <a:schemeClr val="tx2"/>
                          </a:solidFill>
                        </a:rPr>
                        <a:t>Email</a:t>
                      </a:r>
                      <a:endParaRPr lang="en-US" sz="1500" dirty="0"/>
                    </a:p>
                  </a:txBody>
                  <a:tcPr marL="109728" marR="109728" marT="54864" marB="54864" anchor="ctr">
                    <a:lnL w="9525" cap="flat" cmpd="sng" algn="ctr">
                      <a:solidFill>
                        <a:srgbClr val="C3DCCB"/>
                      </a:solidFill>
                      <a:prstDash val="solid"/>
                      <a:round/>
                      <a:headEnd type="none" w="med" len="med"/>
                      <a:tailEnd type="none" w="med" len="med"/>
                    </a:lnL>
                    <a:lnR w="9525" cap="flat" cmpd="sng" algn="ctr">
                      <a:solidFill>
                        <a:srgbClr val="C3DCCB"/>
                      </a:solidFill>
                      <a:prstDash val="solid"/>
                      <a:round/>
                      <a:headEnd type="none" w="med" len="med"/>
                      <a:tailEnd type="none" w="med" len="med"/>
                    </a:lnR>
                    <a:lnT w="9525" cap="flat" cmpd="sng" algn="ctr">
                      <a:solidFill>
                        <a:srgbClr val="C3DCCB"/>
                      </a:solidFill>
                      <a:prstDash val="solid"/>
                      <a:round/>
                      <a:headEnd type="none" w="med" len="med"/>
                      <a:tailEnd type="none" w="med" len="med"/>
                    </a:lnT>
                    <a:lnB w="9525" cap="flat" cmpd="sng" algn="ctr">
                      <a:solidFill>
                        <a:srgbClr val="C3DCCB"/>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Viết thường hết, bắt buộc có @</a:t>
                      </a:r>
                      <a:endParaRPr lang="en-US" sz="1500" dirty="0"/>
                    </a:p>
                  </a:txBody>
                  <a:tcPr marL="109728" marR="109728" marT="54864" marB="54864" anchor="ctr">
                    <a:lnL w="9525" cap="flat" cmpd="sng" algn="ctr">
                      <a:solidFill>
                        <a:srgbClr val="C3DCCB"/>
                      </a:solidFill>
                      <a:prstDash val="solid"/>
                      <a:round/>
                      <a:headEnd type="none" w="med" len="med"/>
                      <a:tailEnd type="none" w="med" len="med"/>
                    </a:lnL>
                    <a:lnR w="9525" cap="flat" cmpd="sng" algn="ctr">
                      <a:solidFill>
                        <a:srgbClr val="C3DCCB"/>
                      </a:solidFill>
                      <a:prstDash val="solid"/>
                      <a:round/>
                      <a:headEnd type="none" w="med" len="med"/>
                      <a:tailEnd type="none" w="med" len="med"/>
                    </a:lnR>
                    <a:lnT w="9525" cap="flat" cmpd="sng" algn="ctr">
                      <a:solidFill>
                        <a:srgbClr val="C3DCCB"/>
                      </a:solidFill>
                      <a:prstDash val="solid"/>
                      <a:round/>
                      <a:headEnd type="none" w="med" len="med"/>
                      <a:tailEnd type="none" w="med" len="med"/>
                    </a:lnT>
                    <a:lnB w="9525" cap="flat" cmpd="sng" algn="ctr">
                      <a:solidFill>
                        <a:srgbClr val="C3DCCB"/>
                      </a:solidFill>
                      <a:prstDash val="solid"/>
                      <a:round/>
                      <a:headEnd type="none" w="med" len="med"/>
                      <a:tailEnd type="none" w="med" len="med"/>
                    </a:lnB>
                    <a:solidFill>
                      <a:schemeClr val="bg1"/>
                    </a:solidFill>
                  </a:tcPr>
                </a:tc>
                <a:tc>
                  <a:txBody>
                    <a:bodyPr/>
                    <a:lstStyle/>
                    <a:p>
                      <a:pPr indent="0" marL="0">
                        <a:buNone/>
                      </a:pPr>
                      <a:r>
                        <a:rPr lang="en-US" sz="1500" dirty="0">
                          <a:solidFill>
                            <a:schemeClr val="accent3"/>
                          </a:solidFill>
                        </a:rPr>
                        <a:t>An.Tran@Example.COM</a:t>
                      </a:r>
                      <a:endParaRPr lang="en-US" sz="1500" dirty="0"/>
                    </a:p>
                  </a:txBody>
                  <a:tcPr marL="109728" marR="109728" marT="54864" marB="54864" anchor="ctr">
                    <a:lnL w="9525" cap="flat" cmpd="sng" algn="ctr">
                      <a:solidFill>
                        <a:srgbClr val="C3DCCB"/>
                      </a:solidFill>
                      <a:prstDash val="solid"/>
                      <a:round/>
                      <a:headEnd type="none" w="med" len="med"/>
                      <a:tailEnd type="none" w="med" len="med"/>
                    </a:lnL>
                    <a:lnR w="9525" cap="flat" cmpd="sng" algn="ctr">
                      <a:solidFill>
                        <a:srgbClr val="C3DCCB"/>
                      </a:solidFill>
                      <a:prstDash val="solid"/>
                      <a:round/>
                      <a:headEnd type="none" w="med" len="med"/>
                      <a:tailEnd type="none" w="med" len="med"/>
                    </a:lnR>
                    <a:lnT w="9525" cap="flat" cmpd="sng" algn="ctr">
                      <a:solidFill>
                        <a:srgbClr val="C3DCCB"/>
                      </a:solidFill>
                      <a:prstDash val="solid"/>
                      <a:round/>
                      <a:headEnd type="none" w="med" len="med"/>
                      <a:tailEnd type="none" w="med" len="med"/>
                    </a:lnT>
                    <a:lnB w="9525" cap="flat" cmpd="sng" algn="ctr">
                      <a:solidFill>
                        <a:srgbClr val="C3DCCB"/>
                      </a:solidFill>
                      <a:prstDash val="solid"/>
                      <a:round/>
                      <a:headEnd type="none" w="med" len="med"/>
                      <a:tailEnd type="none" w="med" len="med"/>
                    </a:lnB>
                    <a:solidFill>
                      <a:schemeClr val="bg1"/>
                    </a:solidFill>
                  </a:tcPr>
                </a:tc>
                <a:tc>
                  <a:txBody>
                    <a:bodyPr/>
                    <a:lstStyle/>
                    <a:p>
                      <a:pPr indent="0" marL="0">
                        <a:buNone/>
                      </a:pPr>
                      <a:r>
                        <a:rPr lang="en-US" sz="1500" dirty="0">
                          <a:solidFill>
                            <a:schemeClr val="accent5"/>
                          </a:solidFill>
                        </a:rPr>
                        <a:t>an.tran@example.com</a:t>
                      </a:r>
                      <a:endParaRPr lang="en-US" sz="1500" dirty="0"/>
                    </a:p>
                  </a:txBody>
                  <a:tcPr marL="109728" marR="109728" marT="54864" marB="54864" anchor="ctr">
                    <a:lnL w="9525" cap="flat" cmpd="sng" algn="ctr">
                      <a:solidFill>
                        <a:srgbClr val="C3DCCB"/>
                      </a:solidFill>
                      <a:prstDash val="solid"/>
                      <a:round/>
                      <a:headEnd type="none" w="med" len="med"/>
                      <a:tailEnd type="none" w="med" len="med"/>
                    </a:lnL>
                    <a:lnR w="9525" cap="flat" cmpd="sng" algn="ctr">
                      <a:solidFill>
                        <a:srgbClr val="C3DCCB"/>
                      </a:solidFill>
                      <a:prstDash val="solid"/>
                      <a:round/>
                      <a:headEnd type="none" w="med" len="med"/>
                      <a:tailEnd type="none" w="med" len="med"/>
                    </a:lnR>
                    <a:lnT w="9525" cap="flat" cmpd="sng" algn="ctr">
                      <a:solidFill>
                        <a:srgbClr val="C3DCCB"/>
                      </a:solidFill>
                      <a:prstDash val="solid"/>
                      <a:round/>
                      <a:headEnd type="none" w="med" len="med"/>
                      <a:tailEnd type="none" w="med" len="med"/>
                    </a:lnT>
                    <a:lnB w="9525" cap="flat" cmpd="sng" algn="ctr">
                      <a:solidFill>
                        <a:srgbClr val="C3DCCB"/>
                      </a:solidFill>
                      <a:prstDash val="solid"/>
                      <a:round/>
                      <a:headEnd type="none" w="med" len="med"/>
                      <a:tailEnd type="none" w="med" len="med"/>
                    </a:lnB>
                    <a:solidFill>
                      <a:schemeClr val="bg1"/>
                    </a:solidFill>
                  </a:tcPr>
                </a:tc>
              </a:tr>
              <a:tr h="530352">
                <a:tc>
                  <a:txBody>
                    <a:bodyPr/>
                    <a:lstStyle/>
                    <a:p>
                      <a:pPr indent="0" marL="0">
                        <a:buNone/>
                      </a:pPr>
                      <a:r>
                        <a:rPr lang="en-US" sz="1500" b="1" dirty="0">
                          <a:solidFill>
                            <a:schemeClr val="tx2"/>
                          </a:solidFill>
                        </a:rPr>
                        <a:t>Số điện thoại</a:t>
                      </a:r>
                      <a:endParaRPr lang="en-US" sz="1500" dirty="0"/>
                    </a:p>
                  </a:txBody>
                  <a:tcPr marL="109728" marR="109728" marT="54864" marB="54864" anchor="ctr">
                    <a:lnL w="9525" cap="flat" cmpd="sng" algn="ctr">
                      <a:solidFill>
                        <a:srgbClr val="C3DCCB"/>
                      </a:solidFill>
                      <a:prstDash val="solid"/>
                      <a:round/>
                      <a:headEnd type="none" w="med" len="med"/>
                      <a:tailEnd type="none" w="med" len="med"/>
                    </a:lnL>
                    <a:lnR w="9525" cap="flat" cmpd="sng" algn="ctr">
                      <a:solidFill>
                        <a:srgbClr val="C3DCCB"/>
                      </a:solidFill>
                      <a:prstDash val="solid"/>
                      <a:round/>
                      <a:headEnd type="none" w="med" len="med"/>
                      <a:tailEnd type="none" w="med" len="med"/>
                    </a:lnR>
                    <a:lnT w="9525" cap="flat" cmpd="sng" algn="ctr">
                      <a:solidFill>
                        <a:srgbClr val="C3DCCB"/>
                      </a:solidFill>
                      <a:prstDash val="solid"/>
                      <a:round/>
                      <a:headEnd type="none" w="med" len="med"/>
                      <a:tailEnd type="none" w="med" len="med"/>
                    </a:lnT>
                    <a:lnB w="9525" cap="flat" cmpd="sng" algn="ctr">
                      <a:solidFill>
                        <a:srgbClr val="C3DCCB"/>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Chỉ giữ chữ số, đủ 10 số, bắt đầu bằng 0</a:t>
                      </a:r>
                      <a:endParaRPr lang="en-US" sz="1500" dirty="0"/>
                    </a:p>
                  </a:txBody>
                  <a:tcPr marL="109728" marR="109728" marT="54864" marB="54864" anchor="ctr">
                    <a:lnL w="9525" cap="flat" cmpd="sng" algn="ctr">
                      <a:solidFill>
                        <a:srgbClr val="C3DCCB"/>
                      </a:solidFill>
                      <a:prstDash val="solid"/>
                      <a:round/>
                      <a:headEnd type="none" w="med" len="med"/>
                      <a:tailEnd type="none" w="med" len="med"/>
                    </a:lnL>
                    <a:lnR w="9525" cap="flat" cmpd="sng" algn="ctr">
                      <a:solidFill>
                        <a:srgbClr val="C3DCCB"/>
                      </a:solidFill>
                      <a:prstDash val="solid"/>
                      <a:round/>
                      <a:headEnd type="none" w="med" len="med"/>
                      <a:tailEnd type="none" w="med" len="med"/>
                    </a:lnR>
                    <a:lnT w="9525" cap="flat" cmpd="sng" algn="ctr">
                      <a:solidFill>
                        <a:srgbClr val="C3DCCB"/>
                      </a:solidFill>
                      <a:prstDash val="solid"/>
                      <a:round/>
                      <a:headEnd type="none" w="med" len="med"/>
                      <a:tailEnd type="none" w="med" len="med"/>
                    </a:lnT>
                    <a:lnB w="9525" cap="flat" cmpd="sng" algn="ctr">
                      <a:solidFill>
                        <a:srgbClr val="C3DCCB"/>
                      </a:solidFill>
                      <a:prstDash val="solid"/>
                      <a:round/>
                      <a:headEnd type="none" w="med" len="med"/>
                      <a:tailEnd type="none" w="med" len="med"/>
                    </a:lnB>
                    <a:solidFill>
                      <a:schemeClr val="bg2"/>
                    </a:solidFill>
                  </a:tcPr>
                </a:tc>
                <a:tc>
                  <a:txBody>
                    <a:bodyPr/>
                    <a:lstStyle/>
                    <a:p>
                      <a:pPr indent="0" marL="0">
                        <a:buNone/>
                      </a:pPr>
                      <a:r>
                        <a:rPr lang="en-US" sz="1500" dirty="0">
                          <a:solidFill>
                            <a:schemeClr val="accent3"/>
                          </a:solidFill>
                        </a:rPr>
                        <a:t>+84 906 609 544</a:t>
                      </a:r>
                      <a:endParaRPr lang="en-US" sz="1500" dirty="0"/>
                    </a:p>
                  </a:txBody>
                  <a:tcPr marL="109728" marR="109728" marT="54864" marB="54864" anchor="ctr">
                    <a:lnL w="9525" cap="flat" cmpd="sng" algn="ctr">
                      <a:solidFill>
                        <a:srgbClr val="C3DCCB"/>
                      </a:solidFill>
                      <a:prstDash val="solid"/>
                      <a:round/>
                      <a:headEnd type="none" w="med" len="med"/>
                      <a:tailEnd type="none" w="med" len="med"/>
                    </a:lnL>
                    <a:lnR w="9525" cap="flat" cmpd="sng" algn="ctr">
                      <a:solidFill>
                        <a:srgbClr val="C3DCCB"/>
                      </a:solidFill>
                      <a:prstDash val="solid"/>
                      <a:round/>
                      <a:headEnd type="none" w="med" len="med"/>
                      <a:tailEnd type="none" w="med" len="med"/>
                    </a:lnR>
                    <a:lnT w="9525" cap="flat" cmpd="sng" algn="ctr">
                      <a:solidFill>
                        <a:srgbClr val="C3DCCB"/>
                      </a:solidFill>
                      <a:prstDash val="solid"/>
                      <a:round/>
                      <a:headEnd type="none" w="med" len="med"/>
                      <a:tailEnd type="none" w="med" len="med"/>
                    </a:lnT>
                    <a:lnB w="9525" cap="flat" cmpd="sng" algn="ctr">
                      <a:solidFill>
                        <a:srgbClr val="C3DCCB"/>
                      </a:solidFill>
                      <a:prstDash val="solid"/>
                      <a:round/>
                      <a:headEnd type="none" w="med" len="med"/>
                      <a:tailEnd type="none" w="med" len="med"/>
                    </a:lnB>
                    <a:solidFill>
                      <a:schemeClr val="bg2"/>
                    </a:solidFill>
                  </a:tcPr>
                </a:tc>
                <a:tc>
                  <a:txBody>
                    <a:bodyPr/>
                    <a:lstStyle/>
                    <a:p>
                      <a:pPr indent="0" marL="0">
                        <a:buNone/>
                      </a:pPr>
                      <a:r>
                        <a:rPr lang="en-US" sz="1500" dirty="0">
                          <a:solidFill>
                            <a:schemeClr val="accent5"/>
                          </a:solidFill>
                        </a:rPr>
                        <a:t>0906609544</a:t>
                      </a:r>
                      <a:endParaRPr lang="en-US" sz="1500" dirty="0"/>
                    </a:p>
                  </a:txBody>
                  <a:tcPr marL="109728" marR="109728" marT="54864" marB="54864" anchor="ctr">
                    <a:lnL w="9525" cap="flat" cmpd="sng" algn="ctr">
                      <a:solidFill>
                        <a:srgbClr val="C3DCCB"/>
                      </a:solidFill>
                      <a:prstDash val="solid"/>
                      <a:round/>
                      <a:headEnd type="none" w="med" len="med"/>
                      <a:tailEnd type="none" w="med" len="med"/>
                    </a:lnL>
                    <a:lnR w="9525" cap="flat" cmpd="sng" algn="ctr">
                      <a:solidFill>
                        <a:srgbClr val="C3DCCB"/>
                      </a:solidFill>
                      <a:prstDash val="solid"/>
                      <a:round/>
                      <a:headEnd type="none" w="med" len="med"/>
                      <a:tailEnd type="none" w="med" len="med"/>
                    </a:lnR>
                    <a:lnT w="9525" cap="flat" cmpd="sng" algn="ctr">
                      <a:solidFill>
                        <a:srgbClr val="C3DCCB"/>
                      </a:solidFill>
                      <a:prstDash val="solid"/>
                      <a:round/>
                      <a:headEnd type="none" w="med" len="med"/>
                      <a:tailEnd type="none" w="med" len="med"/>
                    </a:lnT>
                    <a:lnB w="9525" cap="flat" cmpd="sng" algn="ctr">
                      <a:solidFill>
                        <a:srgbClr val="C3DCCB"/>
                      </a:solidFill>
                      <a:prstDash val="solid"/>
                      <a:round/>
                      <a:headEnd type="none" w="med" len="med"/>
                      <a:tailEnd type="none" w="med" len="med"/>
                    </a:lnB>
                    <a:solidFill>
                      <a:schemeClr val="bg2"/>
                    </a:solidFill>
                  </a:tcPr>
                </a:tc>
              </a:tr>
              <a:tr h="530352">
                <a:tc>
                  <a:txBody>
                    <a:bodyPr/>
                    <a:lstStyle/>
                    <a:p>
                      <a:pPr indent="0" marL="0">
                        <a:buNone/>
                      </a:pPr>
                      <a:r>
                        <a:rPr lang="en-US" sz="1500" b="1" dirty="0">
                          <a:solidFill>
                            <a:schemeClr val="tx2"/>
                          </a:solidFill>
                        </a:rPr>
                        <a:t>Ngày</a:t>
                      </a:r>
                      <a:endParaRPr lang="en-US" sz="1500" dirty="0"/>
                    </a:p>
                  </a:txBody>
                  <a:tcPr marL="109728" marR="109728" marT="54864" marB="54864" anchor="ctr">
                    <a:lnL w="9525" cap="flat" cmpd="sng" algn="ctr">
                      <a:solidFill>
                        <a:srgbClr val="C3DCCB"/>
                      </a:solidFill>
                      <a:prstDash val="solid"/>
                      <a:round/>
                      <a:headEnd type="none" w="med" len="med"/>
                      <a:tailEnd type="none" w="med" len="med"/>
                    </a:lnL>
                    <a:lnR w="9525" cap="flat" cmpd="sng" algn="ctr">
                      <a:solidFill>
                        <a:srgbClr val="C3DCCB"/>
                      </a:solidFill>
                      <a:prstDash val="solid"/>
                      <a:round/>
                      <a:headEnd type="none" w="med" len="med"/>
                      <a:tailEnd type="none" w="med" len="med"/>
                    </a:lnR>
                    <a:lnT w="9525" cap="flat" cmpd="sng" algn="ctr">
                      <a:solidFill>
                        <a:srgbClr val="C3DCCB"/>
                      </a:solidFill>
                      <a:prstDash val="solid"/>
                      <a:round/>
                      <a:headEnd type="none" w="med" len="med"/>
                      <a:tailEnd type="none" w="med" len="med"/>
                    </a:lnT>
                    <a:lnB w="9525" cap="flat" cmpd="sng" algn="ctr">
                      <a:solidFill>
                        <a:srgbClr val="C3DCCB"/>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Ghi năm-tháng-ngày (chuẩn ISO 8601)</a:t>
                      </a:r>
                      <a:endParaRPr lang="en-US" sz="1500" dirty="0"/>
                    </a:p>
                  </a:txBody>
                  <a:tcPr marL="109728" marR="109728" marT="54864" marB="54864" anchor="ctr">
                    <a:lnL w="9525" cap="flat" cmpd="sng" algn="ctr">
                      <a:solidFill>
                        <a:srgbClr val="C3DCCB"/>
                      </a:solidFill>
                      <a:prstDash val="solid"/>
                      <a:round/>
                      <a:headEnd type="none" w="med" len="med"/>
                      <a:tailEnd type="none" w="med" len="med"/>
                    </a:lnL>
                    <a:lnR w="9525" cap="flat" cmpd="sng" algn="ctr">
                      <a:solidFill>
                        <a:srgbClr val="C3DCCB"/>
                      </a:solidFill>
                      <a:prstDash val="solid"/>
                      <a:round/>
                      <a:headEnd type="none" w="med" len="med"/>
                      <a:tailEnd type="none" w="med" len="med"/>
                    </a:lnR>
                    <a:lnT w="9525" cap="flat" cmpd="sng" algn="ctr">
                      <a:solidFill>
                        <a:srgbClr val="C3DCCB"/>
                      </a:solidFill>
                      <a:prstDash val="solid"/>
                      <a:round/>
                      <a:headEnd type="none" w="med" len="med"/>
                      <a:tailEnd type="none" w="med" len="med"/>
                    </a:lnT>
                    <a:lnB w="9525" cap="flat" cmpd="sng" algn="ctr">
                      <a:solidFill>
                        <a:srgbClr val="C3DCCB"/>
                      </a:solidFill>
                      <a:prstDash val="solid"/>
                      <a:round/>
                      <a:headEnd type="none" w="med" len="med"/>
                      <a:tailEnd type="none" w="med" len="med"/>
                    </a:lnB>
                    <a:solidFill>
                      <a:schemeClr val="bg1"/>
                    </a:solidFill>
                  </a:tcPr>
                </a:tc>
                <a:tc>
                  <a:txBody>
                    <a:bodyPr/>
                    <a:lstStyle/>
                    <a:p>
                      <a:pPr indent="0" marL="0">
                        <a:buNone/>
                      </a:pPr>
                      <a:r>
                        <a:rPr lang="en-US" sz="1500" dirty="0">
                          <a:solidFill>
                            <a:schemeClr val="accent3"/>
                          </a:solidFill>
                        </a:rPr>
                        <a:t>15/06/2026</a:t>
                      </a:r>
                      <a:endParaRPr lang="en-US" sz="1500" dirty="0"/>
                    </a:p>
                  </a:txBody>
                  <a:tcPr marL="109728" marR="109728" marT="54864" marB="54864" anchor="ctr">
                    <a:lnL w="9525" cap="flat" cmpd="sng" algn="ctr">
                      <a:solidFill>
                        <a:srgbClr val="C3DCCB"/>
                      </a:solidFill>
                      <a:prstDash val="solid"/>
                      <a:round/>
                      <a:headEnd type="none" w="med" len="med"/>
                      <a:tailEnd type="none" w="med" len="med"/>
                    </a:lnL>
                    <a:lnR w="9525" cap="flat" cmpd="sng" algn="ctr">
                      <a:solidFill>
                        <a:srgbClr val="C3DCCB"/>
                      </a:solidFill>
                      <a:prstDash val="solid"/>
                      <a:round/>
                      <a:headEnd type="none" w="med" len="med"/>
                      <a:tailEnd type="none" w="med" len="med"/>
                    </a:lnR>
                    <a:lnT w="9525" cap="flat" cmpd="sng" algn="ctr">
                      <a:solidFill>
                        <a:srgbClr val="C3DCCB"/>
                      </a:solidFill>
                      <a:prstDash val="solid"/>
                      <a:round/>
                      <a:headEnd type="none" w="med" len="med"/>
                      <a:tailEnd type="none" w="med" len="med"/>
                    </a:lnT>
                    <a:lnB w="9525" cap="flat" cmpd="sng" algn="ctr">
                      <a:solidFill>
                        <a:srgbClr val="C3DCCB"/>
                      </a:solidFill>
                      <a:prstDash val="solid"/>
                      <a:round/>
                      <a:headEnd type="none" w="med" len="med"/>
                      <a:tailEnd type="none" w="med" len="med"/>
                    </a:lnB>
                    <a:solidFill>
                      <a:schemeClr val="bg1"/>
                    </a:solidFill>
                  </a:tcPr>
                </a:tc>
                <a:tc>
                  <a:txBody>
                    <a:bodyPr/>
                    <a:lstStyle/>
                    <a:p>
                      <a:pPr indent="0" marL="0">
                        <a:buNone/>
                      </a:pPr>
                      <a:r>
                        <a:rPr lang="en-US" sz="1500" dirty="0">
                          <a:solidFill>
                            <a:schemeClr val="accent5"/>
                          </a:solidFill>
                        </a:rPr>
                        <a:t>2026-06-15</a:t>
                      </a:r>
                      <a:endParaRPr lang="en-US" sz="1500" dirty="0"/>
                    </a:p>
                  </a:txBody>
                  <a:tcPr marL="109728" marR="109728" marT="54864" marB="54864" anchor="ctr">
                    <a:lnL w="9525" cap="flat" cmpd="sng" algn="ctr">
                      <a:solidFill>
                        <a:srgbClr val="C3DCCB"/>
                      </a:solidFill>
                      <a:prstDash val="solid"/>
                      <a:round/>
                      <a:headEnd type="none" w="med" len="med"/>
                      <a:tailEnd type="none" w="med" len="med"/>
                    </a:lnL>
                    <a:lnR w="9525" cap="flat" cmpd="sng" algn="ctr">
                      <a:solidFill>
                        <a:srgbClr val="C3DCCB"/>
                      </a:solidFill>
                      <a:prstDash val="solid"/>
                      <a:round/>
                      <a:headEnd type="none" w="med" len="med"/>
                      <a:tailEnd type="none" w="med" len="med"/>
                    </a:lnR>
                    <a:lnT w="9525" cap="flat" cmpd="sng" algn="ctr">
                      <a:solidFill>
                        <a:srgbClr val="C3DCCB"/>
                      </a:solidFill>
                      <a:prstDash val="solid"/>
                      <a:round/>
                      <a:headEnd type="none" w="med" len="med"/>
                      <a:tailEnd type="none" w="med" len="med"/>
                    </a:lnT>
                    <a:lnB w="9525" cap="flat" cmpd="sng" algn="ctr">
                      <a:solidFill>
                        <a:srgbClr val="C3DCCB"/>
                      </a:solidFill>
                      <a:prstDash val="solid"/>
                      <a:round/>
                      <a:headEnd type="none" w="med" len="med"/>
                      <a:tailEnd type="none" w="med" len="med"/>
                    </a:lnB>
                    <a:solidFill>
                      <a:schemeClr val="bg1"/>
                    </a:solidFill>
                  </a:tcPr>
                </a:tc>
              </a:tr>
              <a:tr h="530352">
                <a:tc>
                  <a:txBody>
                    <a:bodyPr/>
                    <a:lstStyle/>
                    <a:p>
                      <a:pPr indent="0" marL="0">
                        <a:buNone/>
                      </a:pPr>
                      <a:r>
                        <a:rPr lang="en-US" sz="1500" b="1" dirty="0">
                          <a:solidFill>
                            <a:schemeClr val="tx2"/>
                          </a:solidFill>
                        </a:rPr>
                        <a:t>Vị trí, nguồn</a:t>
                      </a:r>
                      <a:endParaRPr lang="en-US" sz="1500" dirty="0"/>
                    </a:p>
                  </a:txBody>
                  <a:tcPr marL="109728" marR="109728" marT="54864" marB="54864" anchor="ctr">
                    <a:lnL w="9525" cap="flat" cmpd="sng" algn="ctr">
                      <a:solidFill>
                        <a:srgbClr val="C3DCCB"/>
                      </a:solidFill>
                      <a:prstDash val="solid"/>
                      <a:round/>
                      <a:headEnd type="none" w="med" len="med"/>
                      <a:tailEnd type="none" w="med" len="med"/>
                    </a:lnL>
                    <a:lnR w="9525" cap="flat" cmpd="sng" algn="ctr">
                      <a:solidFill>
                        <a:srgbClr val="C3DCCB"/>
                      </a:solidFill>
                      <a:prstDash val="solid"/>
                      <a:round/>
                      <a:headEnd type="none" w="med" len="med"/>
                      <a:tailEnd type="none" w="med" len="med"/>
                    </a:lnR>
                    <a:lnT w="9525" cap="flat" cmpd="sng" algn="ctr">
                      <a:solidFill>
                        <a:srgbClr val="C3DCCB"/>
                      </a:solidFill>
                      <a:prstDash val="solid"/>
                      <a:round/>
                      <a:headEnd type="none" w="med" len="med"/>
                      <a:tailEnd type="none" w="med" len="med"/>
                    </a:lnT>
                    <a:lnB w="9525" cap="flat" cmpd="sng" algn="ctr">
                      <a:solidFill>
                        <a:srgbClr val="C3DCCB"/>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Chỉ dùng tên có trong danh mục</a:t>
                      </a:r>
                      <a:endParaRPr lang="en-US" sz="1500" dirty="0"/>
                    </a:p>
                  </a:txBody>
                  <a:tcPr marL="109728" marR="109728" marT="54864" marB="54864" anchor="ctr">
                    <a:lnL w="9525" cap="flat" cmpd="sng" algn="ctr">
                      <a:solidFill>
                        <a:srgbClr val="C3DCCB"/>
                      </a:solidFill>
                      <a:prstDash val="solid"/>
                      <a:round/>
                      <a:headEnd type="none" w="med" len="med"/>
                      <a:tailEnd type="none" w="med" len="med"/>
                    </a:lnL>
                    <a:lnR w="9525" cap="flat" cmpd="sng" algn="ctr">
                      <a:solidFill>
                        <a:srgbClr val="C3DCCB"/>
                      </a:solidFill>
                      <a:prstDash val="solid"/>
                      <a:round/>
                      <a:headEnd type="none" w="med" len="med"/>
                      <a:tailEnd type="none" w="med" len="med"/>
                    </a:lnR>
                    <a:lnT w="9525" cap="flat" cmpd="sng" algn="ctr">
                      <a:solidFill>
                        <a:srgbClr val="C3DCCB"/>
                      </a:solidFill>
                      <a:prstDash val="solid"/>
                      <a:round/>
                      <a:headEnd type="none" w="med" len="med"/>
                      <a:tailEnd type="none" w="med" len="med"/>
                    </a:lnT>
                    <a:lnB w="9525" cap="flat" cmpd="sng" algn="ctr">
                      <a:solidFill>
                        <a:srgbClr val="C3DCCB"/>
                      </a:solidFill>
                      <a:prstDash val="solid"/>
                      <a:round/>
                      <a:headEnd type="none" w="med" len="med"/>
                      <a:tailEnd type="none" w="med" len="med"/>
                    </a:lnB>
                    <a:solidFill>
                      <a:schemeClr val="bg2"/>
                    </a:solidFill>
                  </a:tcPr>
                </a:tc>
                <a:tc>
                  <a:txBody>
                    <a:bodyPr/>
                    <a:lstStyle/>
                    <a:p>
                      <a:pPr indent="0" marL="0">
                        <a:buNone/>
                      </a:pPr>
                      <a:r>
                        <a:rPr lang="en-US" sz="1500" dirty="0">
                          <a:solidFill>
                            <a:schemeClr val="accent3"/>
                          </a:solidFill>
                        </a:rPr>
                        <a:t>DA · topcv.vn</a:t>
                      </a:r>
                      <a:endParaRPr lang="en-US" sz="1500" dirty="0"/>
                    </a:p>
                  </a:txBody>
                  <a:tcPr marL="109728" marR="109728" marT="54864" marB="54864" anchor="ctr">
                    <a:lnL w="9525" cap="flat" cmpd="sng" algn="ctr">
                      <a:solidFill>
                        <a:srgbClr val="C3DCCB"/>
                      </a:solidFill>
                      <a:prstDash val="solid"/>
                      <a:round/>
                      <a:headEnd type="none" w="med" len="med"/>
                      <a:tailEnd type="none" w="med" len="med"/>
                    </a:lnL>
                    <a:lnR w="9525" cap="flat" cmpd="sng" algn="ctr">
                      <a:solidFill>
                        <a:srgbClr val="C3DCCB"/>
                      </a:solidFill>
                      <a:prstDash val="solid"/>
                      <a:round/>
                      <a:headEnd type="none" w="med" len="med"/>
                      <a:tailEnd type="none" w="med" len="med"/>
                    </a:lnR>
                    <a:lnT w="9525" cap="flat" cmpd="sng" algn="ctr">
                      <a:solidFill>
                        <a:srgbClr val="C3DCCB"/>
                      </a:solidFill>
                      <a:prstDash val="solid"/>
                      <a:round/>
                      <a:headEnd type="none" w="med" len="med"/>
                      <a:tailEnd type="none" w="med" len="med"/>
                    </a:lnT>
                    <a:lnB w="9525" cap="flat" cmpd="sng" algn="ctr">
                      <a:solidFill>
                        <a:srgbClr val="C3DCCB"/>
                      </a:solidFill>
                      <a:prstDash val="solid"/>
                      <a:round/>
                      <a:headEnd type="none" w="med" len="med"/>
                      <a:tailEnd type="none" w="med" len="med"/>
                    </a:lnB>
                    <a:solidFill>
                      <a:schemeClr val="bg2"/>
                    </a:solidFill>
                  </a:tcPr>
                </a:tc>
                <a:tc>
                  <a:txBody>
                    <a:bodyPr/>
                    <a:lstStyle/>
                    <a:p>
                      <a:pPr indent="0" marL="0">
                        <a:buNone/>
                      </a:pPr>
                      <a:r>
                        <a:rPr lang="en-US" sz="1500" dirty="0">
                          <a:solidFill>
                            <a:schemeClr val="accent5"/>
                          </a:solidFill>
                        </a:rPr>
                        <a:t>Data Analyst · TopCV</a:t>
                      </a:r>
                      <a:endParaRPr lang="en-US" sz="1500" dirty="0"/>
                    </a:p>
                  </a:txBody>
                  <a:tcPr marL="109728" marR="109728" marT="54864" marB="54864" anchor="ctr">
                    <a:lnL w="9525" cap="flat" cmpd="sng" algn="ctr">
                      <a:solidFill>
                        <a:srgbClr val="C3DCCB"/>
                      </a:solidFill>
                      <a:prstDash val="solid"/>
                      <a:round/>
                      <a:headEnd type="none" w="med" len="med"/>
                      <a:tailEnd type="none" w="med" len="med"/>
                    </a:lnL>
                    <a:lnR w="9525" cap="flat" cmpd="sng" algn="ctr">
                      <a:solidFill>
                        <a:srgbClr val="C3DCCB"/>
                      </a:solidFill>
                      <a:prstDash val="solid"/>
                      <a:round/>
                      <a:headEnd type="none" w="med" len="med"/>
                      <a:tailEnd type="none" w="med" len="med"/>
                    </a:lnR>
                    <a:lnT w="9525" cap="flat" cmpd="sng" algn="ctr">
                      <a:solidFill>
                        <a:srgbClr val="C3DCCB"/>
                      </a:solidFill>
                      <a:prstDash val="solid"/>
                      <a:round/>
                      <a:headEnd type="none" w="med" len="med"/>
                      <a:tailEnd type="none" w="med" len="med"/>
                    </a:lnT>
                    <a:lnB w="9525" cap="flat" cmpd="sng" algn="ctr">
                      <a:solidFill>
                        <a:srgbClr val="C3DCCB"/>
                      </a:solidFill>
                      <a:prstDash val="solid"/>
                      <a:round/>
                      <a:headEnd type="none" w="med" len="med"/>
                      <a:tailEnd type="none" w="med" len="med"/>
                    </a:lnB>
                    <a:solidFill>
                      <a:schemeClr val="bg2"/>
                    </a:solidFill>
                  </a:tcPr>
                </a:tc>
              </a:tr>
            </a:tbl>
          </a:graphicData>
        </a:graphic>
      </p:graphicFrame>
      <p:sp>
        <p:nvSpPr>
          <p:cNvPr id="4" name="Chip 1"/>
          <p:cNvSpPr/>
          <p:nvPr/>
        </p:nvSpPr>
        <p:spPr>
          <a:xfrm>
            <a:off x="548640" y="4800600"/>
            <a:ext cx="3447288" cy="1188720"/>
          </a:xfrm>
          <a:prstGeom prst="roundRect">
            <a:avLst>
              <a:gd name="adj" fmla="val 9231"/>
            </a:avLst>
          </a:prstGeom>
          <a:solidFill>
            <a:schemeClr val="bg2"/>
          </a:solidFill>
          <a:ln w="12700">
            <a:solidFill>
              <a:schemeClr val="bg2"/>
            </a:solidFill>
            <a:prstDash val="solid"/>
          </a:ln>
        </p:spPr>
      </p:sp>
      <p:sp>
        <p:nvSpPr>
          <p:cNvPr id="5" name="Chip icon 1 circle"/>
          <p:cNvSpPr/>
          <p:nvPr/>
        </p:nvSpPr>
        <p:spPr>
          <a:xfrm>
            <a:off x="777240" y="5074920"/>
            <a:ext cx="640080" cy="640080"/>
          </a:xfrm>
          <a:prstGeom prst="ellipse">
            <a:avLst/>
          </a:prstGeom>
          <a:solidFill>
            <a:schemeClr val="accent1"/>
          </a:solidFill>
          <a:ln w="12700">
            <a:solidFill>
              <a:schemeClr val="accent1"/>
            </a:solidFill>
            <a:prstDash val="solid"/>
          </a:ln>
        </p:spPr>
      </p:sp>
      <p:pic>
        <p:nvPicPr>
          <p:cNvPr id="6" name="Chip icon 1 icon" descr="Chip icon 1">    </p:cNvPr>
          <p:cNvPicPr>
            <a:picLocks noChangeAspect="1"/>
          </p:cNvPicPr>
          <p:nvPr/>
        </p:nvPicPr>
        <p:blipFill>
          <a:blip r:embed="rId1"/>
          <a:stretch>
            <a:fillRect/>
          </a:stretch>
        </p:blipFill>
        <p:spPr>
          <a:xfrm>
            <a:off x="937260" y="5234940"/>
            <a:ext cx="320040" cy="320040"/>
          </a:xfrm>
          <a:prstGeom prst="rect">
            <a:avLst/>
          </a:prstGeom>
        </p:spPr>
      </p:pic>
      <p:sp>
        <p:nvSpPr>
          <p:cNvPr id="7" name="Chip text 1"/>
          <p:cNvSpPr txBox="1"/>
          <p:nvPr/>
        </p:nvSpPr>
        <p:spPr>
          <a:xfrm>
            <a:off x="1554480" y="4846320"/>
            <a:ext cx="2331720" cy="1097280"/>
          </a:xfrm>
          <a:prstGeom prst="rect">
            <a:avLst/>
          </a:prstGeom>
          <a:noFill/>
          <a:ln/>
        </p:spPr>
        <p:txBody>
          <a:bodyPr wrap="square" lIns="0" tIns="0" rIns="0" bIns="0" rtlCol="0" anchor="ctr"/>
          <a:lstStyle/>
          <a:p>
            <a:pPr indent="0" marL="0">
              <a:buNone/>
            </a:pPr>
            <a:r>
              <a:rPr lang="en-US" sz="1900" b="1" dirty="0">
                <a:solidFill>
                  <a:schemeClr val="tx2"/>
                </a:solidFill>
              </a:rPr>
              <a:t>Ghi giống nhau</a:t>
            </a:r>
            <a:endParaRPr lang="en-US" sz="1900" dirty="0"/>
          </a:p>
          <a:p>
            <a:pPr indent="0" marL="0">
              <a:buNone/>
            </a:pPr>
            <a:r>
              <a:rPr lang="en-US" sz="1400" dirty="0">
                <a:solidFill>
                  <a:schemeClr val="accent4"/>
                </a:solidFill>
              </a:rPr>
              <a:t>máy tính so sánh được</a:t>
            </a:r>
            <a:endParaRPr lang="en-US" sz="1900" dirty="0"/>
          </a:p>
        </p:txBody>
      </p:sp>
      <p:sp>
        <p:nvSpPr>
          <p:cNvPr id="8" name="Chip 2"/>
          <p:cNvSpPr/>
          <p:nvPr/>
        </p:nvSpPr>
        <p:spPr>
          <a:xfrm>
            <a:off x="4370832" y="4800600"/>
            <a:ext cx="3447288" cy="1188720"/>
          </a:xfrm>
          <a:prstGeom prst="roundRect">
            <a:avLst>
              <a:gd name="adj" fmla="val 9231"/>
            </a:avLst>
          </a:prstGeom>
          <a:solidFill>
            <a:schemeClr val="bg2"/>
          </a:solidFill>
          <a:ln w="12700">
            <a:solidFill>
              <a:schemeClr val="bg2"/>
            </a:solidFill>
            <a:prstDash val="solid"/>
          </a:ln>
        </p:spPr>
      </p:sp>
      <p:sp>
        <p:nvSpPr>
          <p:cNvPr id="9" name="Chip icon 2 circle"/>
          <p:cNvSpPr/>
          <p:nvPr/>
        </p:nvSpPr>
        <p:spPr>
          <a:xfrm>
            <a:off x="4599432" y="5074920"/>
            <a:ext cx="640080" cy="640080"/>
          </a:xfrm>
          <a:prstGeom prst="ellipse">
            <a:avLst/>
          </a:prstGeom>
          <a:solidFill>
            <a:schemeClr val="accent1"/>
          </a:solidFill>
          <a:ln w="12700">
            <a:solidFill>
              <a:schemeClr val="accent1"/>
            </a:solidFill>
            <a:prstDash val="solid"/>
          </a:ln>
        </p:spPr>
      </p:sp>
      <p:pic>
        <p:nvPicPr>
          <p:cNvPr id="10" name="Chip icon 2 icon" descr="Chip icon 2">    </p:cNvPr>
          <p:cNvPicPr>
            <a:picLocks noChangeAspect="1"/>
          </p:cNvPicPr>
          <p:nvPr/>
        </p:nvPicPr>
        <p:blipFill>
          <a:blip r:embed="rId2"/>
          <a:stretch>
            <a:fillRect/>
          </a:stretch>
        </p:blipFill>
        <p:spPr>
          <a:xfrm>
            <a:off x="4759452" y="5234940"/>
            <a:ext cx="320040" cy="320040"/>
          </a:xfrm>
          <a:prstGeom prst="rect">
            <a:avLst/>
          </a:prstGeom>
        </p:spPr>
      </p:pic>
      <p:sp>
        <p:nvSpPr>
          <p:cNvPr id="11" name="Chip text 2"/>
          <p:cNvSpPr txBox="1"/>
          <p:nvPr/>
        </p:nvSpPr>
        <p:spPr>
          <a:xfrm>
            <a:off x="5376672" y="4846320"/>
            <a:ext cx="2331720" cy="1097280"/>
          </a:xfrm>
          <a:prstGeom prst="rect">
            <a:avLst/>
          </a:prstGeom>
          <a:noFill/>
          <a:ln/>
        </p:spPr>
        <p:txBody>
          <a:bodyPr wrap="square" lIns="0" tIns="0" rIns="0" bIns="0" rtlCol="0" anchor="ctr"/>
          <a:lstStyle/>
          <a:p>
            <a:pPr indent="0" marL="0">
              <a:buNone/>
            </a:pPr>
            <a:r>
              <a:rPr lang="en-US" sz="1900" b="1" dirty="0">
                <a:solidFill>
                  <a:schemeClr val="tx2"/>
                </a:solidFill>
              </a:rPr>
              <a:t>Dễ tìm, không trùng</a:t>
            </a:r>
            <a:endParaRPr lang="en-US" sz="1900" dirty="0"/>
          </a:p>
          <a:p>
            <a:pPr indent="0" marL="0">
              <a:buNone/>
            </a:pPr>
            <a:r>
              <a:rPr lang="en-US" sz="1400" dirty="0">
                <a:solidFill>
                  <a:schemeClr val="accent4"/>
                </a:solidFill>
              </a:rPr>
              <a:t>tìm theo email, SĐT chuẩn</a:t>
            </a:r>
            <a:endParaRPr lang="en-US" sz="1900" dirty="0"/>
          </a:p>
        </p:txBody>
      </p:sp>
      <p:sp>
        <p:nvSpPr>
          <p:cNvPr id="12" name="Chip 3"/>
          <p:cNvSpPr/>
          <p:nvPr/>
        </p:nvSpPr>
        <p:spPr>
          <a:xfrm>
            <a:off x="8193024" y="4800600"/>
            <a:ext cx="3447288" cy="1188720"/>
          </a:xfrm>
          <a:prstGeom prst="roundRect">
            <a:avLst>
              <a:gd name="adj" fmla="val 9231"/>
            </a:avLst>
          </a:prstGeom>
          <a:solidFill>
            <a:schemeClr val="bg2"/>
          </a:solidFill>
          <a:ln w="12700">
            <a:solidFill>
              <a:schemeClr val="bg2"/>
            </a:solidFill>
            <a:prstDash val="solid"/>
          </a:ln>
        </p:spPr>
      </p:sp>
      <p:sp>
        <p:nvSpPr>
          <p:cNvPr id="13" name="Chip icon 3 circle"/>
          <p:cNvSpPr/>
          <p:nvPr/>
        </p:nvSpPr>
        <p:spPr>
          <a:xfrm>
            <a:off x="8421624" y="5074920"/>
            <a:ext cx="640080" cy="640080"/>
          </a:xfrm>
          <a:prstGeom prst="ellipse">
            <a:avLst/>
          </a:prstGeom>
          <a:solidFill>
            <a:schemeClr val="accent2"/>
          </a:solidFill>
          <a:ln w="12700">
            <a:solidFill>
              <a:schemeClr val="accent2"/>
            </a:solidFill>
            <a:prstDash val="solid"/>
          </a:ln>
        </p:spPr>
      </p:sp>
      <p:pic>
        <p:nvPicPr>
          <p:cNvPr id="14" name="Chip icon 3 icon" descr="Chip icon 3">    </p:cNvPr>
          <p:cNvPicPr>
            <a:picLocks noChangeAspect="1"/>
          </p:cNvPicPr>
          <p:nvPr/>
        </p:nvPicPr>
        <p:blipFill>
          <a:blip r:embed="rId3"/>
          <a:stretch>
            <a:fillRect/>
          </a:stretch>
        </p:blipFill>
        <p:spPr>
          <a:xfrm>
            <a:off x="8581644" y="5234940"/>
            <a:ext cx="320040" cy="320040"/>
          </a:xfrm>
          <a:prstGeom prst="rect">
            <a:avLst/>
          </a:prstGeom>
        </p:spPr>
      </p:pic>
      <p:sp>
        <p:nvSpPr>
          <p:cNvPr id="15" name="Chip text 3"/>
          <p:cNvSpPr txBox="1"/>
          <p:nvPr/>
        </p:nvSpPr>
        <p:spPr>
          <a:xfrm>
            <a:off x="9198864" y="4846320"/>
            <a:ext cx="2331720" cy="1097280"/>
          </a:xfrm>
          <a:prstGeom prst="rect">
            <a:avLst/>
          </a:prstGeom>
          <a:noFill/>
          <a:ln/>
        </p:spPr>
        <p:txBody>
          <a:bodyPr wrap="square" lIns="0" tIns="0" rIns="0" bIns="0" rtlCol="0" anchor="ctr"/>
          <a:lstStyle/>
          <a:p>
            <a:pPr indent="0" marL="0">
              <a:buNone/>
            </a:pPr>
            <a:r>
              <a:rPr lang="en-US" sz="1900" b="1" dirty="0">
                <a:solidFill>
                  <a:schemeClr val="tx2"/>
                </a:solidFill>
              </a:rPr>
              <a:t>Báo cáo đúng</a:t>
            </a:r>
            <a:endParaRPr lang="en-US" sz="1900" dirty="0"/>
          </a:p>
          <a:p>
            <a:pPr indent="0" marL="0">
              <a:buNone/>
            </a:pPr>
            <a:r>
              <a:rPr lang="en-US" sz="1400" dirty="0">
                <a:solidFill>
                  <a:schemeClr val="accent4"/>
                </a:solidFill>
              </a:rPr>
              <a:t>đếm đúng số người</a:t>
            </a:r>
            <a:endParaRPr lang="en-US" sz="1900" dirty="0"/>
          </a:p>
        </p:txBody>
      </p:sp>
      <p:sp>
        <p:nvSpPr>
          <p:cNvPr id="25" name="Slide Number Placeholder 0"/>
          <p:cNvSpPr>
            <a:spLocks noGrp="1"/>
          </p:cNvSpPr>
          <p:nvPr>
            <p:ph type="sldNum" sz="quarter" idx="4294967295"/>
          </p:nvPr>
        </p:nvSpPr>
        <p:spPr>
          <a:xfrm>
            <a:off x="11183112" y="635508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Chuẩn hóa vòng phỏng vấn và trạng thái</a:t>
            </a:r>
            <a:endParaRPr lang="en-US" sz="3200" dirty="0"/>
          </a:p>
        </p:txBody>
      </p:sp>
      <p:sp>
        <p:nvSpPr>
          <p:cNvPr id="3" name="Stages header"/>
          <p:cNvSpPr txBox="1"/>
          <p:nvPr/>
        </p:nvSpPr>
        <p:spPr>
          <a:xfrm>
            <a:off x="548640" y="1325880"/>
            <a:ext cx="6675120" cy="411480"/>
          </a:xfrm>
          <a:prstGeom prst="rect">
            <a:avLst/>
          </a:prstGeom>
          <a:noFill/>
          <a:ln/>
        </p:spPr>
        <p:txBody>
          <a:bodyPr wrap="square" lIns="0" tIns="0" rIns="0" bIns="0" rtlCol="0" anchor="ctr"/>
          <a:lstStyle/>
          <a:p>
            <a:pPr indent="0" marL="0">
              <a:buNone/>
            </a:pPr>
            <a:r>
              <a:rPr lang="en-US" sz="1900" b="1" dirty="0">
                <a:solidFill>
                  <a:schemeClr val="tx2"/>
                </a:solidFill>
              </a:rPr>
              <a:t>5 vòng tuyển (có thứ tự)</a:t>
            </a:r>
            <a:endParaRPr lang="en-US" sz="1900" dirty="0"/>
          </a:p>
        </p:txBody>
      </p:sp>
      <p:sp>
        <p:nvSpPr>
          <p:cNvPr id="4" name="Stage variants 1"/>
          <p:cNvSpPr txBox="1"/>
          <p:nvPr/>
        </p:nvSpPr>
        <p:spPr>
          <a:xfrm>
            <a:off x="548640" y="1828800"/>
            <a:ext cx="3520440" cy="530352"/>
          </a:xfrm>
          <a:prstGeom prst="rect">
            <a:avLst/>
          </a:prstGeom>
          <a:noFill/>
          <a:ln/>
        </p:spPr>
        <p:txBody>
          <a:bodyPr wrap="square" lIns="0" tIns="0" rIns="0" bIns="0" rtlCol="0" anchor="ctr"/>
          <a:lstStyle/>
          <a:p>
            <a:pPr indent="0" marL="0">
              <a:buNone/>
            </a:pPr>
            <a:r>
              <a:rPr lang="en-US" sz="1500" i="1" dirty="0">
                <a:solidFill>
                  <a:schemeClr val="accent4"/>
                </a:solidFill>
              </a:rPr>
              <a:t>new · Mới nộp · Nộp HS</a:t>
            </a:r>
            <a:endParaRPr lang="en-US" sz="1500" dirty="0"/>
          </a:p>
        </p:txBody>
      </p:sp>
      <p:sp>
        <p:nvSpPr>
          <p:cNvPr id="5" name="Stage arrow 1"/>
          <p:cNvSpPr/>
          <p:nvPr/>
        </p:nvSpPr>
        <p:spPr>
          <a:xfrm>
            <a:off x="4160520" y="1956816"/>
            <a:ext cx="365760" cy="274320"/>
          </a:xfrm>
          <a:prstGeom prst="rightArrow">
            <a:avLst/>
          </a:prstGeom>
          <a:solidFill>
            <a:schemeClr val="accent2"/>
          </a:solidFill>
          <a:ln w="12700">
            <a:solidFill>
              <a:schemeClr val="accent2"/>
            </a:solidFill>
            <a:prstDash val="solid"/>
          </a:ln>
        </p:spPr>
      </p:sp>
      <p:sp>
        <p:nvSpPr>
          <p:cNvPr id="6" name="Stage pill 1"/>
          <p:cNvSpPr/>
          <p:nvPr/>
        </p:nvSpPr>
        <p:spPr>
          <a:xfrm>
            <a:off x="4663440" y="1828800"/>
            <a:ext cx="2560320" cy="530352"/>
          </a:xfrm>
          <a:prstGeom prst="roundRect">
            <a:avLst>
              <a:gd name="adj" fmla="val 13793"/>
            </a:avLst>
          </a:prstGeom>
          <a:solidFill>
            <a:schemeClr val="tx2"/>
          </a:solidFill>
          <a:ln w="12700">
            <a:solidFill>
              <a:schemeClr val="tx2"/>
            </a:solidFill>
            <a:prstDash val="solid"/>
          </a:ln>
        </p:spPr>
      </p:sp>
      <p:sp>
        <p:nvSpPr>
          <p:cNvPr id="7" name="Stage name 1"/>
          <p:cNvSpPr txBox="1"/>
          <p:nvPr/>
        </p:nvSpPr>
        <p:spPr>
          <a:xfrm>
            <a:off x="4663440" y="1828800"/>
            <a:ext cx="2560320" cy="530352"/>
          </a:xfrm>
          <a:prstGeom prst="rect">
            <a:avLst/>
          </a:prstGeom>
          <a:noFill/>
          <a:ln/>
        </p:spPr>
        <p:txBody>
          <a:bodyPr wrap="square" lIns="0" tIns="0" rIns="0" bIns="0" rtlCol="0" anchor="ctr"/>
          <a:lstStyle/>
          <a:p>
            <a:pPr algn="ctr" indent="0" marL="0">
              <a:buNone/>
            </a:pPr>
            <a:r>
              <a:rPr lang="en-US" sz="1600" b="1" dirty="0">
                <a:solidFill>
                  <a:schemeClr val="bg1"/>
                </a:solidFill>
              </a:rPr>
              <a:t>1. Nộp hồ sơ</a:t>
            </a:r>
            <a:endParaRPr lang="en-US" sz="1600" dirty="0"/>
          </a:p>
        </p:txBody>
      </p:sp>
      <p:sp>
        <p:nvSpPr>
          <p:cNvPr id="8" name="Stage variants 2"/>
          <p:cNvSpPr txBox="1"/>
          <p:nvPr/>
        </p:nvSpPr>
        <p:spPr>
          <a:xfrm>
            <a:off x="548640" y="2468880"/>
            <a:ext cx="3520440" cy="530352"/>
          </a:xfrm>
          <a:prstGeom prst="rect">
            <a:avLst/>
          </a:prstGeom>
          <a:noFill/>
          <a:ln/>
        </p:spPr>
        <p:txBody>
          <a:bodyPr wrap="square" lIns="0" tIns="0" rIns="0" bIns="0" rtlCol="0" anchor="ctr"/>
          <a:lstStyle/>
          <a:p>
            <a:pPr indent="0" marL="0">
              <a:buNone/>
            </a:pPr>
            <a:r>
              <a:rPr lang="en-US" sz="1500" i="1" dirty="0">
                <a:solidFill>
                  <a:schemeClr val="accent4"/>
                </a:solidFill>
              </a:rPr>
              <a:t>screening · Lọc CV</a:t>
            </a:r>
            <a:endParaRPr lang="en-US" sz="1500" dirty="0"/>
          </a:p>
        </p:txBody>
      </p:sp>
      <p:sp>
        <p:nvSpPr>
          <p:cNvPr id="9" name="Stage arrow 2"/>
          <p:cNvSpPr/>
          <p:nvPr/>
        </p:nvSpPr>
        <p:spPr>
          <a:xfrm>
            <a:off x="4160520" y="2596896"/>
            <a:ext cx="365760" cy="274320"/>
          </a:xfrm>
          <a:prstGeom prst="rightArrow">
            <a:avLst/>
          </a:prstGeom>
          <a:solidFill>
            <a:schemeClr val="accent2"/>
          </a:solidFill>
          <a:ln w="12700">
            <a:solidFill>
              <a:schemeClr val="accent2"/>
            </a:solidFill>
            <a:prstDash val="solid"/>
          </a:ln>
        </p:spPr>
      </p:sp>
      <p:sp>
        <p:nvSpPr>
          <p:cNvPr id="10" name="Stage pill 2"/>
          <p:cNvSpPr/>
          <p:nvPr/>
        </p:nvSpPr>
        <p:spPr>
          <a:xfrm>
            <a:off x="4663440" y="2468880"/>
            <a:ext cx="2560320" cy="530352"/>
          </a:xfrm>
          <a:prstGeom prst="roundRect">
            <a:avLst>
              <a:gd name="adj" fmla="val 13793"/>
            </a:avLst>
          </a:prstGeom>
          <a:solidFill>
            <a:schemeClr val="accent1"/>
          </a:solidFill>
          <a:ln w="12700">
            <a:solidFill>
              <a:schemeClr val="accent1"/>
            </a:solidFill>
            <a:prstDash val="solid"/>
          </a:ln>
        </p:spPr>
      </p:sp>
      <p:sp>
        <p:nvSpPr>
          <p:cNvPr id="11" name="Stage name 2"/>
          <p:cNvSpPr txBox="1"/>
          <p:nvPr/>
        </p:nvSpPr>
        <p:spPr>
          <a:xfrm>
            <a:off x="4663440" y="2468880"/>
            <a:ext cx="2560320" cy="530352"/>
          </a:xfrm>
          <a:prstGeom prst="rect">
            <a:avLst/>
          </a:prstGeom>
          <a:noFill/>
          <a:ln/>
        </p:spPr>
        <p:txBody>
          <a:bodyPr wrap="square" lIns="0" tIns="0" rIns="0" bIns="0" rtlCol="0" anchor="ctr"/>
          <a:lstStyle/>
          <a:p>
            <a:pPr algn="ctr" indent="0" marL="0">
              <a:buNone/>
            </a:pPr>
            <a:r>
              <a:rPr lang="en-US" sz="1600" b="1" dirty="0">
                <a:solidFill>
                  <a:schemeClr val="bg1"/>
                </a:solidFill>
              </a:rPr>
              <a:t>2. Sàng lọc</a:t>
            </a:r>
            <a:endParaRPr lang="en-US" sz="1600" dirty="0"/>
          </a:p>
        </p:txBody>
      </p:sp>
      <p:sp>
        <p:nvSpPr>
          <p:cNvPr id="12" name="Stage variants 3"/>
          <p:cNvSpPr txBox="1"/>
          <p:nvPr/>
        </p:nvSpPr>
        <p:spPr>
          <a:xfrm>
            <a:off x="548640" y="3108960"/>
            <a:ext cx="3520440" cy="530352"/>
          </a:xfrm>
          <a:prstGeom prst="rect">
            <a:avLst/>
          </a:prstGeom>
          <a:noFill/>
          <a:ln/>
        </p:spPr>
        <p:txBody>
          <a:bodyPr wrap="square" lIns="0" tIns="0" rIns="0" bIns="0" rtlCol="0" anchor="ctr"/>
          <a:lstStyle/>
          <a:p>
            <a:pPr indent="0" marL="0">
              <a:buNone/>
            </a:pPr>
            <a:r>
              <a:rPr lang="en-US" sz="1500" i="1" dirty="0">
                <a:solidFill>
                  <a:schemeClr val="accent4"/>
                </a:solidFill>
              </a:rPr>
              <a:t>interview · PV · Vòng PV</a:t>
            </a:r>
            <a:endParaRPr lang="en-US" sz="1500" dirty="0"/>
          </a:p>
        </p:txBody>
      </p:sp>
      <p:sp>
        <p:nvSpPr>
          <p:cNvPr id="13" name="Stage arrow 3"/>
          <p:cNvSpPr/>
          <p:nvPr/>
        </p:nvSpPr>
        <p:spPr>
          <a:xfrm>
            <a:off x="4160520" y="3236976"/>
            <a:ext cx="365760" cy="274320"/>
          </a:xfrm>
          <a:prstGeom prst="rightArrow">
            <a:avLst/>
          </a:prstGeom>
          <a:solidFill>
            <a:schemeClr val="accent2"/>
          </a:solidFill>
          <a:ln w="12700">
            <a:solidFill>
              <a:schemeClr val="accent2"/>
            </a:solidFill>
            <a:prstDash val="solid"/>
          </a:ln>
        </p:spPr>
      </p:sp>
      <p:sp>
        <p:nvSpPr>
          <p:cNvPr id="14" name="Stage pill 3"/>
          <p:cNvSpPr/>
          <p:nvPr/>
        </p:nvSpPr>
        <p:spPr>
          <a:xfrm>
            <a:off x="4663440" y="3108960"/>
            <a:ext cx="2560320" cy="530352"/>
          </a:xfrm>
          <a:prstGeom prst="roundRect">
            <a:avLst>
              <a:gd name="adj" fmla="val 13793"/>
            </a:avLst>
          </a:prstGeom>
          <a:solidFill>
            <a:schemeClr val="tx2"/>
          </a:solidFill>
          <a:ln w="12700">
            <a:solidFill>
              <a:schemeClr val="tx2"/>
            </a:solidFill>
            <a:prstDash val="solid"/>
          </a:ln>
        </p:spPr>
      </p:sp>
      <p:sp>
        <p:nvSpPr>
          <p:cNvPr id="15" name="Stage name 3"/>
          <p:cNvSpPr txBox="1"/>
          <p:nvPr/>
        </p:nvSpPr>
        <p:spPr>
          <a:xfrm>
            <a:off x="4663440" y="3108960"/>
            <a:ext cx="2560320" cy="530352"/>
          </a:xfrm>
          <a:prstGeom prst="rect">
            <a:avLst/>
          </a:prstGeom>
          <a:noFill/>
          <a:ln/>
        </p:spPr>
        <p:txBody>
          <a:bodyPr wrap="square" lIns="0" tIns="0" rIns="0" bIns="0" rtlCol="0" anchor="ctr"/>
          <a:lstStyle/>
          <a:p>
            <a:pPr algn="ctr" indent="0" marL="0">
              <a:buNone/>
            </a:pPr>
            <a:r>
              <a:rPr lang="en-US" sz="1600" b="1" dirty="0">
                <a:solidFill>
                  <a:schemeClr val="bg1"/>
                </a:solidFill>
              </a:rPr>
              <a:t>3. Phỏng vấn</a:t>
            </a:r>
            <a:endParaRPr lang="en-US" sz="1600" dirty="0"/>
          </a:p>
        </p:txBody>
      </p:sp>
      <p:sp>
        <p:nvSpPr>
          <p:cNvPr id="16" name="Stage variants 4"/>
          <p:cNvSpPr txBox="1"/>
          <p:nvPr/>
        </p:nvSpPr>
        <p:spPr>
          <a:xfrm>
            <a:off x="548640" y="3749040"/>
            <a:ext cx="3520440" cy="530352"/>
          </a:xfrm>
          <a:prstGeom prst="rect">
            <a:avLst/>
          </a:prstGeom>
          <a:noFill/>
          <a:ln/>
        </p:spPr>
        <p:txBody>
          <a:bodyPr wrap="square" lIns="0" tIns="0" rIns="0" bIns="0" rtlCol="0" anchor="ctr"/>
          <a:lstStyle/>
          <a:p>
            <a:pPr indent="0" marL="0">
              <a:buNone/>
            </a:pPr>
            <a:r>
              <a:rPr lang="en-US" sz="1500" i="1" dirty="0">
                <a:solidFill>
                  <a:schemeClr val="accent4"/>
                </a:solidFill>
              </a:rPr>
              <a:t>offer · Gửi offer</a:t>
            </a:r>
            <a:endParaRPr lang="en-US" sz="1500" dirty="0"/>
          </a:p>
        </p:txBody>
      </p:sp>
      <p:sp>
        <p:nvSpPr>
          <p:cNvPr id="17" name="Stage arrow 4"/>
          <p:cNvSpPr/>
          <p:nvPr/>
        </p:nvSpPr>
        <p:spPr>
          <a:xfrm>
            <a:off x="4160520" y="3877056"/>
            <a:ext cx="365760" cy="274320"/>
          </a:xfrm>
          <a:prstGeom prst="rightArrow">
            <a:avLst/>
          </a:prstGeom>
          <a:solidFill>
            <a:schemeClr val="accent2"/>
          </a:solidFill>
          <a:ln w="12700">
            <a:solidFill>
              <a:schemeClr val="accent2"/>
            </a:solidFill>
            <a:prstDash val="solid"/>
          </a:ln>
        </p:spPr>
      </p:sp>
      <p:sp>
        <p:nvSpPr>
          <p:cNvPr id="18" name="Stage pill 4"/>
          <p:cNvSpPr/>
          <p:nvPr/>
        </p:nvSpPr>
        <p:spPr>
          <a:xfrm>
            <a:off x="4663440" y="3749040"/>
            <a:ext cx="2560320" cy="530352"/>
          </a:xfrm>
          <a:prstGeom prst="roundRect">
            <a:avLst>
              <a:gd name="adj" fmla="val 13793"/>
            </a:avLst>
          </a:prstGeom>
          <a:solidFill>
            <a:schemeClr val="accent1"/>
          </a:solidFill>
          <a:ln w="12700">
            <a:solidFill>
              <a:schemeClr val="accent1"/>
            </a:solidFill>
            <a:prstDash val="solid"/>
          </a:ln>
        </p:spPr>
      </p:sp>
      <p:sp>
        <p:nvSpPr>
          <p:cNvPr id="19" name="Stage name 4"/>
          <p:cNvSpPr txBox="1"/>
          <p:nvPr/>
        </p:nvSpPr>
        <p:spPr>
          <a:xfrm>
            <a:off x="4663440" y="3749040"/>
            <a:ext cx="2560320" cy="530352"/>
          </a:xfrm>
          <a:prstGeom prst="rect">
            <a:avLst/>
          </a:prstGeom>
          <a:noFill/>
          <a:ln/>
        </p:spPr>
        <p:txBody>
          <a:bodyPr wrap="square" lIns="0" tIns="0" rIns="0" bIns="0" rtlCol="0" anchor="ctr"/>
          <a:lstStyle/>
          <a:p>
            <a:pPr algn="ctr" indent="0" marL="0">
              <a:buNone/>
            </a:pPr>
            <a:r>
              <a:rPr lang="en-US" sz="1600" b="1" dirty="0">
                <a:solidFill>
                  <a:schemeClr val="bg1"/>
                </a:solidFill>
              </a:rPr>
              <a:t>4. Đề nghị</a:t>
            </a:r>
            <a:endParaRPr lang="en-US" sz="1600" dirty="0"/>
          </a:p>
        </p:txBody>
      </p:sp>
      <p:sp>
        <p:nvSpPr>
          <p:cNvPr id="20" name="Stage variants 5"/>
          <p:cNvSpPr txBox="1"/>
          <p:nvPr/>
        </p:nvSpPr>
        <p:spPr>
          <a:xfrm>
            <a:off x="548640" y="4389120"/>
            <a:ext cx="3520440" cy="530352"/>
          </a:xfrm>
          <a:prstGeom prst="rect">
            <a:avLst/>
          </a:prstGeom>
          <a:noFill/>
          <a:ln/>
        </p:spPr>
        <p:txBody>
          <a:bodyPr wrap="square" lIns="0" tIns="0" rIns="0" bIns="0" rtlCol="0" anchor="ctr"/>
          <a:lstStyle/>
          <a:p>
            <a:pPr indent="0" marL="0">
              <a:buNone/>
            </a:pPr>
            <a:r>
              <a:rPr lang="en-US" sz="1500" i="1" dirty="0">
                <a:solidFill>
                  <a:schemeClr val="accent4"/>
                </a:solidFill>
              </a:rPr>
              <a:t>hired · Đi làm</a:t>
            </a:r>
            <a:endParaRPr lang="en-US" sz="1500" dirty="0"/>
          </a:p>
        </p:txBody>
      </p:sp>
      <p:sp>
        <p:nvSpPr>
          <p:cNvPr id="21" name="Stage arrow 5"/>
          <p:cNvSpPr/>
          <p:nvPr/>
        </p:nvSpPr>
        <p:spPr>
          <a:xfrm>
            <a:off x="4160520" y="4517136"/>
            <a:ext cx="365760" cy="274320"/>
          </a:xfrm>
          <a:prstGeom prst="rightArrow">
            <a:avLst/>
          </a:prstGeom>
          <a:solidFill>
            <a:schemeClr val="accent2"/>
          </a:solidFill>
          <a:ln w="12700">
            <a:solidFill>
              <a:schemeClr val="accent2"/>
            </a:solidFill>
            <a:prstDash val="solid"/>
          </a:ln>
        </p:spPr>
      </p:sp>
      <p:sp>
        <p:nvSpPr>
          <p:cNvPr id="22" name="Stage pill 5"/>
          <p:cNvSpPr/>
          <p:nvPr/>
        </p:nvSpPr>
        <p:spPr>
          <a:xfrm>
            <a:off x="4663440" y="4389120"/>
            <a:ext cx="2560320" cy="530352"/>
          </a:xfrm>
          <a:prstGeom prst="roundRect">
            <a:avLst>
              <a:gd name="adj" fmla="val 13793"/>
            </a:avLst>
          </a:prstGeom>
          <a:solidFill>
            <a:schemeClr val="accent2"/>
          </a:solidFill>
          <a:ln w="12700">
            <a:solidFill>
              <a:schemeClr val="accent2"/>
            </a:solidFill>
            <a:prstDash val="solid"/>
          </a:ln>
        </p:spPr>
      </p:sp>
      <p:sp>
        <p:nvSpPr>
          <p:cNvPr id="23" name="Stage name 5"/>
          <p:cNvSpPr txBox="1"/>
          <p:nvPr/>
        </p:nvSpPr>
        <p:spPr>
          <a:xfrm>
            <a:off x="4663440" y="4389120"/>
            <a:ext cx="2560320" cy="530352"/>
          </a:xfrm>
          <a:prstGeom prst="rect">
            <a:avLst/>
          </a:prstGeom>
          <a:noFill/>
          <a:ln/>
        </p:spPr>
        <p:txBody>
          <a:bodyPr wrap="square" lIns="0" tIns="0" rIns="0" bIns="0" rtlCol="0" anchor="ctr"/>
          <a:lstStyle/>
          <a:p>
            <a:pPr algn="ctr" indent="0" marL="0">
              <a:buNone/>
            </a:pPr>
            <a:r>
              <a:rPr lang="en-US" sz="1600" b="1" dirty="0">
                <a:solidFill>
                  <a:schemeClr val="tx2"/>
                </a:solidFill>
              </a:rPr>
              <a:t>5. Nhận việc</a:t>
            </a:r>
            <a:endParaRPr lang="en-US" sz="1600" dirty="0"/>
          </a:p>
        </p:txBody>
      </p:sp>
      <p:sp>
        <p:nvSpPr>
          <p:cNvPr id="24" name="Status header"/>
          <p:cNvSpPr txBox="1"/>
          <p:nvPr/>
        </p:nvSpPr>
        <p:spPr>
          <a:xfrm>
            <a:off x="7680960" y="1325880"/>
            <a:ext cx="3959352" cy="411480"/>
          </a:xfrm>
          <a:prstGeom prst="rect">
            <a:avLst/>
          </a:prstGeom>
          <a:noFill/>
          <a:ln/>
        </p:spPr>
        <p:txBody>
          <a:bodyPr wrap="square" lIns="0" tIns="0" rIns="0" bIns="0" rtlCol="0" anchor="ctr"/>
          <a:lstStyle/>
          <a:p>
            <a:pPr indent="0" marL="0">
              <a:buNone/>
            </a:pPr>
            <a:r>
              <a:rPr lang="en-US" sz="1900" b="1" dirty="0">
                <a:solidFill>
                  <a:schemeClr val="tx2"/>
                </a:solidFill>
              </a:rPr>
              <a:t>4 trạng thái</a:t>
            </a:r>
            <a:endParaRPr lang="en-US" sz="1900" dirty="0"/>
          </a:p>
        </p:txBody>
      </p:sp>
      <p:sp>
        <p:nvSpPr>
          <p:cNvPr id="25" name="Status pill 1"/>
          <p:cNvSpPr/>
          <p:nvPr/>
        </p:nvSpPr>
        <p:spPr>
          <a:xfrm>
            <a:off x="7680960" y="1828800"/>
            <a:ext cx="1691640" cy="566928"/>
          </a:xfrm>
          <a:prstGeom prst="roundRect">
            <a:avLst>
              <a:gd name="adj" fmla="val 12903"/>
            </a:avLst>
          </a:prstGeom>
          <a:solidFill>
            <a:schemeClr val="accent2"/>
          </a:solidFill>
          <a:ln w="12700">
            <a:solidFill>
              <a:schemeClr val="accent2"/>
            </a:solidFill>
            <a:prstDash val="solid"/>
          </a:ln>
        </p:spPr>
      </p:sp>
      <p:sp>
        <p:nvSpPr>
          <p:cNvPr id="26" name="Status name 1"/>
          <p:cNvSpPr txBox="1"/>
          <p:nvPr/>
        </p:nvSpPr>
        <p:spPr>
          <a:xfrm>
            <a:off x="7680960" y="1828800"/>
            <a:ext cx="1691640" cy="566928"/>
          </a:xfrm>
          <a:prstGeom prst="rect">
            <a:avLst/>
          </a:prstGeom>
          <a:noFill/>
          <a:ln/>
        </p:spPr>
        <p:txBody>
          <a:bodyPr wrap="square" lIns="0" tIns="0" rIns="0" bIns="0" rtlCol="0" anchor="ctr"/>
          <a:lstStyle/>
          <a:p>
            <a:pPr algn="ctr" indent="0" marL="0">
              <a:buNone/>
            </a:pPr>
            <a:r>
              <a:rPr lang="en-US" sz="1600" b="1" dirty="0">
                <a:solidFill>
                  <a:schemeClr val="tx2"/>
                </a:solidFill>
              </a:rPr>
              <a:t>Đang xử lý</a:t>
            </a:r>
            <a:endParaRPr lang="en-US" sz="1600" dirty="0"/>
          </a:p>
        </p:txBody>
      </p:sp>
      <p:sp>
        <p:nvSpPr>
          <p:cNvPr id="27" name="Status variants 1"/>
          <p:cNvSpPr txBox="1"/>
          <p:nvPr/>
        </p:nvSpPr>
        <p:spPr>
          <a:xfrm>
            <a:off x="9509760" y="1828800"/>
            <a:ext cx="2130552" cy="566928"/>
          </a:xfrm>
          <a:prstGeom prst="rect">
            <a:avLst/>
          </a:prstGeom>
          <a:noFill/>
          <a:ln/>
        </p:spPr>
        <p:txBody>
          <a:bodyPr wrap="square" lIns="0" tIns="0" rIns="0" bIns="0" rtlCol="0" anchor="ctr"/>
          <a:lstStyle/>
          <a:p>
            <a:pPr indent="0" marL="0">
              <a:buNone/>
            </a:pPr>
            <a:r>
              <a:rPr lang="en-US" sz="1400" i="1" dirty="0">
                <a:solidFill>
                  <a:schemeClr val="accent4"/>
                </a:solidFill>
              </a:rPr>
              <a:t>Đang chờ · pending · để trống</a:t>
            </a:r>
            <a:endParaRPr lang="en-US" sz="1400" dirty="0"/>
          </a:p>
        </p:txBody>
      </p:sp>
      <p:sp>
        <p:nvSpPr>
          <p:cNvPr id="28" name="Status pill 2"/>
          <p:cNvSpPr/>
          <p:nvPr/>
        </p:nvSpPr>
        <p:spPr>
          <a:xfrm>
            <a:off x="7680960" y="2615184"/>
            <a:ext cx="1691640" cy="566928"/>
          </a:xfrm>
          <a:prstGeom prst="roundRect">
            <a:avLst>
              <a:gd name="adj" fmla="val 12903"/>
            </a:avLst>
          </a:prstGeom>
          <a:solidFill>
            <a:schemeClr val="accent5"/>
          </a:solidFill>
          <a:ln w="12700">
            <a:solidFill>
              <a:schemeClr val="accent5"/>
            </a:solidFill>
            <a:prstDash val="solid"/>
          </a:ln>
        </p:spPr>
      </p:sp>
      <p:sp>
        <p:nvSpPr>
          <p:cNvPr id="29" name="Status name 2"/>
          <p:cNvSpPr txBox="1"/>
          <p:nvPr/>
        </p:nvSpPr>
        <p:spPr>
          <a:xfrm>
            <a:off x="7680960" y="2615184"/>
            <a:ext cx="1691640" cy="566928"/>
          </a:xfrm>
          <a:prstGeom prst="rect">
            <a:avLst/>
          </a:prstGeom>
          <a:noFill/>
          <a:ln/>
        </p:spPr>
        <p:txBody>
          <a:bodyPr wrap="square" lIns="0" tIns="0" rIns="0" bIns="0" rtlCol="0" anchor="ctr"/>
          <a:lstStyle/>
          <a:p>
            <a:pPr algn="ctr" indent="0" marL="0">
              <a:buNone/>
            </a:pPr>
            <a:r>
              <a:rPr lang="en-US" sz="1600" b="1" dirty="0">
                <a:solidFill>
                  <a:schemeClr val="bg1"/>
                </a:solidFill>
              </a:rPr>
              <a:t>Đạt</a:t>
            </a:r>
            <a:endParaRPr lang="en-US" sz="1600" dirty="0"/>
          </a:p>
        </p:txBody>
      </p:sp>
      <p:sp>
        <p:nvSpPr>
          <p:cNvPr id="30" name="Status variants 2"/>
          <p:cNvSpPr txBox="1"/>
          <p:nvPr/>
        </p:nvSpPr>
        <p:spPr>
          <a:xfrm>
            <a:off x="9509760" y="2615184"/>
            <a:ext cx="2130552" cy="566928"/>
          </a:xfrm>
          <a:prstGeom prst="rect">
            <a:avLst/>
          </a:prstGeom>
          <a:noFill/>
          <a:ln/>
        </p:spPr>
        <p:txBody>
          <a:bodyPr wrap="square" lIns="0" tIns="0" rIns="0" bIns="0" rtlCol="0" anchor="ctr"/>
          <a:lstStyle/>
          <a:p>
            <a:pPr indent="0" marL="0">
              <a:buNone/>
            </a:pPr>
            <a:r>
              <a:rPr lang="en-US" sz="1400" i="1" dirty="0">
                <a:solidFill>
                  <a:schemeClr val="accent4"/>
                </a:solidFill>
              </a:rPr>
              <a:t>Pass · Đậu</a:t>
            </a:r>
            <a:endParaRPr lang="en-US" sz="1400" dirty="0"/>
          </a:p>
        </p:txBody>
      </p:sp>
      <p:sp>
        <p:nvSpPr>
          <p:cNvPr id="31" name="Status pill 3"/>
          <p:cNvSpPr/>
          <p:nvPr/>
        </p:nvSpPr>
        <p:spPr>
          <a:xfrm>
            <a:off x="7680960" y="3401568"/>
            <a:ext cx="1691640" cy="566928"/>
          </a:xfrm>
          <a:prstGeom prst="roundRect">
            <a:avLst>
              <a:gd name="adj" fmla="val 12903"/>
            </a:avLst>
          </a:prstGeom>
          <a:solidFill>
            <a:schemeClr val="accent3"/>
          </a:solidFill>
          <a:ln w="12700">
            <a:solidFill>
              <a:schemeClr val="accent3"/>
            </a:solidFill>
            <a:prstDash val="solid"/>
          </a:ln>
        </p:spPr>
      </p:sp>
      <p:sp>
        <p:nvSpPr>
          <p:cNvPr id="32" name="Status name 3"/>
          <p:cNvSpPr txBox="1"/>
          <p:nvPr/>
        </p:nvSpPr>
        <p:spPr>
          <a:xfrm>
            <a:off x="7680960" y="3401568"/>
            <a:ext cx="1691640" cy="566928"/>
          </a:xfrm>
          <a:prstGeom prst="rect">
            <a:avLst/>
          </a:prstGeom>
          <a:noFill/>
          <a:ln/>
        </p:spPr>
        <p:txBody>
          <a:bodyPr wrap="square" lIns="0" tIns="0" rIns="0" bIns="0" rtlCol="0" anchor="ctr"/>
          <a:lstStyle/>
          <a:p>
            <a:pPr algn="ctr" indent="0" marL="0">
              <a:buNone/>
            </a:pPr>
            <a:r>
              <a:rPr lang="en-US" sz="1600" b="1" dirty="0">
                <a:solidFill>
                  <a:schemeClr val="bg1"/>
                </a:solidFill>
              </a:rPr>
              <a:t>Không đạt</a:t>
            </a:r>
            <a:endParaRPr lang="en-US" sz="1600" dirty="0"/>
          </a:p>
        </p:txBody>
      </p:sp>
      <p:sp>
        <p:nvSpPr>
          <p:cNvPr id="33" name="Status variants 3"/>
          <p:cNvSpPr txBox="1"/>
          <p:nvPr/>
        </p:nvSpPr>
        <p:spPr>
          <a:xfrm>
            <a:off x="9509760" y="3401568"/>
            <a:ext cx="2130552" cy="566928"/>
          </a:xfrm>
          <a:prstGeom prst="rect">
            <a:avLst/>
          </a:prstGeom>
          <a:noFill/>
          <a:ln/>
        </p:spPr>
        <p:txBody>
          <a:bodyPr wrap="square" lIns="0" tIns="0" rIns="0" bIns="0" rtlCol="0" anchor="ctr"/>
          <a:lstStyle/>
          <a:p>
            <a:pPr indent="0" marL="0">
              <a:buNone/>
            </a:pPr>
            <a:r>
              <a:rPr lang="en-US" sz="1400" i="1" dirty="0">
                <a:solidFill>
                  <a:schemeClr val="accent4"/>
                </a:solidFill>
              </a:rPr>
              <a:t>Trượt · Rớt · fail</a:t>
            </a:r>
            <a:endParaRPr lang="en-US" sz="1400" dirty="0"/>
          </a:p>
        </p:txBody>
      </p:sp>
      <p:sp>
        <p:nvSpPr>
          <p:cNvPr id="34" name="Status pill 4"/>
          <p:cNvSpPr/>
          <p:nvPr/>
        </p:nvSpPr>
        <p:spPr>
          <a:xfrm>
            <a:off x="7680960" y="4187952"/>
            <a:ext cx="1691640" cy="566928"/>
          </a:xfrm>
          <a:prstGeom prst="roundRect">
            <a:avLst>
              <a:gd name="adj" fmla="val 12903"/>
            </a:avLst>
          </a:prstGeom>
          <a:solidFill>
            <a:schemeClr val="accent4"/>
          </a:solidFill>
          <a:ln w="12700">
            <a:solidFill>
              <a:schemeClr val="accent4"/>
            </a:solidFill>
            <a:prstDash val="solid"/>
          </a:ln>
        </p:spPr>
      </p:sp>
      <p:sp>
        <p:nvSpPr>
          <p:cNvPr id="35" name="Status name 4"/>
          <p:cNvSpPr txBox="1"/>
          <p:nvPr/>
        </p:nvSpPr>
        <p:spPr>
          <a:xfrm>
            <a:off x="7680960" y="4187952"/>
            <a:ext cx="1691640" cy="566928"/>
          </a:xfrm>
          <a:prstGeom prst="rect">
            <a:avLst/>
          </a:prstGeom>
          <a:noFill/>
          <a:ln/>
        </p:spPr>
        <p:txBody>
          <a:bodyPr wrap="square" lIns="0" tIns="0" rIns="0" bIns="0" rtlCol="0" anchor="ctr"/>
          <a:lstStyle/>
          <a:p>
            <a:pPr algn="ctr" indent="0" marL="0">
              <a:buNone/>
            </a:pPr>
            <a:r>
              <a:rPr lang="en-US" sz="1600" b="1" dirty="0">
                <a:solidFill>
                  <a:schemeClr val="bg1"/>
                </a:solidFill>
              </a:rPr>
              <a:t>Rút hồ sơ</a:t>
            </a:r>
            <a:endParaRPr lang="en-US" sz="1600" dirty="0"/>
          </a:p>
        </p:txBody>
      </p:sp>
      <p:sp>
        <p:nvSpPr>
          <p:cNvPr id="36" name="Status variants 4"/>
          <p:cNvSpPr txBox="1"/>
          <p:nvPr/>
        </p:nvSpPr>
        <p:spPr>
          <a:xfrm>
            <a:off x="9509760" y="4187952"/>
            <a:ext cx="2130552" cy="566928"/>
          </a:xfrm>
          <a:prstGeom prst="rect">
            <a:avLst/>
          </a:prstGeom>
          <a:noFill/>
          <a:ln/>
        </p:spPr>
        <p:txBody>
          <a:bodyPr wrap="square" lIns="0" tIns="0" rIns="0" bIns="0" rtlCol="0" anchor="ctr"/>
          <a:lstStyle/>
          <a:p>
            <a:pPr indent="0" marL="0">
              <a:buNone/>
            </a:pPr>
            <a:r>
              <a:rPr lang="en-US" sz="1400" i="1" dirty="0">
                <a:solidFill>
                  <a:schemeClr val="accent4"/>
                </a:solidFill>
              </a:rPr>
              <a:t>Từ chối · withdrawn</a:t>
            </a:r>
            <a:endParaRPr lang="en-US" sz="1400" dirty="0"/>
          </a:p>
        </p:txBody>
      </p:sp>
      <p:sp>
        <p:nvSpPr>
          <p:cNvPr id="37" name="Insight card"/>
          <p:cNvSpPr/>
          <p:nvPr/>
        </p:nvSpPr>
        <p:spPr>
          <a:xfrm>
            <a:off x="548640" y="5212080"/>
            <a:ext cx="11091672" cy="822960"/>
          </a:xfrm>
          <a:prstGeom prst="roundRect">
            <a:avLst>
              <a:gd name="adj" fmla="val 13333"/>
            </a:avLst>
          </a:prstGeom>
          <a:solidFill>
            <a:schemeClr val="bg2"/>
          </a:solidFill>
          <a:ln w="12700">
            <a:solidFill>
              <a:schemeClr val="bg2"/>
            </a:solidFill>
            <a:prstDash val="solid"/>
          </a:ln>
        </p:spPr>
      </p:sp>
      <p:sp>
        <p:nvSpPr>
          <p:cNvPr id="38" name="Insight circle"/>
          <p:cNvSpPr/>
          <p:nvPr/>
        </p:nvSpPr>
        <p:spPr>
          <a:xfrm>
            <a:off x="777240" y="5349240"/>
            <a:ext cx="548640" cy="548640"/>
          </a:xfrm>
          <a:prstGeom prst="ellipse">
            <a:avLst/>
          </a:prstGeom>
          <a:solidFill>
            <a:schemeClr val="accent2"/>
          </a:solidFill>
          <a:ln w="12700">
            <a:solidFill>
              <a:schemeClr val="accent2"/>
            </a:solidFill>
            <a:prstDash val="solid"/>
          </a:ln>
        </p:spPr>
      </p:sp>
      <p:pic>
        <p:nvPicPr>
          <p:cNvPr id="39" name="Insight icon" descr="Insight">    </p:cNvPr>
          <p:cNvPicPr>
            <a:picLocks noChangeAspect="1"/>
          </p:cNvPicPr>
          <p:nvPr/>
        </p:nvPicPr>
        <p:blipFill>
          <a:blip r:embed="rId1"/>
          <a:stretch>
            <a:fillRect/>
          </a:stretch>
        </p:blipFill>
        <p:spPr>
          <a:xfrm>
            <a:off x="914400" y="5486400"/>
            <a:ext cx="274320" cy="274320"/>
          </a:xfrm>
          <a:prstGeom prst="rect">
            <a:avLst/>
          </a:prstGeom>
        </p:spPr>
      </p:pic>
      <p:sp>
        <p:nvSpPr>
          <p:cNvPr id="40" name="Insight text"/>
          <p:cNvSpPr txBox="1"/>
          <p:nvPr/>
        </p:nvSpPr>
        <p:spPr>
          <a:xfrm>
            <a:off x="1508760" y="5212080"/>
            <a:ext cx="9966960" cy="822960"/>
          </a:xfrm>
          <a:prstGeom prst="rect">
            <a:avLst/>
          </a:prstGeom>
          <a:noFill/>
          <a:ln/>
        </p:spPr>
        <p:txBody>
          <a:bodyPr wrap="square" lIns="0" tIns="0" rIns="0" bIns="0" rtlCol="0" anchor="ctr"/>
          <a:lstStyle/>
          <a:p>
            <a:pPr indent="0" marL="0">
              <a:buNone/>
            </a:pPr>
            <a:r>
              <a:rPr lang="en-US" sz="1700" b="1" dirty="0">
                <a:solidFill>
                  <a:schemeClr val="tx2"/>
                </a:solidFill>
              </a:rPr>
              <a:t>Tách vòng và trạng thái → biết ứng viên bị loại ở vòng nào. </a:t>
            </a:r>
            <a:r>
              <a:rPr lang="en-US" sz="1700" dirty="0">
                <a:solidFill>
                  <a:schemeClr val="tx1"/>
                </a:solidFill>
              </a:rPr>
              <a:t>Ví dụ: Phỏng vấn + Không đạt = trượt phỏng vấn.</a:t>
            </a:r>
            <a:endParaRPr lang="en-US" sz="1700" dirty="0"/>
          </a:p>
        </p:txBody>
      </p:sp>
      <p:sp>
        <p:nvSpPr>
          <p:cNvPr id="25" name="Slide Number Placeholder 0"/>
          <p:cNvSpPr>
            <a:spLocks noGrp="1"/>
          </p:cNvSpPr>
          <p:nvPr>
            <p:ph type="sldNum" sz="quarter" idx="4294967295"/>
          </p:nvPr>
        </p:nvSpPr>
        <p:spPr>
          <a:xfrm>
            <a:off x="11183112" y="635508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Tách bảng để không lưu lặp</a:t>
            </a:r>
            <a:endParaRPr lang="en-US" sz="3200" dirty="0"/>
          </a:p>
        </p:txBody>
      </p:sp>
      <p:sp>
        <p:nvSpPr>
          <p:cNvPr id="3" name="Before label"/>
          <p:cNvSpPr txBox="1"/>
          <p:nvPr/>
        </p:nvSpPr>
        <p:spPr>
          <a:xfrm>
            <a:off x="548640" y="1325880"/>
            <a:ext cx="5212080" cy="411480"/>
          </a:xfrm>
          <a:prstGeom prst="rect">
            <a:avLst/>
          </a:prstGeom>
          <a:noFill/>
          <a:ln/>
        </p:spPr>
        <p:txBody>
          <a:bodyPr wrap="square" lIns="0" tIns="0" rIns="0" bIns="0" rtlCol="0" anchor="ctr"/>
          <a:lstStyle/>
          <a:p>
            <a:pPr indent="0" marL="0">
              <a:buNone/>
            </a:pPr>
            <a:r>
              <a:rPr lang="en-US" sz="1800" b="1" dirty="0">
                <a:solidFill>
                  <a:schemeClr val="accent3"/>
                </a:solidFill>
              </a:rPr>
              <a:t>Trước: 1 bảng lớn, thông tin bị lặp</a:t>
            </a:r>
            <a:endParaRPr lang="en-US" sz="1800" dirty="0"/>
          </a:p>
        </p:txBody>
      </p:sp>
      <p:graphicFrame>
        <p:nvGraphicFramePr>
          <p:cNvPr id="7" name="Before table"/>
          <p:cNvGraphicFramePr>
            <a:graphicFrameLocks noGrp="1"/>
          </p:cNvGraphicFramePr>
          <p:nvPr>
            <p:extLst>
              <p:ext uri="{D42A27DB-BD31-4B8C-83A1-F6EECF244321}">
                <p14:modId xmlns:p14="http://schemas.microsoft.com/office/powerpoint/2010/main" val="1579011935"/>
              </p:ext>
            </p:extLst>
          </p:nvPr>
        </p:nvGraphicFramePr>
        <p:xfrm>
          <a:off x="548640" y="1828800"/>
          <a:ext cx="5212080" cy="914400"/>
        </p:xfrm>
        <a:graphic>
          <a:graphicData uri="http://schemas.openxmlformats.org/drawingml/2006/table">
            <a:tbl>
              <a:tblPr/>
              <a:tblGrid>
                <a:gridCol w="1051560"/>
                <a:gridCol w="1463040"/>
                <a:gridCol w="1554480"/>
                <a:gridCol w="1143000"/>
              </a:tblGrid>
              <a:tr h="457200">
                <a:tc>
                  <a:txBody>
                    <a:bodyPr/>
                    <a:lstStyle/>
                    <a:p>
                      <a:pPr indent="0" marL="0">
                        <a:buNone/>
                      </a:pPr>
                      <a:r>
                        <a:rPr lang="en-US" sz="1400" b="1" dirty="0">
                          <a:solidFill>
                            <a:schemeClr val="bg1"/>
                          </a:solidFill>
                        </a:rPr>
                        <a:t>Ứng viên</a:t>
                      </a:r>
                      <a:endParaRPr lang="en-US" sz="1400" dirty="0"/>
                    </a:p>
                  </a:txBody>
                  <a:tcPr marL="73152" marR="73152" marT="36576" marB="36576" anchor="ctr">
                    <a:lnL w="9525" cap="flat" cmpd="sng" algn="ctr">
                      <a:solidFill>
                        <a:srgbClr val="C3DCCB"/>
                      </a:solidFill>
                      <a:prstDash val="solid"/>
                      <a:round/>
                      <a:headEnd type="none" w="med" len="med"/>
                      <a:tailEnd type="none" w="med" len="med"/>
                    </a:lnL>
                    <a:lnR w="9525" cap="flat" cmpd="sng" algn="ctr">
                      <a:solidFill>
                        <a:srgbClr val="C3DCCB"/>
                      </a:solidFill>
                      <a:prstDash val="solid"/>
                      <a:round/>
                      <a:headEnd type="none" w="med" len="med"/>
                      <a:tailEnd type="none" w="med" len="med"/>
                    </a:lnR>
                    <a:lnT w="9525" cap="flat" cmpd="sng" algn="ctr">
                      <a:solidFill>
                        <a:srgbClr val="C3DCCB"/>
                      </a:solidFill>
                      <a:prstDash val="solid"/>
                      <a:round/>
                      <a:headEnd type="none" w="med" len="med"/>
                      <a:tailEnd type="none" w="med" len="med"/>
                    </a:lnT>
                    <a:lnB w="9525" cap="flat" cmpd="sng" algn="ctr">
                      <a:solidFill>
                        <a:srgbClr val="C3DCCB"/>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Vị trí</a:t>
                      </a:r>
                      <a:endParaRPr lang="en-US" sz="1400" dirty="0"/>
                    </a:p>
                  </a:txBody>
                  <a:tcPr marL="73152" marR="73152" marT="36576" marB="36576" anchor="ctr">
                    <a:lnL w="9525" cap="flat" cmpd="sng" algn="ctr">
                      <a:solidFill>
                        <a:srgbClr val="C3DCCB"/>
                      </a:solidFill>
                      <a:prstDash val="solid"/>
                      <a:round/>
                      <a:headEnd type="none" w="med" len="med"/>
                      <a:tailEnd type="none" w="med" len="med"/>
                    </a:lnL>
                    <a:lnR w="9525" cap="flat" cmpd="sng" algn="ctr">
                      <a:solidFill>
                        <a:srgbClr val="C3DCCB"/>
                      </a:solidFill>
                      <a:prstDash val="solid"/>
                      <a:round/>
                      <a:headEnd type="none" w="med" len="med"/>
                      <a:tailEnd type="none" w="med" len="med"/>
                    </a:lnR>
                    <a:lnT w="9525" cap="flat" cmpd="sng" algn="ctr">
                      <a:solidFill>
                        <a:srgbClr val="C3DCCB"/>
                      </a:solidFill>
                      <a:prstDash val="solid"/>
                      <a:round/>
                      <a:headEnd type="none" w="med" len="med"/>
                      <a:tailEnd type="none" w="med" len="med"/>
                    </a:lnT>
                    <a:lnB w="9525" cap="flat" cmpd="sng" algn="ctr">
                      <a:solidFill>
                        <a:srgbClr val="C3DCCB"/>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Phòng ban</a:t>
                      </a:r>
                      <a:endParaRPr lang="en-US" sz="1400" dirty="0"/>
                    </a:p>
                  </a:txBody>
                  <a:tcPr marL="73152" marR="73152" marT="36576" marB="36576" anchor="ctr">
                    <a:lnL w="9525" cap="flat" cmpd="sng" algn="ctr">
                      <a:solidFill>
                        <a:srgbClr val="C3DCCB"/>
                      </a:solidFill>
                      <a:prstDash val="solid"/>
                      <a:round/>
                      <a:headEnd type="none" w="med" len="med"/>
                      <a:tailEnd type="none" w="med" len="med"/>
                    </a:lnL>
                    <a:lnR w="9525" cap="flat" cmpd="sng" algn="ctr">
                      <a:solidFill>
                        <a:srgbClr val="C3DCCB"/>
                      </a:solidFill>
                      <a:prstDash val="solid"/>
                      <a:round/>
                      <a:headEnd type="none" w="med" len="med"/>
                      <a:tailEnd type="none" w="med" len="med"/>
                    </a:lnR>
                    <a:lnT w="9525" cap="flat" cmpd="sng" algn="ctr">
                      <a:solidFill>
                        <a:srgbClr val="C3DCCB"/>
                      </a:solidFill>
                      <a:prstDash val="solid"/>
                      <a:round/>
                      <a:headEnd type="none" w="med" len="med"/>
                      <a:tailEnd type="none" w="med" len="med"/>
                    </a:lnT>
                    <a:lnB w="9525" cap="flat" cmpd="sng" algn="ctr">
                      <a:solidFill>
                        <a:srgbClr val="C3DCCB"/>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Nguồn</a:t>
                      </a:r>
                      <a:endParaRPr lang="en-US" sz="1400" dirty="0"/>
                    </a:p>
                  </a:txBody>
                  <a:tcPr marL="73152" marR="73152" marT="36576" marB="36576" anchor="ctr">
                    <a:lnL w="9525" cap="flat" cmpd="sng" algn="ctr">
                      <a:solidFill>
                        <a:srgbClr val="C3DCCB"/>
                      </a:solidFill>
                      <a:prstDash val="solid"/>
                      <a:round/>
                      <a:headEnd type="none" w="med" len="med"/>
                      <a:tailEnd type="none" w="med" len="med"/>
                    </a:lnL>
                    <a:lnR w="9525" cap="flat" cmpd="sng" algn="ctr">
                      <a:solidFill>
                        <a:srgbClr val="C3DCCB"/>
                      </a:solidFill>
                      <a:prstDash val="solid"/>
                      <a:round/>
                      <a:headEnd type="none" w="med" len="med"/>
                      <a:tailEnd type="none" w="med" len="med"/>
                    </a:lnR>
                    <a:lnT w="9525" cap="flat" cmpd="sng" algn="ctr">
                      <a:solidFill>
                        <a:srgbClr val="C3DCCB"/>
                      </a:solidFill>
                      <a:prstDash val="solid"/>
                      <a:round/>
                      <a:headEnd type="none" w="med" len="med"/>
                      <a:tailEnd type="none" w="med" len="med"/>
                    </a:lnT>
                    <a:lnB w="9525" cap="flat" cmpd="sng" algn="ctr">
                      <a:solidFill>
                        <a:srgbClr val="C3DCCB"/>
                      </a:solidFill>
                      <a:prstDash val="solid"/>
                      <a:round/>
                      <a:headEnd type="none" w="med" len="med"/>
                      <a:tailEnd type="none" w="med" len="med"/>
                    </a:lnB>
                    <a:solidFill>
                      <a:schemeClr val="tx2"/>
                    </a:solidFill>
                  </a:tcPr>
                </a:tc>
              </a:tr>
              <a:tr h="457200">
                <a:tc>
                  <a:txBody>
                    <a:bodyPr/>
                    <a:lstStyle/>
                    <a:p>
                      <a:pPr indent="0" marL="0">
                        <a:buNone/>
                      </a:pPr>
                      <a:r>
                        <a:rPr lang="en-US" sz="1400" dirty="0">
                          <a:solidFill>
                            <a:schemeClr val="tx1"/>
                          </a:solidFill>
                        </a:rPr>
                        <a:t>An</a:t>
                      </a:r>
                      <a:endParaRPr lang="en-US" sz="1400" dirty="0"/>
                    </a:p>
                  </a:txBody>
                  <a:tcPr marL="73152" marR="73152" marT="36576" marB="36576" anchor="ctr">
                    <a:lnL w="9525" cap="flat" cmpd="sng" algn="ctr">
                      <a:solidFill>
                        <a:srgbClr val="C3DCCB"/>
                      </a:solidFill>
                      <a:prstDash val="solid"/>
                      <a:round/>
                      <a:headEnd type="none" w="med" len="med"/>
                      <a:tailEnd type="none" w="med" len="med"/>
                    </a:lnL>
                    <a:lnR w="9525" cap="flat" cmpd="sng" algn="ctr">
                      <a:solidFill>
                        <a:srgbClr val="C3DCCB"/>
                      </a:solidFill>
                      <a:prstDash val="solid"/>
                      <a:round/>
                      <a:headEnd type="none" w="med" len="med"/>
                      <a:tailEnd type="none" w="med" len="med"/>
                    </a:lnR>
                    <a:lnT w="9525" cap="flat" cmpd="sng" algn="ctr">
                      <a:solidFill>
                        <a:srgbClr val="C3DCCB"/>
                      </a:solidFill>
                      <a:prstDash val="solid"/>
                      <a:round/>
                      <a:headEnd type="none" w="med" len="med"/>
                      <a:tailEnd type="none" w="med" len="med"/>
                    </a:lnT>
                    <a:lnB w="9525" cap="flat" cmpd="sng" algn="ctr">
                      <a:solidFill>
                        <a:srgbClr val="C3DCCB"/>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Data Analyst</a:t>
                      </a:r>
                      <a:endParaRPr lang="en-US" sz="1400" dirty="0"/>
                    </a:p>
                  </a:txBody>
                  <a:tcPr marL="73152" marR="73152" marT="36576" marB="36576" anchor="ctr">
                    <a:lnL w="9525" cap="flat" cmpd="sng" algn="ctr">
                      <a:solidFill>
                        <a:srgbClr val="C3DCCB"/>
                      </a:solidFill>
                      <a:prstDash val="solid"/>
                      <a:round/>
                      <a:headEnd type="none" w="med" len="med"/>
                      <a:tailEnd type="none" w="med" len="med"/>
                    </a:lnL>
                    <a:lnR w="9525" cap="flat" cmpd="sng" algn="ctr">
                      <a:solidFill>
                        <a:srgbClr val="C3DCCB"/>
                      </a:solidFill>
                      <a:prstDash val="solid"/>
                      <a:round/>
                      <a:headEnd type="none" w="med" len="med"/>
                      <a:tailEnd type="none" w="med" len="med"/>
                    </a:lnR>
                    <a:lnT w="9525" cap="flat" cmpd="sng" algn="ctr">
                      <a:solidFill>
                        <a:srgbClr val="C3DCCB"/>
                      </a:solidFill>
                      <a:prstDash val="solid"/>
                      <a:round/>
                      <a:headEnd type="none" w="med" len="med"/>
                      <a:tailEnd type="none" w="med" len="med"/>
                    </a:lnT>
                    <a:lnB w="9525" cap="flat" cmpd="sng" algn="ctr">
                      <a:solidFill>
                        <a:srgbClr val="C3DCCB"/>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Phòng Dữ liệu</a:t>
                      </a:r>
                      <a:endParaRPr lang="en-US" sz="1400" dirty="0"/>
                    </a:p>
                  </a:txBody>
                  <a:tcPr marL="73152" marR="73152" marT="36576" marB="36576" anchor="ctr">
                    <a:lnL w="9525" cap="flat" cmpd="sng" algn="ctr">
                      <a:solidFill>
                        <a:srgbClr val="C3DCCB"/>
                      </a:solidFill>
                      <a:prstDash val="solid"/>
                      <a:round/>
                      <a:headEnd type="none" w="med" len="med"/>
                      <a:tailEnd type="none" w="med" len="med"/>
                    </a:lnL>
                    <a:lnR w="9525" cap="flat" cmpd="sng" algn="ctr">
                      <a:solidFill>
                        <a:srgbClr val="C3DCCB"/>
                      </a:solidFill>
                      <a:prstDash val="solid"/>
                      <a:round/>
                      <a:headEnd type="none" w="med" len="med"/>
                      <a:tailEnd type="none" w="med" len="med"/>
                    </a:lnR>
                    <a:lnT w="9525" cap="flat" cmpd="sng" algn="ctr">
                      <a:solidFill>
                        <a:srgbClr val="C3DCCB"/>
                      </a:solidFill>
                      <a:prstDash val="solid"/>
                      <a:round/>
                      <a:headEnd type="none" w="med" len="med"/>
                      <a:tailEnd type="none" w="med" len="med"/>
                    </a:lnT>
                    <a:lnB w="9525" cap="flat" cmpd="sng" algn="ctr">
                      <a:solidFill>
                        <a:srgbClr val="C3DCCB"/>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TopCV</a:t>
                      </a:r>
                      <a:endParaRPr lang="en-US" sz="1400" dirty="0"/>
                    </a:p>
                  </a:txBody>
                  <a:tcPr marL="73152" marR="73152" marT="36576" marB="36576" anchor="ctr">
                    <a:lnL w="9525" cap="flat" cmpd="sng" algn="ctr">
                      <a:solidFill>
                        <a:srgbClr val="C3DCCB"/>
                      </a:solidFill>
                      <a:prstDash val="solid"/>
                      <a:round/>
                      <a:headEnd type="none" w="med" len="med"/>
                      <a:tailEnd type="none" w="med" len="med"/>
                    </a:lnL>
                    <a:lnR w="9525" cap="flat" cmpd="sng" algn="ctr">
                      <a:solidFill>
                        <a:srgbClr val="C3DCCB"/>
                      </a:solidFill>
                      <a:prstDash val="solid"/>
                      <a:round/>
                      <a:headEnd type="none" w="med" len="med"/>
                      <a:tailEnd type="none" w="med" len="med"/>
                    </a:lnR>
                    <a:lnT w="9525" cap="flat" cmpd="sng" algn="ctr">
                      <a:solidFill>
                        <a:srgbClr val="C3DCCB"/>
                      </a:solidFill>
                      <a:prstDash val="solid"/>
                      <a:round/>
                      <a:headEnd type="none" w="med" len="med"/>
                      <a:tailEnd type="none" w="med" len="med"/>
                    </a:lnT>
                    <a:lnB w="9525" cap="flat" cmpd="sng" algn="ctr">
                      <a:solidFill>
                        <a:srgbClr val="C3DCCB"/>
                      </a:solidFill>
                      <a:prstDash val="solid"/>
                      <a:round/>
                      <a:headEnd type="none" w="med" len="med"/>
                      <a:tailEnd type="none" w="med" len="med"/>
                    </a:lnB>
                    <a:solidFill>
                      <a:schemeClr val="bg1"/>
                    </a:solidFill>
                  </a:tcPr>
                </a:tc>
              </a:tr>
              <a:tr h="457200">
                <a:tc>
                  <a:txBody>
                    <a:bodyPr/>
                    <a:lstStyle/>
                    <a:p>
                      <a:pPr indent="0" marL="0">
                        <a:buNone/>
                      </a:pPr>
                      <a:r>
                        <a:rPr lang="en-US" sz="1400" dirty="0">
                          <a:solidFill>
                            <a:schemeClr val="tx1"/>
                          </a:solidFill>
                        </a:rPr>
                        <a:t>Bình</a:t>
                      </a:r>
                      <a:endParaRPr lang="en-US" sz="1400" dirty="0"/>
                    </a:p>
                  </a:txBody>
                  <a:tcPr marL="73152" marR="73152" marT="36576" marB="36576" anchor="ctr">
                    <a:lnL w="9525" cap="flat" cmpd="sng" algn="ctr">
                      <a:solidFill>
                        <a:srgbClr val="C3DCCB"/>
                      </a:solidFill>
                      <a:prstDash val="solid"/>
                      <a:round/>
                      <a:headEnd type="none" w="med" len="med"/>
                      <a:tailEnd type="none" w="med" len="med"/>
                    </a:lnL>
                    <a:lnR w="9525" cap="flat" cmpd="sng" algn="ctr">
                      <a:solidFill>
                        <a:srgbClr val="C3DCCB"/>
                      </a:solidFill>
                      <a:prstDash val="solid"/>
                      <a:round/>
                      <a:headEnd type="none" w="med" len="med"/>
                      <a:tailEnd type="none" w="med" len="med"/>
                    </a:lnR>
                    <a:lnT w="9525" cap="flat" cmpd="sng" algn="ctr">
                      <a:solidFill>
                        <a:srgbClr val="C3DCCB"/>
                      </a:solidFill>
                      <a:prstDash val="solid"/>
                      <a:round/>
                      <a:headEnd type="none" w="med" len="med"/>
                      <a:tailEnd type="none" w="med" len="med"/>
                    </a:lnT>
                    <a:lnB w="9525" cap="flat" cmpd="sng" algn="ctr">
                      <a:solidFill>
                        <a:srgbClr val="C3DCCB"/>
                      </a:solidFill>
                      <a:prstDash val="solid"/>
                      <a:round/>
                      <a:headEnd type="none" w="med" len="med"/>
                      <a:tailEnd type="none" w="med" len="med"/>
                    </a:lnB>
                    <a:solidFill>
                      <a:schemeClr val="bg1"/>
                    </a:solidFill>
                  </a:tcPr>
                </a:tc>
                <a:tc>
                  <a:txBody>
                    <a:bodyPr/>
                    <a:lstStyle/>
                    <a:p>
                      <a:pPr indent="0" marL="0">
                        <a:buNone/>
                      </a:pPr>
                      <a:r>
                        <a:rPr lang="en-US" sz="1400" b="1" dirty="0">
                          <a:solidFill>
                            <a:schemeClr val="accent3"/>
                          </a:solidFill>
                        </a:rPr>
                        <a:t>Data Analyst</a:t>
                      </a:r>
                      <a:endParaRPr lang="en-US" sz="1400" dirty="0"/>
                    </a:p>
                  </a:txBody>
                  <a:tcPr marL="73152" marR="73152" marT="36576" marB="36576" anchor="ctr">
                    <a:lnL w="9525" cap="flat" cmpd="sng" algn="ctr">
                      <a:solidFill>
                        <a:srgbClr val="C3DCCB"/>
                      </a:solidFill>
                      <a:prstDash val="solid"/>
                      <a:round/>
                      <a:headEnd type="none" w="med" len="med"/>
                      <a:tailEnd type="none" w="med" len="med"/>
                    </a:lnL>
                    <a:lnR w="9525" cap="flat" cmpd="sng" algn="ctr">
                      <a:solidFill>
                        <a:srgbClr val="C3DCCB"/>
                      </a:solidFill>
                      <a:prstDash val="solid"/>
                      <a:round/>
                      <a:headEnd type="none" w="med" len="med"/>
                      <a:tailEnd type="none" w="med" len="med"/>
                    </a:lnR>
                    <a:lnT w="9525" cap="flat" cmpd="sng" algn="ctr">
                      <a:solidFill>
                        <a:srgbClr val="C3DCCB"/>
                      </a:solidFill>
                      <a:prstDash val="solid"/>
                      <a:round/>
                      <a:headEnd type="none" w="med" len="med"/>
                      <a:tailEnd type="none" w="med" len="med"/>
                    </a:lnT>
                    <a:lnB w="9525" cap="flat" cmpd="sng" algn="ctr">
                      <a:solidFill>
                        <a:srgbClr val="C3DCCB"/>
                      </a:solidFill>
                      <a:prstDash val="solid"/>
                      <a:round/>
                      <a:headEnd type="none" w="med" len="med"/>
                      <a:tailEnd type="none" w="med" len="med"/>
                    </a:lnB>
                    <a:solidFill>
                      <a:schemeClr val="bg2"/>
                    </a:solidFill>
                  </a:tcPr>
                </a:tc>
                <a:tc>
                  <a:txBody>
                    <a:bodyPr/>
                    <a:lstStyle/>
                    <a:p>
                      <a:pPr indent="0" marL="0">
                        <a:buNone/>
                      </a:pPr>
                      <a:r>
                        <a:rPr lang="en-US" sz="1400" b="1" dirty="0">
                          <a:solidFill>
                            <a:schemeClr val="accent3"/>
                          </a:solidFill>
                        </a:rPr>
                        <a:t>Phòng Dữ liệu</a:t>
                      </a:r>
                      <a:endParaRPr lang="en-US" sz="1400" dirty="0"/>
                    </a:p>
                  </a:txBody>
                  <a:tcPr marL="73152" marR="73152" marT="36576" marB="36576" anchor="ctr">
                    <a:lnL w="9525" cap="flat" cmpd="sng" algn="ctr">
                      <a:solidFill>
                        <a:srgbClr val="C3DCCB"/>
                      </a:solidFill>
                      <a:prstDash val="solid"/>
                      <a:round/>
                      <a:headEnd type="none" w="med" len="med"/>
                      <a:tailEnd type="none" w="med" len="med"/>
                    </a:lnL>
                    <a:lnR w="9525" cap="flat" cmpd="sng" algn="ctr">
                      <a:solidFill>
                        <a:srgbClr val="C3DCCB"/>
                      </a:solidFill>
                      <a:prstDash val="solid"/>
                      <a:round/>
                      <a:headEnd type="none" w="med" len="med"/>
                      <a:tailEnd type="none" w="med" len="med"/>
                    </a:lnR>
                    <a:lnT w="9525" cap="flat" cmpd="sng" algn="ctr">
                      <a:solidFill>
                        <a:srgbClr val="C3DCCB"/>
                      </a:solidFill>
                      <a:prstDash val="solid"/>
                      <a:round/>
                      <a:headEnd type="none" w="med" len="med"/>
                      <a:tailEnd type="none" w="med" len="med"/>
                    </a:lnT>
                    <a:lnB w="9525" cap="flat" cmpd="sng" algn="ctr">
                      <a:solidFill>
                        <a:srgbClr val="C3DCCB"/>
                      </a:solidFill>
                      <a:prstDash val="solid"/>
                      <a:round/>
                      <a:headEnd type="none" w="med" len="med"/>
                      <a:tailEnd type="none" w="med" len="med"/>
                    </a:lnB>
                    <a:solidFill>
                      <a:schemeClr val="bg2"/>
                    </a:solidFill>
                  </a:tcPr>
                </a:tc>
                <a:tc>
                  <a:txBody>
                    <a:bodyPr/>
                    <a:lstStyle/>
                    <a:p>
                      <a:pPr indent="0" marL="0">
                        <a:buNone/>
                      </a:pPr>
                      <a:r>
                        <a:rPr lang="en-US" sz="1400" b="1" dirty="0">
                          <a:solidFill>
                            <a:schemeClr val="accent3"/>
                          </a:solidFill>
                        </a:rPr>
                        <a:t>TopCV</a:t>
                      </a:r>
                      <a:endParaRPr lang="en-US" sz="1400" dirty="0"/>
                    </a:p>
                  </a:txBody>
                  <a:tcPr marL="73152" marR="73152" marT="36576" marB="36576" anchor="ctr">
                    <a:lnL w="9525" cap="flat" cmpd="sng" algn="ctr">
                      <a:solidFill>
                        <a:srgbClr val="C3DCCB"/>
                      </a:solidFill>
                      <a:prstDash val="solid"/>
                      <a:round/>
                      <a:headEnd type="none" w="med" len="med"/>
                      <a:tailEnd type="none" w="med" len="med"/>
                    </a:lnL>
                    <a:lnR w="9525" cap="flat" cmpd="sng" algn="ctr">
                      <a:solidFill>
                        <a:srgbClr val="C3DCCB"/>
                      </a:solidFill>
                      <a:prstDash val="solid"/>
                      <a:round/>
                      <a:headEnd type="none" w="med" len="med"/>
                      <a:tailEnd type="none" w="med" len="med"/>
                    </a:lnR>
                    <a:lnT w="9525" cap="flat" cmpd="sng" algn="ctr">
                      <a:solidFill>
                        <a:srgbClr val="C3DCCB"/>
                      </a:solidFill>
                      <a:prstDash val="solid"/>
                      <a:round/>
                      <a:headEnd type="none" w="med" len="med"/>
                      <a:tailEnd type="none" w="med" len="med"/>
                    </a:lnT>
                    <a:lnB w="9525" cap="flat" cmpd="sng" algn="ctr">
                      <a:solidFill>
                        <a:srgbClr val="C3DCCB"/>
                      </a:solidFill>
                      <a:prstDash val="solid"/>
                      <a:round/>
                      <a:headEnd type="none" w="med" len="med"/>
                      <a:tailEnd type="none" w="med" len="med"/>
                    </a:lnB>
                    <a:solidFill>
                      <a:schemeClr val="bg2"/>
                    </a:solidFill>
                  </a:tcPr>
                </a:tc>
              </a:tr>
              <a:tr h="457200">
                <a:tc>
                  <a:txBody>
                    <a:bodyPr/>
                    <a:lstStyle/>
                    <a:p>
                      <a:pPr indent="0" marL="0">
                        <a:buNone/>
                      </a:pPr>
                      <a:r>
                        <a:rPr lang="en-US" sz="1400" dirty="0">
                          <a:solidFill>
                            <a:schemeClr val="tx1"/>
                          </a:solidFill>
                        </a:rPr>
                        <a:t>Châu</a:t>
                      </a:r>
                      <a:endParaRPr lang="en-US" sz="1400" dirty="0"/>
                    </a:p>
                  </a:txBody>
                  <a:tcPr marL="73152" marR="73152" marT="36576" marB="36576" anchor="ctr">
                    <a:lnL w="9525" cap="flat" cmpd="sng" algn="ctr">
                      <a:solidFill>
                        <a:srgbClr val="C3DCCB"/>
                      </a:solidFill>
                      <a:prstDash val="solid"/>
                      <a:round/>
                      <a:headEnd type="none" w="med" len="med"/>
                      <a:tailEnd type="none" w="med" len="med"/>
                    </a:lnL>
                    <a:lnR w="9525" cap="flat" cmpd="sng" algn="ctr">
                      <a:solidFill>
                        <a:srgbClr val="C3DCCB"/>
                      </a:solidFill>
                      <a:prstDash val="solid"/>
                      <a:round/>
                      <a:headEnd type="none" w="med" len="med"/>
                      <a:tailEnd type="none" w="med" len="med"/>
                    </a:lnR>
                    <a:lnT w="9525" cap="flat" cmpd="sng" algn="ctr">
                      <a:solidFill>
                        <a:srgbClr val="C3DCCB"/>
                      </a:solidFill>
                      <a:prstDash val="solid"/>
                      <a:round/>
                      <a:headEnd type="none" w="med" len="med"/>
                      <a:tailEnd type="none" w="med" len="med"/>
                    </a:lnT>
                    <a:lnB w="9525" cap="flat" cmpd="sng" algn="ctr">
                      <a:solidFill>
                        <a:srgbClr val="C3DCCB"/>
                      </a:solidFill>
                      <a:prstDash val="solid"/>
                      <a:round/>
                      <a:headEnd type="none" w="med" len="med"/>
                      <a:tailEnd type="none" w="med" len="med"/>
                    </a:lnB>
                    <a:solidFill>
                      <a:schemeClr val="bg1"/>
                    </a:solidFill>
                  </a:tcPr>
                </a:tc>
                <a:tc>
                  <a:txBody>
                    <a:bodyPr/>
                    <a:lstStyle/>
                    <a:p>
                      <a:pPr indent="0" marL="0">
                        <a:buNone/>
                      </a:pPr>
                      <a:r>
                        <a:rPr lang="en-US" sz="1400" b="1" dirty="0">
                          <a:solidFill>
                            <a:schemeClr val="accent3"/>
                          </a:solidFill>
                        </a:rPr>
                        <a:t>Data Analyst</a:t>
                      </a:r>
                      <a:endParaRPr lang="en-US" sz="1400" dirty="0"/>
                    </a:p>
                  </a:txBody>
                  <a:tcPr marL="73152" marR="73152" marT="36576" marB="36576" anchor="ctr">
                    <a:lnL w="9525" cap="flat" cmpd="sng" algn="ctr">
                      <a:solidFill>
                        <a:srgbClr val="C3DCCB"/>
                      </a:solidFill>
                      <a:prstDash val="solid"/>
                      <a:round/>
                      <a:headEnd type="none" w="med" len="med"/>
                      <a:tailEnd type="none" w="med" len="med"/>
                    </a:lnL>
                    <a:lnR w="9525" cap="flat" cmpd="sng" algn="ctr">
                      <a:solidFill>
                        <a:srgbClr val="C3DCCB"/>
                      </a:solidFill>
                      <a:prstDash val="solid"/>
                      <a:round/>
                      <a:headEnd type="none" w="med" len="med"/>
                      <a:tailEnd type="none" w="med" len="med"/>
                    </a:lnR>
                    <a:lnT w="9525" cap="flat" cmpd="sng" algn="ctr">
                      <a:solidFill>
                        <a:srgbClr val="C3DCCB"/>
                      </a:solidFill>
                      <a:prstDash val="solid"/>
                      <a:round/>
                      <a:headEnd type="none" w="med" len="med"/>
                      <a:tailEnd type="none" w="med" len="med"/>
                    </a:lnT>
                    <a:lnB w="9525" cap="flat" cmpd="sng" algn="ctr">
                      <a:solidFill>
                        <a:srgbClr val="C3DCCB"/>
                      </a:solidFill>
                      <a:prstDash val="solid"/>
                      <a:round/>
                      <a:headEnd type="none" w="med" len="med"/>
                      <a:tailEnd type="none" w="med" len="med"/>
                    </a:lnB>
                    <a:solidFill>
                      <a:schemeClr val="bg2"/>
                    </a:solidFill>
                  </a:tcPr>
                </a:tc>
                <a:tc>
                  <a:txBody>
                    <a:bodyPr/>
                    <a:lstStyle/>
                    <a:p>
                      <a:pPr indent="0" marL="0">
                        <a:buNone/>
                      </a:pPr>
                      <a:r>
                        <a:rPr lang="en-US" sz="1400" b="1" dirty="0">
                          <a:solidFill>
                            <a:schemeClr val="accent3"/>
                          </a:solidFill>
                        </a:rPr>
                        <a:t>Phòng Dữ liệu</a:t>
                      </a:r>
                      <a:endParaRPr lang="en-US" sz="1400" dirty="0"/>
                    </a:p>
                  </a:txBody>
                  <a:tcPr marL="73152" marR="73152" marT="36576" marB="36576" anchor="ctr">
                    <a:lnL w="9525" cap="flat" cmpd="sng" algn="ctr">
                      <a:solidFill>
                        <a:srgbClr val="C3DCCB"/>
                      </a:solidFill>
                      <a:prstDash val="solid"/>
                      <a:round/>
                      <a:headEnd type="none" w="med" len="med"/>
                      <a:tailEnd type="none" w="med" len="med"/>
                    </a:lnL>
                    <a:lnR w="9525" cap="flat" cmpd="sng" algn="ctr">
                      <a:solidFill>
                        <a:srgbClr val="C3DCCB"/>
                      </a:solidFill>
                      <a:prstDash val="solid"/>
                      <a:round/>
                      <a:headEnd type="none" w="med" len="med"/>
                      <a:tailEnd type="none" w="med" len="med"/>
                    </a:lnR>
                    <a:lnT w="9525" cap="flat" cmpd="sng" algn="ctr">
                      <a:solidFill>
                        <a:srgbClr val="C3DCCB"/>
                      </a:solidFill>
                      <a:prstDash val="solid"/>
                      <a:round/>
                      <a:headEnd type="none" w="med" len="med"/>
                      <a:tailEnd type="none" w="med" len="med"/>
                    </a:lnT>
                    <a:lnB w="9525" cap="flat" cmpd="sng" algn="ctr">
                      <a:solidFill>
                        <a:srgbClr val="C3DCCB"/>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Google Form</a:t>
                      </a:r>
                      <a:endParaRPr lang="en-US" sz="1400" dirty="0"/>
                    </a:p>
                  </a:txBody>
                  <a:tcPr marL="73152" marR="73152" marT="36576" marB="36576" anchor="ctr">
                    <a:lnL w="9525" cap="flat" cmpd="sng" algn="ctr">
                      <a:solidFill>
                        <a:srgbClr val="C3DCCB"/>
                      </a:solidFill>
                      <a:prstDash val="solid"/>
                      <a:round/>
                      <a:headEnd type="none" w="med" len="med"/>
                      <a:tailEnd type="none" w="med" len="med"/>
                    </a:lnL>
                    <a:lnR w="9525" cap="flat" cmpd="sng" algn="ctr">
                      <a:solidFill>
                        <a:srgbClr val="C3DCCB"/>
                      </a:solidFill>
                      <a:prstDash val="solid"/>
                      <a:round/>
                      <a:headEnd type="none" w="med" len="med"/>
                      <a:tailEnd type="none" w="med" len="med"/>
                    </a:lnR>
                    <a:lnT w="9525" cap="flat" cmpd="sng" algn="ctr">
                      <a:solidFill>
                        <a:srgbClr val="C3DCCB"/>
                      </a:solidFill>
                      <a:prstDash val="solid"/>
                      <a:round/>
                      <a:headEnd type="none" w="med" len="med"/>
                      <a:tailEnd type="none" w="med" len="med"/>
                    </a:lnT>
                    <a:lnB w="9525" cap="flat" cmpd="sng" algn="ctr">
                      <a:solidFill>
                        <a:srgbClr val="C3DCCB"/>
                      </a:solidFill>
                      <a:prstDash val="solid"/>
                      <a:round/>
                      <a:headEnd type="none" w="med" len="med"/>
                      <a:tailEnd type="none" w="med" len="med"/>
                    </a:lnB>
                    <a:solidFill>
                      <a:schemeClr val="bg1"/>
                    </a:solidFill>
                  </a:tcPr>
                </a:tc>
              </a:tr>
            </a:tbl>
          </a:graphicData>
        </a:graphic>
      </p:graphicFrame>
      <p:sp>
        <p:nvSpPr>
          <p:cNvPr id="5" name="Split arrow"/>
          <p:cNvSpPr/>
          <p:nvPr/>
        </p:nvSpPr>
        <p:spPr>
          <a:xfrm>
            <a:off x="5897880" y="2542032"/>
            <a:ext cx="411480" cy="411480"/>
          </a:xfrm>
          <a:prstGeom prst="rightArrow">
            <a:avLst/>
          </a:prstGeom>
          <a:solidFill>
            <a:schemeClr val="accent2"/>
          </a:solidFill>
          <a:ln w="12700">
            <a:solidFill>
              <a:schemeClr val="accent2"/>
            </a:solidFill>
            <a:prstDash val="solid"/>
          </a:ln>
        </p:spPr>
      </p:sp>
      <p:sp>
        <p:nvSpPr>
          <p:cNvPr id="6" name="After label"/>
          <p:cNvSpPr txBox="1"/>
          <p:nvPr/>
        </p:nvSpPr>
        <p:spPr>
          <a:xfrm>
            <a:off x="6446520" y="1325880"/>
            <a:ext cx="5193792" cy="411480"/>
          </a:xfrm>
          <a:prstGeom prst="rect">
            <a:avLst/>
          </a:prstGeom>
          <a:noFill/>
          <a:ln/>
        </p:spPr>
        <p:txBody>
          <a:bodyPr wrap="square" lIns="0" tIns="0" rIns="0" bIns="0" rtlCol="0" anchor="ctr"/>
          <a:lstStyle/>
          <a:p>
            <a:pPr indent="0" marL="0">
              <a:buNone/>
            </a:pPr>
            <a:r>
              <a:rPr lang="en-US" sz="1800" b="1" dirty="0">
                <a:solidFill>
                  <a:schemeClr val="accent5"/>
                </a:solidFill>
              </a:rPr>
              <a:t>Sau: tách bảng, hồ sơ chỉ lưu mã</a:t>
            </a:r>
            <a:endParaRPr lang="en-US" sz="1800" dirty="0"/>
          </a:p>
        </p:txBody>
      </p:sp>
      <p:graphicFrame>
        <p:nvGraphicFramePr>
          <p:cNvPr id="13" name="After main table"/>
          <p:cNvGraphicFramePr>
            <a:graphicFrameLocks noGrp="1"/>
          </p:cNvGraphicFramePr>
          <p:nvPr>
            <p:extLst>
              <p:ext uri="{D42A27DB-BD31-4B8C-83A1-F6EECF244321}">
                <p14:modId xmlns:p14="http://schemas.microsoft.com/office/powerpoint/2010/main" val="1579011935"/>
              </p:ext>
            </p:extLst>
          </p:nvPr>
        </p:nvGraphicFramePr>
        <p:xfrm>
          <a:off x="6446520" y="1828800"/>
          <a:ext cx="5193792" cy="914400"/>
        </p:xfrm>
        <a:graphic>
          <a:graphicData uri="http://schemas.openxmlformats.org/drawingml/2006/table">
            <a:tbl>
              <a:tblPr/>
              <a:tblGrid>
                <a:gridCol w="1828800"/>
                <a:gridCol w="1682496"/>
                <a:gridCol w="1682496"/>
              </a:tblGrid>
              <a:tr h="457200">
                <a:tc>
                  <a:txBody>
                    <a:bodyPr/>
                    <a:lstStyle/>
                    <a:p>
                      <a:pPr indent="0" marL="0">
                        <a:buNone/>
                      </a:pPr>
                      <a:r>
                        <a:rPr lang="en-US" sz="1400" b="1" dirty="0">
                          <a:solidFill>
                            <a:schemeClr val="bg1"/>
                          </a:solidFill>
                        </a:rPr>
                        <a:t>Ứng viên</a:t>
                      </a:r>
                      <a:endParaRPr lang="en-US" sz="1400" dirty="0"/>
                    </a:p>
                  </a:txBody>
                  <a:tcPr marL="73152" marR="73152" marT="36576" marB="36576" anchor="ctr">
                    <a:lnL w="9525" cap="flat" cmpd="sng" algn="ctr">
                      <a:solidFill>
                        <a:srgbClr val="C3DCCB"/>
                      </a:solidFill>
                      <a:prstDash val="solid"/>
                      <a:round/>
                      <a:headEnd type="none" w="med" len="med"/>
                      <a:tailEnd type="none" w="med" len="med"/>
                    </a:lnL>
                    <a:lnR w="9525" cap="flat" cmpd="sng" algn="ctr">
                      <a:solidFill>
                        <a:srgbClr val="C3DCCB"/>
                      </a:solidFill>
                      <a:prstDash val="solid"/>
                      <a:round/>
                      <a:headEnd type="none" w="med" len="med"/>
                      <a:tailEnd type="none" w="med" len="med"/>
                    </a:lnR>
                    <a:lnT w="9525" cap="flat" cmpd="sng" algn="ctr">
                      <a:solidFill>
                        <a:srgbClr val="C3DCCB"/>
                      </a:solidFill>
                      <a:prstDash val="solid"/>
                      <a:round/>
                      <a:headEnd type="none" w="med" len="med"/>
                      <a:tailEnd type="none" w="med" len="med"/>
                    </a:lnT>
                    <a:lnB w="9525" cap="flat" cmpd="sng" algn="ctr">
                      <a:solidFill>
                        <a:srgbClr val="C3DCCB"/>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Mã vị trí</a:t>
                      </a:r>
                      <a:endParaRPr lang="en-US" sz="1400" dirty="0"/>
                    </a:p>
                  </a:txBody>
                  <a:tcPr marL="73152" marR="73152" marT="36576" marB="36576" anchor="ctr">
                    <a:lnL w="9525" cap="flat" cmpd="sng" algn="ctr">
                      <a:solidFill>
                        <a:srgbClr val="C3DCCB"/>
                      </a:solidFill>
                      <a:prstDash val="solid"/>
                      <a:round/>
                      <a:headEnd type="none" w="med" len="med"/>
                      <a:tailEnd type="none" w="med" len="med"/>
                    </a:lnL>
                    <a:lnR w="9525" cap="flat" cmpd="sng" algn="ctr">
                      <a:solidFill>
                        <a:srgbClr val="C3DCCB"/>
                      </a:solidFill>
                      <a:prstDash val="solid"/>
                      <a:round/>
                      <a:headEnd type="none" w="med" len="med"/>
                      <a:tailEnd type="none" w="med" len="med"/>
                    </a:lnR>
                    <a:lnT w="9525" cap="flat" cmpd="sng" algn="ctr">
                      <a:solidFill>
                        <a:srgbClr val="C3DCCB"/>
                      </a:solidFill>
                      <a:prstDash val="solid"/>
                      <a:round/>
                      <a:headEnd type="none" w="med" len="med"/>
                      <a:tailEnd type="none" w="med" len="med"/>
                    </a:lnT>
                    <a:lnB w="9525" cap="flat" cmpd="sng" algn="ctr">
                      <a:solidFill>
                        <a:srgbClr val="C3DCCB"/>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Mã nguồn</a:t>
                      </a:r>
                      <a:endParaRPr lang="en-US" sz="1400" dirty="0"/>
                    </a:p>
                  </a:txBody>
                  <a:tcPr marL="73152" marR="73152" marT="36576" marB="36576" anchor="ctr">
                    <a:lnL w="9525" cap="flat" cmpd="sng" algn="ctr">
                      <a:solidFill>
                        <a:srgbClr val="C3DCCB"/>
                      </a:solidFill>
                      <a:prstDash val="solid"/>
                      <a:round/>
                      <a:headEnd type="none" w="med" len="med"/>
                      <a:tailEnd type="none" w="med" len="med"/>
                    </a:lnL>
                    <a:lnR w="9525" cap="flat" cmpd="sng" algn="ctr">
                      <a:solidFill>
                        <a:srgbClr val="C3DCCB"/>
                      </a:solidFill>
                      <a:prstDash val="solid"/>
                      <a:round/>
                      <a:headEnd type="none" w="med" len="med"/>
                      <a:tailEnd type="none" w="med" len="med"/>
                    </a:lnR>
                    <a:lnT w="9525" cap="flat" cmpd="sng" algn="ctr">
                      <a:solidFill>
                        <a:srgbClr val="C3DCCB"/>
                      </a:solidFill>
                      <a:prstDash val="solid"/>
                      <a:round/>
                      <a:headEnd type="none" w="med" len="med"/>
                      <a:tailEnd type="none" w="med" len="med"/>
                    </a:lnT>
                    <a:lnB w="9525" cap="flat" cmpd="sng" algn="ctr">
                      <a:solidFill>
                        <a:srgbClr val="C3DCCB"/>
                      </a:solidFill>
                      <a:prstDash val="solid"/>
                      <a:round/>
                      <a:headEnd type="none" w="med" len="med"/>
                      <a:tailEnd type="none" w="med" len="med"/>
                    </a:lnB>
                    <a:solidFill>
                      <a:schemeClr val="tx2"/>
                    </a:solidFill>
                  </a:tcPr>
                </a:tc>
              </a:tr>
              <a:tr h="457200">
                <a:tc>
                  <a:txBody>
                    <a:bodyPr/>
                    <a:lstStyle/>
                    <a:p>
                      <a:pPr indent="0" marL="0">
                        <a:buNone/>
                      </a:pPr>
                      <a:r>
                        <a:rPr lang="en-US" sz="1400" dirty="0">
                          <a:solidFill>
                            <a:schemeClr val="tx1"/>
                          </a:solidFill>
                        </a:rPr>
                        <a:t>An</a:t>
                      </a:r>
                      <a:endParaRPr lang="en-US" sz="1400" dirty="0"/>
                    </a:p>
                  </a:txBody>
                  <a:tcPr marL="73152" marR="73152" marT="36576" marB="36576" anchor="ctr">
                    <a:lnL w="9525" cap="flat" cmpd="sng" algn="ctr">
                      <a:solidFill>
                        <a:srgbClr val="C3DCCB"/>
                      </a:solidFill>
                      <a:prstDash val="solid"/>
                      <a:round/>
                      <a:headEnd type="none" w="med" len="med"/>
                      <a:tailEnd type="none" w="med" len="med"/>
                    </a:lnL>
                    <a:lnR w="9525" cap="flat" cmpd="sng" algn="ctr">
                      <a:solidFill>
                        <a:srgbClr val="C3DCCB"/>
                      </a:solidFill>
                      <a:prstDash val="solid"/>
                      <a:round/>
                      <a:headEnd type="none" w="med" len="med"/>
                      <a:tailEnd type="none" w="med" len="med"/>
                    </a:lnR>
                    <a:lnT w="9525" cap="flat" cmpd="sng" algn="ctr">
                      <a:solidFill>
                        <a:srgbClr val="C3DCCB"/>
                      </a:solidFill>
                      <a:prstDash val="solid"/>
                      <a:round/>
                      <a:headEnd type="none" w="med" len="med"/>
                      <a:tailEnd type="none" w="med" len="med"/>
                    </a:lnT>
                    <a:lnB w="9525" cap="flat" cmpd="sng" algn="ctr">
                      <a:solidFill>
                        <a:srgbClr val="C3DCCB"/>
                      </a:solidFill>
                      <a:prstDash val="solid"/>
                      <a:round/>
                      <a:headEnd type="none" w="med" len="med"/>
                      <a:tailEnd type="none" w="med" len="med"/>
                    </a:lnB>
                    <a:solidFill>
                      <a:schemeClr val="bg1"/>
                    </a:solidFill>
                  </a:tcPr>
                </a:tc>
                <a:tc>
                  <a:txBody>
                    <a:bodyPr/>
                    <a:lstStyle/>
                    <a:p>
                      <a:pPr indent="0" marL="0">
                        <a:buNone/>
                      </a:pPr>
                      <a:r>
                        <a:rPr lang="en-US" sz="1400" b="1" dirty="0">
                          <a:solidFill>
                            <a:schemeClr val="accent5"/>
                          </a:solidFill>
                        </a:rPr>
                        <a:t>1</a:t>
                      </a:r>
                      <a:endParaRPr lang="en-US" sz="1400" dirty="0"/>
                    </a:p>
                  </a:txBody>
                  <a:tcPr marL="73152" marR="73152" marT="36576" marB="36576" anchor="ctr">
                    <a:lnL w="9525" cap="flat" cmpd="sng" algn="ctr">
                      <a:solidFill>
                        <a:srgbClr val="C3DCCB"/>
                      </a:solidFill>
                      <a:prstDash val="solid"/>
                      <a:round/>
                      <a:headEnd type="none" w="med" len="med"/>
                      <a:tailEnd type="none" w="med" len="med"/>
                    </a:lnL>
                    <a:lnR w="9525" cap="flat" cmpd="sng" algn="ctr">
                      <a:solidFill>
                        <a:srgbClr val="C3DCCB"/>
                      </a:solidFill>
                      <a:prstDash val="solid"/>
                      <a:round/>
                      <a:headEnd type="none" w="med" len="med"/>
                      <a:tailEnd type="none" w="med" len="med"/>
                    </a:lnR>
                    <a:lnT w="9525" cap="flat" cmpd="sng" algn="ctr">
                      <a:solidFill>
                        <a:srgbClr val="C3DCCB"/>
                      </a:solidFill>
                      <a:prstDash val="solid"/>
                      <a:round/>
                      <a:headEnd type="none" w="med" len="med"/>
                      <a:tailEnd type="none" w="med" len="med"/>
                    </a:lnT>
                    <a:lnB w="9525" cap="flat" cmpd="sng" algn="ctr">
                      <a:solidFill>
                        <a:srgbClr val="C3DCCB"/>
                      </a:solidFill>
                      <a:prstDash val="solid"/>
                      <a:round/>
                      <a:headEnd type="none" w="med" len="med"/>
                      <a:tailEnd type="none" w="med" len="med"/>
                    </a:lnB>
                    <a:solidFill>
                      <a:schemeClr val="bg1"/>
                    </a:solidFill>
                  </a:tcPr>
                </a:tc>
                <a:tc>
                  <a:txBody>
                    <a:bodyPr/>
                    <a:lstStyle/>
                    <a:p>
                      <a:pPr indent="0" marL="0">
                        <a:buNone/>
                      </a:pPr>
                      <a:r>
                        <a:rPr lang="en-US" sz="1400" b="1" dirty="0">
                          <a:solidFill>
                            <a:schemeClr val="accent5"/>
                          </a:solidFill>
                        </a:rPr>
                        <a:t>1</a:t>
                      </a:r>
                      <a:endParaRPr lang="en-US" sz="1400" dirty="0"/>
                    </a:p>
                  </a:txBody>
                  <a:tcPr marL="73152" marR="73152" marT="36576" marB="36576" anchor="ctr">
                    <a:lnL w="9525" cap="flat" cmpd="sng" algn="ctr">
                      <a:solidFill>
                        <a:srgbClr val="C3DCCB"/>
                      </a:solidFill>
                      <a:prstDash val="solid"/>
                      <a:round/>
                      <a:headEnd type="none" w="med" len="med"/>
                      <a:tailEnd type="none" w="med" len="med"/>
                    </a:lnL>
                    <a:lnR w="9525" cap="flat" cmpd="sng" algn="ctr">
                      <a:solidFill>
                        <a:srgbClr val="C3DCCB"/>
                      </a:solidFill>
                      <a:prstDash val="solid"/>
                      <a:round/>
                      <a:headEnd type="none" w="med" len="med"/>
                      <a:tailEnd type="none" w="med" len="med"/>
                    </a:lnR>
                    <a:lnT w="9525" cap="flat" cmpd="sng" algn="ctr">
                      <a:solidFill>
                        <a:srgbClr val="C3DCCB"/>
                      </a:solidFill>
                      <a:prstDash val="solid"/>
                      <a:round/>
                      <a:headEnd type="none" w="med" len="med"/>
                      <a:tailEnd type="none" w="med" len="med"/>
                    </a:lnT>
                    <a:lnB w="9525" cap="flat" cmpd="sng" algn="ctr">
                      <a:solidFill>
                        <a:srgbClr val="C3DCCB"/>
                      </a:solidFill>
                      <a:prstDash val="solid"/>
                      <a:round/>
                      <a:headEnd type="none" w="med" len="med"/>
                      <a:tailEnd type="none" w="med" len="med"/>
                    </a:lnB>
                    <a:solidFill>
                      <a:schemeClr val="bg1"/>
                    </a:solidFill>
                  </a:tcPr>
                </a:tc>
              </a:tr>
              <a:tr h="457200">
                <a:tc>
                  <a:txBody>
                    <a:bodyPr/>
                    <a:lstStyle/>
                    <a:p>
                      <a:pPr indent="0" marL="0">
                        <a:buNone/>
                      </a:pPr>
                      <a:r>
                        <a:rPr lang="en-US" sz="1400" dirty="0">
                          <a:solidFill>
                            <a:schemeClr val="tx1"/>
                          </a:solidFill>
                        </a:rPr>
                        <a:t>Bình</a:t>
                      </a:r>
                      <a:endParaRPr lang="en-US" sz="1400" dirty="0"/>
                    </a:p>
                  </a:txBody>
                  <a:tcPr marL="73152" marR="73152" marT="36576" marB="36576" anchor="ctr">
                    <a:lnL w="9525" cap="flat" cmpd="sng" algn="ctr">
                      <a:solidFill>
                        <a:srgbClr val="C3DCCB"/>
                      </a:solidFill>
                      <a:prstDash val="solid"/>
                      <a:round/>
                      <a:headEnd type="none" w="med" len="med"/>
                      <a:tailEnd type="none" w="med" len="med"/>
                    </a:lnL>
                    <a:lnR w="9525" cap="flat" cmpd="sng" algn="ctr">
                      <a:solidFill>
                        <a:srgbClr val="C3DCCB"/>
                      </a:solidFill>
                      <a:prstDash val="solid"/>
                      <a:round/>
                      <a:headEnd type="none" w="med" len="med"/>
                      <a:tailEnd type="none" w="med" len="med"/>
                    </a:lnR>
                    <a:lnT w="9525" cap="flat" cmpd="sng" algn="ctr">
                      <a:solidFill>
                        <a:srgbClr val="C3DCCB"/>
                      </a:solidFill>
                      <a:prstDash val="solid"/>
                      <a:round/>
                      <a:headEnd type="none" w="med" len="med"/>
                      <a:tailEnd type="none" w="med" len="med"/>
                    </a:lnT>
                    <a:lnB w="9525" cap="flat" cmpd="sng" algn="ctr">
                      <a:solidFill>
                        <a:srgbClr val="C3DCCB"/>
                      </a:solidFill>
                      <a:prstDash val="solid"/>
                      <a:round/>
                      <a:headEnd type="none" w="med" len="med"/>
                      <a:tailEnd type="none" w="med" len="med"/>
                    </a:lnB>
                    <a:solidFill>
                      <a:schemeClr val="bg1"/>
                    </a:solidFill>
                  </a:tcPr>
                </a:tc>
                <a:tc>
                  <a:txBody>
                    <a:bodyPr/>
                    <a:lstStyle/>
                    <a:p>
                      <a:pPr indent="0" marL="0">
                        <a:buNone/>
                      </a:pPr>
                      <a:r>
                        <a:rPr lang="en-US" sz="1400" b="1" dirty="0">
                          <a:solidFill>
                            <a:schemeClr val="accent5"/>
                          </a:solidFill>
                        </a:rPr>
                        <a:t>1</a:t>
                      </a:r>
                      <a:endParaRPr lang="en-US" sz="1400" dirty="0"/>
                    </a:p>
                  </a:txBody>
                  <a:tcPr marL="73152" marR="73152" marT="36576" marB="36576" anchor="ctr">
                    <a:lnL w="9525" cap="flat" cmpd="sng" algn="ctr">
                      <a:solidFill>
                        <a:srgbClr val="C3DCCB"/>
                      </a:solidFill>
                      <a:prstDash val="solid"/>
                      <a:round/>
                      <a:headEnd type="none" w="med" len="med"/>
                      <a:tailEnd type="none" w="med" len="med"/>
                    </a:lnL>
                    <a:lnR w="9525" cap="flat" cmpd="sng" algn="ctr">
                      <a:solidFill>
                        <a:srgbClr val="C3DCCB"/>
                      </a:solidFill>
                      <a:prstDash val="solid"/>
                      <a:round/>
                      <a:headEnd type="none" w="med" len="med"/>
                      <a:tailEnd type="none" w="med" len="med"/>
                    </a:lnR>
                    <a:lnT w="9525" cap="flat" cmpd="sng" algn="ctr">
                      <a:solidFill>
                        <a:srgbClr val="C3DCCB"/>
                      </a:solidFill>
                      <a:prstDash val="solid"/>
                      <a:round/>
                      <a:headEnd type="none" w="med" len="med"/>
                      <a:tailEnd type="none" w="med" len="med"/>
                    </a:lnT>
                    <a:lnB w="9525" cap="flat" cmpd="sng" algn="ctr">
                      <a:solidFill>
                        <a:srgbClr val="C3DCCB"/>
                      </a:solidFill>
                      <a:prstDash val="solid"/>
                      <a:round/>
                      <a:headEnd type="none" w="med" len="med"/>
                      <a:tailEnd type="none" w="med" len="med"/>
                    </a:lnB>
                    <a:solidFill>
                      <a:schemeClr val="bg1"/>
                    </a:solidFill>
                  </a:tcPr>
                </a:tc>
                <a:tc>
                  <a:txBody>
                    <a:bodyPr/>
                    <a:lstStyle/>
                    <a:p>
                      <a:pPr indent="0" marL="0">
                        <a:buNone/>
                      </a:pPr>
                      <a:r>
                        <a:rPr lang="en-US" sz="1400" b="1" dirty="0">
                          <a:solidFill>
                            <a:schemeClr val="accent5"/>
                          </a:solidFill>
                        </a:rPr>
                        <a:t>1</a:t>
                      </a:r>
                      <a:endParaRPr lang="en-US" sz="1400" dirty="0"/>
                    </a:p>
                  </a:txBody>
                  <a:tcPr marL="73152" marR="73152" marT="36576" marB="36576" anchor="ctr">
                    <a:lnL w="9525" cap="flat" cmpd="sng" algn="ctr">
                      <a:solidFill>
                        <a:srgbClr val="C3DCCB"/>
                      </a:solidFill>
                      <a:prstDash val="solid"/>
                      <a:round/>
                      <a:headEnd type="none" w="med" len="med"/>
                      <a:tailEnd type="none" w="med" len="med"/>
                    </a:lnL>
                    <a:lnR w="9525" cap="flat" cmpd="sng" algn="ctr">
                      <a:solidFill>
                        <a:srgbClr val="C3DCCB"/>
                      </a:solidFill>
                      <a:prstDash val="solid"/>
                      <a:round/>
                      <a:headEnd type="none" w="med" len="med"/>
                      <a:tailEnd type="none" w="med" len="med"/>
                    </a:lnR>
                    <a:lnT w="9525" cap="flat" cmpd="sng" algn="ctr">
                      <a:solidFill>
                        <a:srgbClr val="C3DCCB"/>
                      </a:solidFill>
                      <a:prstDash val="solid"/>
                      <a:round/>
                      <a:headEnd type="none" w="med" len="med"/>
                      <a:tailEnd type="none" w="med" len="med"/>
                    </a:lnT>
                    <a:lnB w="9525" cap="flat" cmpd="sng" algn="ctr">
                      <a:solidFill>
                        <a:srgbClr val="C3DCCB"/>
                      </a:solidFill>
                      <a:prstDash val="solid"/>
                      <a:round/>
                      <a:headEnd type="none" w="med" len="med"/>
                      <a:tailEnd type="none" w="med" len="med"/>
                    </a:lnB>
                    <a:solidFill>
                      <a:schemeClr val="bg1"/>
                    </a:solidFill>
                  </a:tcPr>
                </a:tc>
              </a:tr>
              <a:tr h="457200">
                <a:tc>
                  <a:txBody>
                    <a:bodyPr/>
                    <a:lstStyle/>
                    <a:p>
                      <a:pPr indent="0" marL="0">
                        <a:buNone/>
                      </a:pPr>
                      <a:r>
                        <a:rPr lang="en-US" sz="1400" dirty="0">
                          <a:solidFill>
                            <a:schemeClr val="tx1"/>
                          </a:solidFill>
                        </a:rPr>
                        <a:t>Châu</a:t>
                      </a:r>
                      <a:endParaRPr lang="en-US" sz="1400" dirty="0"/>
                    </a:p>
                  </a:txBody>
                  <a:tcPr marL="73152" marR="73152" marT="36576" marB="36576" anchor="ctr">
                    <a:lnL w="9525" cap="flat" cmpd="sng" algn="ctr">
                      <a:solidFill>
                        <a:srgbClr val="C3DCCB"/>
                      </a:solidFill>
                      <a:prstDash val="solid"/>
                      <a:round/>
                      <a:headEnd type="none" w="med" len="med"/>
                      <a:tailEnd type="none" w="med" len="med"/>
                    </a:lnL>
                    <a:lnR w="9525" cap="flat" cmpd="sng" algn="ctr">
                      <a:solidFill>
                        <a:srgbClr val="C3DCCB"/>
                      </a:solidFill>
                      <a:prstDash val="solid"/>
                      <a:round/>
                      <a:headEnd type="none" w="med" len="med"/>
                      <a:tailEnd type="none" w="med" len="med"/>
                    </a:lnR>
                    <a:lnT w="9525" cap="flat" cmpd="sng" algn="ctr">
                      <a:solidFill>
                        <a:srgbClr val="C3DCCB"/>
                      </a:solidFill>
                      <a:prstDash val="solid"/>
                      <a:round/>
                      <a:headEnd type="none" w="med" len="med"/>
                      <a:tailEnd type="none" w="med" len="med"/>
                    </a:lnT>
                    <a:lnB w="9525" cap="flat" cmpd="sng" algn="ctr">
                      <a:solidFill>
                        <a:srgbClr val="C3DCCB"/>
                      </a:solidFill>
                      <a:prstDash val="solid"/>
                      <a:round/>
                      <a:headEnd type="none" w="med" len="med"/>
                      <a:tailEnd type="none" w="med" len="med"/>
                    </a:lnB>
                    <a:solidFill>
                      <a:schemeClr val="bg1"/>
                    </a:solidFill>
                  </a:tcPr>
                </a:tc>
                <a:tc>
                  <a:txBody>
                    <a:bodyPr/>
                    <a:lstStyle/>
                    <a:p>
                      <a:pPr indent="0" marL="0">
                        <a:buNone/>
                      </a:pPr>
                      <a:r>
                        <a:rPr lang="en-US" sz="1400" b="1" dirty="0">
                          <a:solidFill>
                            <a:schemeClr val="accent5"/>
                          </a:solidFill>
                        </a:rPr>
                        <a:t>1</a:t>
                      </a:r>
                      <a:endParaRPr lang="en-US" sz="1400" dirty="0"/>
                    </a:p>
                  </a:txBody>
                  <a:tcPr marL="73152" marR="73152" marT="36576" marB="36576" anchor="ctr">
                    <a:lnL w="9525" cap="flat" cmpd="sng" algn="ctr">
                      <a:solidFill>
                        <a:srgbClr val="C3DCCB"/>
                      </a:solidFill>
                      <a:prstDash val="solid"/>
                      <a:round/>
                      <a:headEnd type="none" w="med" len="med"/>
                      <a:tailEnd type="none" w="med" len="med"/>
                    </a:lnL>
                    <a:lnR w="9525" cap="flat" cmpd="sng" algn="ctr">
                      <a:solidFill>
                        <a:srgbClr val="C3DCCB"/>
                      </a:solidFill>
                      <a:prstDash val="solid"/>
                      <a:round/>
                      <a:headEnd type="none" w="med" len="med"/>
                      <a:tailEnd type="none" w="med" len="med"/>
                    </a:lnR>
                    <a:lnT w="9525" cap="flat" cmpd="sng" algn="ctr">
                      <a:solidFill>
                        <a:srgbClr val="C3DCCB"/>
                      </a:solidFill>
                      <a:prstDash val="solid"/>
                      <a:round/>
                      <a:headEnd type="none" w="med" len="med"/>
                      <a:tailEnd type="none" w="med" len="med"/>
                    </a:lnT>
                    <a:lnB w="9525" cap="flat" cmpd="sng" algn="ctr">
                      <a:solidFill>
                        <a:srgbClr val="C3DCCB"/>
                      </a:solidFill>
                      <a:prstDash val="solid"/>
                      <a:round/>
                      <a:headEnd type="none" w="med" len="med"/>
                      <a:tailEnd type="none" w="med" len="med"/>
                    </a:lnB>
                    <a:solidFill>
                      <a:schemeClr val="bg1"/>
                    </a:solidFill>
                  </a:tcPr>
                </a:tc>
                <a:tc>
                  <a:txBody>
                    <a:bodyPr/>
                    <a:lstStyle/>
                    <a:p>
                      <a:pPr indent="0" marL="0">
                        <a:buNone/>
                      </a:pPr>
                      <a:r>
                        <a:rPr lang="en-US" sz="1400" b="1" dirty="0">
                          <a:solidFill>
                            <a:schemeClr val="accent5"/>
                          </a:solidFill>
                        </a:rPr>
                        <a:t>2</a:t>
                      </a:r>
                      <a:endParaRPr lang="en-US" sz="1400" dirty="0"/>
                    </a:p>
                  </a:txBody>
                  <a:tcPr marL="73152" marR="73152" marT="36576" marB="36576" anchor="ctr">
                    <a:lnL w="9525" cap="flat" cmpd="sng" algn="ctr">
                      <a:solidFill>
                        <a:srgbClr val="C3DCCB"/>
                      </a:solidFill>
                      <a:prstDash val="solid"/>
                      <a:round/>
                      <a:headEnd type="none" w="med" len="med"/>
                      <a:tailEnd type="none" w="med" len="med"/>
                    </a:lnL>
                    <a:lnR w="9525" cap="flat" cmpd="sng" algn="ctr">
                      <a:solidFill>
                        <a:srgbClr val="C3DCCB"/>
                      </a:solidFill>
                      <a:prstDash val="solid"/>
                      <a:round/>
                      <a:headEnd type="none" w="med" len="med"/>
                      <a:tailEnd type="none" w="med" len="med"/>
                    </a:lnR>
                    <a:lnT w="9525" cap="flat" cmpd="sng" algn="ctr">
                      <a:solidFill>
                        <a:srgbClr val="C3DCCB"/>
                      </a:solidFill>
                      <a:prstDash val="solid"/>
                      <a:round/>
                      <a:headEnd type="none" w="med" len="med"/>
                      <a:tailEnd type="none" w="med" len="med"/>
                    </a:lnT>
                    <a:lnB w="9525" cap="flat" cmpd="sng" algn="ctr">
                      <a:solidFill>
                        <a:srgbClr val="C3DCCB"/>
                      </a:solidFill>
                      <a:prstDash val="solid"/>
                      <a:round/>
                      <a:headEnd type="none" w="med" len="med"/>
                      <a:tailEnd type="none" w="med" len="med"/>
                    </a:lnB>
                    <a:solidFill>
                      <a:schemeClr val="bg1"/>
                    </a:solidFill>
                  </a:tcPr>
                </a:tc>
              </a:tr>
            </a:tbl>
          </a:graphicData>
        </a:graphic>
      </p:graphicFrame>
      <p:sp>
        <p:nvSpPr>
          <p:cNvPr id="8" name="vi_tri label"/>
          <p:cNvSpPr txBox="1"/>
          <p:nvPr/>
        </p:nvSpPr>
        <p:spPr>
          <a:xfrm>
            <a:off x="6446520" y="3886200"/>
            <a:ext cx="3108960" cy="292608"/>
          </a:xfrm>
          <a:prstGeom prst="rect">
            <a:avLst/>
          </a:prstGeom>
          <a:noFill/>
          <a:ln/>
        </p:spPr>
        <p:txBody>
          <a:bodyPr wrap="square" lIns="0" tIns="0" rIns="0" bIns="0" rtlCol="0" anchor="ctr"/>
          <a:lstStyle/>
          <a:p>
            <a:pPr indent="0" marL="0">
              <a:buNone/>
            </a:pPr>
            <a:r>
              <a:rPr lang="en-US" sz="1300" b="1" dirty="0">
                <a:solidFill>
                  <a:schemeClr val="accent1"/>
                </a:solidFill>
                <a:latin typeface="Courier New" pitchFamily="34" charset="0"/>
                <a:ea typeface="Courier New" pitchFamily="34" charset="-122"/>
                <a:cs typeface="Courier New" pitchFamily="34" charset="-120"/>
              </a:rPr>
              <a:t>Bảng vi_tri</a:t>
            </a:r>
            <a:endParaRPr lang="en-US" sz="1300" dirty="0"/>
          </a:p>
        </p:txBody>
      </p:sp>
      <p:graphicFrame>
        <p:nvGraphicFramePr>
          <p:cNvPr id="19" name="vi_tri table"/>
          <p:cNvGraphicFramePr>
            <a:graphicFrameLocks noGrp="1"/>
          </p:cNvGraphicFramePr>
          <p:nvPr>
            <p:extLst>
              <p:ext uri="{D42A27DB-BD31-4B8C-83A1-F6EECF244321}">
                <p14:modId xmlns:p14="http://schemas.microsoft.com/office/powerpoint/2010/main" val="1579011935"/>
              </p:ext>
            </p:extLst>
          </p:nvPr>
        </p:nvGraphicFramePr>
        <p:xfrm>
          <a:off x="6446520" y="4206240"/>
          <a:ext cx="3246120" cy="914400"/>
        </p:xfrm>
        <a:graphic>
          <a:graphicData uri="http://schemas.openxmlformats.org/drawingml/2006/table">
            <a:tbl>
              <a:tblPr/>
              <a:tblGrid>
                <a:gridCol w="502920"/>
                <a:gridCol w="1325880"/>
                <a:gridCol w="1417320"/>
              </a:tblGrid>
              <a:tr h="411480">
                <a:tc>
                  <a:txBody>
                    <a:bodyPr/>
                    <a:lstStyle/>
                    <a:p>
                      <a:pPr indent="0" marL="0">
                        <a:buNone/>
                      </a:pPr>
                      <a:r>
                        <a:rPr lang="en-US" sz="1300" b="1" dirty="0">
                          <a:solidFill>
                            <a:schemeClr val="bg1"/>
                          </a:solidFill>
                        </a:rPr>
                        <a:t>Mã</a:t>
                      </a:r>
                      <a:endParaRPr lang="en-US" sz="1300" dirty="0"/>
                    </a:p>
                  </a:txBody>
                  <a:tcPr marL="54864" marR="54864" marT="36576" marB="36576" anchor="ctr">
                    <a:lnL w="9525" cap="flat" cmpd="sng" algn="ctr">
                      <a:solidFill>
                        <a:srgbClr val="C3DCCB"/>
                      </a:solidFill>
                      <a:prstDash val="solid"/>
                      <a:round/>
                      <a:headEnd type="none" w="med" len="med"/>
                      <a:tailEnd type="none" w="med" len="med"/>
                    </a:lnL>
                    <a:lnR w="9525" cap="flat" cmpd="sng" algn="ctr">
                      <a:solidFill>
                        <a:srgbClr val="C3DCCB"/>
                      </a:solidFill>
                      <a:prstDash val="solid"/>
                      <a:round/>
                      <a:headEnd type="none" w="med" len="med"/>
                      <a:tailEnd type="none" w="med" len="med"/>
                    </a:lnR>
                    <a:lnT w="9525" cap="flat" cmpd="sng" algn="ctr">
                      <a:solidFill>
                        <a:srgbClr val="C3DCCB"/>
                      </a:solidFill>
                      <a:prstDash val="solid"/>
                      <a:round/>
                      <a:headEnd type="none" w="med" len="med"/>
                      <a:tailEnd type="none" w="med" len="med"/>
                    </a:lnT>
                    <a:lnB w="9525" cap="flat" cmpd="sng" algn="ctr">
                      <a:solidFill>
                        <a:srgbClr val="C3DCCB"/>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Vị trí</a:t>
                      </a:r>
                      <a:endParaRPr lang="en-US" sz="1300" dirty="0"/>
                    </a:p>
                  </a:txBody>
                  <a:tcPr marL="54864" marR="54864" marT="36576" marB="36576" anchor="ctr">
                    <a:lnL w="9525" cap="flat" cmpd="sng" algn="ctr">
                      <a:solidFill>
                        <a:srgbClr val="C3DCCB"/>
                      </a:solidFill>
                      <a:prstDash val="solid"/>
                      <a:round/>
                      <a:headEnd type="none" w="med" len="med"/>
                      <a:tailEnd type="none" w="med" len="med"/>
                    </a:lnL>
                    <a:lnR w="9525" cap="flat" cmpd="sng" algn="ctr">
                      <a:solidFill>
                        <a:srgbClr val="C3DCCB"/>
                      </a:solidFill>
                      <a:prstDash val="solid"/>
                      <a:round/>
                      <a:headEnd type="none" w="med" len="med"/>
                      <a:tailEnd type="none" w="med" len="med"/>
                    </a:lnR>
                    <a:lnT w="9525" cap="flat" cmpd="sng" algn="ctr">
                      <a:solidFill>
                        <a:srgbClr val="C3DCCB"/>
                      </a:solidFill>
                      <a:prstDash val="solid"/>
                      <a:round/>
                      <a:headEnd type="none" w="med" len="med"/>
                      <a:tailEnd type="none" w="med" len="med"/>
                    </a:lnT>
                    <a:lnB w="9525" cap="flat" cmpd="sng" algn="ctr">
                      <a:solidFill>
                        <a:srgbClr val="C3DCCB"/>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Phòng ban</a:t>
                      </a:r>
                      <a:endParaRPr lang="en-US" sz="1300" dirty="0"/>
                    </a:p>
                  </a:txBody>
                  <a:tcPr marL="54864" marR="54864" marT="36576" marB="36576" anchor="ctr">
                    <a:lnL w="9525" cap="flat" cmpd="sng" algn="ctr">
                      <a:solidFill>
                        <a:srgbClr val="C3DCCB"/>
                      </a:solidFill>
                      <a:prstDash val="solid"/>
                      <a:round/>
                      <a:headEnd type="none" w="med" len="med"/>
                      <a:tailEnd type="none" w="med" len="med"/>
                    </a:lnL>
                    <a:lnR w="9525" cap="flat" cmpd="sng" algn="ctr">
                      <a:solidFill>
                        <a:srgbClr val="C3DCCB"/>
                      </a:solidFill>
                      <a:prstDash val="solid"/>
                      <a:round/>
                      <a:headEnd type="none" w="med" len="med"/>
                      <a:tailEnd type="none" w="med" len="med"/>
                    </a:lnR>
                    <a:lnT w="9525" cap="flat" cmpd="sng" algn="ctr">
                      <a:solidFill>
                        <a:srgbClr val="C3DCCB"/>
                      </a:solidFill>
                      <a:prstDash val="solid"/>
                      <a:round/>
                      <a:headEnd type="none" w="med" len="med"/>
                      <a:tailEnd type="none" w="med" len="med"/>
                    </a:lnT>
                    <a:lnB w="9525" cap="flat" cmpd="sng" algn="ctr">
                      <a:solidFill>
                        <a:srgbClr val="C3DCCB"/>
                      </a:solidFill>
                      <a:prstDash val="solid"/>
                      <a:round/>
                      <a:headEnd type="none" w="med" len="med"/>
                      <a:tailEnd type="none" w="med" len="med"/>
                    </a:lnB>
                    <a:solidFill>
                      <a:schemeClr val="tx2"/>
                    </a:solidFill>
                  </a:tcPr>
                </a:tc>
              </a:tr>
              <a:tr h="411480">
                <a:tc>
                  <a:txBody>
                    <a:bodyPr/>
                    <a:lstStyle/>
                    <a:p>
                      <a:pPr indent="0" marL="0">
                        <a:buNone/>
                      </a:pPr>
                      <a:r>
                        <a:rPr lang="en-US" sz="1300" b="1" dirty="0">
                          <a:solidFill>
                            <a:schemeClr val="accent5"/>
                          </a:solidFill>
                        </a:rPr>
                        <a:t>1</a:t>
                      </a:r>
                      <a:endParaRPr lang="en-US" sz="1300" dirty="0"/>
                    </a:p>
                  </a:txBody>
                  <a:tcPr marL="54864" marR="54864" marT="36576" marB="36576" anchor="ctr">
                    <a:lnL w="9525" cap="flat" cmpd="sng" algn="ctr">
                      <a:solidFill>
                        <a:srgbClr val="C3DCCB"/>
                      </a:solidFill>
                      <a:prstDash val="solid"/>
                      <a:round/>
                      <a:headEnd type="none" w="med" len="med"/>
                      <a:tailEnd type="none" w="med" len="med"/>
                    </a:lnL>
                    <a:lnR w="9525" cap="flat" cmpd="sng" algn="ctr">
                      <a:solidFill>
                        <a:srgbClr val="C3DCCB"/>
                      </a:solidFill>
                      <a:prstDash val="solid"/>
                      <a:round/>
                      <a:headEnd type="none" w="med" len="med"/>
                      <a:tailEnd type="none" w="med" len="med"/>
                    </a:lnR>
                    <a:lnT w="9525" cap="flat" cmpd="sng" algn="ctr">
                      <a:solidFill>
                        <a:srgbClr val="C3DCCB"/>
                      </a:solidFill>
                      <a:prstDash val="solid"/>
                      <a:round/>
                      <a:headEnd type="none" w="med" len="med"/>
                      <a:tailEnd type="none" w="med" len="med"/>
                    </a:lnT>
                    <a:lnB w="9525" cap="flat" cmpd="sng" algn="ctr">
                      <a:solidFill>
                        <a:srgbClr val="C3DCCB"/>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Data Analyst</a:t>
                      </a:r>
                      <a:endParaRPr lang="en-US" sz="1300" dirty="0"/>
                    </a:p>
                  </a:txBody>
                  <a:tcPr marL="54864" marR="54864" marT="36576" marB="36576" anchor="ctr">
                    <a:lnL w="9525" cap="flat" cmpd="sng" algn="ctr">
                      <a:solidFill>
                        <a:srgbClr val="C3DCCB"/>
                      </a:solidFill>
                      <a:prstDash val="solid"/>
                      <a:round/>
                      <a:headEnd type="none" w="med" len="med"/>
                      <a:tailEnd type="none" w="med" len="med"/>
                    </a:lnL>
                    <a:lnR w="9525" cap="flat" cmpd="sng" algn="ctr">
                      <a:solidFill>
                        <a:srgbClr val="C3DCCB"/>
                      </a:solidFill>
                      <a:prstDash val="solid"/>
                      <a:round/>
                      <a:headEnd type="none" w="med" len="med"/>
                      <a:tailEnd type="none" w="med" len="med"/>
                    </a:lnR>
                    <a:lnT w="9525" cap="flat" cmpd="sng" algn="ctr">
                      <a:solidFill>
                        <a:srgbClr val="C3DCCB"/>
                      </a:solidFill>
                      <a:prstDash val="solid"/>
                      <a:round/>
                      <a:headEnd type="none" w="med" len="med"/>
                      <a:tailEnd type="none" w="med" len="med"/>
                    </a:lnT>
                    <a:lnB w="9525" cap="flat" cmpd="sng" algn="ctr">
                      <a:solidFill>
                        <a:srgbClr val="C3DCCB"/>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Phòng Dữ liệu</a:t>
                      </a:r>
                      <a:endParaRPr lang="en-US" sz="1300" dirty="0"/>
                    </a:p>
                  </a:txBody>
                  <a:tcPr marL="54864" marR="54864" marT="36576" marB="36576" anchor="ctr">
                    <a:lnL w="9525" cap="flat" cmpd="sng" algn="ctr">
                      <a:solidFill>
                        <a:srgbClr val="C3DCCB"/>
                      </a:solidFill>
                      <a:prstDash val="solid"/>
                      <a:round/>
                      <a:headEnd type="none" w="med" len="med"/>
                      <a:tailEnd type="none" w="med" len="med"/>
                    </a:lnL>
                    <a:lnR w="9525" cap="flat" cmpd="sng" algn="ctr">
                      <a:solidFill>
                        <a:srgbClr val="C3DCCB"/>
                      </a:solidFill>
                      <a:prstDash val="solid"/>
                      <a:round/>
                      <a:headEnd type="none" w="med" len="med"/>
                      <a:tailEnd type="none" w="med" len="med"/>
                    </a:lnR>
                    <a:lnT w="9525" cap="flat" cmpd="sng" algn="ctr">
                      <a:solidFill>
                        <a:srgbClr val="C3DCCB"/>
                      </a:solidFill>
                      <a:prstDash val="solid"/>
                      <a:round/>
                      <a:headEnd type="none" w="med" len="med"/>
                      <a:tailEnd type="none" w="med" len="med"/>
                    </a:lnT>
                    <a:lnB w="9525" cap="flat" cmpd="sng" algn="ctr">
                      <a:solidFill>
                        <a:srgbClr val="C3DCCB"/>
                      </a:solidFill>
                      <a:prstDash val="solid"/>
                      <a:round/>
                      <a:headEnd type="none" w="med" len="med"/>
                      <a:tailEnd type="none" w="med" len="med"/>
                    </a:lnB>
                    <a:solidFill>
                      <a:schemeClr val="bg1"/>
                    </a:solidFill>
                  </a:tcPr>
                </a:tc>
              </a:tr>
            </a:tbl>
          </a:graphicData>
        </a:graphic>
      </p:graphicFrame>
      <p:sp>
        <p:nvSpPr>
          <p:cNvPr id="10" name="nguon label"/>
          <p:cNvSpPr txBox="1"/>
          <p:nvPr/>
        </p:nvSpPr>
        <p:spPr>
          <a:xfrm>
            <a:off x="9875520" y="3886200"/>
            <a:ext cx="1764792" cy="292608"/>
          </a:xfrm>
          <a:prstGeom prst="rect">
            <a:avLst/>
          </a:prstGeom>
          <a:noFill/>
          <a:ln/>
        </p:spPr>
        <p:txBody>
          <a:bodyPr wrap="square" lIns="0" tIns="0" rIns="0" bIns="0" rtlCol="0" anchor="ctr"/>
          <a:lstStyle/>
          <a:p>
            <a:pPr indent="0" marL="0">
              <a:buNone/>
            </a:pPr>
            <a:r>
              <a:rPr lang="en-US" sz="1300" b="1" dirty="0">
                <a:solidFill>
                  <a:schemeClr val="accent1"/>
                </a:solidFill>
                <a:latin typeface="Courier New" pitchFamily="34" charset="0"/>
                <a:ea typeface="Courier New" pitchFamily="34" charset="-122"/>
                <a:cs typeface="Courier New" pitchFamily="34" charset="-120"/>
              </a:rPr>
              <a:t>Bảng nguon</a:t>
            </a:r>
            <a:endParaRPr lang="en-US" sz="1300" dirty="0"/>
          </a:p>
        </p:txBody>
      </p:sp>
      <p:graphicFrame>
        <p:nvGraphicFramePr>
          <p:cNvPr id="25" name="nguon table"/>
          <p:cNvGraphicFramePr>
            <a:graphicFrameLocks noGrp="1"/>
          </p:cNvGraphicFramePr>
          <p:nvPr>
            <p:extLst>
              <p:ext uri="{D42A27DB-BD31-4B8C-83A1-F6EECF244321}">
                <p14:modId xmlns:p14="http://schemas.microsoft.com/office/powerpoint/2010/main" val="1579011935"/>
              </p:ext>
            </p:extLst>
          </p:nvPr>
        </p:nvGraphicFramePr>
        <p:xfrm>
          <a:off x="9875520" y="4206240"/>
          <a:ext cx="1764792" cy="914400"/>
        </p:xfrm>
        <a:graphic>
          <a:graphicData uri="http://schemas.openxmlformats.org/drawingml/2006/table">
            <a:tbl>
              <a:tblPr/>
              <a:tblGrid>
                <a:gridCol w="502920"/>
                <a:gridCol w="1261872"/>
              </a:tblGrid>
              <a:tr h="411480">
                <a:tc>
                  <a:txBody>
                    <a:bodyPr/>
                    <a:lstStyle/>
                    <a:p>
                      <a:pPr indent="0" marL="0">
                        <a:buNone/>
                      </a:pPr>
                      <a:r>
                        <a:rPr lang="en-US" sz="1300" b="1" dirty="0">
                          <a:solidFill>
                            <a:schemeClr val="bg1"/>
                          </a:solidFill>
                        </a:rPr>
                        <a:t>Mã</a:t>
                      </a:r>
                      <a:endParaRPr lang="en-US" sz="1300" dirty="0"/>
                    </a:p>
                  </a:txBody>
                  <a:tcPr marL="54864" marR="54864" marT="36576" marB="36576" anchor="ctr">
                    <a:lnL w="9525" cap="flat" cmpd="sng" algn="ctr">
                      <a:solidFill>
                        <a:srgbClr val="C3DCCB"/>
                      </a:solidFill>
                      <a:prstDash val="solid"/>
                      <a:round/>
                      <a:headEnd type="none" w="med" len="med"/>
                      <a:tailEnd type="none" w="med" len="med"/>
                    </a:lnL>
                    <a:lnR w="9525" cap="flat" cmpd="sng" algn="ctr">
                      <a:solidFill>
                        <a:srgbClr val="C3DCCB"/>
                      </a:solidFill>
                      <a:prstDash val="solid"/>
                      <a:round/>
                      <a:headEnd type="none" w="med" len="med"/>
                      <a:tailEnd type="none" w="med" len="med"/>
                    </a:lnR>
                    <a:lnT w="9525" cap="flat" cmpd="sng" algn="ctr">
                      <a:solidFill>
                        <a:srgbClr val="C3DCCB"/>
                      </a:solidFill>
                      <a:prstDash val="solid"/>
                      <a:round/>
                      <a:headEnd type="none" w="med" len="med"/>
                      <a:tailEnd type="none" w="med" len="med"/>
                    </a:lnT>
                    <a:lnB w="9525" cap="flat" cmpd="sng" algn="ctr">
                      <a:solidFill>
                        <a:srgbClr val="C3DCCB"/>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Nguồn</a:t>
                      </a:r>
                      <a:endParaRPr lang="en-US" sz="1300" dirty="0"/>
                    </a:p>
                  </a:txBody>
                  <a:tcPr marL="54864" marR="54864" marT="36576" marB="36576" anchor="ctr">
                    <a:lnL w="9525" cap="flat" cmpd="sng" algn="ctr">
                      <a:solidFill>
                        <a:srgbClr val="C3DCCB"/>
                      </a:solidFill>
                      <a:prstDash val="solid"/>
                      <a:round/>
                      <a:headEnd type="none" w="med" len="med"/>
                      <a:tailEnd type="none" w="med" len="med"/>
                    </a:lnL>
                    <a:lnR w="9525" cap="flat" cmpd="sng" algn="ctr">
                      <a:solidFill>
                        <a:srgbClr val="C3DCCB"/>
                      </a:solidFill>
                      <a:prstDash val="solid"/>
                      <a:round/>
                      <a:headEnd type="none" w="med" len="med"/>
                      <a:tailEnd type="none" w="med" len="med"/>
                    </a:lnR>
                    <a:lnT w="9525" cap="flat" cmpd="sng" algn="ctr">
                      <a:solidFill>
                        <a:srgbClr val="C3DCCB"/>
                      </a:solidFill>
                      <a:prstDash val="solid"/>
                      <a:round/>
                      <a:headEnd type="none" w="med" len="med"/>
                      <a:tailEnd type="none" w="med" len="med"/>
                    </a:lnT>
                    <a:lnB w="9525" cap="flat" cmpd="sng" algn="ctr">
                      <a:solidFill>
                        <a:srgbClr val="C3DCCB"/>
                      </a:solidFill>
                      <a:prstDash val="solid"/>
                      <a:round/>
                      <a:headEnd type="none" w="med" len="med"/>
                      <a:tailEnd type="none" w="med" len="med"/>
                    </a:lnB>
                    <a:solidFill>
                      <a:schemeClr val="tx2"/>
                    </a:solidFill>
                  </a:tcPr>
                </a:tc>
              </a:tr>
              <a:tr h="411480">
                <a:tc>
                  <a:txBody>
                    <a:bodyPr/>
                    <a:lstStyle/>
                    <a:p>
                      <a:pPr indent="0" marL="0">
                        <a:buNone/>
                      </a:pPr>
                      <a:r>
                        <a:rPr lang="en-US" sz="1300" b="1" dirty="0">
                          <a:solidFill>
                            <a:schemeClr val="accent5"/>
                          </a:solidFill>
                        </a:rPr>
                        <a:t>1</a:t>
                      </a:r>
                      <a:endParaRPr lang="en-US" sz="1300" dirty="0"/>
                    </a:p>
                  </a:txBody>
                  <a:tcPr marL="54864" marR="54864" marT="36576" marB="36576" anchor="ctr">
                    <a:lnL w="9525" cap="flat" cmpd="sng" algn="ctr">
                      <a:solidFill>
                        <a:srgbClr val="C3DCCB"/>
                      </a:solidFill>
                      <a:prstDash val="solid"/>
                      <a:round/>
                      <a:headEnd type="none" w="med" len="med"/>
                      <a:tailEnd type="none" w="med" len="med"/>
                    </a:lnL>
                    <a:lnR w="9525" cap="flat" cmpd="sng" algn="ctr">
                      <a:solidFill>
                        <a:srgbClr val="C3DCCB"/>
                      </a:solidFill>
                      <a:prstDash val="solid"/>
                      <a:round/>
                      <a:headEnd type="none" w="med" len="med"/>
                      <a:tailEnd type="none" w="med" len="med"/>
                    </a:lnR>
                    <a:lnT w="9525" cap="flat" cmpd="sng" algn="ctr">
                      <a:solidFill>
                        <a:srgbClr val="C3DCCB"/>
                      </a:solidFill>
                      <a:prstDash val="solid"/>
                      <a:round/>
                      <a:headEnd type="none" w="med" len="med"/>
                      <a:tailEnd type="none" w="med" len="med"/>
                    </a:lnT>
                    <a:lnB w="9525" cap="flat" cmpd="sng" algn="ctr">
                      <a:solidFill>
                        <a:srgbClr val="C3DCCB"/>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TopCV</a:t>
                      </a:r>
                      <a:endParaRPr lang="en-US" sz="1300" dirty="0"/>
                    </a:p>
                  </a:txBody>
                  <a:tcPr marL="54864" marR="54864" marT="36576" marB="36576" anchor="ctr">
                    <a:lnL w="9525" cap="flat" cmpd="sng" algn="ctr">
                      <a:solidFill>
                        <a:srgbClr val="C3DCCB"/>
                      </a:solidFill>
                      <a:prstDash val="solid"/>
                      <a:round/>
                      <a:headEnd type="none" w="med" len="med"/>
                      <a:tailEnd type="none" w="med" len="med"/>
                    </a:lnL>
                    <a:lnR w="9525" cap="flat" cmpd="sng" algn="ctr">
                      <a:solidFill>
                        <a:srgbClr val="C3DCCB"/>
                      </a:solidFill>
                      <a:prstDash val="solid"/>
                      <a:round/>
                      <a:headEnd type="none" w="med" len="med"/>
                      <a:tailEnd type="none" w="med" len="med"/>
                    </a:lnR>
                    <a:lnT w="9525" cap="flat" cmpd="sng" algn="ctr">
                      <a:solidFill>
                        <a:srgbClr val="C3DCCB"/>
                      </a:solidFill>
                      <a:prstDash val="solid"/>
                      <a:round/>
                      <a:headEnd type="none" w="med" len="med"/>
                      <a:tailEnd type="none" w="med" len="med"/>
                    </a:lnT>
                    <a:lnB w="9525" cap="flat" cmpd="sng" algn="ctr">
                      <a:solidFill>
                        <a:srgbClr val="C3DCCB"/>
                      </a:solidFill>
                      <a:prstDash val="solid"/>
                      <a:round/>
                      <a:headEnd type="none" w="med" len="med"/>
                      <a:tailEnd type="none" w="med" len="med"/>
                    </a:lnB>
                    <a:solidFill>
                      <a:schemeClr val="bg1"/>
                    </a:solidFill>
                  </a:tcPr>
                </a:tc>
              </a:tr>
              <a:tr h="411480">
                <a:tc>
                  <a:txBody>
                    <a:bodyPr/>
                    <a:lstStyle/>
                    <a:p>
                      <a:pPr indent="0" marL="0">
                        <a:buNone/>
                      </a:pPr>
                      <a:r>
                        <a:rPr lang="en-US" sz="1300" b="1" dirty="0">
                          <a:solidFill>
                            <a:schemeClr val="accent5"/>
                          </a:solidFill>
                        </a:rPr>
                        <a:t>2</a:t>
                      </a:r>
                      <a:endParaRPr lang="en-US" sz="1300" dirty="0"/>
                    </a:p>
                  </a:txBody>
                  <a:tcPr marL="54864" marR="54864" marT="36576" marB="36576" anchor="ctr">
                    <a:lnL w="9525" cap="flat" cmpd="sng" algn="ctr">
                      <a:solidFill>
                        <a:srgbClr val="C3DCCB"/>
                      </a:solidFill>
                      <a:prstDash val="solid"/>
                      <a:round/>
                      <a:headEnd type="none" w="med" len="med"/>
                      <a:tailEnd type="none" w="med" len="med"/>
                    </a:lnL>
                    <a:lnR w="9525" cap="flat" cmpd="sng" algn="ctr">
                      <a:solidFill>
                        <a:srgbClr val="C3DCCB"/>
                      </a:solidFill>
                      <a:prstDash val="solid"/>
                      <a:round/>
                      <a:headEnd type="none" w="med" len="med"/>
                      <a:tailEnd type="none" w="med" len="med"/>
                    </a:lnR>
                    <a:lnT w="9525" cap="flat" cmpd="sng" algn="ctr">
                      <a:solidFill>
                        <a:srgbClr val="C3DCCB"/>
                      </a:solidFill>
                      <a:prstDash val="solid"/>
                      <a:round/>
                      <a:headEnd type="none" w="med" len="med"/>
                      <a:tailEnd type="none" w="med" len="med"/>
                    </a:lnT>
                    <a:lnB w="9525" cap="flat" cmpd="sng" algn="ctr">
                      <a:solidFill>
                        <a:srgbClr val="C3DCCB"/>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Google Form</a:t>
                      </a:r>
                      <a:endParaRPr lang="en-US" sz="1300" dirty="0"/>
                    </a:p>
                  </a:txBody>
                  <a:tcPr marL="54864" marR="54864" marT="36576" marB="36576" anchor="ctr">
                    <a:lnL w="9525" cap="flat" cmpd="sng" algn="ctr">
                      <a:solidFill>
                        <a:srgbClr val="C3DCCB"/>
                      </a:solidFill>
                      <a:prstDash val="solid"/>
                      <a:round/>
                      <a:headEnd type="none" w="med" len="med"/>
                      <a:tailEnd type="none" w="med" len="med"/>
                    </a:lnL>
                    <a:lnR w="9525" cap="flat" cmpd="sng" algn="ctr">
                      <a:solidFill>
                        <a:srgbClr val="C3DCCB"/>
                      </a:solidFill>
                      <a:prstDash val="solid"/>
                      <a:round/>
                      <a:headEnd type="none" w="med" len="med"/>
                      <a:tailEnd type="none" w="med" len="med"/>
                    </a:lnR>
                    <a:lnT w="9525" cap="flat" cmpd="sng" algn="ctr">
                      <a:solidFill>
                        <a:srgbClr val="C3DCCB"/>
                      </a:solidFill>
                      <a:prstDash val="solid"/>
                      <a:round/>
                      <a:headEnd type="none" w="med" len="med"/>
                      <a:tailEnd type="none" w="med" len="med"/>
                    </a:lnT>
                    <a:lnB w="9525" cap="flat" cmpd="sng" algn="ctr">
                      <a:solidFill>
                        <a:srgbClr val="C3DCCB"/>
                      </a:solidFill>
                      <a:prstDash val="solid"/>
                      <a:round/>
                      <a:headEnd type="none" w="med" len="med"/>
                      <a:tailEnd type="none" w="med" len="med"/>
                    </a:lnB>
                    <a:solidFill>
                      <a:schemeClr val="bg1"/>
                    </a:solidFill>
                  </a:tcPr>
                </a:tc>
              </a:tr>
            </a:tbl>
          </a:graphicData>
        </a:graphic>
      </p:graphicFrame>
      <p:sp>
        <p:nvSpPr>
          <p:cNvPr id="12" name="Split bullets"/>
          <p:cNvSpPr txBox="1"/>
          <p:nvPr/>
        </p:nvSpPr>
        <p:spPr>
          <a:xfrm>
            <a:off x="548640" y="4023360"/>
            <a:ext cx="5212080" cy="2011680"/>
          </a:xfrm>
          <a:prstGeom prst="rect">
            <a:avLst/>
          </a:prstGeom>
          <a:noFill/>
          <a:ln/>
        </p:spPr>
        <p:txBody>
          <a:bodyPr wrap="square" lIns="0" tIns="0" rIns="0" bIns="0" rtlCol="0" anchor="t"/>
          <a:lstStyle/>
          <a:p>
            <a:pPr marL="228600" indent="-228600">
              <a:spcAft>
                <a:spcPts val="1400"/>
              </a:spcAft>
              <a:buSzPct val="100000"/>
              <a:buChar char="•"/>
            </a:pPr>
            <a:r>
              <a:rPr lang="en-US" sz="1700" dirty="0">
                <a:solidFill>
                  <a:schemeClr val="tx1"/>
                </a:solidFill>
              </a:rPr>
              <a:t>Thông tin lặp lại → tách ra bảng riêng, nối bằng mã</a:t>
            </a:r>
            <a:endParaRPr lang="en-US" sz="1700" dirty="0"/>
          </a:p>
          <a:p>
            <a:pPr marL="228600" indent="-228600">
              <a:spcAft>
                <a:spcPts val="1400"/>
              </a:spcAft>
              <a:buSzPct val="100000"/>
              <a:buChar char="•"/>
            </a:pPr>
            <a:r>
              <a:rPr lang="en-US" sz="1700" dirty="0">
                <a:solidFill>
                  <a:schemeClr val="tx1"/>
                </a:solidFill>
              </a:rPr>
              <a:t>Sửa tên vị trí một lần, mọi hồ sơ tự đúng theo</a:t>
            </a:r>
            <a:endParaRPr lang="en-US" sz="1700" dirty="0"/>
          </a:p>
          <a:p>
            <a:pPr marL="228600" indent="-228600">
              <a:spcAft>
                <a:spcPts val="1400"/>
              </a:spcAft>
              <a:buSzPct val="100000"/>
              <a:buChar char="•"/>
            </a:pPr>
            <a:r>
              <a:rPr lang="en-US" sz="1700" dirty="0">
                <a:solidFill>
                  <a:schemeClr val="tx1"/>
                </a:solidFill>
              </a:rPr>
              <a:t>Cách làm này gọi là chuẩn hóa bảng (normalization)</a:t>
            </a:r>
            <a:endParaRPr lang="en-US" sz="1700" dirty="0"/>
          </a:p>
        </p:txBody>
      </p:sp>
      <p:sp>
        <p:nvSpPr>
          <p:cNvPr id="25" name="Slide Number Placeholder 0"/>
          <p:cNvSpPr>
            <a:spLocks noGrp="1"/>
          </p:cNvSpPr>
          <p:nvPr>
            <p:ph type="sldNum" sz="quarter" idx="4294967295"/>
          </p:nvPr>
        </p:nvSpPr>
        <p:spPr>
          <a:xfrm>
            <a:off x="11183112" y="635508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Sơ đồ ERD: kho dữ liệu 6 bảng</a:t>
            </a:r>
            <a:endParaRPr lang="en-US" sz="3200" dirty="0"/>
          </a:p>
        </p:txBody>
      </p:sp>
      <p:sp>
        <p:nvSpPr>
          <p:cNvPr id="3" name="Link ung_vien a"/>
          <p:cNvSpPr/>
          <p:nvPr/>
        </p:nvSpPr>
        <p:spPr>
          <a:xfrm>
            <a:off x="3383280" y="1933956"/>
            <a:ext cx="411480" cy="0"/>
          </a:xfrm>
          <a:prstGeom prst="line">
            <a:avLst/>
          </a:prstGeom>
          <a:noFill/>
          <a:ln w="19050">
            <a:solidFill>
              <a:schemeClr val="accent4"/>
            </a:solidFill>
            <a:prstDash val="solid"/>
          </a:ln>
        </p:spPr>
      </p:sp>
      <p:sp>
        <p:nvSpPr>
          <p:cNvPr id="4" name="Link ung_vien b"/>
          <p:cNvSpPr/>
          <p:nvPr/>
        </p:nvSpPr>
        <p:spPr>
          <a:xfrm>
            <a:off x="3794760" y="1933956"/>
            <a:ext cx="0" cy="379476"/>
          </a:xfrm>
          <a:prstGeom prst="line">
            <a:avLst/>
          </a:prstGeom>
          <a:noFill/>
          <a:ln w="19050">
            <a:solidFill>
              <a:schemeClr val="accent4"/>
            </a:solidFill>
            <a:prstDash val="solid"/>
          </a:ln>
        </p:spPr>
      </p:sp>
      <p:sp>
        <p:nvSpPr>
          <p:cNvPr id="5" name="Link ung_vien c"/>
          <p:cNvSpPr/>
          <p:nvPr/>
        </p:nvSpPr>
        <p:spPr>
          <a:xfrm>
            <a:off x="3794760" y="2313432"/>
            <a:ext cx="457200" cy="0"/>
          </a:xfrm>
          <a:prstGeom prst="line">
            <a:avLst/>
          </a:prstGeom>
          <a:noFill/>
          <a:ln w="19050">
            <a:solidFill>
              <a:schemeClr val="accent4"/>
            </a:solidFill>
            <a:prstDash val="solid"/>
          </a:ln>
        </p:spPr>
      </p:sp>
      <p:sp>
        <p:nvSpPr>
          <p:cNvPr id="6" name="Cardinality 1"/>
          <p:cNvSpPr txBox="1"/>
          <p:nvPr/>
        </p:nvSpPr>
        <p:spPr>
          <a:xfrm>
            <a:off x="3419856" y="1705356"/>
            <a:ext cx="201168" cy="201168"/>
          </a:xfrm>
          <a:prstGeom prst="rect">
            <a:avLst/>
          </a:prstGeom>
          <a:noFill/>
          <a:ln/>
        </p:spPr>
        <p:txBody>
          <a:bodyPr wrap="square" lIns="0" tIns="0" rIns="0" bIns="0" rtlCol="0" anchor="ctr"/>
          <a:lstStyle/>
          <a:p>
            <a:pPr algn="ctr" indent="0" marL="0">
              <a:buNone/>
            </a:pPr>
            <a:r>
              <a:rPr lang="en-US" sz="1300" b="1" dirty="0">
                <a:solidFill>
                  <a:schemeClr val="tx2"/>
                </a:solidFill>
              </a:rPr>
              <a:t>1</a:t>
            </a:r>
            <a:endParaRPr lang="en-US" sz="1300" dirty="0"/>
          </a:p>
        </p:txBody>
      </p:sp>
      <p:sp>
        <p:nvSpPr>
          <p:cNvPr id="7" name="Cardinality n"/>
          <p:cNvSpPr txBox="1"/>
          <p:nvPr/>
        </p:nvSpPr>
        <p:spPr>
          <a:xfrm>
            <a:off x="4023360" y="2084832"/>
            <a:ext cx="201168" cy="201168"/>
          </a:xfrm>
          <a:prstGeom prst="rect">
            <a:avLst/>
          </a:prstGeom>
          <a:noFill/>
          <a:ln/>
        </p:spPr>
        <p:txBody>
          <a:bodyPr wrap="square" lIns="0" tIns="0" rIns="0" bIns="0" rtlCol="0" anchor="ctr"/>
          <a:lstStyle/>
          <a:p>
            <a:pPr algn="ctr" indent="0" marL="0">
              <a:buNone/>
            </a:pPr>
            <a:r>
              <a:rPr lang="en-US" sz="1300" b="1" dirty="0">
                <a:solidFill>
                  <a:schemeClr val="tx2"/>
                </a:solidFill>
              </a:rPr>
              <a:t>n</a:t>
            </a:r>
            <a:endParaRPr lang="en-US" sz="1300" dirty="0"/>
          </a:p>
        </p:txBody>
      </p:sp>
      <p:sp>
        <p:nvSpPr>
          <p:cNvPr id="8" name="Link vi_tri a"/>
          <p:cNvSpPr/>
          <p:nvPr/>
        </p:nvSpPr>
        <p:spPr>
          <a:xfrm>
            <a:off x="3383280" y="3625596"/>
            <a:ext cx="274320" cy="0"/>
          </a:xfrm>
          <a:prstGeom prst="line">
            <a:avLst/>
          </a:prstGeom>
          <a:noFill/>
          <a:ln w="19050">
            <a:solidFill>
              <a:schemeClr val="accent4"/>
            </a:solidFill>
            <a:prstDash val="solid"/>
          </a:ln>
        </p:spPr>
      </p:sp>
      <p:sp>
        <p:nvSpPr>
          <p:cNvPr id="9" name="Link vi_tri b"/>
          <p:cNvSpPr/>
          <p:nvPr/>
        </p:nvSpPr>
        <p:spPr>
          <a:xfrm>
            <a:off x="3657600" y="2587752"/>
            <a:ext cx="0" cy="1037844"/>
          </a:xfrm>
          <a:prstGeom prst="line">
            <a:avLst/>
          </a:prstGeom>
          <a:noFill/>
          <a:ln w="19050">
            <a:solidFill>
              <a:schemeClr val="accent4"/>
            </a:solidFill>
            <a:prstDash val="solid"/>
          </a:ln>
        </p:spPr>
      </p:sp>
      <p:sp>
        <p:nvSpPr>
          <p:cNvPr id="10" name="Link vi_tri c"/>
          <p:cNvSpPr/>
          <p:nvPr/>
        </p:nvSpPr>
        <p:spPr>
          <a:xfrm>
            <a:off x="3657600" y="2587752"/>
            <a:ext cx="594360" cy="0"/>
          </a:xfrm>
          <a:prstGeom prst="line">
            <a:avLst/>
          </a:prstGeom>
          <a:noFill/>
          <a:ln w="19050">
            <a:solidFill>
              <a:schemeClr val="accent4"/>
            </a:solidFill>
            <a:prstDash val="solid"/>
          </a:ln>
        </p:spPr>
      </p:sp>
      <p:sp>
        <p:nvSpPr>
          <p:cNvPr id="11" name="Cardinality 1"/>
          <p:cNvSpPr txBox="1"/>
          <p:nvPr/>
        </p:nvSpPr>
        <p:spPr>
          <a:xfrm>
            <a:off x="3419856" y="3396996"/>
            <a:ext cx="201168" cy="201168"/>
          </a:xfrm>
          <a:prstGeom prst="rect">
            <a:avLst/>
          </a:prstGeom>
          <a:noFill/>
          <a:ln/>
        </p:spPr>
        <p:txBody>
          <a:bodyPr wrap="square" lIns="0" tIns="0" rIns="0" bIns="0" rtlCol="0" anchor="ctr"/>
          <a:lstStyle/>
          <a:p>
            <a:pPr algn="ctr" indent="0" marL="0">
              <a:buNone/>
            </a:pPr>
            <a:r>
              <a:rPr lang="en-US" sz="1300" b="1" dirty="0">
                <a:solidFill>
                  <a:schemeClr val="tx2"/>
                </a:solidFill>
              </a:rPr>
              <a:t>1</a:t>
            </a:r>
            <a:endParaRPr lang="en-US" sz="1300" dirty="0"/>
          </a:p>
        </p:txBody>
      </p:sp>
      <p:sp>
        <p:nvSpPr>
          <p:cNvPr id="12" name="Cardinality n"/>
          <p:cNvSpPr txBox="1"/>
          <p:nvPr/>
        </p:nvSpPr>
        <p:spPr>
          <a:xfrm>
            <a:off x="4023360" y="2359152"/>
            <a:ext cx="201168" cy="201168"/>
          </a:xfrm>
          <a:prstGeom prst="rect">
            <a:avLst/>
          </a:prstGeom>
          <a:noFill/>
          <a:ln/>
        </p:spPr>
        <p:txBody>
          <a:bodyPr wrap="square" lIns="0" tIns="0" rIns="0" bIns="0" rtlCol="0" anchor="ctr"/>
          <a:lstStyle/>
          <a:p>
            <a:pPr algn="ctr" indent="0" marL="0">
              <a:buNone/>
            </a:pPr>
            <a:r>
              <a:rPr lang="en-US" sz="1300" b="1" dirty="0">
                <a:solidFill>
                  <a:schemeClr val="tx2"/>
                </a:solidFill>
              </a:rPr>
              <a:t>n</a:t>
            </a:r>
            <a:endParaRPr lang="en-US" sz="1300" dirty="0"/>
          </a:p>
        </p:txBody>
      </p:sp>
      <p:sp>
        <p:nvSpPr>
          <p:cNvPr id="13" name="Link nguon a"/>
          <p:cNvSpPr/>
          <p:nvPr/>
        </p:nvSpPr>
        <p:spPr>
          <a:xfrm>
            <a:off x="3383280" y="5070348"/>
            <a:ext cx="548640" cy="0"/>
          </a:xfrm>
          <a:prstGeom prst="line">
            <a:avLst/>
          </a:prstGeom>
          <a:noFill/>
          <a:ln w="19050">
            <a:solidFill>
              <a:schemeClr val="accent4"/>
            </a:solidFill>
            <a:prstDash val="solid"/>
          </a:ln>
        </p:spPr>
      </p:sp>
      <p:sp>
        <p:nvSpPr>
          <p:cNvPr id="14" name="Link nguon b"/>
          <p:cNvSpPr/>
          <p:nvPr/>
        </p:nvSpPr>
        <p:spPr>
          <a:xfrm>
            <a:off x="3931920" y="2862072"/>
            <a:ext cx="0" cy="2208276"/>
          </a:xfrm>
          <a:prstGeom prst="line">
            <a:avLst/>
          </a:prstGeom>
          <a:noFill/>
          <a:ln w="19050">
            <a:solidFill>
              <a:schemeClr val="accent4"/>
            </a:solidFill>
            <a:prstDash val="solid"/>
          </a:ln>
        </p:spPr>
      </p:sp>
      <p:sp>
        <p:nvSpPr>
          <p:cNvPr id="15" name="Link nguon c"/>
          <p:cNvSpPr/>
          <p:nvPr/>
        </p:nvSpPr>
        <p:spPr>
          <a:xfrm>
            <a:off x="3931920" y="2862072"/>
            <a:ext cx="320040" cy="0"/>
          </a:xfrm>
          <a:prstGeom prst="line">
            <a:avLst/>
          </a:prstGeom>
          <a:noFill/>
          <a:ln w="19050">
            <a:solidFill>
              <a:schemeClr val="accent4"/>
            </a:solidFill>
            <a:prstDash val="solid"/>
          </a:ln>
        </p:spPr>
      </p:sp>
      <p:sp>
        <p:nvSpPr>
          <p:cNvPr id="16" name="Cardinality 1"/>
          <p:cNvSpPr txBox="1"/>
          <p:nvPr/>
        </p:nvSpPr>
        <p:spPr>
          <a:xfrm>
            <a:off x="3419856" y="4841748"/>
            <a:ext cx="201168" cy="201168"/>
          </a:xfrm>
          <a:prstGeom prst="rect">
            <a:avLst/>
          </a:prstGeom>
          <a:noFill/>
          <a:ln/>
        </p:spPr>
        <p:txBody>
          <a:bodyPr wrap="square" lIns="0" tIns="0" rIns="0" bIns="0" rtlCol="0" anchor="ctr"/>
          <a:lstStyle/>
          <a:p>
            <a:pPr algn="ctr" indent="0" marL="0">
              <a:buNone/>
            </a:pPr>
            <a:r>
              <a:rPr lang="en-US" sz="1300" b="1" dirty="0">
                <a:solidFill>
                  <a:schemeClr val="tx2"/>
                </a:solidFill>
              </a:rPr>
              <a:t>1</a:t>
            </a:r>
            <a:endParaRPr lang="en-US" sz="1300" dirty="0"/>
          </a:p>
        </p:txBody>
      </p:sp>
      <p:sp>
        <p:nvSpPr>
          <p:cNvPr id="17" name="Cardinality n"/>
          <p:cNvSpPr txBox="1"/>
          <p:nvPr/>
        </p:nvSpPr>
        <p:spPr>
          <a:xfrm>
            <a:off x="4023360" y="2633472"/>
            <a:ext cx="201168" cy="201168"/>
          </a:xfrm>
          <a:prstGeom prst="rect">
            <a:avLst/>
          </a:prstGeom>
          <a:noFill/>
          <a:ln/>
        </p:spPr>
        <p:txBody>
          <a:bodyPr wrap="square" lIns="0" tIns="0" rIns="0" bIns="0" rtlCol="0" anchor="ctr"/>
          <a:lstStyle/>
          <a:p>
            <a:pPr algn="ctr" indent="0" marL="0">
              <a:buNone/>
            </a:pPr>
            <a:r>
              <a:rPr lang="en-US" sz="1300" b="1" dirty="0">
                <a:solidFill>
                  <a:schemeClr val="tx2"/>
                </a:solidFill>
              </a:rPr>
              <a:t>n</a:t>
            </a:r>
            <a:endParaRPr lang="en-US" sz="1300" dirty="0"/>
          </a:p>
        </p:txBody>
      </p:sp>
      <p:sp>
        <p:nvSpPr>
          <p:cNvPr id="18" name="Link vong_tuyen a"/>
          <p:cNvSpPr/>
          <p:nvPr/>
        </p:nvSpPr>
        <p:spPr>
          <a:xfrm>
            <a:off x="7818120" y="3136392"/>
            <a:ext cx="457200" cy="0"/>
          </a:xfrm>
          <a:prstGeom prst="line">
            <a:avLst/>
          </a:prstGeom>
          <a:noFill/>
          <a:ln w="19050">
            <a:solidFill>
              <a:schemeClr val="accent4"/>
            </a:solidFill>
            <a:prstDash val="solid"/>
          </a:ln>
        </p:spPr>
      </p:sp>
      <p:sp>
        <p:nvSpPr>
          <p:cNvPr id="19" name="Link vong_tuyen b"/>
          <p:cNvSpPr/>
          <p:nvPr/>
        </p:nvSpPr>
        <p:spPr>
          <a:xfrm>
            <a:off x="8275320" y="2025396"/>
            <a:ext cx="0" cy="1110996"/>
          </a:xfrm>
          <a:prstGeom prst="line">
            <a:avLst/>
          </a:prstGeom>
          <a:noFill/>
          <a:ln w="19050">
            <a:solidFill>
              <a:schemeClr val="accent4"/>
            </a:solidFill>
            <a:prstDash val="solid"/>
          </a:ln>
        </p:spPr>
      </p:sp>
      <p:sp>
        <p:nvSpPr>
          <p:cNvPr id="20" name="Link vong_tuyen c"/>
          <p:cNvSpPr/>
          <p:nvPr/>
        </p:nvSpPr>
        <p:spPr>
          <a:xfrm>
            <a:off x="8275320" y="2025396"/>
            <a:ext cx="530352" cy="0"/>
          </a:xfrm>
          <a:prstGeom prst="line">
            <a:avLst/>
          </a:prstGeom>
          <a:noFill/>
          <a:ln w="19050">
            <a:solidFill>
              <a:schemeClr val="accent4"/>
            </a:solidFill>
            <a:prstDash val="solid"/>
          </a:ln>
        </p:spPr>
      </p:sp>
      <p:sp>
        <p:nvSpPr>
          <p:cNvPr id="21" name="Cardinality n"/>
          <p:cNvSpPr txBox="1"/>
          <p:nvPr/>
        </p:nvSpPr>
        <p:spPr>
          <a:xfrm>
            <a:off x="7863840" y="2907792"/>
            <a:ext cx="201168" cy="201168"/>
          </a:xfrm>
          <a:prstGeom prst="rect">
            <a:avLst/>
          </a:prstGeom>
          <a:noFill/>
          <a:ln/>
        </p:spPr>
        <p:txBody>
          <a:bodyPr wrap="square" lIns="0" tIns="0" rIns="0" bIns="0" rtlCol="0" anchor="ctr"/>
          <a:lstStyle/>
          <a:p>
            <a:pPr algn="ctr" indent="0" marL="0">
              <a:buNone/>
            </a:pPr>
            <a:r>
              <a:rPr lang="en-US" sz="1300" b="1" dirty="0">
                <a:solidFill>
                  <a:schemeClr val="tx2"/>
                </a:solidFill>
              </a:rPr>
              <a:t>n</a:t>
            </a:r>
            <a:endParaRPr lang="en-US" sz="1300" dirty="0"/>
          </a:p>
        </p:txBody>
      </p:sp>
      <p:sp>
        <p:nvSpPr>
          <p:cNvPr id="22" name="Cardinality 1"/>
          <p:cNvSpPr txBox="1"/>
          <p:nvPr/>
        </p:nvSpPr>
        <p:spPr>
          <a:xfrm>
            <a:off x="8567928" y="1796796"/>
            <a:ext cx="201168" cy="201168"/>
          </a:xfrm>
          <a:prstGeom prst="rect">
            <a:avLst/>
          </a:prstGeom>
          <a:noFill/>
          <a:ln/>
        </p:spPr>
        <p:txBody>
          <a:bodyPr wrap="square" lIns="0" tIns="0" rIns="0" bIns="0" rtlCol="0" anchor="ctr"/>
          <a:lstStyle/>
          <a:p>
            <a:pPr algn="ctr" indent="0" marL="0">
              <a:buNone/>
            </a:pPr>
            <a:r>
              <a:rPr lang="en-US" sz="1300" b="1" dirty="0">
                <a:solidFill>
                  <a:schemeClr val="tx2"/>
                </a:solidFill>
              </a:rPr>
              <a:t>1</a:t>
            </a:r>
            <a:endParaRPr lang="en-US" sz="1300" dirty="0"/>
          </a:p>
        </p:txBody>
      </p:sp>
      <p:sp>
        <p:nvSpPr>
          <p:cNvPr id="23" name="Link trang_thai a"/>
          <p:cNvSpPr/>
          <p:nvPr/>
        </p:nvSpPr>
        <p:spPr>
          <a:xfrm>
            <a:off x="7818120" y="3410712"/>
            <a:ext cx="685800" cy="0"/>
          </a:xfrm>
          <a:prstGeom prst="line">
            <a:avLst/>
          </a:prstGeom>
          <a:noFill/>
          <a:ln w="19050">
            <a:solidFill>
              <a:schemeClr val="accent4"/>
            </a:solidFill>
            <a:prstDash val="solid"/>
          </a:ln>
        </p:spPr>
      </p:sp>
      <p:sp>
        <p:nvSpPr>
          <p:cNvPr id="24" name="Link trang_thai b"/>
          <p:cNvSpPr/>
          <p:nvPr/>
        </p:nvSpPr>
        <p:spPr>
          <a:xfrm>
            <a:off x="8503920" y="3410712"/>
            <a:ext cx="0" cy="77724"/>
          </a:xfrm>
          <a:prstGeom prst="line">
            <a:avLst/>
          </a:prstGeom>
          <a:noFill/>
          <a:ln w="19050">
            <a:solidFill>
              <a:schemeClr val="accent4"/>
            </a:solidFill>
            <a:prstDash val="solid"/>
          </a:ln>
        </p:spPr>
      </p:sp>
      <p:sp>
        <p:nvSpPr>
          <p:cNvPr id="25" name="Link trang_thai c"/>
          <p:cNvSpPr/>
          <p:nvPr/>
        </p:nvSpPr>
        <p:spPr>
          <a:xfrm>
            <a:off x="8503920" y="3488436"/>
            <a:ext cx="301752" cy="0"/>
          </a:xfrm>
          <a:prstGeom prst="line">
            <a:avLst/>
          </a:prstGeom>
          <a:noFill/>
          <a:ln w="19050">
            <a:solidFill>
              <a:schemeClr val="accent4"/>
            </a:solidFill>
            <a:prstDash val="solid"/>
          </a:ln>
        </p:spPr>
      </p:sp>
      <p:sp>
        <p:nvSpPr>
          <p:cNvPr id="26" name="Cardinality n"/>
          <p:cNvSpPr txBox="1"/>
          <p:nvPr/>
        </p:nvSpPr>
        <p:spPr>
          <a:xfrm>
            <a:off x="7863840" y="3182112"/>
            <a:ext cx="201168" cy="201168"/>
          </a:xfrm>
          <a:prstGeom prst="rect">
            <a:avLst/>
          </a:prstGeom>
          <a:noFill/>
          <a:ln/>
        </p:spPr>
        <p:txBody>
          <a:bodyPr wrap="square" lIns="0" tIns="0" rIns="0" bIns="0" rtlCol="0" anchor="ctr"/>
          <a:lstStyle/>
          <a:p>
            <a:pPr algn="ctr" indent="0" marL="0">
              <a:buNone/>
            </a:pPr>
            <a:r>
              <a:rPr lang="en-US" sz="1300" b="1" dirty="0">
                <a:solidFill>
                  <a:schemeClr val="tx2"/>
                </a:solidFill>
              </a:rPr>
              <a:t>n</a:t>
            </a:r>
            <a:endParaRPr lang="en-US" sz="1300" dirty="0"/>
          </a:p>
        </p:txBody>
      </p:sp>
      <p:sp>
        <p:nvSpPr>
          <p:cNvPr id="27" name="Cardinality 1"/>
          <p:cNvSpPr txBox="1"/>
          <p:nvPr/>
        </p:nvSpPr>
        <p:spPr>
          <a:xfrm>
            <a:off x="8567928" y="3259836"/>
            <a:ext cx="201168" cy="201168"/>
          </a:xfrm>
          <a:prstGeom prst="rect">
            <a:avLst/>
          </a:prstGeom>
          <a:noFill/>
          <a:ln/>
        </p:spPr>
        <p:txBody>
          <a:bodyPr wrap="square" lIns="0" tIns="0" rIns="0" bIns="0" rtlCol="0" anchor="ctr"/>
          <a:lstStyle/>
          <a:p>
            <a:pPr algn="ctr" indent="0" marL="0">
              <a:buNone/>
            </a:pPr>
            <a:r>
              <a:rPr lang="en-US" sz="1300" b="1" dirty="0">
                <a:solidFill>
                  <a:schemeClr val="tx2"/>
                </a:solidFill>
              </a:rPr>
              <a:t>1</a:t>
            </a:r>
            <a:endParaRPr lang="en-US" sz="1300" dirty="0"/>
          </a:p>
        </p:txBody>
      </p:sp>
      <p:sp>
        <p:nvSpPr>
          <p:cNvPr id="28" name="ung_vien box"/>
          <p:cNvSpPr/>
          <p:nvPr/>
        </p:nvSpPr>
        <p:spPr>
          <a:xfrm>
            <a:off x="548640" y="1371600"/>
            <a:ext cx="2834640" cy="1481328"/>
          </a:xfrm>
          <a:prstGeom prst="rect">
            <a:avLst/>
          </a:prstGeom>
          <a:solidFill>
            <a:schemeClr val="bg2"/>
          </a:solidFill>
          <a:ln w="15875">
            <a:solidFill>
              <a:schemeClr val="accent1"/>
            </a:solidFill>
            <a:prstDash val="solid"/>
          </a:ln>
        </p:spPr>
      </p:sp>
      <p:sp>
        <p:nvSpPr>
          <p:cNvPr id="29" name="ung_vien header"/>
          <p:cNvSpPr txBox="1"/>
          <p:nvPr/>
        </p:nvSpPr>
        <p:spPr>
          <a:xfrm>
            <a:off x="548640" y="1371600"/>
            <a:ext cx="2834640" cy="384048"/>
          </a:xfrm>
          <a:prstGeom prst="rect">
            <a:avLst/>
          </a:prstGeom>
          <a:solidFill>
            <a:schemeClr val="accent1"/>
          </a:solidFill>
          <a:ln/>
        </p:spPr>
        <p:txBody>
          <a:bodyPr wrap="square" lIns="0" tIns="0" rIns="0" bIns="0" rtlCol="0" anchor="ctr"/>
          <a:lstStyle/>
          <a:p>
            <a:pPr algn="ctr" indent="0" marL="0">
              <a:buNone/>
            </a:pPr>
            <a:r>
              <a:rPr lang="en-US" sz="1300" b="1" dirty="0">
                <a:solidFill>
                  <a:schemeClr val="bg1"/>
                </a:solidFill>
                <a:latin typeface="Courier New" pitchFamily="34" charset="0"/>
                <a:ea typeface="Courier New" pitchFamily="34" charset="-122"/>
                <a:cs typeface="Courier New" pitchFamily="34" charset="-120"/>
              </a:rPr>
              <a:t>ung_vien</a:t>
            </a:r>
            <a:endParaRPr lang="en-US" sz="1300" dirty="0"/>
          </a:p>
        </p:txBody>
      </p:sp>
      <p:sp>
        <p:nvSpPr>
          <p:cNvPr id="30" name="ung_vien row 1"/>
          <p:cNvSpPr txBox="1"/>
          <p:nvPr/>
        </p:nvSpPr>
        <p:spPr>
          <a:xfrm>
            <a:off x="685800" y="1810512"/>
            <a:ext cx="2560320" cy="246888"/>
          </a:xfrm>
          <a:prstGeom prst="rect">
            <a:avLst/>
          </a:prstGeom>
          <a:noFill/>
          <a:ln/>
        </p:spPr>
        <p:txBody>
          <a:bodyPr wrap="square" lIns="0" tIns="0" rIns="0" bIns="0" rtlCol="0" anchor="ctr"/>
          <a:lstStyle/>
          <a:p>
            <a:pPr indent="0" marL="0">
              <a:buNone/>
            </a:pPr>
            <a:r>
              <a:rPr lang="en-US" sz="1200" b="1" dirty="0">
                <a:solidFill>
                  <a:schemeClr val="accent3"/>
                </a:solidFill>
                <a:latin typeface="Courier New" pitchFamily="34" charset="0"/>
                <a:ea typeface="Courier New" pitchFamily="34" charset="-122"/>
                <a:cs typeface="Courier New" pitchFamily="34" charset="-120"/>
              </a:rPr>
              <a:t>PK </a:t>
            </a:r>
            <a:r>
              <a:rPr lang="en-US" sz="1200" dirty="0">
                <a:solidFill>
                  <a:schemeClr val="tx1"/>
                </a:solidFill>
                <a:latin typeface="Courier New" pitchFamily="34" charset="0"/>
                <a:ea typeface="Courier New" pitchFamily="34" charset="-122"/>
                <a:cs typeface="Courier New" pitchFamily="34" charset="-120"/>
              </a:rPr>
              <a:t>ma_ung_vien</a:t>
            </a:r>
            <a:endParaRPr lang="en-US" sz="1200" dirty="0"/>
          </a:p>
        </p:txBody>
      </p:sp>
      <p:sp>
        <p:nvSpPr>
          <p:cNvPr id="31" name="ung_vien row 2"/>
          <p:cNvSpPr txBox="1"/>
          <p:nvPr/>
        </p:nvSpPr>
        <p:spPr>
          <a:xfrm>
            <a:off x="685800" y="2057400"/>
            <a:ext cx="2560320" cy="246888"/>
          </a:xfrm>
          <a:prstGeom prst="rect">
            <a:avLst/>
          </a:prstGeom>
          <a:noFill/>
          <a:ln/>
        </p:spPr>
        <p:txBody>
          <a:bodyPr wrap="square" lIns="0" tIns="0" rIns="0" bIns="0" rtlCol="0" anchor="ctr"/>
          <a:lstStyle/>
          <a:p>
            <a:pPr indent="0" marL="0">
              <a:buNone/>
            </a:pPr>
            <a:r>
              <a:rPr lang="en-US" sz="1200" dirty="0">
                <a:solidFill>
                  <a:schemeClr val="tx1"/>
                </a:solidFill>
                <a:latin typeface="Courier New" pitchFamily="34" charset="0"/>
                <a:ea typeface="Courier New" pitchFamily="34" charset="-122"/>
                <a:cs typeface="Courier New" pitchFamily="34" charset="-120"/>
              </a:rPr>
              <a:t>ho_ten</a:t>
            </a:r>
            <a:endParaRPr lang="en-US" sz="1200" dirty="0"/>
          </a:p>
        </p:txBody>
      </p:sp>
      <p:sp>
        <p:nvSpPr>
          <p:cNvPr id="32" name="ung_vien row 3"/>
          <p:cNvSpPr txBox="1"/>
          <p:nvPr/>
        </p:nvSpPr>
        <p:spPr>
          <a:xfrm>
            <a:off x="685800" y="2304288"/>
            <a:ext cx="2560320" cy="246888"/>
          </a:xfrm>
          <a:prstGeom prst="rect">
            <a:avLst/>
          </a:prstGeom>
          <a:noFill/>
          <a:ln/>
        </p:spPr>
        <p:txBody>
          <a:bodyPr wrap="square" lIns="0" tIns="0" rIns="0" bIns="0" rtlCol="0" anchor="ctr"/>
          <a:lstStyle/>
          <a:p>
            <a:pPr indent="0" marL="0">
              <a:buNone/>
            </a:pPr>
            <a:r>
              <a:rPr lang="en-US" sz="1200" dirty="0">
                <a:solidFill>
                  <a:schemeClr val="tx1"/>
                </a:solidFill>
                <a:latin typeface="Courier New" pitchFamily="34" charset="0"/>
                <a:ea typeface="Courier New" pitchFamily="34" charset="-122"/>
                <a:cs typeface="Courier New" pitchFamily="34" charset="-120"/>
              </a:rPr>
              <a:t>email (không trùng)</a:t>
            </a:r>
            <a:endParaRPr lang="en-US" sz="1200" dirty="0"/>
          </a:p>
        </p:txBody>
      </p:sp>
      <p:sp>
        <p:nvSpPr>
          <p:cNvPr id="33" name="ung_vien row 4"/>
          <p:cNvSpPr txBox="1"/>
          <p:nvPr/>
        </p:nvSpPr>
        <p:spPr>
          <a:xfrm>
            <a:off x="685800" y="2551176"/>
            <a:ext cx="2560320" cy="246888"/>
          </a:xfrm>
          <a:prstGeom prst="rect">
            <a:avLst/>
          </a:prstGeom>
          <a:noFill/>
          <a:ln/>
        </p:spPr>
        <p:txBody>
          <a:bodyPr wrap="square" lIns="0" tIns="0" rIns="0" bIns="0" rtlCol="0" anchor="ctr"/>
          <a:lstStyle/>
          <a:p>
            <a:pPr indent="0" marL="0">
              <a:buNone/>
            </a:pPr>
            <a:r>
              <a:rPr lang="en-US" sz="1200" dirty="0">
                <a:solidFill>
                  <a:schemeClr val="tx1"/>
                </a:solidFill>
                <a:latin typeface="Courier New" pitchFamily="34" charset="0"/>
                <a:ea typeface="Courier New" pitchFamily="34" charset="-122"/>
                <a:cs typeface="Courier New" pitchFamily="34" charset="-120"/>
              </a:rPr>
              <a:t>so_dien_thoai</a:t>
            </a:r>
            <a:endParaRPr lang="en-US" sz="1200" dirty="0"/>
          </a:p>
        </p:txBody>
      </p:sp>
      <p:sp>
        <p:nvSpPr>
          <p:cNvPr id="34" name="vi_tri box"/>
          <p:cNvSpPr/>
          <p:nvPr/>
        </p:nvSpPr>
        <p:spPr>
          <a:xfrm>
            <a:off x="548640" y="3063240"/>
            <a:ext cx="2834640" cy="1234440"/>
          </a:xfrm>
          <a:prstGeom prst="rect">
            <a:avLst/>
          </a:prstGeom>
          <a:solidFill>
            <a:schemeClr val="bg2"/>
          </a:solidFill>
          <a:ln w="15875">
            <a:solidFill>
              <a:schemeClr val="accent1"/>
            </a:solidFill>
            <a:prstDash val="solid"/>
          </a:ln>
        </p:spPr>
      </p:sp>
      <p:sp>
        <p:nvSpPr>
          <p:cNvPr id="35" name="vi_tri header"/>
          <p:cNvSpPr txBox="1"/>
          <p:nvPr/>
        </p:nvSpPr>
        <p:spPr>
          <a:xfrm>
            <a:off x="548640" y="3063240"/>
            <a:ext cx="2834640" cy="384048"/>
          </a:xfrm>
          <a:prstGeom prst="rect">
            <a:avLst/>
          </a:prstGeom>
          <a:solidFill>
            <a:schemeClr val="accent1"/>
          </a:solidFill>
          <a:ln/>
        </p:spPr>
        <p:txBody>
          <a:bodyPr wrap="square" lIns="0" tIns="0" rIns="0" bIns="0" rtlCol="0" anchor="ctr"/>
          <a:lstStyle/>
          <a:p>
            <a:pPr algn="ctr" indent="0" marL="0">
              <a:buNone/>
            </a:pPr>
            <a:r>
              <a:rPr lang="en-US" sz="1300" b="1" dirty="0">
                <a:solidFill>
                  <a:schemeClr val="bg1"/>
                </a:solidFill>
                <a:latin typeface="Courier New" pitchFamily="34" charset="0"/>
                <a:ea typeface="Courier New" pitchFamily="34" charset="-122"/>
                <a:cs typeface="Courier New" pitchFamily="34" charset="-120"/>
              </a:rPr>
              <a:t>vi_tri</a:t>
            </a:r>
            <a:endParaRPr lang="en-US" sz="1300" dirty="0"/>
          </a:p>
        </p:txBody>
      </p:sp>
      <p:sp>
        <p:nvSpPr>
          <p:cNvPr id="36" name="vi_tri row 1"/>
          <p:cNvSpPr txBox="1"/>
          <p:nvPr/>
        </p:nvSpPr>
        <p:spPr>
          <a:xfrm>
            <a:off x="685800" y="3502152"/>
            <a:ext cx="2560320" cy="246888"/>
          </a:xfrm>
          <a:prstGeom prst="rect">
            <a:avLst/>
          </a:prstGeom>
          <a:noFill/>
          <a:ln/>
        </p:spPr>
        <p:txBody>
          <a:bodyPr wrap="square" lIns="0" tIns="0" rIns="0" bIns="0" rtlCol="0" anchor="ctr"/>
          <a:lstStyle/>
          <a:p>
            <a:pPr indent="0" marL="0">
              <a:buNone/>
            </a:pPr>
            <a:r>
              <a:rPr lang="en-US" sz="1200" b="1" dirty="0">
                <a:solidFill>
                  <a:schemeClr val="accent3"/>
                </a:solidFill>
                <a:latin typeface="Courier New" pitchFamily="34" charset="0"/>
                <a:ea typeface="Courier New" pitchFamily="34" charset="-122"/>
                <a:cs typeface="Courier New" pitchFamily="34" charset="-120"/>
              </a:rPr>
              <a:t>PK </a:t>
            </a:r>
            <a:r>
              <a:rPr lang="en-US" sz="1200" dirty="0">
                <a:solidFill>
                  <a:schemeClr val="tx1"/>
                </a:solidFill>
                <a:latin typeface="Courier New" pitchFamily="34" charset="0"/>
                <a:ea typeface="Courier New" pitchFamily="34" charset="-122"/>
                <a:cs typeface="Courier New" pitchFamily="34" charset="-120"/>
              </a:rPr>
              <a:t>ma_vi_tri</a:t>
            </a:r>
            <a:endParaRPr lang="en-US" sz="1200" dirty="0"/>
          </a:p>
        </p:txBody>
      </p:sp>
      <p:sp>
        <p:nvSpPr>
          <p:cNvPr id="37" name="vi_tri row 2"/>
          <p:cNvSpPr txBox="1"/>
          <p:nvPr/>
        </p:nvSpPr>
        <p:spPr>
          <a:xfrm>
            <a:off x="685800" y="3749040"/>
            <a:ext cx="2560320" cy="246888"/>
          </a:xfrm>
          <a:prstGeom prst="rect">
            <a:avLst/>
          </a:prstGeom>
          <a:noFill/>
          <a:ln/>
        </p:spPr>
        <p:txBody>
          <a:bodyPr wrap="square" lIns="0" tIns="0" rIns="0" bIns="0" rtlCol="0" anchor="ctr"/>
          <a:lstStyle/>
          <a:p>
            <a:pPr indent="0" marL="0">
              <a:buNone/>
            </a:pPr>
            <a:r>
              <a:rPr lang="en-US" sz="1200" dirty="0">
                <a:solidFill>
                  <a:schemeClr val="tx1"/>
                </a:solidFill>
                <a:latin typeface="Courier New" pitchFamily="34" charset="0"/>
                <a:ea typeface="Courier New" pitchFamily="34" charset="-122"/>
                <a:cs typeface="Courier New" pitchFamily="34" charset="-120"/>
              </a:rPr>
              <a:t>ten_vi_tri</a:t>
            </a:r>
            <a:endParaRPr lang="en-US" sz="1200" dirty="0"/>
          </a:p>
        </p:txBody>
      </p:sp>
      <p:sp>
        <p:nvSpPr>
          <p:cNvPr id="38" name="vi_tri row 3"/>
          <p:cNvSpPr txBox="1"/>
          <p:nvPr/>
        </p:nvSpPr>
        <p:spPr>
          <a:xfrm>
            <a:off x="685800" y="3995928"/>
            <a:ext cx="2560320" cy="246888"/>
          </a:xfrm>
          <a:prstGeom prst="rect">
            <a:avLst/>
          </a:prstGeom>
          <a:noFill/>
          <a:ln/>
        </p:spPr>
        <p:txBody>
          <a:bodyPr wrap="square" lIns="0" tIns="0" rIns="0" bIns="0" rtlCol="0" anchor="ctr"/>
          <a:lstStyle/>
          <a:p>
            <a:pPr indent="0" marL="0">
              <a:buNone/>
            </a:pPr>
            <a:r>
              <a:rPr lang="en-US" sz="1200" dirty="0">
                <a:solidFill>
                  <a:schemeClr val="tx1"/>
                </a:solidFill>
                <a:latin typeface="Courier New" pitchFamily="34" charset="0"/>
                <a:ea typeface="Courier New" pitchFamily="34" charset="-122"/>
                <a:cs typeface="Courier New" pitchFamily="34" charset="-120"/>
              </a:rPr>
              <a:t>phong_ban</a:t>
            </a:r>
            <a:endParaRPr lang="en-US" sz="1200" dirty="0"/>
          </a:p>
        </p:txBody>
      </p:sp>
      <p:sp>
        <p:nvSpPr>
          <p:cNvPr id="39" name="nguon box"/>
          <p:cNvSpPr/>
          <p:nvPr/>
        </p:nvSpPr>
        <p:spPr>
          <a:xfrm>
            <a:off x="548640" y="4507992"/>
            <a:ext cx="2834640" cy="987552"/>
          </a:xfrm>
          <a:prstGeom prst="rect">
            <a:avLst/>
          </a:prstGeom>
          <a:solidFill>
            <a:schemeClr val="bg2"/>
          </a:solidFill>
          <a:ln w="15875">
            <a:solidFill>
              <a:schemeClr val="accent1"/>
            </a:solidFill>
            <a:prstDash val="solid"/>
          </a:ln>
        </p:spPr>
      </p:sp>
      <p:sp>
        <p:nvSpPr>
          <p:cNvPr id="40" name="nguon header"/>
          <p:cNvSpPr txBox="1"/>
          <p:nvPr/>
        </p:nvSpPr>
        <p:spPr>
          <a:xfrm>
            <a:off x="548640" y="4507992"/>
            <a:ext cx="2834640" cy="384048"/>
          </a:xfrm>
          <a:prstGeom prst="rect">
            <a:avLst/>
          </a:prstGeom>
          <a:solidFill>
            <a:schemeClr val="accent1"/>
          </a:solidFill>
          <a:ln/>
        </p:spPr>
        <p:txBody>
          <a:bodyPr wrap="square" lIns="0" tIns="0" rIns="0" bIns="0" rtlCol="0" anchor="ctr"/>
          <a:lstStyle/>
          <a:p>
            <a:pPr algn="ctr" indent="0" marL="0">
              <a:buNone/>
            </a:pPr>
            <a:r>
              <a:rPr lang="en-US" sz="1300" b="1" dirty="0">
                <a:solidFill>
                  <a:schemeClr val="bg1"/>
                </a:solidFill>
                <a:latin typeface="Courier New" pitchFamily="34" charset="0"/>
                <a:ea typeface="Courier New" pitchFamily="34" charset="-122"/>
                <a:cs typeface="Courier New" pitchFamily="34" charset="-120"/>
              </a:rPr>
              <a:t>nguon</a:t>
            </a:r>
            <a:endParaRPr lang="en-US" sz="1300" dirty="0"/>
          </a:p>
        </p:txBody>
      </p:sp>
      <p:sp>
        <p:nvSpPr>
          <p:cNvPr id="41" name="nguon row 1"/>
          <p:cNvSpPr txBox="1"/>
          <p:nvPr/>
        </p:nvSpPr>
        <p:spPr>
          <a:xfrm>
            <a:off x="685800" y="4946904"/>
            <a:ext cx="2560320" cy="246888"/>
          </a:xfrm>
          <a:prstGeom prst="rect">
            <a:avLst/>
          </a:prstGeom>
          <a:noFill/>
          <a:ln/>
        </p:spPr>
        <p:txBody>
          <a:bodyPr wrap="square" lIns="0" tIns="0" rIns="0" bIns="0" rtlCol="0" anchor="ctr"/>
          <a:lstStyle/>
          <a:p>
            <a:pPr indent="0" marL="0">
              <a:buNone/>
            </a:pPr>
            <a:r>
              <a:rPr lang="en-US" sz="1200" b="1" dirty="0">
                <a:solidFill>
                  <a:schemeClr val="accent3"/>
                </a:solidFill>
                <a:latin typeface="Courier New" pitchFamily="34" charset="0"/>
                <a:ea typeface="Courier New" pitchFamily="34" charset="-122"/>
                <a:cs typeface="Courier New" pitchFamily="34" charset="-120"/>
              </a:rPr>
              <a:t>PK </a:t>
            </a:r>
            <a:r>
              <a:rPr lang="en-US" sz="1200" dirty="0">
                <a:solidFill>
                  <a:schemeClr val="tx1"/>
                </a:solidFill>
                <a:latin typeface="Courier New" pitchFamily="34" charset="0"/>
                <a:ea typeface="Courier New" pitchFamily="34" charset="-122"/>
                <a:cs typeface="Courier New" pitchFamily="34" charset="-120"/>
              </a:rPr>
              <a:t>ma_nguon</a:t>
            </a:r>
            <a:endParaRPr lang="en-US" sz="1200" dirty="0"/>
          </a:p>
        </p:txBody>
      </p:sp>
      <p:sp>
        <p:nvSpPr>
          <p:cNvPr id="42" name="nguon row 2"/>
          <p:cNvSpPr txBox="1"/>
          <p:nvPr/>
        </p:nvSpPr>
        <p:spPr>
          <a:xfrm>
            <a:off x="685800" y="5193792"/>
            <a:ext cx="2560320" cy="246888"/>
          </a:xfrm>
          <a:prstGeom prst="rect">
            <a:avLst/>
          </a:prstGeom>
          <a:noFill/>
          <a:ln/>
        </p:spPr>
        <p:txBody>
          <a:bodyPr wrap="square" lIns="0" tIns="0" rIns="0" bIns="0" rtlCol="0" anchor="ctr"/>
          <a:lstStyle/>
          <a:p>
            <a:pPr indent="0" marL="0">
              <a:buNone/>
            </a:pPr>
            <a:r>
              <a:rPr lang="en-US" sz="1200" dirty="0">
                <a:solidFill>
                  <a:schemeClr val="tx1"/>
                </a:solidFill>
                <a:latin typeface="Courier New" pitchFamily="34" charset="0"/>
                <a:ea typeface="Courier New" pitchFamily="34" charset="-122"/>
                <a:cs typeface="Courier New" pitchFamily="34" charset="-120"/>
              </a:rPr>
              <a:t>ten_nguon</a:t>
            </a:r>
            <a:endParaRPr lang="en-US" sz="1200" dirty="0"/>
          </a:p>
        </p:txBody>
      </p:sp>
      <p:sp>
        <p:nvSpPr>
          <p:cNvPr id="43" name="vong_tuyen box"/>
          <p:cNvSpPr/>
          <p:nvPr/>
        </p:nvSpPr>
        <p:spPr>
          <a:xfrm>
            <a:off x="8805672" y="1463040"/>
            <a:ext cx="2834640" cy="1234440"/>
          </a:xfrm>
          <a:prstGeom prst="rect">
            <a:avLst/>
          </a:prstGeom>
          <a:solidFill>
            <a:schemeClr val="bg2"/>
          </a:solidFill>
          <a:ln w="15875">
            <a:solidFill>
              <a:schemeClr val="accent1"/>
            </a:solidFill>
            <a:prstDash val="solid"/>
          </a:ln>
        </p:spPr>
      </p:sp>
      <p:sp>
        <p:nvSpPr>
          <p:cNvPr id="44" name="vong_tuyen header"/>
          <p:cNvSpPr txBox="1"/>
          <p:nvPr/>
        </p:nvSpPr>
        <p:spPr>
          <a:xfrm>
            <a:off x="8805672" y="1463040"/>
            <a:ext cx="2834640" cy="384048"/>
          </a:xfrm>
          <a:prstGeom prst="rect">
            <a:avLst/>
          </a:prstGeom>
          <a:solidFill>
            <a:schemeClr val="accent1"/>
          </a:solidFill>
          <a:ln/>
        </p:spPr>
        <p:txBody>
          <a:bodyPr wrap="square" lIns="0" tIns="0" rIns="0" bIns="0" rtlCol="0" anchor="ctr"/>
          <a:lstStyle/>
          <a:p>
            <a:pPr algn="ctr" indent="0" marL="0">
              <a:buNone/>
            </a:pPr>
            <a:r>
              <a:rPr lang="en-US" sz="1300" b="1" dirty="0">
                <a:solidFill>
                  <a:schemeClr val="bg1"/>
                </a:solidFill>
                <a:latin typeface="Courier New" pitchFamily="34" charset="0"/>
                <a:ea typeface="Courier New" pitchFamily="34" charset="-122"/>
                <a:cs typeface="Courier New" pitchFamily="34" charset="-120"/>
              </a:rPr>
              <a:t>vong_tuyen</a:t>
            </a:r>
            <a:endParaRPr lang="en-US" sz="1300" dirty="0"/>
          </a:p>
        </p:txBody>
      </p:sp>
      <p:sp>
        <p:nvSpPr>
          <p:cNvPr id="45" name="vong_tuyen row 1"/>
          <p:cNvSpPr txBox="1"/>
          <p:nvPr/>
        </p:nvSpPr>
        <p:spPr>
          <a:xfrm>
            <a:off x="8942832" y="1901952"/>
            <a:ext cx="2560320" cy="246888"/>
          </a:xfrm>
          <a:prstGeom prst="rect">
            <a:avLst/>
          </a:prstGeom>
          <a:noFill/>
          <a:ln/>
        </p:spPr>
        <p:txBody>
          <a:bodyPr wrap="square" lIns="0" tIns="0" rIns="0" bIns="0" rtlCol="0" anchor="ctr"/>
          <a:lstStyle/>
          <a:p>
            <a:pPr indent="0" marL="0">
              <a:buNone/>
            </a:pPr>
            <a:r>
              <a:rPr lang="en-US" sz="1200" b="1" dirty="0">
                <a:solidFill>
                  <a:schemeClr val="accent3"/>
                </a:solidFill>
                <a:latin typeface="Courier New" pitchFamily="34" charset="0"/>
                <a:ea typeface="Courier New" pitchFamily="34" charset="-122"/>
                <a:cs typeface="Courier New" pitchFamily="34" charset="-120"/>
              </a:rPr>
              <a:t>PK </a:t>
            </a:r>
            <a:r>
              <a:rPr lang="en-US" sz="1200" dirty="0">
                <a:solidFill>
                  <a:schemeClr val="tx1"/>
                </a:solidFill>
                <a:latin typeface="Courier New" pitchFamily="34" charset="0"/>
                <a:ea typeface="Courier New" pitchFamily="34" charset="-122"/>
                <a:cs typeface="Courier New" pitchFamily="34" charset="-120"/>
              </a:rPr>
              <a:t>ma_vong</a:t>
            </a:r>
            <a:endParaRPr lang="en-US" sz="1200" dirty="0"/>
          </a:p>
        </p:txBody>
      </p:sp>
      <p:sp>
        <p:nvSpPr>
          <p:cNvPr id="46" name="vong_tuyen row 2"/>
          <p:cNvSpPr txBox="1"/>
          <p:nvPr/>
        </p:nvSpPr>
        <p:spPr>
          <a:xfrm>
            <a:off x="8942832" y="2148840"/>
            <a:ext cx="2560320" cy="246888"/>
          </a:xfrm>
          <a:prstGeom prst="rect">
            <a:avLst/>
          </a:prstGeom>
          <a:noFill/>
          <a:ln/>
        </p:spPr>
        <p:txBody>
          <a:bodyPr wrap="square" lIns="0" tIns="0" rIns="0" bIns="0" rtlCol="0" anchor="ctr"/>
          <a:lstStyle/>
          <a:p>
            <a:pPr indent="0" marL="0">
              <a:buNone/>
            </a:pPr>
            <a:r>
              <a:rPr lang="en-US" sz="1200" dirty="0">
                <a:solidFill>
                  <a:schemeClr val="tx1"/>
                </a:solidFill>
                <a:latin typeface="Courier New" pitchFamily="34" charset="0"/>
                <a:ea typeface="Courier New" pitchFamily="34" charset="-122"/>
                <a:cs typeface="Courier New" pitchFamily="34" charset="-120"/>
              </a:rPr>
              <a:t>ten_vong</a:t>
            </a:r>
            <a:endParaRPr lang="en-US" sz="1200" dirty="0"/>
          </a:p>
        </p:txBody>
      </p:sp>
      <p:sp>
        <p:nvSpPr>
          <p:cNvPr id="47" name="vong_tuyen row 3"/>
          <p:cNvSpPr txBox="1"/>
          <p:nvPr/>
        </p:nvSpPr>
        <p:spPr>
          <a:xfrm>
            <a:off x="8942832" y="2395728"/>
            <a:ext cx="2560320" cy="246888"/>
          </a:xfrm>
          <a:prstGeom prst="rect">
            <a:avLst/>
          </a:prstGeom>
          <a:noFill/>
          <a:ln/>
        </p:spPr>
        <p:txBody>
          <a:bodyPr wrap="square" lIns="0" tIns="0" rIns="0" bIns="0" rtlCol="0" anchor="ctr"/>
          <a:lstStyle/>
          <a:p>
            <a:pPr indent="0" marL="0">
              <a:buNone/>
            </a:pPr>
            <a:r>
              <a:rPr lang="en-US" sz="1200" dirty="0">
                <a:solidFill>
                  <a:schemeClr val="tx1"/>
                </a:solidFill>
                <a:latin typeface="Courier New" pitchFamily="34" charset="0"/>
                <a:ea typeface="Courier New" pitchFamily="34" charset="-122"/>
                <a:cs typeface="Courier New" pitchFamily="34" charset="-120"/>
              </a:rPr>
              <a:t>thu_tu (1 → 5)</a:t>
            </a:r>
            <a:endParaRPr lang="en-US" sz="1200" dirty="0"/>
          </a:p>
        </p:txBody>
      </p:sp>
      <p:sp>
        <p:nvSpPr>
          <p:cNvPr id="48" name="trang_thai box"/>
          <p:cNvSpPr/>
          <p:nvPr/>
        </p:nvSpPr>
        <p:spPr>
          <a:xfrm>
            <a:off x="8805672" y="2926080"/>
            <a:ext cx="2834640" cy="987552"/>
          </a:xfrm>
          <a:prstGeom prst="rect">
            <a:avLst/>
          </a:prstGeom>
          <a:solidFill>
            <a:schemeClr val="bg2"/>
          </a:solidFill>
          <a:ln w="15875">
            <a:solidFill>
              <a:schemeClr val="accent1"/>
            </a:solidFill>
            <a:prstDash val="solid"/>
          </a:ln>
        </p:spPr>
      </p:sp>
      <p:sp>
        <p:nvSpPr>
          <p:cNvPr id="49" name="trang_thai header"/>
          <p:cNvSpPr txBox="1"/>
          <p:nvPr/>
        </p:nvSpPr>
        <p:spPr>
          <a:xfrm>
            <a:off x="8805672" y="2926080"/>
            <a:ext cx="2834640" cy="384048"/>
          </a:xfrm>
          <a:prstGeom prst="rect">
            <a:avLst/>
          </a:prstGeom>
          <a:solidFill>
            <a:schemeClr val="accent1"/>
          </a:solidFill>
          <a:ln/>
        </p:spPr>
        <p:txBody>
          <a:bodyPr wrap="square" lIns="0" tIns="0" rIns="0" bIns="0" rtlCol="0" anchor="ctr"/>
          <a:lstStyle/>
          <a:p>
            <a:pPr algn="ctr" indent="0" marL="0">
              <a:buNone/>
            </a:pPr>
            <a:r>
              <a:rPr lang="en-US" sz="1300" b="1" dirty="0">
                <a:solidFill>
                  <a:schemeClr val="bg1"/>
                </a:solidFill>
                <a:latin typeface="Courier New" pitchFamily="34" charset="0"/>
                <a:ea typeface="Courier New" pitchFamily="34" charset="-122"/>
                <a:cs typeface="Courier New" pitchFamily="34" charset="-120"/>
              </a:rPr>
              <a:t>trang_thai</a:t>
            </a:r>
            <a:endParaRPr lang="en-US" sz="1300" dirty="0"/>
          </a:p>
        </p:txBody>
      </p:sp>
      <p:sp>
        <p:nvSpPr>
          <p:cNvPr id="50" name="trang_thai row 1"/>
          <p:cNvSpPr txBox="1"/>
          <p:nvPr/>
        </p:nvSpPr>
        <p:spPr>
          <a:xfrm>
            <a:off x="8942832" y="3364992"/>
            <a:ext cx="2560320" cy="246888"/>
          </a:xfrm>
          <a:prstGeom prst="rect">
            <a:avLst/>
          </a:prstGeom>
          <a:noFill/>
          <a:ln/>
        </p:spPr>
        <p:txBody>
          <a:bodyPr wrap="square" lIns="0" tIns="0" rIns="0" bIns="0" rtlCol="0" anchor="ctr"/>
          <a:lstStyle/>
          <a:p>
            <a:pPr indent="0" marL="0">
              <a:buNone/>
            </a:pPr>
            <a:r>
              <a:rPr lang="en-US" sz="1200" b="1" dirty="0">
                <a:solidFill>
                  <a:schemeClr val="accent3"/>
                </a:solidFill>
                <a:latin typeface="Courier New" pitchFamily="34" charset="0"/>
                <a:ea typeface="Courier New" pitchFamily="34" charset="-122"/>
                <a:cs typeface="Courier New" pitchFamily="34" charset="-120"/>
              </a:rPr>
              <a:t>PK </a:t>
            </a:r>
            <a:r>
              <a:rPr lang="en-US" sz="1200" dirty="0">
                <a:solidFill>
                  <a:schemeClr val="tx1"/>
                </a:solidFill>
                <a:latin typeface="Courier New" pitchFamily="34" charset="0"/>
                <a:ea typeface="Courier New" pitchFamily="34" charset="-122"/>
                <a:cs typeface="Courier New" pitchFamily="34" charset="-120"/>
              </a:rPr>
              <a:t>ma_trang_thai</a:t>
            </a:r>
            <a:endParaRPr lang="en-US" sz="1200" dirty="0"/>
          </a:p>
        </p:txBody>
      </p:sp>
      <p:sp>
        <p:nvSpPr>
          <p:cNvPr id="51" name="trang_thai row 2"/>
          <p:cNvSpPr txBox="1"/>
          <p:nvPr/>
        </p:nvSpPr>
        <p:spPr>
          <a:xfrm>
            <a:off x="8942832" y="3611880"/>
            <a:ext cx="2560320" cy="246888"/>
          </a:xfrm>
          <a:prstGeom prst="rect">
            <a:avLst/>
          </a:prstGeom>
          <a:noFill/>
          <a:ln/>
        </p:spPr>
        <p:txBody>
          <a:bodyPr wrap="square" lIns="0" tIns="0" rIns="0" bIns="0" rtlCol="0" anchor="ctr"/>
          <a:lstStyle/>
          <a:p>
            <a:pPr indent="0" marL="0">
              <a:buNone/>
            </a:pPr>
            <a:r>
              <a:rPr lang="en-US" sz="1200" dirty="0">
                <a:solidFill>
                  <a:schemeClr val="tx1"/>
                </a:solidFill>
                <a:latin typeface="Courier New" pitchFamily="34" charset="0"/>
                <a:ea typeface="Courier New" pitchFamily="34" charset="-122"/>
                <a:cs typeface="Courier New" pitchFamily="34" charset="-120"/>
              </a:rPr>
              <a:t>ten_trang_thai</a:t>
            </a:r>
            <a:endParaRPr lang="en-US" sz="1200" dirty="0"/>
          </a:p>
        </p:txBody>
      </p:sp>
      <p:sp>
        <p:nvSpPr>
          <p:cNvPr id="52" name="ho_so_ung_tuyen box"/>
          <p:cNvSpPr/>
          <p:nvPr/>
        </p:nvSpPr>
        <p:spPr>
          <a:xfrm>
            <a:off x="4251960" y="1463040"/>
            <a:ext cx="3566160" cy="2688336"/>
          </a:xfrm>
          <a:prstGeom prst="rect">
            <a:avLst/>
          </a:prstGeom>
          <a:solidFill>
            <a:schemeClr val="bg1"/>
          </a:solidFill>
          <a:ln w="25400">
            <a:solidFill>
              <a:schemeClr val="accent2"/>
            </a:solidFill>
            <a:prstDash val="solid"/>
          </a:ln>
        </p:spPr>
      </p:sp>
      <p:sp>
        <p:nvSpPr>
          <p:cNvPr id="53" name="ho_so_ung_tuyen header"/>
          <p:cNvSpPr txBox="1"/>
          <p:nvPr/>
        </p:nvSpPr>
        <p:spPr>
          <a:xfrm>
            <a:off x="4251960" y="1463040"/>
            <a:ext cx="3566160" cy="384048"/>
          </a:xfrm>
          <a:prstGeom prst="rect">
            <a:avLst/>
          </a:prstGeom>
          <a:solidFill>
            <a:schemeClr val="accent2"/>
          </a:solidFill>
          <a:ln/>
        </p:spPr>
        <p:txBody>
          <a:bodyPr wrap="square" lIns="0" tIns="0" rIns="0" bIns="0" rtlCol="0" anchor="ctr"/>
          <a:lstStyle/>
          <a:p>
            <a:pPr algn="ctr" indent="0" marL="0">
              <a:buNone/>
            </a:pPr>
            <a:r>
              <a:rPr lang="en-US" sz="1300" b="1" dirty="0">
                <a:solidFill>
                  <a:schemeClr val="tx2"/>
                </a:solidFill>
                <a:latin typeface="Courier New" pitchFamily="34" charset="0"/>
                <a:ea typeface="Courier New" pitchFamily="34" charset="-122"/>
                <a:cs typeface="Courier New" pitchFamily="34" charset="-120"/>
              </a:rPr>
              <a:t>ho_so_ung_tuyen</a:t>
            </a:r>
            <a:endParaRPr lang="en-US" sz="1300" dirty="0"/>
          </a:p>
        </p:txBody>
      </p:sp>
      <p:sp>
        <p:nvSpPr>
          <p:cNvPr id="54" name="ho_so_ung_tuyen row 1"/>
          <p:cNvSpPr txBox="1"/>
          <p:nvPr/>
        </p:nvSpPr>
        <p:spPr>
          <a:xfrm>
            <a:off x="4389120" y="1901952"/>
            <a:ext cx="3291840" cy="274320"/>
          </a:xfrm>
          <a:prstGeom prst="rect">
            <a:avLst/>
          </a:prstGeom>
          <a:noFill/>
          <a:ln/>
        </p:spPr>
        <p:txBody>
          <a:bodyPr wrap="square" lIns="0" tIns="0" rIns="0" bIns="0" rtlCol="0" anchor="ctr"/>
          <a:lstStyle/>
          <a:p>
            <a:pPr indent="0" marL="0">
              <a:buNone/>
            </a:pPr>
            <a:r>
              <a:rPr lang="en-US" sz="1200" b="1" dirty="0">
                <a:solidFill>
                  <a:schemeClr val="accent3"/>
                </a:solidFill>
                <a:latin typeface="Courier New" pitchFamily="34" charset="0"/>
                <a:ea typeface="Courier New" pitchFamily="34" charset="-122"/>
                <a:cs typeface="Courier New" pitchFamily="34" charset="-120"/>
              </a:rPr>
              <a:t>PK </a:t>
            </a:r>
            <a:r>
              <a:rPr lang="en-US" sz="1200" dirty="0">
                <a:solidFill>
                  <a:schemeClr val="tx1"/>
                </a:solidFill>
                <a:latin typeface="Courier New" pitchFamily="34" charset="0"/>
                <a:ea typeface="Courier New" pitchFamily="34" charset="-122"/>
                <a:cs typeface="Courier New" pitchFamily="34" charset="-120"/>
              </a:rPr>
              <a:t>ma_ho_so</a:t>
            </a:r>
            <a:endParaRPr lang="en-US" sz="1200" dirty="0"/>
          </a:p>
        </p:txBody>
      </p:sp>
      <p:sp>
        <p:nvSpPr>
          <p:cNvPr id="55" name="ho_so_ung_tuyen row 2"/>
          <p:cNvSpPr txBox="1"/>
          <p:nvPr/>
        </p:nvSpPr>
        <p:spPr>
          <a:xfrm>
            <a:off x="4389120" y="2176272"/>
            <a:ext cx="3291840" cy="274320"/>
          </a:xfrm>
          <a:prstGeom prst="rect">
            <a:avLst/>
          </a:prstGeom>
          <a:noFill/>
          <a:ln/>
        </p:spPr>
        <p:txBody>
          <a:bodyPr wrap="square" lIns="0" tIns="0" rIns="0" bIns="0" rtlCol="0" anchor="ctr"/>
          <a:lstStyle/>
          <a:p>
            <a:pPr indent="0" marL="0">
              <a:buNone/>
            </a:pPr>
            <a:r>
              <a:rPr lang="en-US" sz="1200" b="1" dirty="0">
                <a:solidFill>
                  <a:schemeClr val="accent1"/>
                </a:solidFill>
                <a:latin typeface="Courier New" pitchFamily="34" charset="0"/>
                <a:ea typeface="Courier New" pitchFamily="34" charset="-122"/>
                <a:cs typeface="Courier New" pitchFamily="34" charset="-120"/>
              </a:rPr>
              <a:t>FK </a:t>
            </a:r>
            <a:r>
              <a:rPr lang="en-US" sz="1200" dirty="0">
                <a:solidFill>
                  <a:schemeClr val="tx1"/>
                </a:solidFill>
                <a:latin typeface="Courier New" pitchFamily="34" charset="0"/>
                <a:ea typeface="Courier New" pitchFamily="34" charset="-122"/>
                <a:cs typeface="Courier New" pitchFamily="34" charset="-120"/>
              </a:rPr>
              <a:t>ma_ung_vien</a:t>
            </a:r>
            <a:endParaRPr lang="en-US" sz="1200" dirty="0"/>
          </a:p>
        </p:txBody>
      </p:sp>
      <p:sp>
        <p:nvSpPr>
          <p:cNvPr id="56" name="ho_so_ung_tuyen row 3"/>
          <p:cNvSpPr txBox="1"/>
          <p:nvPr/>
        </p:nvSpPr>
        <p:spPr>
          <a:xfrm>
            <a:off x="4389120" y="2450592"/>
            <a:ext cx="3291840" cy="274320"/>
          </a:xfrm>
          <a:prstGeom prst="rect">
            <a:avLst/>
          </a:prstGeom>
          <a:noFill/>
          <a:ln/>
        </p:spPr>
        <p:txBody>
          <a:bodyPr wrap="square" lIns="0" tIns="0" rIns="0" bIns="0" rtlCol="0" anchor="ctr"/>
          <a:lstStyle/>
          <a:p>
            <a:pPr indent="0" marL="0">
              <a:buNone/>
            </a:pPr>
            <a:r>
              <a:rPr lang="en-US" sz="1200" b="1" dirty="0">
                <a:solidFill>
                  <a:schemeClr val="accent1"/>
                </a:solidFill>
                <a:latin typeface="Courier New" pitchFamily="34" charset="0"/>
                <a:ea typeface="Courier New" pitchFamily="34" charset="-122"/>
                <a:cs typeface="Courier New" pitchFamily="34" charset="-120"/>
              </a:rPr>
              <a:t>FK </a:t>
            </a:r>
            <a:r>
              <a:rPr lang="en-US" sz="1200" dirty="0">
                <a:solidFill>
                  <a:schemeClr val="tx1"/>
                </a:solidFill>
                <a:latin typeface="Courier New" pitchFamily="34" charset="0"/>
                <a:ea typeface="Courier New" pitchFamily="34" charset="-122"/>
                <a:cs typeface="Courier New" pitchFamily="34" charset="-120"/>
              </a:rPr>
              <a:t>ma_vi_tri</a:t>
            </a:r>
            <a:endParaRPr lang="en-US" sz="1200" dirty="0"/>
          </a:p>
        </p:txBody>
      </p:sp>
      <p:sp>
        <p:nvSpPr>
          <p:cNvPr id="57" name="ho_so_ung_tuyen row 4"/>
          <p:cNvSpPr txBox="1"/>
          <p:nvPr/>
        </p:nvSpPr>
        <p:spPr>
          <a:xfrm>
            <a:off x="4389120" y="2724912"/>
            <a:ext cx="3291840" cy="274320"/>
          </a:xfrm>
          <a:prstGeom prst="rect">
            <a:avLst/>
          </a:prstGeom>
          <a:noFill/>
          <a:ln/>
        </p:spPr>
        <p:txBody>
          <a:bodyPr wrap="square" lIns="0" tIns="0" rIns="0" bIns="0" rtlCol="0" anchor="ctr"/>
          <a:lstStyle/>
          <a:p>
            <a:pPr indent="0" marL="0">
              <a:buNone/>
            </a:pPr>
            <a:r>
              <a:rPr lang="en-US" sz="1200" b="1" dirty="0">
                <a:solidFill>
                  <a:schemeClr val="accent1"/>
                </a:solidFill>
                <a:latin typeface="Courier New" pitchFamily="34" charset="0"/>
                <a:ea typeface="Courier New" pitchFamily="34" charset="-122"/>
                <a:cs typeface="Courier New" pitchFamily="34" charset="-120"/>
              </a:rPr>
              <a:t>FK </a:t>
            </a:r>
            <a:r>
              <a:rPr lang="en-US" sz="1200" dirty="0">
                <a:solidFill>
                  <a:schemeClr val="tx1"/>
                </a:solidFill>
                <a:latin typeface="Courier New" pitchFamily="34" charset="0"/>
                <a:ea typeface="Courier New" pitchFamily="34" charset="-122"/>
                <a:cs typeface="Courier New" pitchFamily="34" charset="-120"/>
              </a:rPr>
              <a:t>ma_nguon</a:t>
            </a:r>
            <a:endParaRPr lang="en-US" sz="1200" dirty="0"/>
          </a:p>
        </p:txBody>
      </p:sp>
      <p:sp>
        <p:nvSpPr>
          <p:cNvPr id="58" name="ho_so_ung_tuyen row 5"/>
          <p:cNvSpPr txBox="1"/>
          <p:nvPr/>
        </p:nvSpPr>
        <p:spPr>
          <a:xfrm>
            <a:off x="4389120" y="2999232"/>
            <a:ext cx="3291840" cy="274320"/>
          </a:xfrm>
          <a:prstGeom prst="rect">
            <a:avLst/>
          </a:prstGeom>
          <a:noFill/>
          <a:ln/>
        </p:spPr>
        <p:txBody>
          <a:bodyPr wrap="square" lIns="0" tIns="0" rIns="0" bIns="0" rtlCol="0" anchor="ctr"/>
          <a:lstStyle/>
          <a:p>
            <a:pPr indent="0" marL="0">
              <a:buNone/>
            </a:pPr>
            <a:r>
              <a:rPr lang="en-US" sz="1200" b="1" dirty="0">
                <a:solidFill>
                  <a:schemeClr val="accent1"/>
                </a:solidFill>
                <a:latin typeface="Courier New" pitchFamily="34" charset="0"/>
                <a:ea typeface="Courier New" pitchFamily="34" charset="-122"/>
                <a:cs typeface="Courier New" pitchFamily="34" charset="-120"/>
              </a:rPr>
              <a:t>FK </a:t>
            </a:r>
            <a:r>
              <a:rPr lang="en-US" sz="1200" dirty="0">
                <a:solidFill>
                  <a:schemeClr val="tx1"/>
                </a:solidFill>
                <a:latin typeface="Courier New" pitchFamily="34" charset="0"/>
                <a:ea typeface="Courier New" pitchFamily="34" charset="-122"/>
                <a:cs typeface="Courier New" pitchFamily="34" charset="-120"/>
              </a:rPr>
              <a:t>ma_vong</a:t>
            </a:r>
            <a:endParaRPr lang="en-US" sz="1200" dirty="0"/>
          </a:p>
        </p:txBody>
      </p:sp>
      <p:sp>
        <p:nvSpPr>
          <p:cNvPr id="59" name="ho_so_ung_tuyen row 6"/>
          <p:cNvSpPr txBox="1"/>
          <p:nvPr/>
        </p:nvSpPr>
        <p:spPr>
          <a:xfrm>
            <a:off x="4389120" y="3273552"/>
            <a:ext cx="3291840" cy="274320"/>
          </a:xfrm>
          <a:prstGeom prst="rect">
            <a:avLst/>
          </a:prstGeom>
          <a:noFill/>
          <a:ln/>
        </p:spPr>
        <p:txBody>
          <a:bodyPr wrap="square" lIns="0" tIns="0" rIns="0" bIns="0" rtlCol="0" anchor="ctr"/>
          <a:lstStyle/>
          <a:p>
            <a:pPr indent="0" marL="0">
              <a:buNone/>
            </a:pPr>
            <a:r>
              <a:rPr lang="en-US" sz="1200" b="1" dirty="0">
                <a:solidFill>
                  <a:schemeClr val="accent1"/>
                </a:solidFill>
                <a:latin typeface="Courier New" pitchFamily="34" charset="0"/>
                <a:ea typeface="Courier New" pitchFamily="34" charset="-122"/>
                <a:cs typeface="Courier New" pitchFamily="34" charset="-120"/>
              </a:rPr>
              <a:t>FK </a:t>
            </a:r>
            <a:r>
              <a:rPr lang="en-US" sz="1200" dirty="0">
                <a:solidFill>
                  <a:schemeClr val="tx1"/>
                </a:solidFill>
                <a:latin typeface="Courier New" pitchFamily="34" charset="0"/>
                <a:ea typeface="Courier New" pitchFamily="34" charset="-122"/>
                <a:cs typeface="Courier New" pitchFamily="34" charset="-120"/>
              </a:rPr>
              <a:t>ma_trang_thai</a:t>
            </a:r>
            <a:endParaRPr lang="en-US" sz="1200" dirty="0"/>
          </a:p>
        </p:txBody>
      </p:sp>
      <p:sp>
        <p:nvSpPr>
          <p:cNvPr id="60" name="ho_so_ung_tuyen row 7"/>
          <p:cNvSpPr txBox="1"/>
          <p:nvPr/>
        </p:nvSpPr>
        <p:spPr>
          <a:xfrm>
            <a:off x="4389120" y="3547872"/>
            <a:ext cx="3291840" cy="274320"/>
          </a:xfrm>
          <a:prstGeom prst="rect">
            <a:avLst/>
          </a:prstGeom>
          <a:noFill/>
          <a:ln/>
        </p:spPr>
        <p:txBody>
          <a:bodyPr wrap="square" lIns="0" tIns="0" rIns="0" bIns="0" rtlCol="0" anchor="ctr"/>
          <a:lstStyle/>
          <a:p>
            <a:pPr indent="0" marL="0">
              <a:buNone/>
            </a:pPr>
            <a:r>
              <a:rPr lang="en-US" sz="1200" dirty="0">
                <a:solidFill>
                  <a:schemeClr val="tx1"/>
                </a:solidFill>
                <a:latin typeface="Courier New" pitchFamily="34" charset="0"/>
                <a:ea typeface="Courier New" pitchFamily="34" charset="-122"/>
                <a:cs typeface="Courier New" pitchFamily="34" charset="-120"/>
              </a:rPr>
              <a:t>ngay_nop, ngay_cap_nhat</a:t>
            </a:r>
            <a:endParaRPr lang="en-US" sz="1200" dirty="0"/>
          </a:p>
        </p:txBody>
      </p:sp>
      <p:sp>
        <p:nvSpPr>
          <p:cNvPr id="61" name="ho_so_ung_tuyen row 8"/>
          <p:cNvSpPr txBox="1"/>
          <p:nvPr/>
        </p:nvSpPr>
        <p:spPr>
          <a:xfrm>
            <a:off x="4389120" y="3822192"/>
            <a:ext cx="3291840" cy="274320"/>
          </a:xfrm>
          <a:prstGeom prst="rect">
            <a:avLst/>
          </a:prstGeom>
          <a:noFill/>
          <a:ln/>
        </p:spPr>
        <p:txBody>
          <a:bodyPr wrap="square" lIns="0" tIns="0" rIns="0" bIns="0" rtlCol="0" anchor="ctr"/>
          <a:lstStyle/>
          <a:p>
            <a:pPr indent="0" marL="0">
              <a:buNone/>
            </a:pPr>
            <a:r>
              <a:rPr lang="en-US" sz="1200" dirty="0">
                <a:solidFill>
                  <a:schemeClr val="tx1"/>
                </a:solidFill>
                <a:latin typeface="Courier New" pitchFamily="34" charset="0"/>
                <a:ea typeface="Courier New" pitchFamily="34" charset="-122"/>
                <a:cs typeface="Courier New" pitchFamily="34" charset="-120"/>
              </a:rPr>
              <a:t>diem_ai (0 – 100)</a:t>
            </a:r>
            <a:endParaRPr lang="en-US" sz="1200" dirty="0"/>
          </a:p>
        </p:txBody>
      </p:sp>
      <p:sp>
        <p:nvSpPr>
          <p:cNvPr id="62" name="Main table notes"/>
          <p:cNvSpPr txBox="1"/>
          <p:nvPr/>
        </p:nvSpPr>
        <p:spPr>
          <a:xfrm>
            <a:off x="4251960" y="4526280"/>
            <a:ext cx="3566160" cy="822960"/>
          </a:xfrm>
          <a:prstGeom prst="rect">
            <a:avLst/>
          </a:prstGeom>
          <a:noFill/>
          <a:ln/>
        </p:spPr>
        <p:txBody>
          <a:bodyPr wrap="square" lIns="0" tIns="0" rIns="0" bIns="0" rtlCol="0" anchor="t"/>
          <a:lstStyle/>
          <a:p>
            <a:pPr marL="228600" indent="-228600">
              <a:spcAft>
                <a:spcPts val="600"/>
              </a:spcAft>
              <a:buSzPct val="100000"/>
              <a:buChar char="•"/>
            </a:pPr>
            <a:r>
              <a:rPr lang="en-US" sz="1400" dirty="0">
                <a:solidFill>
                  <a:schemeClr val="tx1"/>
                </a:solidFill>
              </a:rPr>
              <a:t>Bảng chính: mỗi dòng là 1 lần nộp hồ sơ</a:t>
            </a:r>
            <a:endParaRPr lang="en-US" sz="1400" dirty="0"/>
          </a:p>
          <a:p>
            <a:pPr marL="228600" indent="-228600">
              <a:spcAft>
                <a:spcPts val="600"/>
              </a:spcAft>
              <a:buSzPct val="100000"/>
              <a:buChar char="•"/>
            </a:pPr>
            <a:r>
              <a:rPr lang="en-US" sz="1400" dirty="0">
                <a:solidFill>
                  <a:schemeClr val="tx1"/>
                </a:solidFill>
              </a:rPr>
              <a:t>Chỉ lưu mã (FK), không lưu lặp tên</a:t>
            </a:r>
            <a:endParaRPr lang="en-US" sz="1400" dirty="0"/>
          </a:p>
        </p:txBody>
      </p:sp>
      <p:sp>
        <p:nvSpPr>
          <p:cNvPr id="63" name="Legend card"/>
          <p:cNvSpPr/>
          <p:nvPr/>
        </p:nvSpPr>
        <p:spPr>
          <a:xfrm>
            <a:off x="8805672" y="4206240"/>
            <a:ext cx="2834640" cy="1737360"/>
          </a:xfrm>
          <a:prstGeom prst="roundRect">
            <a:avLst>
              <a:gd name="adj" fmla="val 5263"/>
            </a:avLst>
          </a:prstGeom>
          <a:solidFill>
            <a:schemeClr val="bg1"/>
          </a:solidFill>
          <a:ln w="12700">
            <a:solidFill>
              <a:schemeClr val="accent6"/>
            </a:solidFill>
            <a:prstDash val="solid"/>
          </a:ln>
        </p:spPr>
      </p:sp>
      <p:sp>
        <p:nvSpPr>
          <p:cNvPr id="64" name="Legend text"/>
          <p:cNvSpPr txBox="1"/>
          <p:nvPr/>
        </p:nvSpPr>
        <p:spPr>
          <a:xfrm>
            <a:off x="8988552" y="4315968"/>
            <a:ext cx="2514600" cy="1517904"/>
          </a:xfrm>
          <a:prstGeom prst="rect">
            <a:avLst/>
          </a:prstGeom>
          <a:noFill/>
          <a:ln/>
        </p:spPr>
        <p:txBody>
          <a:bodyPr wrap="square" lIns="0" tIns="0" rIns="0" bIns="0" rtlCol="0" anchor="ctr"/>
          <a:lstStyle/>
          <a:p>
            <a:pPr indent="0" marL="0">
              <a:spcAft>
                <a:spcPts val="600"/>
              </a:spcAft>
              <a:buNone/>
            </a:pPr>
            <a:r>
              <a:rPr lang="en-US" sz="1400" b="1" dirty="0">
                <a:solidFill>
                  <a:schemeClr val="accent3"/>
                </a:solidFill>
              </a:rPr>
              <a:t>PK</a:t>
            </a:r>
            <a:r>
              <a:rPr lang="en-US" sz="1400" dirty="0">
                <a:solidFill>
                  <a:schemeClr val="tx1"/>
                </a:solidFill>
              </a:rPr>
              <a:t> = mã riêng, không trùng</a:t>
            </a:r>
            <a:endParaRPr lang="en-US" sz="1400" dirty="0"/>
          </a:p>
          <a:p>
            <a:pPr indent="0" marL="0">
              <a:spcAft>
                <a:spcPts val="600"/>
              </a:spcAft>
              <a:buNone/>
            </a:pPr>
            <a:r>
              <a:rPr lang="en-US" sz="1400" b="1" dirty="0">
                <a:solidFill>
                  <a:schemeClr val="accent1"/>
                </a:solidFill>
              </a:rPr>
              <a:t>FK</a:t>
            </a:r>
            <a:r>
              <a:rPr lang="en-US" sz="1400" dirty="0">
                <a:solidFill>
                  <a:schemeClr val="tx1"/>
                </a:solidFill>
              </a:rPr>
              <a:t> = mã nối sang bảng khác</a:t>
            </a:r>
            <a:endParaRPr lang="en-US" sz="1400" dirty="0"/>
          </a:p>
          <a:p>
            <a:pPr indent="0" marL="0">
              <a:spcAft>
                <a:spcPts val="600"/>
              </a:spcAft>
              <a:buNone/>
            </a:pPr>
            <a:r>
              <a:rPr lang="en-US" sz="1400" b="1" dirty="0">
                <a:solidFill>
                  <a:schemeClr val="tx2"/>
                </a:solidFill>
              </a:rPr>
              <a:t>1 — n</a:t>
            </a:r>
            <a:r>
              <a:rPr lang="en-US" sz="1400" dirty="0">
                <a:solidFill>
                  <a:schemeClr val="tx1"/>
                </a:solidFill>
              </a:rPr>
              <a:t> = 1 dòng bên ngoài nối với nhiều hồ sơ</a:t>
            </a:r>
            <a:endParaRPr lang="en-US" sz="1400" dirty="0"/>
          </a:p>
        </p:txBody>
      </p:sp>
      <p:sp>
        <p:nvSpPr>
          <p:cNvPr id="25" name="Slide Number Placeholder 0"/>
          <p:cNvSpPr>
            <a:spLocks noGrp="1"/>
          </p:cNvSpPr>
          <p:nvPr>
            <p:ph type="sldNum" sz="quarter" idx="4294967295"/>
          </p:nvPr>
        </p:nvSpPr>
        <p:spPr>
          <a:xfrm>
            <a:off x="11183112" y="635508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Tạo bảng và ràng buộc dữ liệu</a:t>
            </a:r>
            <a:endParaRPr lang="en-US" sz="3200" dirty="0"/>
          </a:p>
        </p:txBody>
      </p:sp>
      <p:sp>
        <p:nvSpPr>
          <p:cNvPr id="3" name="Constraint pill 1"/>
          <p:cNvSpPr/>
          <p:nvPr/>
        </p:nvSpPr>
        <p:spPr>
          <a:xfrm>
            <a:off x="548640" y="1371600"/>
            <a:ext cx="1874520" cy="640080"/>
          </a:xfrm>
          <a:prstGeom prst="roundRect">
            <a:avLst>
              <a:gd name="adj" fmla="val 11429"/>
            </a:avLst>
          </a:prstGeom>
          <a:solidFill>
            <a:schemeClr val="tx2"/>
          </a:solidFill>
          <a:ln w="12700">
            <a:solidFill>
              <a:schemeClr val="tx2"/>
            </a:solidFill>
            <a:prstDash val="solid"/>
          </a:ln>
        </p:spPr>
      </p:sp>
      <p:sp>
        <p:nvSpPr>
          <p:cNvPr id="4" name="Constraint name 1"/>
          <p:cNvSpPr txBox="1"/>
          <p:nvPr/>
        </p:nvSpPr>
        <p:spPr>
          <a:xfrm>
            <a:off x="548640" y="1371600"/>
            <a:ext cx="1874520" cy="640080"/>
          </a:xfrm>
          <a:prstGeom prst="rect">
            <a:avLst/>
          </a:prstGeom>
          <a:noFill/>
          <a:ln/>
        </p:spPr>
        <p:txBody>
          <a:bodyPr wrap="square" lIns="0" tIns="0" rIns="0" bIns="0" rtlCol="0" anchor="ctr"/>
          <a:lstStyle/>
          <a:p>
            <a:pPr algn="ctr" indent="0" marL="0">
              <a:buNone/>
            </a:pPr>
            <a:r>
              <a:rPr lang="en-US" sz="1400" b="1" dirty="0">
                <a:solidFill>
                  <a:schemeClr val="accent2"/>
                </a:solidFill>
                <a:latin typeface="Courier New" pitchFamily="34" charset="0"/>
                <a:ea typeface="Courier New" pitchFamily="34" charset="-122"/>
                <a:cs typeface="Courier New" pitchFamily="34" charset="-120"/>
              </a:rPr>
              <a:t>PRIMARY KEY</a:t>
            </a:r>
            <a:endParaRPr lang="en-US" sz="1400" dirty="0"/>
          </a:p>
        </p:txBody>
      </p:sp>
      <p:sp>
        <p:nvSpPr>
          <p:cNvPr id="5" name="Constraint desc 1"/>
          <p:cNvSpPr txBox="1"/>
          <p:nvPr/>
        </p:nvSpPr>
        <p:spPr>
          <a:xfrm>
            <a:off x="2606040" y="1371600"/>
            <a:ext cx="2788920" cy="640080"/>
          </a:xfrm>
          <a:prstGeom prst="rect">
            <a:avLst/>
          </a:prstGeom>
          <a:noFill/>
          <a:ln/>
        </p:spPr>
        <p:txBody>
          <a:bodyPr wrap="square" lIns="0" tIns="0" rIns="0" bIns="0" rtlCol="0" anchor="ctr"/>
          <a:lstStyle/>
          <a:p>
            <a:pPr indent="0" marL="0">
              <a:buNone/>
            </a:pPr>
            <a:r>
              <a:rPr lang="en-US" sz="1500" dirty="0">
                <a:solidFill>
                  <a:schemeClr val="tx1"/>
                </a:solidFill>
              </a:rPr>
              <a:t>Mỗi dòng có mã riêng, không trùng</a:t>
            </a:r>
            <a:endParaRPr lang="en-US" sz="1500" dirty="0"/>
          </a:p>
        </p:txBody>
      </p:sp>
      <p:sp>
        <p:nvSpPr>
          <p:cNvPr id="6" name="Constraint pill 2"/>
          <p:cNvSpPr/>
          <p:nvPr/>
        </p:nvSpPr>
        <p:spPr>
          <a:xfrm>
            <a:off x="548640" y="2157984"/>
            <a:ext cx="1874520" cy="640080"/>
          </a:xfrm>
          <a:prstGeom prst="roundRect">
            <a:avLst>
              <a:gd name="adj" fmla="val 11429"/>
            </a:avLst>
          </a:prstGeom>
          <a:solidFill>
            <a:schemeClr val="tx2"/>
          </a:solidFill>
          <a:ln w="12700">
            <a:solidFill>
              <a:schemeClr val="tx2"/>
            </a:solidFill>
            <a:prstDash val="solid"/>
          </a:ln>
        </p:spPr>
      </p:sp>
      <p:sp>
        <p:nvSpPr>
          <p:cNvPr id="7" name="Constraint name 2"/>
          <p:cNvSpPr txBox="1"/>
          <p:nvPr/>
        </p:nvSpPr>
        <p:spPr>
          <a:xfrm>
            <a:off x="548640" y="2157984"/>
            <a:ext cx="1874520" cy="640080"/>
          </a:xfrm>
          <a:prstGeom prst="rect">
            <a:avLst/>
          </a:prstGeom>
          <a:noFill/>
          <a:ln/>
        </p:spPr>
        <p:txBody>
          <a:bodyPr wrap="square" lIns="0" tIns="0" rIns="0" bIns="0" rtlCol="0" anchor="ctr"/>
          <a:lstStyle/>
          <a:p>
            <a:pPr algn="ctr" indent="0" marL="0">
              <a:buNone/>
            </a:pPr>
            <a:r>
              <a:rPr lang="en-US" sz="1400" b="1" dirty="0">
                <a:solidFill>
                  <a:schemeClr val="accent2"/>
                </a:solidFill>
                <a:latin typeface="Courier New" pitchFamily="34" charset="0"/>
                <a:ea typeface="Courier New" pitchFamily="34" charset="-122"/>
                <a:cs typeface="Courier New" pitchFamily="34" charset="-120"/>
              </a:rPr>
              <a:t>UNIQUE</a:t>
            </a:r>
            <a:endParaRPr lang="en-US" sz="1400" dirty="0"/>
          </a:p>
        </p:txBody>
      </p:sp>
      <p:sp>
        <p:nvSpPr>
          <p:cNvPr id="8" name="Constraint desc 2"/>
          <p:cNvSpPr txBox="1"/>
          <p:nvPr/>
        </p:nvSpPr>
        <p:spPr>
          <a:xfrm>
            <a:off x="2606040" y="2157984"/>
            <a:ext cx="2788920" cy="640080"/>
          </a:xfrm>
          <a:prstGeom prst="rect">
            <a:avLst/>
          </a:prstGeom>
          <a:noFill/>
          <a:ln/>
        </p:spPr>
        <p:txBody>
          <a:bodyPr wrap="square" lIns="0" tIns="0" rIns="0" bIns="0" rtlCol="0" anchor="ctr"/>
          <a:lstStyle/>
          <a:p>
            <a:pPr indent="0" marL="0">
              <a:buNone/>
            </a:pPr>
            <a:r>
              <a:rPr lang="en-US" sz="1500" dirty="0">
                <a:solidFill>
                  <a:schemeClr val="tx1"/>
                </a:solidFill>
              </a:rPr>
              <a:t>Một email chỉ thuộc một ứng viên</a:t>
            </a:r>
            <a:endParaRPr lang="en-US" sz="1500" dirty="0"/>
          </a:p>
        </p:txBody>
      </p:sp>
      <p:sp>
        <p:nvSpPr>
          <p:cNvPr id="9" name="Constraint pill 3"/>
          <p:cNvSpPr/>
          <p:nvPr/>
        </p:nvSpPr>
        <p:spPr>
          <a:xfrm>
            <a:off x="548640" y="2944368"/>
            <a:ext cx="1874520" cy="640080"/>
          </a:xfrm>
          <a:prstGeom prst="roundRect">
            <a:avLst>
              <a:gd name="adj" fmla="val 11429"/>
            </a:avLst>
          </a:prstGeom>
          <a:solidFill>
            <a:schemeClr val="tx2"/>
          </a:solidFill>
          <a:ln w="12700">
            <a:solidFill>
              <a:schemeClr val="tx2"/>
            </a:solidFill>
            <a:prstDash val="solid"/>
          </a:ln>
        </p:spPr>
      </p:sp>
      <p:sp>
        <p:nvSpPr>
          <p:cNvPr id="10" name="Constraint name 3"/>
          <p:cNvSpPr txBox="1"/>
          <p:nvPr/>
        </p:nvSpPr>
        <p:spPr>
          <a:xfrm>
            <a:off x="548640" y="2944368"/>
            <a:ext cx="1874520" cy="640080"/>
          </a:xfrm>
          <a:prstGeom prst="rect">
            <a:avLst/>
          </a:prstGeom>
          <a:noFill/>
          <a:ln/>
        </p:spPr>
        <p:txBody>
          <a:bodyPr wrap="square" lIns="0" tIns="0" rIns="0" bIns="0" rtlCol="0" anchor="ctr"/>
          <a:lstStyle/>
          <a:p>
            <a:pPr algn="ctr" indent="0" marL="0">
              <a:buNone/>
            </a:pPr>
            <a:r>
              <a:rPr lang="en-US" sz="1400" b="1" dirty="0">
                <a:solidFill>
                  <a:schemeClr val="accent2"/>
                </a:solidFill>
                <a:latin typeface="Courier New" pitchFamily="34" charset="0"/>
                <a:ea typeface="Courier New" pitchFamily="34" charset="-122"/>
                <a:cs typeface="Courier New" pitchFamily="34" charset="-120"/>
              </a:rPr>
              <a:t>NOT NULL</a:t>
            </a:r>
            <a:endParaRPr lang="en-US" sz="1400" dirty="0"/>
          </a:p>
        </p:txBody>
      </p:sp>
      <p:sp>
        <p:nvSpPr>
          <p:cNvPr id="11" name="Constraint desc 3"/>
          <p:cNvSpPr txBox="1"/>
          <p:nvPr/>
        </p:nvSpPr>
        <p:spPr>
          <a:xfrm>
            <a:off x="2606040" y="2944368"/>
            <a:ext cx="2788920" cy="640080"/>
          </a:xfrm>
          <a:prstGeom prst="rect">
            <a:avLst/>
          </a:prstGeom>
          <a:noFill/>
          <a:ln/>
        </p:spPr>
        <p:txBody>
          <a:bodyPr wrap="square" lIns="0" tIns="0" rIns="0" bIns="0" rtlCol="0" anchor="ctr"/>
          <a:lstStyle/>
          <a:p>
            <a:pPr indent="0" marL="0">
              <a:buNone/>
            </a:pPr>
            <a:r>
              <a:rPr lang="en-US" sz="1500" dirty="0">
                <a:solidFill>
                  <a:schemeClr val="tx1"/>
                </a:solidFill>
              </a:rPr>
              <a:t>Không bỏ trống họ tên, email, ngày nộp</a:t>
            </a:r>
            <a:endParaRPr lang="en-US" sz="1500" dirty="0"/>
          </a:p>
        </p:txBody>
      </p:sp>
      <p:sp>
        <p:nvSpPr>
          <p:cNvPr id="12" name="Constraint pill 4"/>
          <p:cNvSpPr/>
          <p:nvPr/>
        </p:nvSpPr>
        <p:spPr>
          <a:xfrm>
            <a:off x="548640" y="3730752"/>
            <a:ext cx="1874520" cy="640080"/>
          </a:xfrm>
          <a:prstGeom prst="roundRect">
            <a:avLst>
              <a:gd name="adj" fmla="val 11429"/>
            </a:avLst>
          </a:prstGeom>
          <a:solidFill>
            <a:schemeClr val="tx2"/>
          </a:solidFill>
          <a:ln w="12700">
            <a:solidFill>
              <a:schemeClr val="tx2"/>
            </a:solidFill>
            <a:prstDash val="solid"/>
          </a:ln>
        </p:spPr>
      </p:sp>
      <p:sp>
        <p:nvSpPr>
          <p:cNvPr id="13" name="Constraint name 4"/>
          <p:cNvSpPr txBox="1"/>
          <p:nvPr/>
        </p:nvSpPr>
        <p:spPr>
          <a:xfrm>
            <a:off x="548640" y="3730752"/>
            <a:ext cx="1874520" cy="640080"/>
          </a:xfrm>
          <a:prstGeom prst="rect">
            <a:avLst/>
          </a:prstGeom>
          <a:noFill/>
          <a:ln/>
        </p:spPr>
        <p:txBody>
          <a:bodyPr wrap="square" lIns="0" tIns="0" rIns="0" bIns="0" rtlCol="0" anchor="ctr"/>
          <a:lstStyle/>
          <a:p>
            <a:pPr algn="ctr" indent="0" marL="0">
              <a:buNone/>
            </a:pPr>
            <a:r>
              <a:rPr lang="en-US" sz="1400" b="1" dirty="0">
                <a:solidFill>
                  <a:schemeClr val="accent2"/>
                </a:solidFill>
                <a:latin typeface="Courier New" pitchFamily="34" charset="0"/>
                <a:ea typeface="Courier New" pitchFamily="34" charset="-122"/>
                <a:cs typeface="Courier New" pitchFamily="34" charset="-120"/>
              </a:rPr>
              <a:t>REFERENCES</a:t>
            </a:r>
            <a:endParaRPr lang="en-US" sz="1400" dirty="0"/>
          </a:p>
        </p:txBody>
      </p:sp>
      <p:sp>
        <p:nvSpPr>
          <p:cNvPr id="14" name="Constraint desc 4"/>
          <p:cNvSpPr txBox="1"/>
          <p:nvPr/>
        </p:nvSpPr>
        <p:spPr>
          <a:xfrm>
            <a:off x="2606040" y="3730752"/>
            <a:ext cx="2788920" cy="640080"/>
          </a:xfrm>
          <a:prstGeom prst="rect">
            <a:avLst/>
          </a:prstGeom>
          <a:noFill/>
          <a:ln/>
        </p:spPr>
        <p:txBody>
          <a:bodyPr wrap="square" lIns="0" tIns="0" rIns="0" bIns="0" rtlCol="0" anchor="ctr"/>
          <a:lstStyle/>
          <a:p>
            <a:pPr indent="0" marL="0">
              <a:buNone/>
            </a:pPr>
            <a:r>
              <a:rPr lang="en-US" sz="1500" dirty="0">
                <a:solidFill>
                  <a:schemeClr val="tx1"/>
                </a:solidFill>
              </a:rPr>
              <a:t>Chỉ chọn vòng, trạng thái có trong danh mục</a:t>
            </a:r>
            <a:endParaRPr lang="en-US" sz="1500" dirty="0"/>
          </a:p>
        </p:txBody>
      </p:sp>
      <p:sp>
        <p:nvSpPr>
          <p:cNvPr id="15" name="Constraint pill 5"/>
          <p:cNvSpPr/>
          <p:nvPr/>
        </p:nvSpPr>
        <p:spPr>
          <a:xfrm>
            <a:off x="548640" y="4517136"/>
            <a:ext cx="1874520" cy="640080"/>
          </a:xfrm>
          <a:prstGeom prst="roundRect">
            <a:avLst>
              <a:gd name="adj" fmla="val 11429"/>
            </a:avLst>
          </a:prstGeom>
          <a:solidFill>
            <a:schemeClr val="tx2"/>
          </a:solidFill>
          <a:ln w="12700">
            <a:solidFill>
              <a:schemeClr val="tx2"/>
            </a:solidFill>
            <a:prstDash val="solid"/>
          </a:ln>
        </p:spPr>
      </p:sp>
      <p:sp>
        <p:nvSpPr>
          <p:cNvPr id="16" name="Constraint name 5"/>
          <p:cNvSpPr txBox="1"/>
          <p:nvPr/>
        </p:nvSpPr>
        <p:spPr>
          <a:xfrm>
            <a:off x="548640" y="4517136"/>
            <a:ext cx="1874520" cy="640080"/>
          </a:xfrm>
          <a:prstGeom prst="rect">
            <a:avLst/>
          </a:prstGeom>
          <a:noFill/>
          <a:ln/>
        </p:spPr>
        <p:txBody>
          <a:bodyPr wrap="square" lIns="0" tIns="0" rIns="0" bIns="0" rtlCol="0" anchor="ctr"/>
          <a:lstStyle/>
          <a:p>
            <a:pPr algn="ctr" indent="0" marL="0">
              <a:buNone/>
            </a:pPr>
            <a:r>
              <a:rPr lang="en-US" sz="1400" b="1" dirty="0">
                <a:solidFill>
                  <a:schemeClr val="accent2"/>
                </a:solidFill>
                <a:latin typeface="Courier New" pitchFamily="34" charset="0"/>
                <a:ea typeface="Courier New" pitchFamily="34" charset="-122"/>
                <a:cs typeface="Courier New" pitchFamily="34" charset="-120"/>
              </a:rPr>
              <a:t>CHECK</a:t>
            </a:r>
            <a:endParaRPr lang="en-US" sz="1400" dirty="0"/>
          </a:p>
        </p:txBody>
      </p:sp>
      <p:sp>
        <p:nvSpPr>
          <p:cNvPr id="17" name="Constraint desc 5"/>
          <p:cNvSpPr txBox="1"/>
          <p:nvPr/>
        </p:nvSpPr>
        <p:spPr>
          <a:xfrm>
            <a:off x="2606040" y="4517136"/>
            <a:ext cx="2788920" cy="640080"/>
          </a:xfrm>
          <a:prstGeom prst="rect">
            <a:avLst/>
          </a:prstGeom>
          <a:noFill/>
          <a:ln/>
        </p:spPr>
        <p:txBody>
          <a:bodyPr wrap="square" lIns="0" tIns="0" rIns="0" bIns="0" rtlCol="0" anchor="ctr"/>
          <a:lstStyle/>
          <a:p>
            <a:pPr indent="0" marL="0">
              <a:buNone/>
            </a:pPr>
            <a:r>
              <a:rPr lang="en-US" sz="1500" dirty="0">
                <a:solidFill>
                  <a:schemeClr val="tx1"/>
                </a:solidFill>
              </a:rPr>
              <a:t>Điểm AI chỉ từ 0 đến 100</a:t>
            </a:r>
            <a:endParaRPr lang="en-US" sz="1500" dirty="0"/>
          </a:p>
        </p:txBody>
      </p:sp>
      <p:sp>
        <p:nvSpPr>
          <p:cNvPr id="18" name="Constraint takeaway"/>
          <p:cNvSpPr txBox="1"/>
          <p:nvPr/>
        </p:nvSpPr>
        <p:spPr>
          <a:xfrm>
            <a:off x="548640" y="5394960"/>
            <a:ext cx="4846320" cy="548640"/>
          </a:xfrm>
          <a:prstGeom prst="rect">
            <a:avLst/>
          </a:prstGeom>
          <a:noFill/>
          <a:ln/>
        </p:spPr>
        <p:txBody>
          <a:bodyPr wrap="square" lIns="0" tIns="0" rIns="0" bIns="0" rtlCol="0" anchor="ctr"/>
          <a:lstStyle/>
          <a:p>
            <a:pPr indent="0" marL="0">
              <a:buNone/>
            </a:pPr>
            <a:r>
              <a:rPr lang="en-US" sz="1600" b="1" i="1" dirty="0">
                <a:solidFill>
                  <a:schemeClr val="accent1"/>
                </a:solidFill>
              </a:rPr>
              <a:t>Dữ liệu sai sẽ bị cơ sở dữ liệu từ chối ngay khi lưu</a:t>
            </a:r>
            <a:endParaRPr lang="en-US" sz="1600" dirty="0"/>
          </a:p>
        </p:txBody>
      </p:sp>
      <p:sp>
        <p:nvSpPr>
          <p:cNvPr id="19" name="SQL card"/>
          <p:cNvSpPr/>
          <p:nvPr/>
        </p:nvSpPr>
        <p:spPr>
          <a:xfrm>
            <a:off x="5669280" y="1371600"/>
            <a:ext cx="5971032" cy="4297680"/>
          </a:xfrm>
          <a:prstGeom prst="roundRect">
            <a:avLst>
              <a:gd name="adj" fmla="val 2553"/>
            </a:avLst>
          </a:prstGeom>
          <a:solidFill>
            <a:schemeClr val="tx2"/>
          </a:solidFill>
          <a:ln w="12700">
            <a:solidFill>
              <a:schemeClr val="tx2"/>
            </a:solidFill>
            <a:prstDash val="solid"/>
          </a:ln>
        </p:spPr>
      </p:sp>
      <p:sp>
        <p:nvSpPr>
          <p:cNvPr id="20" name="SQL code"/>
          <p:cNvSpPr txBox="1"/>
          <p:nvPr/>
        </p:nvSpPr>
        <p:spPr>
          <a:xfrm>
            <a:off x="5943600" y="1645920"/>
            <a:ext cx="5532120" cy="3840480"/>
          </a:xfrm>
          <a:prstGeom prst="rect">
            <a:avLst/>
          </a:prstGeom>
          <a:noFill/>
          <a:ln/>
        </p:spPr>
        <p:txBody>
          <a:bodyPr wrap="square" lIns="0" tIns="0" rIns="0" bIns="0" rtlCol="0" anchor="t"/>
          <a:lstStyle/>
          <a:p>
            <a:pPr indent="0" marL="0">
              <a:lnSpc>
                <a:spcPct val="125000"/>
              </a:lnSpc>
              <a:buNone/>
            </a:pPr>
            <a:r>
              <a:rPr lang="en-US" sz="1200" dirty="0">
                <a:solidFill>
                  <a:schemeClr val="bg1"/>
                </a:solidFill>
                <a:latin typeface="Courier New" pitchFamily="34" charset="0"/>
                <a:ea typeface="Courier New" pitchFamily="34" charset="-122"/>
                <a:cs typeface="Courier New" pitchFamily="34" charset="-120"/>
              </a:rPr>
              <a:t>CREATE TABLE ung_vien (</a:t>
            </a:r>
            <a:endParaRPr lang="en-US" sz="1200" dirty="0"/>
          </a:p>
          <a:p>
            <a:pPr indent="0" marL="0">
              <a:lnSpc>
                <a:spcPct val="125000"/>
              </a:lnSpc>
              <a:buNone/>
            </a:pPr>
            <a:r>
              <a:rPr lang="en-US" sz="1200" dirty="0">
                <a:solidFill>
                  <a:schemeClr val="bg1"/>
                </a:solidFill>
                <a:latin typeface="Courier New" pitchFamily="34" charset="0"/>
                <a:ea typeface="Courier New" pitchFamily="34" charset="-122"/>
                <a:cs typeface="Courier New" pitchFamily="34" charset="-120"/>
              </a:rPr>
              <a:t>  ma_ung_vien   INTEGER </a:t>
            </a:r>
            <a:r>
              <a:rPr lang="en-US" sz="1200" b="1" dirty="0">
                <a:solidFill>
                  <a:schemeClr val="accent2"/>
                </a:solidFill>
                <a:latin typeface="Courier New" pitchFamily="34" charset="0"/>
                <a:ea typeface="Courier New" pitchFamily="34" charset="-122"/>
                <a:cs typeface="Courier New" pitchFamily="34" charset="-120"/>
              </a:rPr>
              <a:t>PRIMARY KEY</a:t>
            </a:r>
            <a:r>
              <a:rPr lang="en-US" sz="1200" dirty="0">
                <a:solidFill>
                  <a:schemeClr val="bg1"/>
                </a:solidFill>
                <a:latin typeface="Courier New" pitchFamily="34" charset="0"/>
                <a:ea typeface="Courier New" pitchFamily="34" charset="-122"/>
                <a:cs typeface="Courier New" pitchFamily="34" charset="-120"/>
              </a:rPr>
              <a:t>,</a:t>
            </a:r>
            <a:endParaRPr lang="en-US" sz="1200" dirty="0"/>
          </a:p>
          <a:p>
            <a:pPr indent="0" marL="0">
              <a:lnSpc>
                <a:spcPct val="125000"/>
              </a:lnSpc>
              <a:buNone/>
            </a:pPr>
            <a:r>
              <a:rPr lang="en-US" sz="1200" dirty="0">
                <a:solidFill>
                  <a:schemeClr val="bg1"/>
                </a:solidFill>
                <a:latin typeface="Courier New" pitchFamily="34" charset="0"/>
                <a:ea typeface="Courier New" pitchFamily="34" charset="-122"/>
                <a:cs typeface="Courier New" pitchFamily="34" charset="-120"/>
              </a:rPr>
              <a:t>  ho_ten        VARCHAR(100) </a:t>
            </a:r>
            <a:r>
              <a:rPr lang="en-US" sz="1200" b="1" dirty="0">
                <a:solidFill>
                  <a:schemeClr val="accent2"/>
                </a:solidFill>
                <a:latin typeface="Courier New" pitchFamily="34" charset="0"/>
                <a:ea typeface="Courier New" pitchFamily="34" charset="-122"/>
                <a:cs typeface="Courier New" pitchFamily="34" charset="-120"/>
              </a:rPr>
              <a:t>NOT NULL</a:t>
            </a:r>
            <a:r>
              <a:rPr lang="en-US" sz="1200" dirty="0">
                <a:solidFill>
                  <a:schemeClr val="bg1"/>
                </a:solidFill>
                <a:latin typeface="Courier New" pitchFamily="34" charset="0"/>
                <a:ea typeface="Courier New" pitchFamily="34" charset="-122"/>
                <a:cs typeface="Courier New" pitchFamily="34" charset="-120"/>
              </a:rPr>
              <a:t>,</a:t>
            </a:r>
            <a:endParaRPr lang="en-US" sz="1200" dirty="0"/>
          </a:p>
          <a:p>
            <a:pPr indent="0" marL="0">
              <a:lnSpc>
                <a:spcPct val="125000"/>
              </a:lnSpc>
              <a:buNone/>
            </a:pPr>
            <a:r>
              <a:rPr lang="en-US" sz="1200" dirty="0">
                <a:solidFill>
                  <a:schemeClr val="bg1"/>
                </a:solidFill>
                <a:latin typeface="Courier New" pitchFamily="34" charset="0"/>
                <a:ea typeface="Courier New" pitchFamily="34" charset="-122"/>
                <a:cs typeface="Courier New" pitchFamily="34" charset="-120"/>
              </a:rPr>
              <a:t>  email         VARCHAR(100) </a:t>
            </a:r>
            <a:r>
              <a:rPr lang="en-US" sz="1200" b="1" dirty="0">
                <a:solidFill>
                  <a:schemeClr val="accent2"/>
                </a:solidFill>
                <a:latin typeface="Courier New" pitchFamily="34" charset="0"/>
                <a:ea typeface="Courier New" pitchFamily="34" charset="-122"/>
                <a:cs typeface="Courier New" pitchFamily="34" charset="-120"/>
              </a:rPr>
              <a:t>NOT NULL</a:t>
            </a:r>
            <a:r>
              <a:rPr lang="en-US" sz="1200" dirty="0">
                <a:solidFill>
                  <a:schemeClr val="bg1"/>
                </a:solidFill>
                <a:latin typeface="Courier New" pitchFamily="34" charset="0"/>
                <a:ea typeface="Courier New" pitchFamily="34" charset="-122"/>
                <a:cs typeface="Courier New" pitchFamily="34" charset="-120"/>
              </a:rPr>
              <a:t> </a:t>
            </a:r>
            <a:r>
              <a:rPr lang="en-US" sz="1200" b="1" dirty="0">
                <a:solidFill>
                  <a:schemeClr val="accent2"/>
                </a:solidFill>
                <a:latin typeface="Courier New" pitchFamily="34" charset="0"/>
                <a:ea typeface="Courier New" pitchFamily="34" charset="-122"/>
                <a:cs typeface="Courier New" pitchFamily="34" charset="-120"/>
              </a:rPr>
              <a:t>UNIQUE</a:t>
            </a:r>
            <a:r>
              <a:rPr lang="en-US" sz="1200" dirty="0">
                <a:solidFill>
                  <a:schemeClr val="bg1"/>
                </a:solidFill>
                <a:latin typeface="Courier New" pitchFamily="34" charset="0"/>
                <a:ea typeface="Courier New" pitchFamily="34" charset="-122"/>
                <a:cs typeface="Courier New" pitchFamily="34" charset="-120"/>
              </a:rPr>
              <a:t>,</a:t>
            </a:r>
            <a:endParaRPr lang="en-US" sz="1200" dirty="0"/>
          </a:p>
          <a:p>
            <a:pPr indent="0" marL="0">
              <a:lnSpc>
                <a:spcPct val="125000"/>
              </a:lnSpc>
              <a:buNone/>
            </a:pPr>
            <a:r>
              <a:rPr lang="en-US" sz="1200" dirty="0">
                <a:solidFill>
                  <a:schemeClr val="bg1"/>
                </a:solidFill>
                <a:latin typeface="Courier New" pitchFamily="34" charset="0"/>
                <a:ea typeface="Courier New" pitchFamily="34" charset="-122"/>
                <a:cs typeface="Courier New" pitchFamily="34" charset="-120"/>
              </a:rPr>
              <a:t>  so_dien_thoai CHAR(10)</a:t>
            </a:r>
            <a:endParaRPr lang="en-US" sz="1200" dirty="0"/>
          </a:p>
          <a:p>
            <a:pPr indent="0" marL="0">
              <a:lnSpc>
                <a:spcPct val="125000"/>
              </a:lnSpc>
              <a:buNone/>
            </a:pPr>
            <a:r>
              <a:rPr lang="en-US" sz="1200" dirty="0">
                <a:solidFill>
                  <a:schemeClr val="bg1"/>
                </a:solidFill>
                <a:latin typeface="Courier New" pitchFamily="34" charset="0"/>
                <a:ea typeface="Courier New" pitchFamily="34" charset="-122"/>
                <a:cs typeface="Courier New" pitchFamily="34" charset="-120"/>
              </a:rPr>
              <a:t>);</a:t>
            </a:r>
            <a:endParaRPr lang="en-US" sz="1200" dirty="0"/>
          </a:p>
          <a:p>
            <a:pPr indent="0" marL="0">
              <a:lnSpc>
                <a:spcPct val="125000"/>
              </a:lnSpc>
              <a:buNone/>
            </a:pPr>
            <a:r>
              <a:rPr lang="en-US" sz="1200" dirty="0">
                <a:solidFill>
                  <a:schemeClr val="bg1"/>
                </a:solidFill>
                <a:latin typeface="Courier New" pitchFamily="34" charset="0"/>
                <a:ea typeface="Courier New" pitchFamily="34" charset="-122"/>
                <a:cs typeface="Courier New" pitchFamily="34" charset="-120"/>
              </a:rPr>
              <a:t> </a:t>
            </a:r>
            <a:endParaRPr lang="en-US" sz="1200" dirty="0"/>
          </a:p>
          <a:p>
            <a:pPr indent="0" marL="0">
              <a:lnSpc>
                <a:spcPct val="125000"/>
              </a:lnSpc>
              <a:buNone/>
            </a:pPr>
            <a:r>
              <a:rPr lang="en-US" sz="1200" dirty="0">
                <a:solidFill>
                  <a:schemeClr val="bg1"/>
                </a:solidFill>
                <a:latin typeface="Courier New" pitchFamily="34" charset="0"/>
                <a:ea typeface="Courier New" pitchFamily="34" charset="-122"/>
                <a:cs typeface="Courier New" pitchFamily="34" charset="-120"/>
              </a:rPr>
              <a:t>CREATE TABLE ho_so_ung_tuyen (</a:t>
            </a:r>
            <a:endParaRPr lang="en-US" sz="1200" dirty="0"/>
          </a:p>
          <a:p>
            <a:pPr indent="0" marL="0">
              <a:lnSpc>
                <a:spcPct val="125000"/>
              </a:lnSpc>
              <a:buNone/>
            </a:pPr>
            <a:r>
              <a:rPr lang="en-US" sz="1200" dirty="0">
                <a:solidFill>
                  <a:schemeClr val="bg1"/>
                </a:solidFill>
                <a:latin typeface="Courier New" pitchFamily="34" charset="0"/>
                <a:ea typeface="Courier New" pitchFamily="34" charset="-122"/>
                <a:cs typeface="Courier New" pitchFamily="34" charset="-120"/>
              </a:rPr>
              <a:t>  ma_ho_so      INTEGER </a:t>
            </a:r>
            <a:r>
              <a:rPr lang="en-US" sz="1200" b="1" dirty="0">
                <a:solidFill>
                  <a:schemeClr val="accent2"/>
                </a:solidFill>
                <a:latin typeface="Courier New" pitchFamily="34" charset="0"/>
                <a:ea typeface="Courier New" pitchFamily="34" charset="-122"/>
                <a:cs typeface="Courier New" pitchFamily="34" charset="-120"/>
              </a:rPr>
              <a:t>PRIMARY KEY</a:t>
            </a:r>
            <a:r>
              <a:rPr lang="en-US" sz="1200" dirty="0">
                <a:solidFill>
                  <a:schemeClr val="bg1"/>
                </a:solidFill>
                <a:latin typeface="Courier New" pitchFamily="34" charset="0"/>
                <a:ea typeface="Courier New" pitchFamily="34" charset="-122"/>
                <a:cs typeface="Courier New" pitchFamily="34" charset="-120"/>
              </a:rPr>
              <a:t>,</a:t>
            </a:r>
            <a:endParaRPr lang="en-US" sz="1200" dirty="0"/>
          </a:p>
          <a:p>
            <a:pPr indent="0" marL="0">
              <a:lnSpc>
                <a:spcPct val="125000"/>
              </a:lnSpc>
              <a:buNone/>
            </a:pPr>
            <a:r>
              <a:rPr lang="en-US" sz="1200" dirty="0">
                <a:solidFill>
                  <a:schemeClr val="bg1"/>
                </a:solidFill>
                <a:latin typeface="Courier New" pitchFamily="34" charset="0"/>
                <a:ea typeface="Courier New" pitchFamily="34" charset="-122"/>
                <a:cs typeface="Courier New" pitchFamily="34" charset="-120"/>
              </a:rPr>
              <a:t>  ma_ung_vien   INTEGER </a:t>
            </a:r>
            <a:r>
              <a:rPr lang="en-US" sz="1200" b="1" dirty="0">
                <a:solidFill>
                  <a:schemeClr val="accent2"/>
                </a:solidFill>
                <a:latin typeface="Courier New" pitchFamily="34" charset="0"/>
                <a:ea typeface="Courier New" pitchFamily="34" charset="-122"/>
                <a:cs typeface="Courier New" pitchFamily="34" charset="-120"/>
              </a:rPr>
              <a:t>NOT NULL</a:t>
            </a:r>
            <a:r>
              <a:rPr lang="en-US" sz="1200" dirty="0">
                <a:solidFill>
                  <a:schemeClr val="bg1"/>
                </a:solidFill>
                <a:latin typeface="Courier New" pitchFamily="34" charset="0"/>
                <a:ea typeface="Courier New" pitchFamily="34" charset="-122"/>
                <a:cs typeface="Courier New" pitchFamily="34" charset="-120"/>
              </a:rPr>
              <a:t> </a:t>
            </a:r>
            <a:r>
              <a:rPr lang="en-US" sz="1200" b="1" dirty="0">
                <a:solidFill>
                  <a:schemeClr val="accent2"/>
                </a:solidFill>
                <a:latin typeface="Courier New" pitchFamily="34" charset="0"/>
                <a:ea typeface="Courier New" pitchFamily="34" charset="-122"/>
                <a:cs typeface="Courier New" pitchFamily="34" charset="-120"/>
              </a:rPr>
              <a:t>REFERENCES</a:t>
            </a:r>
            <a:r>
              <a:rPr lang="en-US" sz="1200" dirty="0">
                <a:solidFill>
                  <a:schemeClr val="bg1"/>
                </a:solidFill>
                <a:latin typeface="Courier New" pitchFamily="34" charset="0"/>
                <a:ea typeface="Courier New" pitchFamily="34" charset="-122"/>
                <a:cs typeface="Courier New" pitchFamily="34" charset="-120"/>
              </a:rPr>
              <a:t> ung_vien,</a:t>
            </a:r>
            <a:endParaRPr lang="en-US" sz="1200" dirty="0"/>
          </a:p>
          <a:p>
            <a:pPr indent="0" marL="0">
              <a:lnSpc>
                <a:spcPct val="125000"/>
              </a:lnSpc>
              <a:buNone/>
            </a:pPr>
            <a:r>
              <a:rPr lang="en-US" sz="1200" dirty="0">
                <a:solidFill>
                  <a:schemeClr val="bg1"/>
                </a:solidFill>
                <a:latin typeface="Courier New" pitchFamily="34" charset="0"/>
                <a:ea typeface="Courier New" pitchFamily="34" charset="-122"/>
                <a:cs typeface="Courier New" pitchFamily="34" charset="-120"/>
              </a:rPr>
              <a:t>  ma_vong       INTEGER </a:t>
            </a:r>
            <a:r>
              <a:rPr lang="en-US" sz="1200" b="1" dirty="0">
                <a:solidFill>
                  <a:schemeClr val="accent2"/>
                </a:solidFill>
                <a:latin typeface="Courier New" pitchFamily="34" charset="0"/>
                <a:ea typeface="Courier New" pitchFamily="34" charset="-122"/>
                <a:cs typeface="Courier New" pitchFamily="34" charset="-120"/>
              </a:rPr>
              <a:t>NOT NULL</a:t>
            </a:r>
            <a:r>
              <a:rPr lang="en-US" sz="1200" dirty="0">
                <a:solidFill>
                  <a:schemeClr val="bg1"/>
                </a:solidFill>
                <a:latin typeface="Courier New" pitchFamily="34" charset="0"/>
                <a:ea typeface="Courier New" pitchFamily="34" charset="-122"/>
                <a:cs typeface="Courier New" pitchFamily="34" charset="-120"/>
              </a:rPr>
              <a:t> </a:t>
            </a:r>
            <a:r>
              <a:rPr lang="en-US" sz="1200" b="1" dirty="0">
                <a:solidFill>
                  <a:schemeClr val="accent2"/>
                </a:solidFill>
                <a:latin typeface="Courier New" pitchFamily="34" charset="0"/>
                <a:ea typeface="Courier New" pitchFamily="34" charset="-122"/>
                <a:cs typeface="Courier New" pitchFamily="34" charset="-120"/>
              </a:rPr>
              <a:t>REFERENCES</a:t>
            </a:r>
            <a:r>
              <a:rPr lang="en-US" sz="1200" dirty="0">
                <a:solidFill>
                  <a:schemeClr val="bg1"/>
                </a:solidFill>
                <a:latin typeface="Courier New" pitchFamily="34" charset="0"/>
                <a:ea typeface="Courier New" pitchFamily="34" charset="-122"/>
                <a:cs typeface="Courier New" pitchFamily="34" charset="-120"/>
              </a:rPr>
              <a:t> vong_tuyen,</a:t>
            </a:r>
            <a:endParaRPr lang="en-US" sz="1200" dirty="0"/>
          </a:p>
          <a:p>
            <a:pPr indent="0" marL="0">
              <a:lnSpc>
                <a:spcPct val="125000"/>
              </a:lnSpc>
              <a:buNone/>
            </a:pPr>
            <a:r>
              <a:rPr lang="en-US" sz="1200" dirty="0">
                <a:solidFill>
                  <a:schemeClr val="bg1"/>
                </a:solidFill>
                <a:latin typeface="Courier New" pitchFamily="34" charset="0"/>
                <a:ea typeface="Courier New" pitchFamily="34" charset="-122"/>
                <a:cs typeface="Courier New" pitchFamily="34" charset="-120"/>
              </a:rPr>
              <a:t>  ...</a:t>
            </a:r>
            <a:endParaRPr lang="en-US" sz="1200" dirty="0"/>
          </a:p>
          <a:p>
            <a:pPr indent="0" marL="0">
              <a:lnSpc>
                <a:spcPct val="125000"/>
              </a:lnSpc>
              <a:buNone/>
            </a:pPr>
            <a:r>
              <a:rPr lang="en-US" sz="1200" dirty="0">
                <a:solidFill>
                  <a:schemeClr val="bg1"/>
                </a:solidFill>
                <a:latin typeface="Courier New" pitchFamily="34" charset="0"/>
                <a:ea typeface="Courier New" pitchFamily="34" charset="-122"/>
                <a:cs typeface="Courier New" pitchFamily="34" charset="-120"/>
              </a:rPr>
              <a:t>  diem_ai       NUMERIC(5,2)</a:t>
            </a:r>
            <a:endParaRPr lang="en-US" sz="1200" dirty="0"/>
          </a:p>
          <a:p>
            <a:pPr indent="0" marL="0">
              <a:lnSpc>
                <a:spcPct val="125000"/>
              </a:lnSpc>
              <a:buNone/>
            </a:pPr>
            <a:r>
              <a:rPr lang="en-US" sz="1200" dirty="0">
                <a:solidFill>
                  <a:schemeClr val="bg1"/>
                </a:solidFill>
                <a:latin typeface="Courier New" pitchFamily="34" charset="0"/>
                <a:ea typeface="Courier New" pitchFamily="34" charset="-122"/>
                <a:cs typeface="Courier New" pitchFamily="34" charset="-120"/>
              </a:rPr>
              <a:t>                </a:t>
            </a:r>
            <a:r>
              <a:rPr lang="en-US" sz="1200" b="1" dirty="0">
                <a:solidFill>
                  <a:schemeClr val="accent2"/>
                </a:solidFill>
                <a:latin typeface="Courier New" pitchFamily="34" charset="0"/>
                <a:ea typeface="Courier New" pitchFamily="34" charset="-122"/>
                <a:cs typeface="Courier New" pitchFamily="34" charset="-120"/>
              </a:rPr>
              <a:t>CHECK</a:t>
            </a:r>
            <a:r>
              <a:rPr lang="en-US" sz="1200" dirty="0">
                <a:solidFill>
                  <a:schemeClr val="bg1"/>
                </a:solidFill>
                <a:latin typeface="Courier New" pitchFamily="34" charset="0"/>
                <a:ea typeface="Courier New" pitchFamily="34" charset="-122"/>
                <a:cs typeface="Courier New" pitchFamily="34" charset="-120"/>
              </a:rPr>
              <a:t> (diem_ai BETWEEN 0 AND 100)</a:t>
            </a:r>
            <a:endParaRPr lang="en-US" sz="1200" dirty="0"/>
          </a:p>
          <a:p>
            <a:pPr indent="0" marL="0">
              <a:lnSpc>
                <a:spcPct val="125000"/>
              </a:lnSpc>
              <a:buNone/>
            </a:pPr>
            <a:r>
              <a:rPr lang="en-US" sz="1200" dirty="0">
                <a:solidFill>
                  <a:schemeClr val="bg1"/>
                </a:solidFill>
                <a:latin typeface="Courier New" pitchFamily="34" charset="0"/>
                <a:ea typeface="Courier New" pitchFamily="34" charset="-122"/>
                <a:cs typeface="Courier New" pitchFamily="34" charset="-120"/>
              </a:rPr>
              <a:t>);</a:t>
            </a:r>
            <a:endParaRPr lang="en-US" sz="1200" dirty="0"/>
          </a:p>
        </p:txBody>
      </p:sp>
      <p:sp>
        <p:nvSpPr>
          <p:cNvPr id="21" name="SQL caption"/>
          <p:cNvSpPr txBox="1"/>
          <p:nvPr/>
        </p:nvSpPr>
        <p:spPr>
          <a:xfrm>
            <a:off x="5669280" y="5733288"/>
            <a:ext cx="5971032" cy="320040"/>
          </a:xfrm>
          <a:prstGeom prst="rect">
            <a:avLst/>
          </a:prstGeom>
          <a:noFill/>
          <a:ln/>
        </p:spPr>
        <p:txBody>
          <a:bodyPr wrap="square" lIns="0" tIns="0" rIns="0" bIns="0" rtlCol="0" anchor="ctr"/>
          <a:lstStyle/>
          <a:p>
            <a:pPr algn="r" indent="0" marL="0">
              <a:buNone/>
            </a:pPr>
            <a:r>
              <a:rPr lang="en-US" sz="1200" i="1" dirty="0">
                <a:solidFill>
                  <a:schemeClr val="accent4"/>
                </a:solidFill>
              </a:rPr>
              <a:t>Rút gọn từ kho_du_lieu.sql – chạy được trên PostgreSQL và SQLite</a:t>
            </a:r>
            <a:endParaRPr lang="en-US" sz="1200" dirty="0"/>
          </a:p>
        </p:txBody>
      </p:sp>
      <p:sp>
        <p:nvSpPr>
          <p:cNvPr id="25" name="Slide Number Placeholder 0"/>
          <p:cNvSpPr>
            <a:spLocks noGrp="1"/>
          </p:cNvSpPr>
          <p:nvPr>
            <p:ph type="sldNum" sz="quarter" idx="4294967295"/>
          </p:nvPr>
        </p:nvSpPr>
        <p:spPr>
          <a:xfrm>
            <a:off x="11183112" y="635508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Kết quả chạy thử và liên kết với sản phẩm</a:t>
            </a:r>
            <a:endParaRPr lang="en-US" sz="3200" dirty="0"/>
          </a:p>
        </p:txBody>
      </p:sp>
      <p:graphicFrame>
        <p:nvGraphicFramePr>
          <p:cNvPr id="3" name="Rejected chart" descr=""/>
          <p:cNvGraphicFramePr/>
          <p:nvPr/>
        </p:nvGraphicFramePr>
        <p:xfrm>
          <a:off x="548640" y="1371600"/>
          <a:ext cx="5760720" cy="4663440"/>
        </p:xfrm>
        <a:graphic xmlns:a="http://schemas.openxmlformats.org/drawingml/2006/main">
          <a:graphicData uri="http://schemas.openxmlformats.org/drawingml/2006/chart">
            <c:chart xmlns:c="http://schemas.openxmlformats.org/drawingml/2006/chart" r:id="rId1"/>
          </a:graphicData>
        </a:graphic>
      </p:graphicFrame>
      <p:sp>
        <p:nvSpPr>
          <p:cNvPr id="4" name="Stat tile 1"/>
          <p:cNvSpPr/>
          <p:nvPr/>
        </p:nvSpPr>
        <p:spPr>
          <a:xfrm>
            <a:off x="6675120" y="1371600"/>
            <a:ext cx="2414016" cy="1161288"/>
          </a:xfrm>
          <a:prstGeom prst="roundRect">
            <a:avLst>
              <a:gd name="adj" fmla="val 7874"/>
            </a:avLst>
          </a:prstGeom>
          <a:solidFill>
            <a:schemeClr val="bg2"/>
          </a:solidFill>
          <a:ln w="12700">
            <a:solidFill>
              <a:schemeClr val="bg2"/>
            </a:solidFill>
            <a:prstDash val="solid"/>
          </a:ln>
        </p:spPr>
      </p:sp>
      <p:sp>
        <p:nvSpPr>
          <p:cNvPr id="5" name="Stat text 1"/>
          <p:cNvSpPr txBox="1"/>
          <p:nvPr/>
        </p:nvSpPr>
        <p:spPr>
          <a:xfrm>
            <a:off x="6839712" y="1417320"/>
            <a:ext cx="2148840" cy="1069848"/>
          </a:xfrm>
          <a:prstGeom prst="rect">
            <a:avLst/>
          </a:prstGeom>
          <a:noFill/>
          <a:ln/>
        </p:spPr>
        <p:txBody>
          <a:bodyPr wrap="square" lIns="0" tIns="0" rIns="0" bIns="0" rtlCol="0" anchor="ctr"/>
          <a:lstStyle/>
          <a:p>
            <a:pPr indent="0" marL="0">
              <a:buNone/>
            </a:pPr>
            <a:r>
              <a:rPr lang="en-US" sz="3000" b="1" dirty="0">
                <a:solidFill>
                  <a:schemeClr val="tx2"/>
                </a:solidFill>
              </a:rPr>
              <a:t>17 → 5</a:t>
            </a:r>
            <a:endParaRPr lang="en-US" sz="3000" dirty="0"/>
          </a:p>
          <a:p>
            <a:pPr indent="0" marL="0">
              <a:buNone/>
            </a:pPr>
            <a:r>
              <a:rPr lang="en-US" sz="1300" dirty="0">
                <a:solidFill>
                  <a:schemeClr val="accent4"/>
                </a:solidFill>
              </a:rPr>
              <a:t>cách ghi vòng gom về 5 vòng chuẩn</a:t>
            </a:r>
            <a:endParaRPr lang="en-US" sz="3000" dirty="0"/>
          </a:p>
        </p:txBody>
      </p:sp>
      <p:sp>
        <p:nvSpPr>
          <p:cNvPr id="6" name="Stat tile 2"/>
          <p:cNvSpPr/>
          <p:nvPr/>
        </p:nvSpPr>
        <p:spPr>
          <a:xfrm>
            <a:off x="9226296" y="1371600"/>
            <a:ext cx="2414016" cy="1161288"/>
          </a:xfrm>
          <a:prstGeom prst="roundRect">
            <a:avLst>
              <a:gd name="adj" fmla="val 7874"/>
            </a:avLst>
          </a:prstGeom>
          <a:solidFill>
            <a:schemeClr val="bg2"/>
          </a:solidFill>
          <a:ln w="12700">
            <a:solidFill>
              <a:schemeClr val="bg2"/>
            </a:solidFill>
            <a:prstDash val="solid"/>
          </a:ln>
        </p:spPr>
      </p:sp>
      <p:sp>
        <p:nvSpPr>
          <p:cNvPr id="7" name="Stat text 2"/>
          <p:cNvSpPr txBox="1"/>
          <p:nvPr/>
        </p:nvSpPr>
        <p:spPr>
          <a:xfrm>
            <a:off x="9390888" y="1417320"/>
            <a:ext cx="2148840" cy="1069848"/>
          </a:xfrm>
          <a:prstGeom prst="rect">
            <a:avLst/>
          </a:prstGeom>
          <a:noFill/>
          <a:ln/>
        </p:spPr>
        <p:txBody>
          <a:bodyPr wrap="square" lIns="0" tIns="0" rIns="0" bIns="0" rtlCol="0" anchor="ctr"/>
          <a:lstStyle/>
          <a:p>
            <a:pPr indent="0" marL="0">
              <a:buNone/>
            </a:pPr>
            <a:r>
              <a:rPr lang="en-US" sz="3000" b="1" dirty="0">
                <a:solidFill>
                  <a:schemeClr val="tx2"/>
                </a:solidFill>
              </a:rPr>
              <a:t>207</a:t>
            </a:r>
            <a:endParaRPr lang="en-US" sz="3000" dirty="0"/>
          </a:p>
          <a:p>
            <a:pPr indent="0" marL="0">
              <a:buNone/>
            </a:pPr>
            <a:r>
              <a:rPr lang="en-US" sz="1300" dirty="0">
                <a:solidFill>
                  <a:schemeClr val="accent4"/>
                </a:solidFill>
              </a:rPr>
              <a:t>hồ sơ sạch lưu vào 6 bảng</a:t>
            </a:r>
            <a:endParaRPr lang="en-US" sz="3000" dirty="0"/>
          </a:p>
        </p:txBody>
      </p:sp>
      <p:sp>
        <p:nvSpPr>
          <p:cNvPr id="8" name="Stat tile 3"/>
          <p:cNvSpPr/>
          <p:nvPr/>
        </p:nvSpPr>
        <p:spPr>
          <a:xfrm>
            <a:off x="6675120" y="2670048"/>
            <a:ext cx="2414016" cy="1161288"/>
          </a:xfrm>
          <a:prstGeom prst="roundRect">
            <a:avLst>
              <a:gd name="adj" fmla="val 7874"/>
            </a:avLst>
          </a:prstGeom>
          <a:solidFill>
            <a:schemeClr val="bg2"/>
          </a:solidFill>
          <a:ln w="12700">
            <a:solidFill>
              <a:schemeClr val="bg2"/>
            </a:solidFill>
            <a:prstDash val="solid"/>
          </a:ln>
        </p:spPr>
      </p:sp>
      <p:sp>
        <p:nvSpPr>
          <p:cNvPr id="9" name="Stat text 3"/>
          <p:cNvSpPr txBox="1"/>
          <p:nvPr/>
        </p:nvSpPr>
        <p:spPr>
          <a:xfrm>
            <a:off x="6839712" y="2715768"/>
            <a:ext cx="2148840" cy="1069848"/>
          </a:xfrm>
          <a:prstGeom prst="rect">
            <a:avLst/>
          </a:prstGeom>
          <a:noFill/>
          <a:ln/>
        </p:spPr>
        <p:txBody>
          <a:bodyPr wrap="square" lIns="0" tIns="0" rIns="0" bIns="0" rtlCol="0" anchor="ctr"/>
          <a:lstStyle/>
          <a:p>
            <a:pPr indent="0" marL="0">
              <a:buNone/>
            </a:pPr>
            <a:r>
              <a:rPr lang="en-US" sz="3000" b="1" dirty="0">
                <a:solidFill>
                  <a:schemeClr val="tx2"/>
                </a:solidFill>
              </a:rPr>
              <a:t>25 ngày</a:t>
            </a:r>
            <a:endParaRPr lang="en-US" sz="3000" dirty="0"/>
          </a:p>
          <a:p>
            <a:pPr indent="0" marL="0">
              <a:buNone/>
            </a:pPr>
            <a:r>
              <a:rPr lang="en-US" sz="1300" dirty="0">
                <a:solidFill>
                  <a:schemeClr val="accent4"/>
                </a:solidFill>
              </a:rPr>
              <a:t>thời gian tuyển trung bình</a:t>
            </a:r>
            <a:endParaRPr lang="en-US" sz="3000" dirty="0"/>
          </a:p>
        </p:txBody>
      </p:sp>
      <p:sp>
        <p:nvSpPr>
          <p:cNvPr id="10" name="Stat tile 4"/>
          <p:cNvSpPr/>
          <p:nvPr/>
        </p:nvSpPr>
        <p:spPr>
          <a:xfrm>
            <a:off x="9226296" y="2670048"/>
            <a:ext cx="2414016" cy="1161288"/>
          </a:xfrm>
          <a:prstGeom prst="roundRect">
            <a:avLst>
              <a:gd name="adj" fmla="val 7874"/>
            </a:avLst>
          </a:prstGeom>
          <a:solidFill>
            <a:schemeClr val="tx2"/>
          </a:solidFill>
          <a:ln w="12700">
            <a:solidFill>
              <a:schemeClr val="tx2"/>
            </a:solidFill>
            <a:prstDash val="solid"/>
          </a:ln>
        </p:spPr>
      </p:sp>
      <p:sp>
        <p:nvSpPr>
          <p:cNvPr id="11" name="Stat text 4"/>
          <p:cNvSpPr txBox="1"/>
          <p:nvPr/>
        </p:nvSpPr>
        <p:spPr>
          <a:xfrm>
            <a:off x="9390888" y="2715768"/>
            <a:ext cx="2148840" cy="1069848"/>
          </a:xfrm>
          <a:prstGeom prst="rect">
            <a:avLst/>
          </a:prstGeom>
          <a:noFill/>
          <a:ln/>
        </p:spPr>
        <p:txBody>
          <a:bodyPr wrap="square" lIns="0" tIns="0" rIns="0" bIns="0" rtlCol="0" anchor="ctr"/>
          <a:lstStyle/>
          <a:p>
            <a:pPr indent="0" marL="0">
              <a:buNone/>
            </a:pPr>
            <a:r>
              <a:rPr lang="en-US" sz="3000" b="1" dirty="0">
                <a:solidFill>
                  <a:schemeClr val="accent2"/>
                </a:solidFill>
              </a:rPr>
              <a:t>3/3</a:t>
            </a:r>
            <a:endParaRPr lang="en-US" sz="3000" dirty="0"/>
          </a:p>
          <a:p>
            <a:pPr indent="0" marL="0">
              <a:buNone/>
            </a:pPr>
            <a:r>
              <a:rPr lang="en-US" sz="1300" dirty="0">
                <a:solidFill>
                  <a:schemeClr val="bg1"/>
                </a:solidFill>
              </a:rPr>
              <a:t>dữ liệu sai bị chặn</a:t>
            </a:r>
            <a:endParaRPr lang="en-US" sz="3000" dirty="0"/>
          </a:p>
        </p:txBody>
      </p:sp>
      <p:sp>
        <p:nvSpPr>
          <p:cNvPr id="12" name="Link card"/>
          <p:cNvSpPr/>
          <p:nvPr/>
        </p:nvSpPr>
        <p:spPr>
          <a:xfrm>
            <a:off x="6675120" y="4041648"/>
            <a:ext cx="4965192" cy="1993392"/>
          </a:xfrm>
          <a:prstGeom prst="roundRect">
            <a:avLst>
              <a:gd name="adj" fmla="val 4587"/>
            </a:avLst>
          </a:prstGeom>
          <a:solidFill>
            <a:schemeClr val="bg1"/>
          </a:solidFill>
          <a:ln w="12700">
            <a:solidFill>
              <a:schemeClr val="accent6"/>
            </a:solidFill>
            <a:prstDash val="solid"/>
          </a:ln>
        </p:spPr>
      </p:sp>
      <p:sp>
        <p:nvSpPr>
          <p:cNvPr id="13" name="Run command"/>
          <p:cNvSpPr txBox="1"/>
          <p:nvPr/>
        </p:nvSpPr>
        <p:spPr>
          <a:xfrm>
            <a:off x="6858000" y="4160520"/>
            <a:ext cx="4572000" cy="365760"/>
          </a:xfrm>
          <a:prstGeom prst="rect">
            <a:avLst/>
          </a:prstGeom>
          <a:noFill/>
          <a:ln/>
        </p:spPr>
        <p:txBody>
          <a:bodyPr wrap="square" lIns="0" tIns="0" rIns="0" bIns="0" rtlCol="0" anchor="ctr"/>
          <a:lstStyle/>
          <a:p>
            <a:pPr indent="0" marL="0">
              <a:buNone/>
            </a:pPr>
            <a:r>
              <a:rPr lang="en-US" sz="1400" b="1" dirty="0">
                <a:solidFill>
                  <a:schemeClr val="accent1"/>
                </a:solidFill>
                <a:latin typeface="Courier New" pitchFamily="34" charset="0"/>
                <a:ea typeface="Courier New" pitchFamily="34" charset="-122"/>
                <a:cs typeface="Courier New" pitchFamily="34" charset="-120"/>
              </a:rPr>
              <a:t>$ python tao_kho_du_lieu.py</a:t>
            </a:r>
            <a:endParaRPr lang="en-US" sz="1400" dirty="0"/>
          </a:p>
        </p:txBody>
      </p:sp>
      <p:sp>
        <p:nvSpPr>
          <p:cNvPr id="14" name="Link bullets"/>
          <p:cNvSpPr txBox="1"/>
          <p:nvPr/>
        </p:nvSpPr>
        <p:spPr>
          <a:xfrm>
            <a:off x="6858000" y="4617720"/>
            <a:ext cx="4617720" cy="1325880"/>
          </a:xfrm>
          <a:prstGeom prst="rect">
            <a:avLst/>
          </a:prstGeom>
          <a:noFill/>
          <a:ln/>
        </p:spPr>
        <p:txBody>
          <a:bodyPr wrap="square" lIns="0" tIns="0" rIns="0" bIns="0" rtlCol="0" anchor="t"/>
          <a:lstStyle/>
          <a:p>
            <a:pPr marL="228600" indent="-228600">
              <a:spcAft>
                <a:spcPts val="900"/>
              </a:spcAft>
              <a:buSzPct val="100000"/>
              <a:buChar char="•"/>
            </a:pPr>
            <a:r>
              <a:rPr lang="en-US" sz="1500" dirty="0">
                <a:solidFill>
                  <a:schemeClr val="tx1"/>
                </a:solidFill>
              </a:rPr>
              <a:t>Phần AI của nhóm ghi điểm vào cột diem_ai</a:t>
            </a:r>
            <a:endParaRPr lang="en-US" sz="1500" dirty="0"/>
          </a:p>
          <a:p>
            <a:pPr marL="228600" indent="-228600">
              <a:spcAft>
                <a:spcPts val="900"/>
              </a:spcAft>
              <a:buSzPct val="100000"/>
              <a:buChar char="•"/>
            </a:pPr>
            <a:r>
              <a:rPr lang="en-US" sz="1500" dirty="0">
                <a:solidFill>
                  <a:schemeClr val="tx1"/>
                </a:solidFill>
              </a:rPr>
              <a:t>Dashboard đọc 6 bảng này để vẽ biểu đồ</a:t>
            </a:r>
            <a:endParaRPr lang="en-US" sz="1500" dirty="0"/>
          </a:p>
          <a:p>
            <a:pPr marL="228600" indent="-228600">
              <a:spcAft>
                <a:spcPts val="900"/>
              </a:spcAft>
              <a:buSzPct val="100000"/>
              <a:buChar char="•"/>
            </a:pPr>
            <a:r>
              <a:rPr lang="en-US" sz="1500" dirty="0">
                <a:solidFill>
                  <a:schemeClr val="tx1"/>
                </a:solidFill>
              </a:rPr>
              <a:t>Cả nhóm dùng chung danh mục vòng, trạng thái</a:t>
            </a:r>
            <a:endParaRPr lang="en-US" sz="1500" dirty="0"/>
          </a:p>
        </p:txBody>
      </p:sp>
      <p:sp>
        <p:nvSpPr>
          <p:cNvPr id="25" name="Slide Number Placeholder 0"/>
          <p:cNvSpPr>
            <a:spLocks noGrp="1"/>
          </p:cNvSpPr>
          <p:nvPr>
            <p:ph type="sldNum" sz="quarter" idx="4294967295"/>
          </p:nvPr>
        </p:nvSpPr>
        <p:spPr>
          <a:xfrm>
            <a:off x="11183112" y="635508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77240"/>
          </a:xfrm>
          <a:prstGeom prst="rect">
            <a:avLst/>
          </a:prstGeom>
          <a:noFill/>
          <a:ln/>
        </p:spPr>
        <p:txBody>
          <a:bodyPr wrap="square" lIns="0" tIns="0" rIns="0" bIns="0" rtlCol="0" anchor="ctr"/>
          <a:lstStyle/>
          <a:p>
            <a:pPr algn="l" indent="0" marL="0">
              <a:buNone/>
            </a:pPr>
            <a:r>
              <a:rPr lang="en-US" sz="3200" b="1" dirty="0">
                <a:solidFill>
                  <a:schemeClr val="bg1"/>
                </a:solidFill>
                <a:latin typeface="Cambria" pitchFamily="34" charset="0"/>
                <a:ea typeface="Cambria" pitchFamily="34" charset="-122"/>
                <a:cs typeface="Cambria" pitchFamily="34" charset="-120"/>
              </a:rPr>
              <a:t>Khó khăn, hướng cải thiện và tham khảo</a:t>
            </a:r>
            <a:endParaRPr lang="en-US" sz="3200" dirty="0"/>
          </a:p>
        </p:txBody>
      </p:sp>
      <p:sp>
        <p:nvSpPr>
          <p:cNvPr id="3" name="Khó khăn card"/>
          <p:cNvSpPr/>
          <p:nvPr/>
        </p:nvSpPr>
        <p:spPr>
          <a:xfrm>
            <a:off x="548640" y="1371600"/>
            <a:ext cx="3520440" cy="4343400"/>
          </a:xfrm>
          <a:prstGeom prst="roundRect">
            <a:avLst>
              <a:gd name="adj" fmla="val 3117"/>
            </a:avLst>
          </a:prstGeom>
          <a:solidFill>
            <a:schemeClr val="bg1">
              <a:alpha val="10000"/>
            </a:schemeClr>
          </a:solidFill>
          <a:ln w="9525">
            <a:solidFill>
              <a:schemeClr val="accent6">
                <a:alpha val="40000"/>
              </a:schemeClr>
            </a:solidFill>
            <a:prstDash val="solid"/>
          </a:ln>
        </p:spPr>
      </p:sp>
      <p:sp>
        <p:nvSpPr>
          <p:cNvPr id="4" name="Khó khăn circle"/>
          <p:cNvSpPr/>
          <p:nvPr/>
        </p:nvSpPr>
        <p:spPr>
          <a:xfrm>
            <a:off x="822960" y="1600200"/>
            <a:ext cx="594360" cy="594360"/>
          </a:xfrm>
          <a:prstGeom prst="ellipse">
            <a:avLst/>
          </a:prstGeom>
          <a:solidFill>
            <a:schemeClr val="accent3"/>
          </a:solidFill>
          <a:ln w="12700">
            <a:solidFill>
              <a:schemeClr val="accent3"/>
            </a:solidFill>
            <a:prstDash val="solid"/>
          </a:ln>
        </p:spPr>
      </p:sp>
      <p:pic>
        <p:nvPicPr>
          <p:cNvPr id="5" name="Khó khăn icon" descr="Khó khăn">    </p:cNvPr>
          <p:cNvPicPr>
            <a:picLocks noChangeAspect="1"/>
          </p:cNvPicPr>
          <p:nvPr/>
        </p:nvPicPr>
        <p:blipFill>
          <a:blip r:embed="rId1"/>
          <a:stretch>
            <a:fillRect/>
          </a:stretch>
        </p:blipFill>
        <p:spPr>
          <a:xfrm>
            <a:off x="971550" y="1748790"/>
            <a:ext cx="297180" cy="297180"/>
          </a:xfrm>
          <a:prstGeom prst="rect">
            <a:avLst/>
          </a:prstGeom>
        </p:spPr>
      </p:pic>
      <p:sp>
        <p:nvSpPr>
          <p:cNvPr id="6" name="Khó khăn header"/>
          <p:cNvSpPr txBox="1"/>
          <p:nvPr/>
        </p:nvSpPr>
        <p:spPr>
          <a:xfrm>
            <a:off x="1554480" y="1600200"/>
            <a:ext cx="2377440" cy="594360"/>
          </a:xfrm>
          <a:prstGeom prst="rect">
            <a:avLst/>
          </a:prstGeom>
          <a:noFill/>
          <a:ln/>
        </p:spPr>
        <p:txBody>
          <a:bodyPr wrap="square" lIns="0" tIns="0" rIns="0" bIns="0" rtlCol="0" anchor="ctr"/>
          <a:lstStyle/>
          <a:p>
            <a:pPr indent="0" marL="0">
              <a:buNone/>
            </a:pPr>
            <a:r>
              <a:rPr lang="en-US" sz="1900" b="1" dirty="0">
                <a:solidFill>
                  <a:schemeClr val="bg1"/>
                </a:solidFill>
              </a:rPr>
              <a:t>Khó khăn</a:t>
            </a:r>
            <a:endParaRPr lang="en-US" sz="1900" dirty="0"/>
          </a:p>
        </p:txBody>
      </p:sp>
      <p:sp>
        <p:nvSpPr>
          <p:cNvPr id="7" name="Khó khăn body"/>
          <p:cNvSpPr txBox="1"/>
          <p:nvPr/>
        </p:nvSpPr>
        <p:spPr>
          <a:xfrm>
            <a:off x="822960" y="2423160"/>
            <a:ext cx="3017520" cy="3154680"/>
          </a:xfrm>
          <a:prstGeom prst="rect">
            <a:avLst/>
          </a:prstGeom>
          <a:noFill/>
          <a:ln/>
        </p:spPr>
        <p:txBody>
          <a:bodyPr wrap="square" lIns="0" tIns="0" rIns="0" bIns="0" rtlCol="0" anchor="t"/>
          <a:lstStyle/>
          <a:p>
            <a:pPr marL="228600" indent="-228600">
              <a:spcAft>
                <a:spcPts val="1000"/>
              </a:spcAft>
              <a:buSzPct val="100000"/>
              <a:buChar char="•"/>
            </a:pPr>
            <a:r>
              <a:rPr lang="en-US" sz="1600" dirty="0">
                <a:solidFill>
                  <a:schemeClr val="bg1"/>
                </a:solidFill>
              </a:rPr>
              <a:t>Một giá trị có rất nhiều cách ghi, phải gom cho đủ</a:t>
            </a:r>
            <a:endParaRPr lang="en-US" sz="1600" dirty="0"/>
          </a:p>
          <a:p>
            <a:pPr marL="228600" indent="-228600">
              <a:spcAft>
                <a:spcPts val="1000"/>
              </a:spcAft>
              <a:buSzPct val="100000"/>
              <a:buChar char="•"/>
            </a:pPr>
            <a:r>
              <a:rPr lang="en-US" sz="1600" dirty="0">
                <a:solidFill>
                  <a:schemeClr val="bg1"/>
                </a:solidFill>
              </a:rPr>
              <a:t>Phải thống nhất danh mục với cả nhóm</a:t>
            </a:r>
            <a:endParaRPr lang="en-US" sz="1600" dirty="0"/>
          </a:p>
          <a:p>
            <a:pPr marL="228600" indent="-228600">
              <a:spcAft>
                <a:spcPts val="1000"/>
              </a:spcAft>
              <a:buSzPct val="100000"/>
              <a:buChar char="•"/>
            </a:pPr>
            <a:r>
              <a:rPr lang="en-US" sz="1600" dirty="0">
                <a:solidFill>
                  <a:schemeClr val="bg1"/>
                </a:solidFill>
              </a:rPr>
              <a:t>Có dòng không nhận ra được, phải nhờ HR kiểm tra</a:t>
            </a:r>
            <a:endParaRPr lang="en-US" sz="1600" dirty="0"/>
          </a:p>
          <a:p>
            <a:pPr marL="228600" indent="-228600">
              <a:spcAft>
                <a:spcPts val="1000"/>
              </a:spcAft>
              <a:buSzPct val="100000"/>
              <a:buChar char="•"/>
            </a:pPr>
            <a:r>
              <a:rPr lang="en-US" sz="1600" dirty="0">
                <a:solidFill>
                  <a:schemeClr val="bg1"/>
                </a:solidFill>
              </a:rPr>
              <a:t>Tách bảng vừa đủ: nhiều quá thì khó truy vấn</a:t>
            </a:r>
            <a:endParaRPr lang="en-US" sz="1600" dirty="0"/>
          </a:p>
        </p:txBody>
      </p:sp>
      <p:sp>
        <p:nvSpPr>
          <p:cNvPr id="8" name="Hướng cải thiện card"/>
          <p:cNvSpPr/>
          <p:nvPr/>
        </p:nvSpPr>
        <p:spPr>
          <a:xfrm>
            <a:off x="4334256" y="1371600"/>
            <a:ext cx="3520440" cy="4343400"/>
          </a:xfrm>
          <a:prstGeom prst="roundRect">
            <a:avLst>
              <a:gd name="adj" fmla="val 3117"/>
            </a:avLst>
          </a:prstGeom>
          <a:solidFill>
            <a:schemeClr val="bg1">
              <a:alpha val="10000"/>
            </a:schemeClr>
          </a:solidFill>
          <a:ln w="9525">
            <a:solidFill>
              <a:schemeClr val="accent6">
                <a:alpha val="40000"/>
              </a:schemeClr>
            </a:solidFill>
            <a:prstDash val="solid"/>
          </a:ln>
        </p:spPr>
      </p:sp>
      <p:sp>
        <p:nvSpPr>
          <p:cNvPr id="9" name="Hướng cải thiện circle"/>
          <p:cNvSpPr/>
          <p:nvPr/>
        </p:nvSpPr>
        <p:spPr>
          <a:xfrm>
            <a:off x="4608576" y="1600200"/>
            <a:ext cx="594360" cy="594360"/>
          </a:xfrm>
          <a:prstGeom prst="ellipse">
            <a:avLst/>
          </a:prstGeom>
          <a:solidFill>
            <a:schemeClr val="accent2"/>
          </a:solidFill>
          <a:ln w="12700">
            <a:solidFill>
              <a:schemeClr val="accent2"/>
            </a:solidFill>
            <a:prstDash val="solid"/>
          </a:ln>
        </p:spPr>
      </p:sp>
      <p:pic>
        <p:nvPicPr>
          <p:cNvPr id="10" name="Hướng cải thiện icon" descr="Hướng cải thiện">    </p:cNvPr>
          <p:cNvPicPr>
            <a:picLocks noChangeAspect="1"/>
          </p:cNvPicPr>
          <p:nvPr/>
        </p:nvPicPr>
        <p:blipFill>
          <a:blip r:embed="rId2"/>
          <a:stretch>
            <a:fillRect/>
          </a:stretch>
        </p:blipFill>
        <p:spPr>
          <a:xfrm>
            <a:off x="4757166" y="1748790"/>
            <a:ext cx="297180" cy="297180"/>
          </a:xfrm>
          <a:prstGeom prst="rect">
            <a:avLst/>
          </a:prstGeom>
        </p:spPr>
      </p:pic>
      <p:sp>
        <p:nvSpPr>
          <p:cNvPr id="11" name="Hướng cải thiện header"/>
          <p:cNvSpPr txBox="1"/>
          <p:nvPr/>
        </p:nvSpPr>
        <p:spPr>
          <a:xfrm>
            <a:off x="5340096" y="1600200"/>
            <a:ext cx="2377440" cy="594360"/>
          </a:xfrm>
          <a:prstGeom prst="rect">
            <a:avLst/>
          </a:prstGeom>
          <a:noFill/>
          <a:ln/>
        </p:spPr>
        <p:txBody>
          <a:bodyPr wrap="square" lIns="0" tIns="0" rIns="0" bIns="0" rtlCol="0" anchor="ctr"/>
          <a:lstStyle/>
          <a:p>
            <a:pPr indent="0" marL="0">
              <a:buNone/>
            </a:pPr>
            <a:r>
              <a:rPr lang="en-US" sz="1900" b="1" dirty="0">
                <a:solidFill>
                  <a:schemeClr val="bg1"/>
                </a:solidFill>
              </a:rPr>
              <a:t>Hướng cải thiện</a:t>
            </a:r>
            <a:endParaRPr lang="en-US" sz="1900" dirty="0"/>
          </a:p>
        </p:txBody>
      </p:sp>
      <p:sp>
        <p:nvSpPr>
          <p:cNvPr id="12" name="Hướng cải thiện body"/>
          <p:cNvSpPr txBox="1"/>
          <p:nvPr/>
        </p:nvSpPr>
        <p:spPr>
          <a:xfrm>
            <a:off x="4608576" y="2423160"/>
            <a:ext cx="3017520" cy="3154680"/>
          </a:xfrm>
          <a:prstGeom prst="rect">
            <a:avLst/>
          </a:prstGeom>
          <a:noFill/>
          <a:ln/>
        </p:spPr>
        <p:txBody>
          <a:bodyPr wrap="square" lIns="0" tIns="0" rIns="0" bIns="0" rtlCol="0" anchor="t"/>
          <a:lstStyle/>
          <a:p>
            <a:pPr marL="228600" indent="-228600">
              <a:spcAft>
                <a:spcPts val="1000"/>
              </a:spcAft>
              <a:buSzPct val="100000"/>
              <a:buChar char="•"/>
            </a:pPr>
            <a:r>
              <a:rPr lang="en-US" sz="1600" dirty="0">
                <a:solidFill>
                  <a:schemeClr val="bg1"/>
                </a:solidFill>
              </a:rPr>
              <a:t>Thêm bảng lịch sử để biết ngày qua từng vòng</a:t>
            </a:r>
            <a:endParaRPr lang="en-US" sz="1600" dirty="0"/>
          </a:p>
          <a:p>
            <a:pPr marL="228600" indent="-228600">
              <a:spcAft>
                <a:spcPts val="1000"/>
              </a:spcAft>
              <a:buSzPct val="100000"/>
              <a:buChar char="•"/>
            </a:pPr>
            <a:r>
              <a:rPr lang="en-US" sz="1600" dirty="0">
                <a:solidFill>
                  <a:schemeClr val="bg1"/>
                </a:solidFill>
              </a:rPr>
              <a:t>Thêm bảng kỹ năng ứng viên cho phần AI</a:t>
            </a:r>
            <a:endParaRPr lang="en-US" sz="1600" dirty="0"/>
          </a:p>
          <a:p>
            <a:pPr marL="228600" indent="-228600">
              <a:spcAft>
                <a:spcPts val="1000"/>
              </a:spcAft>
              <a:buSzPct val="100000"/>
              <a:buChar char="•"/>
            </a:pPr>
            <a:r>
              <a:rPr lang="en-US" sz="1600" dirty="0">
                <a:solidFill>
                  <a:schemeClr val="bg1"/>
                </a:solidFill>
              </a:rPr>
              <a:t>Tự gợi ý khi gặp cách ghi mới chưa có trong danh mục</a:t>
            </a:r>
            <a:endParaRPr lang="en-US" sz="1600" dirty="0"/>
          </a:p>
          <a:p>
            <a:pPr marL="228600" indent="-228600">
              <a:spcAft>
                <a:spcPts val="1000"/>
              </a:spcAft>
              <a:buSzPct val="100000"/>
              <a:buChar char="•"/>
            </a:pPr>
            <a:r>
              <a:rPr lang="en-US" sz="1600" dirty="0">
                <a:solidFill>
                  <a:schemeClr val="bg1"/>
                </a:solidFill>
              </a:rPr>
              <a:t>Kiểm tra chất lượng dữ liệu tự động mỗi ngày</a:t>
            </a:r>
            <a:endParaRPr lang="en-US" sz="1600" dirty="0"/>
          </a:p>
        </p:txBody>
      </p:sp>
      <p:sp>
        <p:nvSpPr>
          <p:cNvPr id="13" name="Nguồn tham khảo card"/>
          <p:cNvSpPr/>
          <p:nvPr/>
        </p:nvSpPr>
        <p:spPr>
          <a:xfrm>
            <a:off x="8119872" y="1371600"/>
            <a:ext cx="3520440" cy="4343400"/>
          </a:xfrm>
          <a:prstGeom prst="roundRect">
            <a:avLst>
              <a:gd name="adj" fmla="val 3117"/>
            </a:avLst>
          </a:prstGeom>
          <a:solidFill>
            <a:schemeClr val="bg1">
              <a:alpha val="10000"/>
            </a:schemeClr>
          </a:solidFill>
          <a:ln w="9525">
            <a:solidFill>
              <a:schemeClr val="accent6">
                <a:alpha val="40000"/>
              </a:schemeClr>
            </a:solidFill>
            <a:prstDash val="solid"/>
          </a:ln>
        </p:spPr>
      </p:sp>
      <p:sp>
        <p:nvSpPr>
          <p:cNvPr id="14" name="Nguồn tham khảo circle"/>
          <p:cNvSpPr/>
          <p:nvPr/>
        </p:nvSpPr>
        <p:spPr>
          <a:xfrm>
            <a:off x="8394192" y="1600200"/>
            <a:ext cx="594360" cy="594360"/>
          </a:xfrm>
          <a:prstGeom prst="ellipse">
            <a:avLst/>
          </a:prstGeom>
          <a:solidFill>
            <a:schemeClr val="accent1"/>
          </a:solidFill>
          <a:ln w="12700">
            <a:solidFill>
              <a:schemeClr val="accent1"/>
            </a:solidFill>
            <a:prstDash val="solid"/>
          </a:ln>
        </p:spPr>
      </p:sp>
      <p:pic>
        <p:nvPicPr>
          <p:cNvPr id="15" name="Nguồn tham khảo icon" descr="Nguồn tham khảo">    </p:cNvPr>
          <p:cNvPicPr>
            <a:picLocks noChangeAspect="1"/>
          </p:cNvPicPr>
          <p:nvPr/>
        </p:nvPicPr>
        <p:blipFill>
          <a:blip r:embed="rId3"/>
          <a:stretch>
            <a:fillRect/>
          </a:stretch>
        </p:blipFill>
        <p:spPr>
          <a:xfrm>
            <a:off x="8542782" y="1748790"/>
            <a:ext cx="297180" cy="297180"/>
          </a:xfrm>
          <a:prstGeom prst="rect">
            <a:avLst/>
          </a:prstGeom>
        </p:spPr>
      </p:pic>
      <p:sp>
        <p:nvSpPr>
          <p:cNvPr id="16" name="Nguồn tham khảo header"/>
          <p:cNvSpPr txBox="1"/>
          <p:nvPr/>
        </p:nvSpPr>
        <p:spPr>
          <a:xfrm>
            <a:off x="9125712" y="1600200"/>
            <a:ext cx="2377440" cy="594360"/>
          </a:xfrm>
          <a:prstGeom prst="rect">
            <a:avLst/>
          </a:prstGeom>
          <a:noFill/>
          <a:ln/>
        </p:spPr>
        <p:txBody>
          <a:bodyPr wrap="square" lIns="0" tIns="0" rIns="0" bIns="0" rtlCol="0" anchor="ctr"/>
          <a:lstStyle/>
          <a:p>
            <a:pPr indent="0" marL="0">
              <a:buNone/>
            </a:pPr>
            <a:r>
              <a:rPr lang="en-US" sz="1900" b="1" dirty="0">
                <a:solidFill>
                  <a:schemeClr val="bg1"/>
                </a:solidFill>
              </a:rPr>
              <a:t>Nguồn tham khảo</a:t>
            </a:r>
            <a:endParaRPr lang="en-US" sz="1900" dirty="0"/>
          </a:p>
        </p:txBody>
      </p:sp>
      <p:sp>
        <p:nvSpPr>
          <p:cNvPr id="17" name="Nguồn tham khảo body"/>
          <p:cNvSpPr txBox="1"/>
          <p:nvPr/>
        </p:nvSpPr>
        <p:spPr>
          <a:xfrm>
            <a:off x="8394192" y="2423160"/>
            <a:ext cx="3017520" cy="3154680"/>
          </a:xfrm>
          <a:prstGeom prst="rect">
            <a:avLst/>
          </a:prstGeom>
          <a:noFill/>
          <a:ln/>
        </p:spPr>
        <p:txBody>
          <a:bodyPr wrap="square" lIns="0" tIns="0" rIns="0" bIns="0" rtlCol="0" anchor="t"/>
          <a:lstStyle/>
          <a:p>
            <a:pPr marL="228600" indent="-228600">
              <a:spcAft>
                <a:spcPts val="600"/>
              </a:spcAft>
              <a:buSzPct val="100000"/>
              <a:buChar char="•"/>
            </a:pPr>
            <a:r>
              <a:rPr lang="en-US" sz="1300" dirty="0">
                <a:solidFill>
                  <a:schemeClr val="bg1"/>
                </a:solidFill>
              </a:rPr>
              <a:t>PostgreSQL Docs: Constraints – postgresql.org/docs/current/ddl-constraints.html</a:t>
            </a:r>
            <a:endParaRPr lang="en-US" sz="1300" dirty="0"/>
          </a:p>
          <a:p>
            <a:pPr marL="228600" indent="-228600">
              <a:spcAft>
                <a:spcPts val="600"/>
              </a:spcAft>
              <a:buSzPct val="100000"/>
              <a:buChar char="•"/>
            </a:pPr>
            <a:r>
              <a:rPr lang="en-US" sz="1300" dirty="0">
                <a:solidFill>
                  <a:schemeClr val="bg1"/>
                </a:solidFill>
              </a:rPr>
              <a:t>SQLite Docs – sqlite.org/docs.html</a:t>
            </a:r>
            <a:endParaRPr lang="en-US" sz="1300" dirty="0"/>
          </a:p>
          <a:p>
            <a:pPr marL="228600" indent="-228600">
              <a:spcAft>
                <a:spcPts val="600"/>
              </a:spcAft>
              <a:buSzPct val="100000"/>
              <a:buChar char="•"/>
            </a:pPr>
            <a:r>
              <a:rPr lang="en-US" sz="1300" dirty="0">
                <a:solidFill>
                  <a:schemeClr val="bg1"/>
                </a:solidFill>
              </a:rPr>
              <a:t>pandas User Guide – pandas.pydata.org/docs</a:t>
            </a:r>
            <a:endParaRPr lang="en-US" sz="1300" dirty="0"/>
          </a:p>
          <a:p>
            <a:pPr marL="228600" indent="-228600">
              <a:spcAft>
                <a:spcPts val="600"/>
              </a:spcAft>
              <a:buSzPct val="100000"/>
              <a:buChar char="•"/>
            </a:pPr>
            <a:r>
              <a:rPr lang="en-US" sz="1300" dirty="0">
                <a:solidFill>
                  <a:schemeClr val="bg1"/>
                </a:solidFill>
              </a:rPr>
              <a:t>Silberschatz, Korth &amp; Sudarshan, Database System Concepts, 7th ed., McGraw-Hill, 2019</a:t>
            </a:r>
            <a:endParaRPr lang="en-US" sz="1300" dirty="0"/>
          </a:p>
          <a:p>
            <a:pPr marL="228600" indent="-228600">
              <a:spcAft>
                <a:spcPts val="600"/>
              </a:spcAft>
              <a:buSzPct val="100000"/>
              <a:buChar char="•"/>
            </a:pPr>
            <a:r>
              <a:rPr lang="en-US" sz="1300" dirty="0">
                <a:solidFill>
                  <a:schemeClr val="bg1"/>
                </a:solidFill>
              </a:rPr>
              <a:t>Kimball &amp; Ross, The Data Warehouse Toolkit, 3rd ed., Wiley, 2013</a:t>
            </a:r>
            <a:endParaRPr lang="en-US" sz="1300" dirty="0"/>
          </a:p>
          <a:p>
            <a:pPr marL="228600" indent="-228600">
              <a:spcAft>
                <a:spcPts val="600"/>
              </a:spcAft>
              <a:buSzPct val="100000"/>
              <a:buChar char="•"/>
            </a:pPr>
            <a:r>
              <a:rPr lang="en-US" sz="1300" dirty="0">
                <a:solidFill>
                  <a:schemeClr val="bg1"/>
                </a:solidFill>
              </a:rPr>
              <a:t>ISO 8601 – chuẩn quốc tế ghi ngày giờ</a:t>
            </a:r>
            <a:endParaRPr lang="en-US" sz="1300" dirty="0"/>
          </a:p>
        </p:txBody>
      </p:sp>
      <p:sp>
        <p:nvSpPr>
          <p:cNvPr id="18" name="Thanks"/>
          <p:cNvSpPr txBox="1"/>
          <p:nvPr/>
        </p:nvSpPr>
        <p:spPr>
          <a:xfrm>
            <a:off x="548640" y="5897880"/>
            <a:ext cx="9144000" cy="411480"/>
          </a:xfrm>
          <a:prstGeom prst="rect">
            <a:avLst/>
          </a:prstGeom>
          <a:noFill/>
          <a:ln/>
        </p:spPr>
        <p:txBody>
          <a:bodyPr wrap="square" lIns="0" tIns="0" rIns="0" bIns="0" rtlCol="0" anchor="ctr"/>
          <a:lstStyle/>
          <a:p>
            <a:pPr indent="0" marL="0">
              <a:buNone/>
            </a:pPr>
            <a:r>
              <a:rPr lang="en-US" sz="1800" b="1" i="1" dirty="0">
                <a:solidFill>
                  <a:schemeClr val="accent2"/>
                </a:solidFill>
              </a:rPr>
              <a:t>Cảm ơn thầy cô và các bạn đã lắng nghe!</a:t>
            </a:r>
            <a:endParaRPr lang="en-US" sz="1800" dirty="0"/>
          </a:p>
        </p:txBody>
      </p:sp>
      <p:sp>
        <p:nvSpPr>
          <p:cNvPr id="25" name="Slide Number Placeholder 0"/>
          <p:cNvSpPr>
            <a:spLocks noGrp="1"/>
          </p:cNvSpPr>
          <p:nvPr>
            <p:ph type="sldNum" sz="quarter" idx="4294967295"/>
          </p:nvPr>
        </p:nvSpPr>
        <p:spPr>
          <a:xfrm>
            <a:off x="11183112" y="635508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theme/theme1.xml><?xml version="1.0" encoding="utf-8"?>
<a:theme xmlns:a="http://schemas.openxmlformats.org/drawingml/2006/main" name="Data Model Green">
  <a:themeElements>
    <a:clrScheme name="Data Model Green">
      <a:dk1>
        <a:srgbClr val="1B2A24"/>
      </a:dk1>
      <a:lt1>
        <a:srgbClr val="FFFFFF"/>
      </a:lt1>
      <a:dk2>
        <a:srgbClr val="1E3D2F"/>
      </a:dk2>
      <a:lt2>
        <a:srgbClr val="EDF5EF"/>
      </a:lt2>
      <a:accent1>
        <a:srgbClr val="2E6B4F"/>
      </a:accent1>
      <a:accent2>
        <a:srgbClr val="F2A541"/>
      </a:accent2>
      <a:accent3>
        <a:srgbClr val="C0392B"/>
      </a:accent3>
      <a:accent4>
        <a:srgbClr val="5E6B66"/>
      </a:accent4>
      <a:accent5>
        <a:srgbClr val="2F7A4E"/>
      </a:accent5>
      <a:accent6>
        <a:srgbClr val="C3DCCB"/>
      </a:accent6>
      <a:hlink>
        <a:srgbClr val="2E6B4F"/>
      </a:hlink>
      <a:folHlink>
        <a:srgbClr val="5E6B66"/>
      </a:folHlink>
    </a:clrScheme>
    <a:fontScheme name="Data Model Gree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Task 2 – Chuẩn hóa dữ liệu ứng viên và mô hình kho dữ liệu</dc:title>
  <dc:subject>PptxGenJS Presentation</dc:subject>
  <dc:creator>Trần Phúc Hoàng</dc:creator>
  <cp:lastModifiedBy>Trần Phúc Hoàng</cp:lastModifiedBy>
  <cp:revision>1</cp:revision>
  <dcterms:created xsi:type="dcterms:W3CDTF">2026-10-16T07:05:04Z</dcterms:created>
  <dcterms:modified xsi:type="dcterms:W3CDTF">2026-10-16T07:05:04Z</dcterms:modified>
</cp:coreProperties>
</file>