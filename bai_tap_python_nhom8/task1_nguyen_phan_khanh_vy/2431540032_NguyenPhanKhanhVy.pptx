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ce215908-d277-38b8-d8f6-7b45d5182493}">
          <p14:sldIdLst>
            <p14:sldId id="256"/>
            <p14:sldId id="257"/>
          </p14:sldIdLst>
        </p14:section>
        <p14:section name="Phân tích &amp; ETL" id="{04817550-83ad-3eff-c84c-20aa0cd6d888}">
          <p14:sldIdLst>
            <p14:sldId id="258"/>
            <p14:sldId id="259"/>
            <p14:sldId id="260"/>
            <p14:sldId id="261"/>
          </p14:sldIdLst>
        </p14:section>
        <p14:section name="Kiến trúc" id="{941f4617-7178-8633-34b5-0372789ba5b1}">
          <p14:sldIdLst>
            <p14:sldId id="262"/>
            <p14:sldId id="263"/>
          </p14:sldIdLst>
        </p14:section>
        <p14:section name="Kết quả &amp; tổng kết" id="{d39b1aa8-3e3d-a7d0-4aad-4cae531e9769}">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3142"/>
                </a:solidFill>
                <a:latin typeface="+mn-lt"/>
              </a:defRPr>
            </a:pPr>
            <a:r>
              <a:rPr sz="1400" b="0" i="0" u="none" strike="noStrike">
                <a:solidFill>
                  <a:srgbClr val="2D3142"/>
                </a:solidFill>
                <a:latin typeface="+mn-lt"/>
              </a:rPr>
              <a:t>Số ứng viên đi tới mỗi vòng (dữ liệu mẫu)</a:t>
            </a:r>
          </a:p>
        </c:rich>
      </c:tx>
      <c:layout/>
      <c:overlay val="0"/>
    </c:title>
    <c:autoTitleDeleted val="0"/>
    <c:plotArea>
      <c:layout/>
      <c:barChart>
        <c:barDir val="col"/>
        <c:grouping val="clustered"/>
        <c:varyColors val="0"/>
        <c:ser>
          <c:idx val="0"/>
          <c:order val="0"/>
          <c:tx>
            <c:strRef>
              <c:f>Sheet1!$B$1</c:f>
              <c:strCache>
                <c:ptCount val="1"/>
                <c:pt idx="0">
                  <c:v>Số ứng viên</c:v>
                </c:pt>
              </c:strCache>
            </c:strRef>
          </c:tx>
          <c:spPr>
            <a:solidFill>
              <a:srgbClr val="2D3142"/>
            </a:solidFill>
            <a:effectLst/>
          </c:spPr>
          <c:invertIfNegative val="0"/>
          <c:dLbls>
            <c:numFmt formatCode="#,##0" sourceLinked="0"/>
            <c:txPr>
              <a:bodyPr/>
              <a:lstStyle/>
              <a:p>
                <a:pPr>
                  <a:defRPr b="0" i="0" strike="noStrike" sz="1300" u="none">
                    <a:solidFill>
                      <a:srgbClr val="22252E"/>
                    </a:solidFill>
                    <a:latin typeface="+mn-lt"/>
                  </a:defRPr>
                </a:pPr>
              </a:p>
            </c:txPr>
            <c:showLegendKey val="0"/>
            <c:showVal val="1"/>
            <c:showCatName val="0"/>
            <c:showSerName val="0"/>
            <c:showPercent val="0"/>
            <c:showBubbleSize val="0"/>
            <c:showLeaderLines val="0"/>
          </c:dLbls>
          <c:dPt>
            <c:idx val="0"/>
            <c:invertIfNegative val="0"/>
            <c:bubble3D val="0"/>
            <c:spPr>
              <a:solidFill>
                <a:srgbClr val="2D3142"/>
              </a:solidFill>
              <a:effectLst/>
            </c:spPr>
          </c:dPt>
          <c:dPt>
            <c:idx val="1"/>
            <c:invertIfNegative val="0"/>
            <c:bubble3D val="0"/>
            <c:spPr>
              <a:solidFill>
                <a:srgbClr val="4F5D75"/>
              </a:solidFill>
              <a:effectLst/>
            </c:spPr>
          </c:dPt>
          <c:dPt>
            <c:idx val="2"/>
            <c:invertIfNegative val="0"/>
            <c:bubble3D val="0"/>
            <c:spPr>
              <a:solidFill>
                <a:srgbClr val="4F5D75"/>
              </a:solidFill>
              <a:effectLst/>
            </c:spPr>
          </c:dPt>
          <c:dPt>
            <c:idx val="3"/>
            <c:invertIfNegative val="0"/>
            <c:bubble3D val="0"/>
            <c:spPr>
              <a:solidFill>
                <a:srgbClr val="4F5D75"/>
              </a:solidFill>
              <a:effectLst/>
            </c:spPr>
          </c:dPt>
          <c:dPt>
            <c:idx val="4"/>
            <c:invertIfNegative val="0"/>
            <c:bubble3D val="0"/>
            <c:spPr>
              <a:solidFill>
                <a:srgbClr val="EF8354"/>
              </a:solidFill>
              <a:effectLst/>
            </c:spPr>
          </c:dPt>
          <c:cat>
            <c:multiLvlStrRef>
              <c:f>Sheet1!$A$2:$A$6</c:f>
              <c:multiLvlStrCache>
                <c:ptCount val="5"/>
                <c:lvl>
                  <c:pt idx="0">
                    <c:v>Nộp hồ sơ</c:v>
                  </c:pt>
                  <c:pt idx="1">
                    <c:v>Sàng lọc</c:v>
                  </c:pt>
                  <c:pt idx="2">
                    <c:v>Phỏng vấn</c:v>
                  </c:pt>
                  <c:pt idx="3">
                    <c:v>Đề nghị</c:v>
                  </c:pt>
                  <c:pt idx="4">
                    <c:v>Nhận việc</c:v>
                  </c:pt>
                </c:lvl>
              </c:multiLvlStrCache>
            </c:multiLvlStrRef>
          </c:cat>
          <c:val>
            <c:numRef>
              <c:f>Sheet1!$B$2:$B$6</c:f>
              <c:numCache>
                <c:formatCode>General</c:formatCode>
                <c:ptCount val="5"/>
                <c:pt idx="0">
                  <c:v>293</c:v>
                </c:pt>
                <c:pt idx="1">
                  <c:v>105</c:v>
                </c:pt>
                <c:pt idx="2">
                  <c:v>52</c:v>
                </c:pt>
                <c:pt idx="3">
                  <c:v>26</c:v>
                </c:pt>
                <c:pt idx="4">
                  <c:v>15</c:v>
                </c:pt>
              </c:numCache>
            </c:numRef>
          </c:val>
        </c:ser>
        <c:dLbls>
          <c:numFmt formatCode="#,##0" sourceLinked="0"/>
          <c:txPr>
            <a:bodyPr/>
            <a:lstStyle/>
            <a:p>
              <a:pPr>
                <a:defRPr b="0" i="0" strike="noStrike" sz="1300" u="none">
                  <a:solidFill>
                    <a:srgbClr val="2225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và các bạn. Em là Nguyễn Phan Khánh Vy, nhóm trưởng nhóm 8. Phần của em là Task 1: tìm hiểu bài toán, xây dựng quy trình gom dữ liệu (ETL) và chọn công nghệ cho cả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nay hồ sơ ứng viên nằm rải rác ở nhiều nơi nên rất khó quản lý và thống kê. Vì vậy mục tiêu của em là gom tất cả về một chỗ, làm sạch dữ liệu, và chọn công nghệ để cả nhóm cùng xây dựng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tuyển dụng có 5 vòng, càng về sau số người càng ít nên giống hình cái phễu. Hệ thống có 3 loại người dùng với quyền khác nhau. Ba con số HR quan tâm nhất là tỷ lệ qua vòng, thời gian tuyển và nguồn nào hiệu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đến từ 4 nguồn chính, mỗi nguồn ghi theo một kiểu khác nhau. Ví dụ file Excel ghi ngày kiểu Việt Nam, còn web tuyển dụng ghi số điện thoại có +84. Vì vậy trước khi dùng phải đưa tất cả về một mẫu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là viết tắt của 3 bước: Extract là lấy dữ liệu, Transform là làm sạch, Load là lưu vào kho. Hiểu đơn giản giống như đi chợ về thì nhặt rau, rửa sạch rồi mới cất vào tủ lạnh. Quy trình này chạy tự động và chạy lại bao nhiêu lần cũng không bị trùng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bước quan trọng nhất. Bảng bên trái cho thấy dữ liệu trước và sau khi làm sạch. Bên phải là code Python dùng thư viện pandas, mỗi dòng code làm đúng một việc nên rất dễ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ERD mức khái niệm: hình chữ nhật là thực thể, hình thoi là mối liên kết, số 1 và chữ n là quan hệ một – nhiều. Ví dụ một ứng viên nộp nhiều hồ sơ, một vị trí nhận nhiều hồ sơ, nên Hồ sơ ứng tuyển nằm ở giữa theo hình ngôi sao và đếm số người qua từng vòng chỉ cần một câu truy vấn. ERD chi tiết với từng cột và khóa ngoại do bạn Hoàng trình bày ở Task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đi theo một chiều: Python gom và làm sạch, lưu vào PostgreSQL, FastAPI lấy dữ liệu ra và kiểm tra đăng nhập, cuối cùng Streamlit hiển thị lên web. Phần AI của nhóm đọc dữ liệu từ PostgreSQL để chấm điểm hồ sơ. Em chọn bộ công nghệ này vì tất cả đều dùng Python, miễn phí và dễ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chạy thử file etl_demo.py với dữ liệu mẫu từ 3 nguồn: đọc vào 315 dòng, bỏ 9 dòng lỗi và 13 hồ sơ trùng, còn lại 293 hồ sơ sạch. Biểu đồ cho thấy càng về sau càng ít người, cuối cùng có 15 người nhận việc. Dữ liệu sạch này là đầu vào cho phần AI và dashboard của các bạn trong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Khó nhất là mỗi nguồn ghi dữ liệu một kiểu và việc nhận ra hồ sơ bị trùng. Sau này em muốn hệ thống nhận diện trùng thông minh hơn, tự đọc kỹ năng trong CV và bảo vệ tốt hơn thông tin cá nhân của ứng viên. Em xin cảm ơn thầy 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234440"/>
            <a:ext cx="722376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640080" y="3063240"/>
            <a:ext cx="7223760" cy="8686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4"/>
                </a:solidFill>
              </a:rPr>
              <a:t>Nhóm 8 · Đề tài AI 9 · Task 1 – Nguyễn Phan Khánh Vy</a:t>
            </a:r>
            <a:endParaRPr lang="en-US" sz="10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tag"/>
          <p:cNvSpPr txBox="1"/>
          <p:nvPr/>
        </p:nvSpPr>
        <p:spPr>
          <a:xfrm>
            <a:off x="640080" y="685800"/>
            <a:ext cx="72237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MÔN LẬP TRÌNH PYTHON · BÀI TẬP LỚN THEO NHÓM</a:t>
            </a:r>
            <a:endParaRPr lang="en-US" sz="1400" dirty="0"/>
          </a:p>
        </p:txBody>
      </p:sp>
      <p:sp>
        <p:nvSpPr>
          <p:cNvPr id="3" name="Text 0"/>
          <p:cNvSpPr/>
          <p:nvPr>
            <p:ph idx="100" type="title" hasCustomPrompt="1"/>
          </p:nvPr>
        </p:nvSpPr>
        <p:spPr>
          <a:xfrm>
            <a:off x="640080" y="1234440"/>
            <a:ext cx="722376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Phân tích bài toán, ETL và kiến trúc công nghệ</a:t>
            </a:r>
            <a:endParaRPr lang="en-US" sz="4000" dirty="0"/>
          </a:p>
        </p:txBody>
      </p:sp>
      <p:sp>
        <p:nvSpPr>
          <p:cNvPr id="4" name="Text 0"/>
          <p:cNvSpPr/>
          <p:nvPr>
            <p:ph idx="101" type="body" hasCustomPrompt="1"/>
          </p:nvPr>
        </p:nvSpPr>
        <p:spPr>
          <a:xfrm>
            <a:off x="640080" y="3063240"/>
            <a:ext cx="7223760" cy="868680"/>
          </a:xfrm>
          <a:prstGeom prst="rect">
            <a:avLst/>
          </a:prstGeom>
          <a:noFill/>
          <a:ln/>
        </p:spPr>
        <p:txBody>
          <a:bodyPr wrap="square" lIns="0" tIns="0" rIns="0" bIns="0" rtlCol="0" anchor="t"/>
          <a:lstStyle/>
          <a:p>
            <a:pPr indent="0" marL="0">
              <a:buNone/>
            </a:pPr>
            <a:r>
              <a:rPr lang="en-US" sz="1800" dirty="0">
                <a:solidFill>
                  <a:schemeClr val="accent6"/>
                </a:solidFill>
              </a:rPr>
              <a:t>Task 1 · Đề tài AI 9: Kho dữ liệu tuyển dụng có AI phân tích pipeline ứng viên</a:t>
            </a:r>
            <a:endParaRPr lang="en-US" sz="1800" dirty="0"/>
          </a:p>
        </p:txBody>
      </p:sp>
      <p:sp>
        <p:nvSpPr>
          <p:cNvPr id="5" name="Author card"/>
          <p:cNvSpPr/>
          <p:nvPr/>
        </p:nvSpPr>
        <p:spPr>
          <a:xfrm>
            <a:off x="640080" y="4251960"/>
            <a:ext cx="7223760" cy="1691640"/>
          </a:xfrm>
          <a:prstGeom prst="rect">
            <a:avLst>
              <a:gd name="adj" fmla="val 6486"/>
            </a:avLst>
          </a:prstGeom>
          <a:solidFill>
            <a:schemeClr val="bg1">
              <a:alpha val="12000"/>
            </a:schemeClr>
          </a:solidFill>
          <a:ln w="9525">
            <a:solidFill>
              <a:schemeClr val="accent6">
                <a:alpha val="50000"/>
              </a:schemeClr>
            </a:solidFill>
            <a:prstDash val="solid"/>
          </a:ln>
        </p:spPr>
      </p:sp>
      <p:sp>
        <p:nvSpPr>
          <p:cNvPr id="6" name="Author info"/>
          <p:cNvSpPr txBox="1"/>
          <p:nvPr/>
        </p:nvSpPr>
        <p:spPr>
          <a:xfrm>
            <a:off x="914400" y="4389120"/>
            <a:ext cx="6675120" cy="1417320"/>
          </a:xfrm>
          <a:prstGeom prst="rect">
            <a:avLst/>
          </a:prstGeom>
          <a:noFill/>
          <a:ln/>
        </p:spPr>
        <p:txBody>
          <a:bodyPr wrap="square" lIns="0" tIns="0" rIns="0" bIns="0" rtlCol="0" anchor="ctr"/>
          <a:lstStyle/>
          <a:p>
            <a:pPr indent="0" marL="0">
              <a:spcAft>
                <a:spcPts val="400"/>
              </a:spcAft>
              <a:buNone/>
            </a:pPr>
            <a:r>
              <a:rPr lang="en-US" sz="2400" b="1" dirty="0">
                <a:solidFill>
                  <a:schemeClr val="bg1"/>
                </a:solidFill>
              </a:rPr>
              <a:t>Nguyễn Phan Khánh Vy</a:t>
            </a:r>
            <a:endParaRPr lang="en-US" sz="2400" dirty="0"/>
          </a:p>
          <a:p>
            <a:pPr indent="0" marL="0">
              <a:spcAft>
                <a:spcPts val="400"/>
              </a:spcAft>
              <a:buNone/>
            </a:pPr>
            <a:r>
              <a:rPr lang="en-US" sz="1600" dirty="0">
                <a:solidFill>
                  <a:schemeClr val="accent2"/>
                </a:solidFill>
              </a:rPr>
              <a:t>Nhóm trưởng · Nhóm 8</a:t>
            </a:r>
            <a:endParaRPr lang="en-US" sz="2400" dirty="0"/>
          </a:p>
          <a:p>
            <a:pPr indent="0" marL="0">
              <a:spcAft>
                <a:spcPts val="400"/>
              </a:spcAft>
              <a:buNone/>
            </a:pPr>
            <a:r>
              <a:rPr lang="en-US" sz="1600" dirty="0">
                <a:solidFill>
                  <a:schemeClr val="accent6"/>
                </a:solidFill>
              </a:rPr>
              <a:t>MSSV: 2431540032   ·   Lớp: 24ĐHTT01</a:t>
            </a:r>
            <a:endParaRPr lang="en-US" sz="2400" dirty="0"/>
          </a:p>
        </p:txBody>
      </p:sp>
      <p:sp>
        <p:nvSpPr>
          <p:cNvPr id="7" name="Step tile 1"/>
          <p:cNvSpPr/>
          <p:nvPr/>
        </p:nvSpPr>
        <p:spPr>
          <a:xfrm>
            <a:off x="7955280" y="1234440"/>
            <a:ext cx="1783080" cy="1783080"/>
          </a:xfrm>
          <a:prstGeom prst="rect">
            <a:avLst/>
          </a:prstGeom>
          <a:solidFill>
            <a:schemeClr val="accent1"/>
          </a:solidFill>
          <a:ln w="12700">
            <a:solidFill>
              <a:schemeClr val="accent1"/>
            </a:solidFill>
            <a:prstDash val="solid"/>
          </a:ln>
        </p:spPr>
      </p:sp>
      <p:sp>
        <p:nvSpPr>
          <p:cNvPr id="8" name="Step number 1"/>
          <p:cNvSpPr txBox="1"/>
          <p:nvPr/>
        </p:nvSpPr>
        <p:spPr>
          <a:xfrm>
            <a:off x="8092440" y="1344168"/>
            <a:ext cx="822960" cy="457200"/>
          </a:xfrm>
          <a:prstGeom prst="rect">
            <a:avLst/>
          </a:prstGeom>
          <a:noFill/>
          <a:ln/>
        </p:spPr>
        <p:txBody>
          <a:bodyPr wrap="square" lIns="0" tIns="0" rIns="0" bIns="0" rtlCol="0" anchor="ctr"/>
          <a:lstStyle/>
          <a:p>
            <a:pPr indent="0" marL="0">
              <a:buNone/>
            </a:pPr>
            <a:r>
              <a:rPr lang="en-US" sz="2400" b="1" dirty="0">
                <a:solidFill>
                  <a:schemeClr val="accent6"/>
                </a:solidFill>
                <a:latin typeface="Arial" pitchFamily="34" charset="0"/>
                <a:ea typeface="Arial" pitchFamily="34" charset="-122"/>
                <a:cs typeface="Arial" pitchFamily="34" charset="-120"/>
              </a:rPr>
              <a:t>01</a:t>
            </a:r>
            <a:endParaRPr lang="en-US" sz="2400" dirty="0"/>
          </a:p>
        </p:txBody>
      </p:sp>
      <p:pic>
        <p:nvPicPr>
          <p:cNvPr id="9" name="Step icon 1" descr="Dữ liệu tuyển dụng rời rạc">    </p:cNvPr>
          <p:cNvPicPr>
            <a:picLocks noChangeAspect="1"/>
          </p:cNvPicPr>
          <p:nvPr/>
        </p:nvPicPr>
        <p:blipFill>
          <a:blip r:embed="rId1"/>
          <a:stretch>
            <a:fillRect/>
          </a:stretch>
        </p:blipFill>
        <p:spPr>
          <a:xfrm>
            <a:off x="9189720" y="1389888"/>
            <a:ext cx="384048" cy="384048"/>
          </a:xfrm>
          <a:prstGeom prst="rect">
            <a:avLst/>
          </a:prstGeom>
        </p:spPr>
      </p:pic>
      <p:sp>
        <p:nvSpPr>
          <p:cNvPr id="10" name="Step label 1"/>
          <p:cNvSpPr txBox="1"/>
          <p:nvPr/>
        </p:nvSpPr>
        <p:spPr>
          <a:xfrm>
            <a:off x="8092440" y="1965960"/>
            <a:ext cx="1508760" cy="914400"/>
          </a:xfrm>
          <a:prstGeom prst="rect">
            <a:avLst/>
          </a:prstGeom>
          <a:noFill/>
          <a:ln/>
        </p:spPr>
        <p:txBody>
          <a:bodyPr wrap="square" lIns="0" tIns="0" rIns="0" bIns="0" rtlCol="0" anchor="b"/>
          <a:lstStyle/>
          <a:p>
            <a:pPr indent="0" marL="0">
              <a:buNone/>
            </a:pPr>
            <a:r>
              <a:rPr lang="en-US" sz="1500" b="1" dirty="0">
                <a:solidFill>
                  <a:schemeClr val="bg1"/>
                </a:solidFill>
              </a:rPr>
              <a:t>Dữ liệu tuyển dụng rời rạc</a:t>
            </a:r>
            <a:endParaRPr lang="en-US" sz="1500" dirty="0"/>
          </a:p>
        </p:txBody>
      </p:sp>
      <p:sp>
        <p:nvSpPr>
          <p:cNvPr id="11" name="Step tile 2"/>
          <p:cNvSpPr/>
          <p:nvPr/>
        </p:nvSpPr>
        <p:spPr>
          <a:xfrm>
            <a:off x="9875520" y="1234440"/>
            <a:ext cx="1783080" cy="1783080"/>
          </a:xfrm>
          <a:prstGeom prst="rect">
            <a:avLst/>
          </a:prstGeom>
          <a:solidFill>
            <a:schemeClr val="accent1"/>
          </a:solidFill>
          <a:ln w="12700">
            <a:solidFill>
              <a:schemeClr val="accent1"/>
            </a:solidFill>
            <a:prstDash val="solid"/>
          </a:ln>
        </p:spPr>
      </p:sp>
      <p:sp>
        <p:nvSpPr>
          <p:cNvPr id="12" name="Step number 2"/>
          <p:cNvSpPr txBox="1"/>
          <p:nvPr/>
        </p:nvSpPr>
        <p:spPr>
          <a:xfrm>
            <a:off x="10012680" y="1344168"/>
            <a:ext cx="822960" cy="457200"/>
          </a:xfrm>
          <a:prstGeom prst="rect">
            <a:avLst/>
          </a:prstGeom>
          <a:noFill/>
          <a:ln/>
        </p:spPr>
        <p:txBody>
          <a:bodyPr wrap="square" lIns="0" tIns="0" rIns="0" bIns="0" rtlCol="0" anchor="ctr"/>
          <a:lstStyle/>
          <a:p>
            <a:pPr indent="0" marL="0">
              <a:buNone/>
            </a:pPr>
            <a:r>
              <a:rPr lang="en-US" sz="2400" b="1" dirty="0">
                <a:solidFill>
                  <a:schemeClr val="accent6"/>
                </a:solidFill>
                <a:latin typeface="Arial" pitchFamily="34" charset="0"/>
                <a:ea typeface="Arial" pitchFamily="34" charset="-122"/>
                <a:cs typeface="Arial" pitchFamily="34" charset="-120"/>
              </a:rPr>
              <a:t>02</a:t>
            </a:r>
            <a:endParaRPr lang="en-US" sz="2400" dirty="0"/>
          </a:p>
        </p:txBody>
      </p:sp>
      <p:pic>
        <p:nvPicPr>
          <p:cNvPr id="13" name="Step icon 2" descr="Python gom và làm sạch">    </p:cNvPr>
          <p:cNvPicPr>
            <a:picLocks noChangeAspect="1"/>
          </p:cNvPicPr>
          <p:nvPr/>
        </p:nvPicPr>
        <p:blipFill>
          <a:blip r:embed="rId2"/>
          <a:stretch>
            <a:fillRect/>
          </a:stretch>
        </p:blipFill>
        <p:spPr>
          <a:xfrm>
            <a:off x="11109960" y="1389888"/>
            <a:ext cx="384048" cy="384048"/>
          </a:xfrm>
          <a:prstGeom prst="rect">
            <a:avLst/>
          </a:prstGeom>
        </p:spPr>
      </p:pic>
      <p:sp>
        <p:nvSpPr>
          <p:cNvPr id="14" name="Step label 2"/>
          <p:cNvSpPr txBox="1"/>
          <p:nvPr/>
        </p:nvSpPr>
        <p:spPr>
          <a:xfrm>
            <a:off x="10012680" y="1965960"/>
            <a:ext cx="1508760" cy="914400"/>
          </a:xfrm>
          <a:prstGeom prst="rect">
            <a:avLst/>
          </a:prstGeom>
          <a:noFill/>
          <a:ln/>
        </p:spPr>
        <p:txBody>
          <a:bodyPr wrap="square" lIns="0" tIns="0" rIns="0" bIns="0" rtlCol="0" anchor="b"/>
          <a:lstStyle/>
          <a:p>
            <a:pPr indent="0" marL="0">
              <a:buNone/>
            </a:pPr>
            <a:r>
              <a:rPr lang="en-US" sz="1500" b="1" dirty="0">
                <a:solidFill>
                  <a:schemeClr val="bg1"/>
                </a:solidFill>
              </a:rPr>
              <a:t>Python gom và làm sạch</a:t>
            </a:r>
            <a:endParaRPr lang="en-US" sz="1500" dirty="0"/>
          </a:p>
        </p:txBody>
      </p:sp>
      <p:sp>
        <p:nvSpPr>
          <p:cNvPr id="15" name="Step tile 3"/>
          <p:cNvSpPr/>
          <p:nvPr/>
        </p:nvSpPr>
        <p:spPr>
          <a:xfrm>
            <a:off x="7955280" y="3154680"/>
            <a:ext cx="1783080" cy="1783080"/>
          </a:xfrm>
          <a:prstGeom prst="rect">
            <a:avLst/>
          </a:prstGeom>
          <a:solidFill>
            <a:schemeClr val="accent1"/>
          </a:solidFill>
          <a:ln w="12700">
            <a:solidFill>
              <a:schemeClr val="accent1"/>
            </a:solidFill>
            <a:prstDash val="solid"/>
          </a:ln>
        </p:spPr>
      </p:sp>
      <p:sp>
        <p:nvSpPr>
          <p:cNvPr id="16" name="Step number 3"/>
          <p:cNvSpPr txBox="1"/>
          <p:nvPr/>
        </p:nvSpPr>
        <p:spPr>
          <a:xfrm>
            <a:off x="8092440" y="3264408"/>
            <a:ext cx="822960" cy="457200"/>
          </a:xfrm>
          <a:prstGeom prst="rect">
            <a:avLst/>
          </a:prstGeom>
          <a:noFill/>
          <a:ln/>
        </p:spPr>
        <p:txBody>
          <a:bodyPr wrap="square" lIns="0" tIns="0" rIns="0" bIns="0" rtlCol="0" anchor="ctr"/>
          <a:lstStyle/>
          <a:p>
            <a:pPr indent="0" marL="0">
              <a:buNone/>
            </a:pPr>
            <a:r>
              <a:rPr lang="en-US" sz="2400" b="1" dirty="0">
                <a:solidFill>
                  <a:schemeClr val="accent6"/>
                </a:solidFill>
                <a:latin typeface="Arial" pitchFamily="34" charset="0"/>
                <a:ea typeface="Arial" pitchFamily="34" charset="-122"/>
                <a:cs typeface="Arial" pitchFamily="34" charset="-120"/>
              </a:rPr>
              <a:t>03</a:t>
            </a:r>
            <a:endParaRPr lang="en-US" sz="2400" dirty="0"/>
          </a:p>
        </p:txBody>
      </p:sp>
      <p:pic>
        <p:nvPicPr>
          <p:cNvPr id="17" name="Step icon 3" descr="Lưu vào PostgreSQL">    </p:cNvPr>
          <p:cNvPicPr>
            <a:picLocks noChangeAspect="1"/>
          </p:cNvPicPr>
          <p:nvPr/>
        </p:nvPicPr>
        <p:blipFill>
          <a:blip r:embed="rId3"/>
          <a:stretch>
            <a:fillRect/>
          </a:stretch>
        </p:blipFill>
        <p:spPr>
          <a:xfrm>
            <a:off x="9189720" y="3310128"/>
            <a:ext cx="384048" cy="384048"/>
          </a:xfrm>
          <a:prstGeom prst="rect">
            <a:avLst/>
          </a:prstGeom>
        </p:spPr>
      </p:pic>
      <p:sp>
        <p:nvSpPr>
          <p:cNvPr id="18" name="Step label 3"/>
          <p:cNvSpPr txBox="1"/>
          <p:nvPr/>
        </p:nvSpPr>
        <p:spPr>
          <a:xfrm>
            <a:off x="8092440" y="3886200"/>
            <a:ext cx="1508760" cy="914400"/>
          </a:xfrm>
          <a:prstGeom prst="rect">
            <a:avLst/>
          </a:prstGeom>
          <a:noFill/>
          <a:ln/>
        </p:spPr>
        <p:txBody>
          <a:bodyPr wrap="square" lIns="0" tIns="0" rIns="0" bIns="0" rtlCol="0" anchor="b"/>
          <a:lstStyle/>
          <a:p>
            <a:pPr indent="0" marL="0">
              <a:buNone/>
            </a:pPr>
            <a:r>
              <a:rPr lang="en-US" sz="1500" b="1" dirty="0">
                <a:solidFill>
                  <a:schemeClr val="bg1"/>
                </a:solidFill>
              </a:rPr>
              <a:t>Lưu vào PostgreSQL</a:t>
            </a:r>
            <a:endParaRPr lang="en-US" sz="1500" dirty="0"/>
          </a:p>
        </p:txBody>
      </p:sp>
      <p:sp>
        <p:nvSpPr>
          <p:cNvPr id="19" name="Step tile 4"/>
          <p:cNvSpPr/>
          <p:nvPr/>
        </p:nvSpPr>
        <p:spPr>
          <a:xfrm>
            <a:off x="9875520" y="3154680"/>
            <a:ext cx="1783080" cy="1783080"/>
          </a:xfrm>
          <a:prstGeom prst="rect">
            <a:avLst/>
          </a:prstGeom>
          <a:solidFill>
            <a:schemeClr val="accent2"/>
          </a:solidFill>
          <a:ln w="12700">
            <a:solidFill>
              <a:schemeClr val="accent2"/>
            </a:solidFill>
            <a:prstDash val="solid"/>
          </a:ln>
        </p:spPr>
      </p:sp>
      <p:sp>
        <p:nvSpPr>
          <p:cNvPr id="20" name="Step number 4"/>
          <p:cNvSpPr txBox="1"/>
          <p:nvPr/>
        </p:nvSpPr>
        <p:spPr>
          <a:xfrm>
            <a:off x="10012680" y="3264408"/>
            <a:ext cx="822960" cy="45720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04</a:t>
            </a:r>
            <a:endParaRPr lang="en-US" sz="2400" dirty="0"/>
          </a:p>
        </p:txBody>
      </p:sp>
      <p:pic>
        <p:nvPicPr>
          <p:cNvPr id="21" name="Step icon 4" descr="Báo cáo và AI phân tích">    </p:cNvPr>
          <p:cNvPicPr>
            <a:picLocks noChangeAspect="1"/>
          </p:cNvPicPr>
          <p:nvPr/>
        </p:nvPicPr>
        <p:blipFill>
          <a:blip r:embed="rId4"/>
          <a:stretch>
            <a:fillRect/>
          </a:stretch>
        </p:blipFill>
        <p:spPr>
          <a:xfrm>
            <a:off x="11109960" y="3310128"/>
            <a:ext cx="384048" cy="384048"/>
          </a:xfrm>
          <a:prstGeom prst="rect">
            <a:avLst/>
          </a:prstGeom>
        </p:spPr>
      </p:pic>
      <p:sp>
        <p:nvSpPr>
          <p:cNvPr id="22" name="Step label 4"/>
          <p:cNvSpPr txBox="1"/>
          <p:nvPr/>
        </p:nvSpPr>
        <p:spPr>
          <a:xfrm>
            <a:off x="10012680" y="3886200"/>
            <a:ext cx="1508760" cy="914400"/>
          </a:xfrm>
          <a:prstGeom prst="rect">
            <a:avLst/>
          </a:prstGeom>
          <a:noFill/>
          <a:ln/>
        </p:spPr>
        <p:txBody>
          <a:bodyPr wrap="square" lIns="0" tIns="0" rIns="0" bIns="0" rtlCol="0" anchor="b"/>
          <a:lstStyle/>
          <a:p>
            <a:pPr indent="0" marL="0">
              <a:buNone/>
            </a:pPr>
            <a:r>
              <a:rPr lang="en-US" sz="1500" b="1" dirty="0">
                <a:solidFill>
                  <a:schemeClr val="tx2"/>
                </a:solidFill>
              </a:rPr>
              <a:t>Báo cáo và AI phân tích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Đặt vấn đề và mục tiêu</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02</a:t>
            </a:r>
            <a:endParaRPr lang="en-US" sz="2000" dirty="0"/>
          </a:p>
        </p:txBody>
      </p:sp>
      <p:sp>
        <p:nvSpPr>
          <p:cNvPr id="5" name="Vấn đề hiện tại card"/>
          <p:cNvSpPr/>
          <p:nvPr/>
        </p:nvSpPr>
        <p:spPr>
          <a:xfrm>
            <a:off x="548640" y="1371600"/>
            <a:ext cx="5349240" cy="4617720"/>
          </a:xfrm>
          <a:prstGeom prst="rect">
            <a:avLst>
              <a:gd name="adj" fmla="val 2970"/>
            </a:avLst>
          </a:prstGeom>
          <a:solidFill>
            <a:schemeClr val="bg2"/>
          </a:solidFill>
          <a:ln w="12700">
            <a:solidFill>
              <a:schemeClr val="bg2"/>
            </a:solidFill>
            <a:prstDash val="solid"/>
          </a:ln>
        </p:spPr>
      </p:sp>
      <p:sp>
        <p:nvSpPr>
          <p:cNvPr id="6" name="Vấn đề hiện tại circle"/>
          <p:cNvSpPr/>
          <p:nvPr/>
        </p:nvSpPr>
        <p:spPr>
          <a:xfrm>
            <a:off x="914400" y="1691640"/>
            <a:ext cx="685800" cy="685800"/>
          </a:xfrm>
          <a:prstGeom prst="rect">
            <a:avLst/>
          </a:prstGeom>
          <a:solidFill>
            <a:schemeClr val="accent3"/>
          </a:solidFill>
          <a:ln w="12700">
            <a:solidFill>
              <a:schemeClr val="accent3"/>
            </a:solidFill>
            <a:prstDash val="solid"/>
          </a:ln>
        </p:spPr>
      </p:sp>
      <p:pic>
        <p:nvPicPr>
          <p:cNvPr id="7" name="Vấn đề hiện tại icon" descr="Vấn đề hiện tại">    </p:cNvPr>
          <p:cNvPicPr>
            <a:picLocks noChangeAspect="1"/>
          </p:cNvPicPr>
          <p:nvPr/>
        </p:nvPicPr>
        <p:blipFill>
          <a:blip r:embed="rId1"/>
          <a:stretch>
            <a:fillRect/>
          </a:stretch>
        </p:blipFill>
        <p:spPr>
          <a:xfrm>
            <a:off x="1085850" y="1863090"/>
            <a:ext cx="342900" cy="342900"/>
          </a:xfrm>
          <a:prstGeom prst="rect">
            <a:avLst/>
          </a:prstGeom>
        </p:spPr>
      </p:pic>
      <p:sp>
        <p:nvSpPr>
          <p:cNvPr id="8" name="Vấn đề hiện tại header"/>
          <p:cNvSpPr txBox="1"/>
          <p:nvPr/>
        </p:nvSpPr>
        <p:spPr>
          <a:xfrm>
            <a:off x="1783080" y="169164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Vấn đề hiện tại</a:t>
            </a:r>
            <a:endParaRPr lang="en-US" sz="2200" dirty="0"/>
          </a:p>
        </p:txBody>
      </p:sp>
      <p:sp>
        <p:nvSpPr>
          <p:cNvPr id="9" name="Vấn đề hiện tại bullets"/>
          <p:cNvSpPr txBox="1"/>
          <p:nvPr/>
        </p:nvSpPr>
        <p:spPr>
          <a:xfrm>
            <a:off x="914400" y="2697480"/>
            <a:ext cx="4663440" cy="3108960"/>
          </a:xfrm>
          <a:prstGeom prst="rect">
            <a:avLst/>
          </a:prstGeom>
          <a:noFill/>
          <a:ln/>
        </p:spPr>
        <p:txBody>
          <a:bodyPr wrap="square" lIns="0" tIns="0" rIns="0" bIns="0" rtlCol="0" anchor="t"/>
          <a:lstStyle/>
          <a:p>
            <a:pPr marL="228600" indent="-228600">
              <a:spcAft>
                <a:spcPts val="1800"/>
              </a:spcAft>
              <a:buSzPct val="100000"/>
              <a:buChar char="•"/>
            </a:pPr>
            <a:r>
              <a:rPr lang="en-US" sz="1800" dirty="0">
                <a:solidFill>
                  <a:schemeClr val="tx1"/>
                </a:solidFill>
              </a:rPr>
              <a:t>Hồ sơ nằm nhiều nơi: Excel, web tuyển dụng, Google Form, email</a:t>
            </a:r>
            <a:endParaRPr lang="en-US" sz="1800" dirty="0"/>
          </a:p>
          <a:p>
            <a:pPr marL="228600" indent="-228600">
              <a:spcAft>
                <a:spcPts val="1800"/>
              </a:spcAft>
              <a:buSzPct val="100000"/>
              <a:buChar char="•"/>
            </a:pPr>
            <a:r>
              <a:rPr lang="en-US" sz="1800" dirty="0">
                <a:solidFill>
                  <a:schemeClr val="tx1"/>
                </a:solidFill>
              </a:rPr>
              <a:t>Một ứng viên bị nhập nhiều lần, thông tin ghi không giống nhau</a:t>
            </a:r>
            <a:endParaRPr lang="en-US" sz="1800" dirty="0"/>
          </a:p>
          <a:p>
            <a:pPr marL="228600" indent="-228600">
              <a:spcAft>
                <a:spcPts val="1800"/>
              </a:spcAft>
              <a:buSzPct val="100000"/>
              <a:buChar char="•"/>
            </a:pPr>
            <a:r>
              <a:rPr lang="en-US" sz="1800" dirty="0">
                <a:solidFill>
                  <a:schemeClr val="tx1"/>
                </a:solidFill>
              </a:rPr>
              <a:t>Không biết bao nhiêu người qua được từng vòng tuyển</a:t>
            </a:r>
            <a:endParaRPr lang="en-US" sz="1800" dirty="0"/>
          </a:p>
          <a:p>
            <a:pPr marL="228600" indent="-228600">
              <a:spcAft>
                <a:spcPts val="1800"/>
              </a:spcAft>
              <a:buSzPct val="100000"/>
              <a:buChar char="•"/>
            </a:pPr>
            <a:r>
              <a:rPr lang="en-US" sz="1800" dirty="0">
                <a:solidFill>
                  <a:schemeClr val="tx1"/>
                </a:solidFill>
              </a:rPr>
              <a:t>Làm báo cáo bằng tay, mất thời gian và dễ sai</a:t>
            </a:r>
            <a:endParaRPr lang="en-US" sz="1800" dirty="0"/>
          </a:p>
        </p:txBody>
      </p:sp>
      <p:sp>
        <p:nvSpPr>
          <p:cNvPr id="10" name="Mục tiêu của Task 1 card"/>
          <p:cNvSpPr/>
          <p:nvPr/>
        </p:nvSpPr>
        <p:spPr>
          <a:xfrm>
            <a:off x="6291072" y="1371600"/>
            <a:ext cx="5349240" cy="4617720"/>
          </a:xfrm>
          <a:prstGeom prst="rect">
            <a:avLst>
              <a:gd name="adj" fmla="val 2970"/>
            </a:avLst>
          </a:prstGeom>
          <a:solidFill>
            <a:schemeClr val="bg2"/>
          </a:solidFill>
          <a:ln w="12700">
            <a:solidFill>
              <a:schemeClr val="bg2"/>
            </a:solidFill>
            <a:prstDash val="solid"/>
          </a:ln>
        </p:spPr>
      </p:sp>
      <p:sp>
        <p:nvSpPr>
          <p:cNvPr id="11" name="Mục tiêu của Task 1 circle"/>
          <p:cNvSpPr/>
          <p:nvPr/>
        </p:nvSpPr>
        <p:spPr>
          <a:xfrm>
            <a:off x="6656832" y="1691640"/>
            <a:ext cx="685800" cy="685800"/>
          </a:xfrm>
          <a:prstGeom prst="rect">
            <a:avLst/>
          </a:prstGeom>
          <a:solidFill>
            <a:schemeClr val="accent1"/>
          </a:solidFill>
          <a:ln w="12700">
            <a:solidFill>
              <a:schemeClr val="accent1"/>
            </a:solidFill>
            <a:prstDash val="solid"/>
          </a:ln>
        </p:spPr>
      </p:sp>
      <p:pic>
        <p:nvPicPr>
          <p:cNvPr id="12" name="Mục tiêu của Task 1 icon" descr="Mục tiêu của Task 1">    </p:cNvPr>
          <p:cNvPicPr>
            <a:picLocks noChangeAspect="1"/>
          </p:cNvPicPr>
          <p:nvPr/>
        </p:nvPicPr>
        <p:blipFill>
          <a:blip r:embed="rId2"/>
          <a:stretch>
            <a:fillRect/>
          </a:stretch>
        </p:blipFill>
        <p:spPr>
          <a:xfrm>
            <a:off x="6828282" y="1863090"/>
            <a:ext cx="342900" cy="342900"/>
          </a:xfrm>
          <a:prstGeom prst="rect">
            <a:avLst/>
          </a:prstGeom>
        </p:spPr>
      </p:pic>
      <p:sp>
        <p:nvSpPr>
          <p:cNvPr id="13" name="Mục tiêu của Task 1 header"/>
          <p:cNvSpPr txBox="1"/>
          <p:nvPr/>
        </p:nvSpPr>
        <p:spPr>
          <a:xfrm>
            <a:off x="7525512" y="169164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Mục tiêu của Task 1</a:t>
            </a:r>
            <a:endParaRPr lang="en-US" sz="2200" dirty="0"/>
          </a:p>
        </p:txBody>
      </p:sp>
      <p:sp>
        <p:nvSpPr>
          <p:cNvPr id="14" name="Mục tiêu của Task 1 bullets"/>
          <p:cNvSpPr txBox="1"/>
          <p:nvPr/>
        </p:nvSpPr>
        <p:spPr>
          <a:xfrm>
            <a:off x="6656832" y="2697480"/>
            <a:ext cx="4663440" cy="3108960"/>
          </a:xfrm>
          <a:prstGeom prst="rect">
            <a:avLst/>
          </a:prstGeom>
          <a:noFill/>
          <a:ln/>
        </p:spPr>
        <p:txBody>
          <a:bodyPr wrap="square" lIns="0" tIns="0" rIns="0" bIns="0" rtlCol="0" anchor="t"/>
          <a:lstStyle/>
          <a:p>
            <a:pPr marL="228600" indent="-228600">
              <a:spcAft>
                <a:spcPts val="1800"/>
              </a:spcAft>
              <a:buSzPct val="100000"/>
              <a:buChar char="•"/>
            </a:pPr>
            <a:r>
              <a:rPr lang="en-US" sz="1800" dirty="0">
                <a:solidFill>
                  <a:schemeClr val="tx1"/>
                </a:solidFill>
              </a:rPr>
              <a:t>Hiểu rõ bài toán và những con số HR cần theo dõi</a:t>
            </a:r>
            <a:endParaRPr lang="en-US" sz="1800" dirty="0"/>
          </a:p>
          <a:p>
            <a:pPr marL="228600" indent="-228600">
              <a:spcAft>
                <a:spcPts val="1800"/>
              </a:spcAft>
              <a:buSzPct val="100000"/>
              <a:buChar char="•"/>
            </a:pPr>
            <a:r>
              <a:rPr lang="en-US" sz="1800" dirty="0">
                <a:solidFill>
                  <a:schemeClr val="tx1"/>
                </a:solidFill>
              </a:rPr>
              <a:t>Gom dữ liệu từ mọi nguồn về một nơi bằng Python</a:t>
            </a:r>
            <a:endParaRPr lang="en-US" sz="1800" dirty="0"/>
          </a:p>
          <a:p>
            <a:pPr marL="228600" indent="-228600">
              <a:spcAft>
                <a:spcPts val="1800"/>
              </a:spcAft>
              <a:buSzPct val="100000"/>
              <a:buChar char="•"/>
            </a:pPr>
            <a:r>
              <a:rPr lang="en-US" sz="1800" dirty="0">
                <a:solidFill>
                  <a:schemeClr val="tx1"/>
                </a:solidFill>
              </a:rPr>
              <a:t>Thiết kế cơ sở dữ liệu PostgreSQL để lưu trữ</a:t>
            </a:r>
            <a:endParaRPr lang="en-US" sz="1800" dirty="0"/>
          </a:p>
          <a:p>
            <a:pPr marL="228600" indent="-228600">
              <a:spcAft>
                <a:spcPts val="1800"/>
              </a:spcAft>
              <a:buSzPct val="100000"/>
              <a:buChar char="•"/>
            </a:pPr>
            <a:r>
              <a:rPr lang="en-US" sz="1800" dirty="0">
                <a:solidFill>
                  <a:schemeClr val="tx1"/>
                </a:solidFill>
              </a:rPr>
              <a:t>Chọn công nghệ chung để cả nhóm cùng làm</a:t>
            </a:r>
            <a:endParaRPr lang="en-US" sz="1800" dirty="0"/>
          </a:p>
        </p:txBody>
      </p:sp>
      <p:sp>
        <p:nvSpPr>
          <p:cNvPr id="15" name="Problem to goal circle"/>
          <p:cNvSpPr/>
          <p:nvPr/>
        </p:nvSpPr>
        <p:spPr>
          <a:xfrm>
            <a:off x="5824728" y="3364992"/>
            <a:ext cx="548640" cy="548640"/>
          </a:xfrm>
          <a:prstGeom prst="rect">
            <a:avLst/>
          </a:prstGeom>
          <a:solidFill>
            <a:schemeClr val="accent2"/>
          </a:solidFill>
          <a:ln w="12700">
            <a:solidFill>
              <a:schemeClr val="accent2"/>
            </a:solidFill>
            <a:prstDash val="solid"/>
          </a:ln>
        </p:spPr>
      </p:sp>
      <p:pic>
        <p:nvPicPr>
          <p:cNvPr id="16" name="Problem to goal icon" descr="Problem to goal">    </p:cNvPr>
          <p:cNvPicPr>
            <a:picLocks noChangeAspect="1"/>
          </p:cNvPicPr>
          <p:nvPr/>
        </p:nvPicPr>
        <p:blipFill>
          <a:blip r:embed="rId3"/>
          <a:stretch>
            <a:fillRect/>
          </a:stretch>
        </p:blipFill>
        <p:spPr>
          <a:xfrm>
            <a:off x="5961888" y="3502152"/>
            <a:ext cx="274320" cy="27432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Phân tích bài toán tuyển dụng</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03</a:t>
            </a:r>
            <a:endParaRPr lang="en-US" sz="2000" dirty="0"/>
          </a:p>
        </p:txBody>
      </p:sp>
      <p:sp>
        <p:nvSpPr>
          <p:cNvPr id="5" name="Funnel 1"/>
          <p:cNvSpPr/>
          <p:nvPr/>
        </p:nvSpPr>
        <p:spPr>
          <a:xfrm>
            <a:off x="548640" y="1417320"/>
            <a:ext cx="5303520" cy="658368"/>
          </a:xfrm>
          <a:prstGeom prst="rect">
            <a:avLst>
              <a:gd name="adj" fmla="val 11111"/>
            </a:avLst>
          </a:prstGeom>
          <a:solidFill>
            <a:schemeClr val="tx2"/>
          </a:solidFill>
          <a:ln w="12700">
            <a:solidFill>
              <a:schemeClr val="tx2"/>
            </a:solidFill>
            <a:prstDash val="solid"/>
          </a:ln>
        </p:spPr>
      </p:sp>
      <p:sp>
        <p:nvSpPr>
          <p:cNvPr id="6" name="Funnel label 1"/>
          <p:cNvSpPr txBox="1"/>
          <p:nvPr/>
        </p:nvSpPr>
        <p:spPr>
          <a:xfrm>
            <a:off x="548640" y="1417320"/>
            <a:ext cx="5303520" cy="658368"/>
          </a:xfrm>
          <a:prstGeom prst="rect">
            <a:avLst/>
          </a:prstGeom>
          <a:noFill/>
          <a:ln/>
        </p:spPr>
        <p:txBody>
          <a:bodyPr wrap="square" lIns="0" tIns="0" rIns="0" bIns="0" rtlCol="0" anchor="ctr"/>
          <a:lstStyle/>
          <a:p>
            <a:pPr algn="ctr" indent="0" marL="0">
              <a:buNone/>
            </a:pPr>
            <a:r>
              <a:rPr lang="en-US" sz="1600" b="1" dirty="0">
                <a:solidFill>
                  <a:schemeClr val="bg1"/>
                </a:solidFill>
              </a:rPr>
              <a:t>1. Nộp hồ sơ</a:t>
            </a:r>
            <a:endParaRPr lang="en-US" sz="1600" dirty="0"/>
          </a:p>
        </p:txBody>
      </p:sp>
      <p:sp>
        <p:nvSpPr>
          <p:cNvPr id="7" name="Funnel 2"/>
          <p:cNvSpPr/>
          <p:nvPr/>
        </p:nvSpPr>
        <p:spPr>
          <a:xfrm>
            <a:off x="914400" y="2203704"/>
            <a:ext cx="4572000" cy="658368"/>
          </a:xfrm>
          <a:prstGeom prst="rect">
            <a:avLst>
              <a:gd name="adj" fmla="val 11111"/>
            </a:avLst>
          </a:prstGeom>
          <a:solidFill>
            <a:schemeClr val="accent1"/>
          </a:solidFill>
          <a:ln w="12700">
            <a:solidFill>
              <a:schemeClr val="accent1"/>
            </a:solidFill>
            <a:prstDash val="solid"/>
          </a:ln>
        </p:spPr>
      </p:sp>
      <p:sp>
        <p:nvSpPr>
          <p:cNvPr id="8" name="Funnel label 2"/>
          <p:cNvSpPr txBox="1"/>
          <p:nvPr/>
        </p:nvSpPr>
        <p:spPr>
          <a:xfrm>
            <a:off x="914400" y="2203704"/>
            <a:ext cx="4572000" cy="658368"/>
          </a:xfrm>
          <a:prstGeom prst="rect">
            <a:avLst/>
          </a:prstGeom>
          <a:noFill/>
          <a:ln/>
        </p:spPr>
        <p:txBody>
          <a:bodyPr wrap="square" lIns="0" tIns="0" rIns="0" bIns="0" rtlCol="0" anchor="ctr"/>
          <a:lstStyle/>
          <a:p>
            <a:pPr algn="ctr" indent="0" marL="0">
              <a:buNone/>
            </a:pPr>
            <a:r>
              <a:rPr lang="en-US" sz="1600" b="1" dirty="0">
                <a:solidFill>
                  <a:schemeClr val="bg1"/>
                </a:solidFill>
              </a:rPr>
              <a:t>2. Sàng lọc CV</a:t>
            </a:r>
            <a:endParaRPr lang="en-US" sz="1600" dirty="0"/>
          </a:p>
        </p:txBody>
      </p:sp>
      <p:sp>
        <p:nvSpPr>
          <p:cNvPr id="9" name="Funnel 3"/>
          <p:cNvSpPr/>
          <p:nvPr/>
        </p:nvSpPr>
        <p:spPr>
          <a:xfrm>
            <a:off x="1280160" y="2990088"/>
            <a:ext cx="3840480" cy="658368"/>
          </a:xfrm>
          <a:prstGeom prst="rect">
            <a:avLst>
              <a:gd name="adj" fmla="val 11111"/>
            </a:avLst>
          </a:prstGeom>
          <a:solidFill>
            <a:schemeClr val="tx2"/>
          </a:solidFill>
          <a:ln w="12700">
            <a:solidFill>
              <a:schemeClr val="tx2"/>
            </a:solidFill>
            <a:prstDash val="solid"/>
          </a:ln>
        </p:spPr>
      </p:sp>
      <p:sp>
        <p:nvSpPr>
          <p:cNvPr id="10" name="Funnel label 3"/>
          <p:cNvSpPr txBox="1"/>
          <p:nvPr/>
        </p:nvSpPr>
        <p:spPr>
          <a:xfrm>
            <a:off x="1280160" y="2990088"/>
            <a:ext cx="3840480" cy="658368"/>
          </a:xfrm>
          <a:prstGeom prst="rect">
            <a:avLst/>
          </a:prstGeom>
          <a:noFill/>
          <a:ln/>
        </p:spPr>
        <p:txBody>
          <a:bodyPr wrap="square" lIns="0" tIns="0" rIns="0" bIns="0" rtlCol="0" anchor="ctr"/>
          <a:lstStyle/>
          <a:p>
            <a:pPr algn="ctr" indent="0" marL="0">
              <a:buNone/>
            </a:pPr>
            <a:r>
              <a:rPr lang="en-US" sz="1600" b="1" dirty="0">
                <a:solidFill>
                  <a:schemeClr val="bg1"/>
                </a:solidFill>
              </a:rPr>
              <a:t>3. Phỏng vấn</a:t>
            </a:r>
            <a:endParaRPr lang="en-US" sz="1600" dirty="0"/>
          </a:p>
        </p:txBody>
      </p:sp>
      <p:sp>
        <p:nvSpPr>
          <p:cNvPr id="11" name="Funnel 4"/>
          <p:cNvSpPr/>
          <p:nvPr/>
        </p:nvSpPr>
        <p:spPr>
          <a:xfrm>
            <a:off x="1645920" y="3776472"/>
            <a:ext cx="3108960" cy="658368"/>
          </a:xfrm>
          <a:prstGeom prst="rect">
            <a:avLst>
              <a:gd name="adj" fmla="val 11111"/>
            </a:avLst>
          </a:prstGeom>
          <a:solidFill>
            <a:schemeClr val="accent1"/>
          </a:solidFill>
          <a:ln w="12700">
            <a:solidFill>
              <a:schemeClr val="accent1"/>
            </a:solidFill>
            <a:prstDash val="solid"/>
          </a:ln>
        </p:spPr>
      </p:sp>
      <p:sp>
        <p:nvSpPr>
          <p:cNvPr id="12" name="Funnel label 4"/>
          <p:cNvSpPr txBox="1"/>
          <p:nvPr/>
        </p:nvSpPr>
        <p:spPr>
          <a:xfrm>
            <a:off x="1645920" y="3776472"/>
            <a:ext cx="3108960" cy="658368"/>
          </a:xfrm>
          <a:prstGeom prst="rect">
            <a:avLst/>
          </a:prstGeom>
          <a:noFill/>
          <a:ln/>
        </p:spPr>
        <p:txBody>
          <a:bodyPr wrap="square" lIns="0" tIns="0" rIns="0" bIns="0" rtlCol="0" anchor="ctr"/>
          <a:lstStyle/>
          <a:p>
            <a:pPr algn="ctr" indent="0" marL="0">
              <a:buNone/>
            </a:pPr>
            <a:r>
              <a:rPr lang="en-US" sz="1600" b="1" dirty="0">
                <a:solidFill>
                  <a:schemeClr val="bg1"/>
                </a:solidFill>
              </a:rPr>
              <a:t>4. Đề nghị (offer)</a:t>
            </a:r>
            <a:endParaRPr lang="en-US" sz="1600" dirty="0"/>
          </a:p>
        </p:txBody>
      </p:sp>
      <p:sp>
        <p:nvSpPr>
          <p:cNvPr id="13" name="Funnel 5"/>
          <p:cNvSpPr/>
          <p:nvPr/>
        </p:nvSpPr>
        <p:spPr>
          <a:xfrm>
            <a:off x="2011680" y="4562856"/>
            <a:ext cx="2377440" cy="658368"/>
          </a:xfrm>
          <a:prstGeom prst="rect">
            <a:avLst>
              <a:gd name="adj" fmla="val 11111"/>
            </a:avLst>
          </a:prstGeom>
          <a:solidFill>
            <a:schemeClr val="accent2"/>
          </a:solidFill>
          <a:ln w="12700">
            <a:solidFill>
              <a:schemeClr val="accent2"/>
            </a:solidFill>
            <a:prstDash val="solid"/>
          </a:ln>
        </p:spPr>
      </p:sp>
      <p:sp>
        <p:nvSpPr>
          <p:cNvPr id="14" name="Funnel label 5"/>
          <p:cNvSpPr txBox="1"/>
          <p:nvPr/>
        </p:nvSpPr>
        <p:spPr>
          <a:xfrm>
            <a:off x="2011680" y="4562856"/>
            <a:ext cx="2377440" cy="658368"/>
          </a:xfrm>
          <a:prstGeom prst="rect">
            <a:avLst/>
          </a:prstGeom>
          <a:noFill/>
          <a:ln/>
        </p:spPr>
        <p:txBody>
          <a:bodyPr wrap="square" lIns="0" tIns="0" rIns="0" bIns="0" rtlCol="0" anchor="ctr"/>
          <a:lstStyle/>
          <a:p>
            <a:pPr algn="ctr" indent="0" marL="0">
              <a:buNone/>
            </a:pPr>
            <a:r>
              <a:rPr lang="en-US" sz="1600" b="1" dirty="0">
                <a:solidFill>
                  <a:schemeClr val="tx2"/>
                </a:solidFill>
              </a:rPr>
              <a:t>5. Nhận việc</a:t>
            </a:r>
            <a:endParaRPr lang="en-US" sz="1600" dirty="0"/>
          </a:p>
        </p:txBody>
      </p:sp>
      <p:sp>
        <p:nvSpPr>
          <p:cNvPr id="15" name="Funnel caption"/>
          <p:cNvSpPr txBox="1"/>
          <p:nvPr/>
        </p:nvSpPr>
        <p:spPr>
          <a:xfrm>
            <a:off x="548640" y="5440680"/>
            <a:ext cx="5303520" cy="365760"/>
          </a:xfrm>
          <a:prstGeom prst="rect">
            <a:avLst/>
          </a:prstGeom>
          <a:noFill/>
          <a:ln/>
        </p:spPr>
        <p:txBody>
          <a:bodyPr wrap="square" lIns="0" tIns="0" rIns="0" bIns="0" rtlCol="0" anchor="ctr"/>
          <a:lstStyle/>
          <a:p>
            <a:pPr algn="ctr" indent="0" marL="0">
              <a:buNone/>
            </a:pPr>
            <a:r>
              <a:rPr lang="en-US" sz="1200" i="1" dirty="0">
                <a:solidFill>
                  <a:schemeClr val="accent4"/>
                </a:solidFill>
              </a:rPr>
              <a:t>5 vòng tuyển dụng: càng về sau càng ít người, giống cái phễu</a:t>
            </a:r>
            <a:endParaRPr lang="en-US" sz="1200" dirty="0"/>
          </a:p>
        </p:txBody>
      </p:sp>
      <p:sp>
        <p:nvSpPr>
          <p:cNvPr id="16" name="Roles header"/>
          <p:cNvSpPr txBox="1"/>
          <p:nvPr/>
        </p:nvSpPr>
        <p:spPr>
          <a:xfrm>
            <a:off x="6309360" y="1371600"/>
            <a:ext cx="5330952" cy="411480"/>
          </a:xfrm>
          <a:prstGeom prst="rect">
            <a:avLst/>
          </a:prstGeom>
          <a:noFill/>
          <a:ln/>
        </p:spPr>
        <p:txBody>
          <a:bodyPr wrap="square" lIns="0" tIns="0" rIns="0" bIns="0" rtlCol="0" anchor="ctr"/>
          <a:lstStyle/>
          <a:p>
            <a:pPr indent="0" marL="0">
              <a:buNone/>
            </a:pPr>
            <a:r>
              <a:rPr lang="en-US" sz="2000" b="1" dirty="0">
                <a:solidFill>
                  <a:schemeClr val="tx2"/>
                </a:solidFill>
              </a:rPr>
              <a:t>Ai dùng hệ thống?</a:t>
            </a:r>
            <a:endParaRPr lang="en-US" sz="2000" dirty="0"/>
          </a:p>
        </p:txBody>
      </p:sp>
      <p:sp>
        <p:nvSpPr>
          <p:cNvPr id="17" name="Role Admin circle"/>
          <p:cNvSpPr/>
          <p:nvPr/>
        </p:nvSpPr>
        <p:spPr>
          <a:xfrm>
            <a:off x="6309360" y="1920240"/>
            <a:ext cx="475488" cy="475488"/>
          </a:xfrm>
          <a:prstGeom prst="rect">
            <a:avLst/>
          </a:prstGeom>
          <a:solidFill>
            <a:schemeClr val="accent1"/>
          </a:solidFill>
          <a:ln w="12700">
            <a:solidFill>
              <a:schemeClr val="accent1"/>
            </a:solidFill>
            <a:prstDash val="solid"/>
          </a:ln>
        </p:spPr>
      </p:sp>
      <p:pic>
        <p:nvPicPr>
          <p:cNvPr id="18" name="Role Admin icon" descr="Role Admin">    </p:cNvPr>
          <p:cNvPicPr>
            <a:picLocks noChangeAspect="1"/>
          </p:cNvPicPr>
          <p:nvPr/>
        </p:nvPicPr>
        <p:blipFill>
          <a:blip r:embed="rId1"/>
          <a:stretch>
            <a:fillRect/>
          </a:stretch>
        </p:blipFill>
        <p:spPr>
          <a:xfrm>
            <a:off x="6428232" y="2039112"/>
            <a:ext cx="237744" cy="237744"/>
          </a:xfrm>
          <a:prstGeom prst="rect">
            <a:avLst/>
          </a:prstGeom>
        </p:spPr>
      </p:pic>
      <p:sp>
        <p:nvSpPr>
          <p:cNvPr id="19" name="Role text Admin"/>
          <p:cNvSpPr txBox="1"/>
          <p:nvPr/>
        </p:nvSpPr>
        <p:spPr>
          <a:xfrm>
            <a:off x="6949440" y="1920240"/>
            <a:ext cx="4690872" cy="475488"/>
          </a:xfrm>
          <a:prstGeom prst="rect">
            <a:avLst/>
          </a:prstGeom>
          <a:noFill/>
          <a:ln/>
        </p:spPr>
        <p:txBody>
          <a:bodyPr wrap="square" lIns="0" tIns="0" rIns="0" bIns="0" rtlCol="0" anchor="ctr"/>
          <a:lstStyle/>
          <a:p>
            <a:pPr indent="0" marL="0">
              <a:buNone/>
            </a:pPr>
            <a:r>
              <a:rPr lang="en-US" sz="1600" b="1" dirty="0">
                <a:solidFill>
                  <a:schemeClr val="tx2"/>
                </a:solidFill>
              </a:rPr>
              <a:t>Admin: </a:t>
            </a:r>
            <a:r>
              <a:rPr lang="en-US" sz="1600" dirty="0">
                <a:solidFill>
                  <a:schemeClr val="tx1"/>
                </a:solidFill>
              </a:rPr>
              <a:t>quản lý tài khoản, cài đặt hệ thống</a:t>
            </a:r>
            <a:endParaRPr lang="en-US" sz="1600" dirty="0"/>
          </a:p>
        </p:txBody>
      </p:sp>
      <p:sp>
        <p:nvSpPr>
          <p:cNvPr id="20" name="Role HR circle"/>
          <p:cNvSpPr/>
          <p:nvPr/>
        </p:nvSpPr>
        <p:spPr>
          <a:xfrm>
            <a:off x="6309360" y="2542032"/>
            <a:ext cx="475488" cy="475488"/>
          </a:xfrm>
          <a:prstGeom prst="rect">
            <a:avLst/>
          </a:prstGeom>
          <a:solidFill>
            <a:schemeClr val="accent1"/>
          </a:solidFill>
          <a:ln w="12700">
            <a:solidFill>
              <a:schemeClr val="accent1"/>
            </a:solidFill>
            <a:prstDash val="solid"/>
          </a:ln>
        </p:spPr>
      </p:sp>
      <p:pic>
        <p:nvPicPr>
          <p:cNvPr id="21" name="Role HR icon" descr="Role HR">    </p:cNvPr>
          <p:cNvPicPr>
            <a:picLocks noChangeAspect="1"/>
          </p:cNvPicPr>
          <p:nvPr/>
        </p:nvPicPr>
        <p:blipFill>
          <a:blip r:embed="rId2"/>
          <a:stretch>
            <a:fillRect/>
          </a:stretch>
        </p:blipFill>
        <p:spPr>
          <a:xfrm>
            <a:off x="6428232" y="2660904"/>
            <a:ext cx="237744" cy="237744"/>
          </a:xfrm>
          <a:prstGeom prst="rect">
            <a:avLst/>
          </a:prstGeom>
        </p:spPr>
      </p:pic>
      <p:sp>
        <p:nvSpPr>
          <p:cNvPr id="22" name="Role text HR"/>
          <p:cNvSpPr txBox="1"/>
          <p:nvPr/>
        </p:nvSpPr>
        <p:spPr>
          <a:xfrm>
            <a:off x="6949440" y="2542032"/>
            <a:ext cx="4690872" cy="475488"/>
          </a:xfrm>
          <a:prstGeom prst="rect">
            <a:avLst/>
          </a:prstGeom>
          <a:noFill/>
          <a:ln/>
        </p:spPr>
        <p:txBody>
          <a:bodyPr wrap="square" lIns="0" tIns="0" rIns="0" bIns="0" rtlCol="0" anchor="ctr"/>
          <a:lstStyle/>
          <a:p>
            <a:pPr indent="0" marL="0">
              <a:buNone/>
            </a:pPr>
            <a:r>
              <a:rPr lang="en-US" sz="1600" b="1" dirty="0">
                <a:solidFill>
                  <a:schemeClr val="tx2"/>
                </a:solidFill>
              </a:rPr>
              <a:t>HR: </a:t>
            </a:r>
            <a:r>
              <a:rPr lang="en-US" sz="1600" dirty="0">
                <a:solidFill>
                  <a:schemeClr val="tx1"/>
                </a:solidFill>
              </a:rPr>
              <a:t>nhập hồ sơ, cập nhật vòng của ứng viên</a:t>
            </a:r>
            <a:endParaRPr lang="en-US" sz="1600" dirty="0"/>
          </a:p>
        </p:txBody>
      </p:sp>
      <p:sp>
        <p:nvSpPr>
          <p:cNvPr id="23" name="Role Quản lý circle"/>
          <p:cNvSpPr/>
          <p:nvPr/>
        </p:nvSpPr>
        <p:spPr>
          <a:xfrm>
            <a:off x="6309360" y="3163824"/>
            <a:ext cx="475488" cy="475488"/>
          </a:xfrm>
          <a:prstGeom prst="rect">
            <a:avLst/>
          </a:prstGeom>
          <a:solidFill>
            <a:schemeClr val="accent1"/>
          </a:solidFill>
          <a:ln w="12700">
            <a:solidFill>
              <a:schemeClr val="accent1"/>
            </a:solidFill>
            <a:prstDash val="solid"/>
          </a:ln>
        </p:spPr>
      </p:sp>
      <p:pic>
        <p:nvPicPr>
          <p:cNvPr id="24" name="Role Quản lý icon" descr="Role Quản lý">    </p:cNvPr>
          <p:cNvPicPr>
            <a:picLocks noChangeAspect="1"/>
          </p:cNvPicPr>
          <p:nvPr/>
        </p:nvPicPr>
        <p:blipFill>
          <a:blip r:embed="rId3"/>
          <a:stretch>
            <a:fillRect/>
          </a:stretch>
        </p:blipFill>
        <p:spPr>
          <a:xfrm>
            <a:off x="6428232" y="3282696"/>
            <a:ext cx="237744" cy="237744"/>
          </a:xfrm>
          <a:prstGeom prst="rect">
            <a:avLst/>
          </a:prstGeom>
        </p:spPr>
      </p:pic>
      <p:sp>
        <p:nvSpPr>
          <p:cNvPr id="25" name="Role text Quản lý"/>
          <p:cNvSpPr txBox="1"/>
          <p:nvPr/>
        </p:nvSpPr>
        <p:spPr>
          <a:xfrm>
            <a:off x="6949440" y="3163824"/>
            <a:ext cx="4690872" cy="475488"/>
          </a:xfrm>
          <a:prstGeom prst="rect">
            <a:avLst/>
          </a:prstGeom>
          <a:noFill/>
          <a:ln/>
        </p:spPr>
        <p:txBody>
          <a:bodyPr wrap="square" lIns="0" tIns="0" rIns="0" bIns="0" rtlCol="0" anchor="ctr"/>
          <a:lstStyle/>
          <a:p>
            <a:pPr indent="0" marL="0">
              <a:buNone/>
            </a:pPr>
            <a:r>
              <a:rPr lang="en-US" sz="1600" b="1" dirty="0">
                <a:solidFill>
                  <a:schemeClr val="tx2"/>
                </a:solidFill>
              </a:rPr>
              <a:t>Quản lý: </a:t>
            </a:r>
            <a:r>
              <a:rPr lang="en-US" sz="1600" dirty="0">
                <a:solidFill>
                  <a:schemeClr val="tx1"/>
                </a:solidFill>
              </a:rPr>
              <a:t>xem báo cáo và kết quả AI</a:t>
            </a:r>
            <a:endParaRPr lang="en-US" sz="1600" dirty="0"/>
          </a:p>
        </p:txBody>
      </p:sp>
      <p:sp>
        <p:nvSpPr>
          <p:cNvPr id="26" name="KPI header"/>
          <p:cNvSpPr txBox="1"/>
          <p:nvPr/>
        </p:nvSpPr>
        <p:spPr>
          <a:xfrm>
            <a:off x="6309360" y="3931920"/>
            <a:ext cx="5330952" cy="411480"/>
          </a:xfrm>
          <a:prstGeom prst="rect">
            <a:avLst/>
          </a:prstGeom>
          <a:noFill/>
          <a:ln/>
        </p:spPr>
        <p:txBody>
          <a:bodyPr wrap="square" lIns="0" tIns="0" rIns="0" bIns="0" rtlCol="0" anchor="ctr"/>
          <a:lstStyle/>
          <a:p>
            <a:pPr indent="0" marL="0">
              <a:buNone/>
            </a:pPr>
            <a:r>
              <a:rPr lang="en-US" sz="2000" b="1" dirty="0">
                <a:solidFill>
                  <a:schemeClr val="tx2"/>
                </a:solidFill>
              </a:rPr>
              <a:t>Những con số cần theo dõi</a:t>
            </a:r>
            <a:endParaRPr lang="en-US" sz="2000" dirty="0"/>
          </a:p>
        </p:txBody>
      </p:sp>
      <p:sp>
        <p:nvSpPr>
          <p:cNvPr id="27" name="KPI bullets"/>
          <p:cNvSpPr txBox="1"/>
          <p:nvPr/>
        </p:nvSpPr>
        <p:spPr>
          <a:xfrm>
            <a:off x="6309360" y="4434840"/>
            <a:ext cx="5330952" cy="14630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Tỷ lệ ứng viên qua được từng vòng</a:t>
            </a:r>
            <a:endParaRPr lang="en-US" sz="1600" dirty="0"/>
          </a:p>
          <a:p>
            <a:pPr marL="228600" indent="-228600">
              <a:spcAft>
                <a:spcPts val="800"/>
              </a:spcAft>
              <a:buSzPct val="100000"/>
              <a:buChar char="•"/>
            </a:pPr>
            <a:r>
              <a:rPr lang="en-US" sz="1600" dirty="0">
                <a:solidFill>
                  <a:schemeClr val="tx1"/>
                </a:solidFill>
              </a:rPr>
              <a:t>Số ngày trung bình để tuyển được một người</a:t>
            </a:r>
            <a:endParaRPr lang="en-US" sz="1600" dirty="0"/>
          </a:p>
          <a:p>
            <a:pPr marL="228600" indent="-228600">
              <a:spcAft>
                <a:spcPts val="800"/>
              </a:spcAft>
              <a:buSzPct val="100000"/>
              <a:buChar char="•"/>
            </a:pPr>
            <a:r>
              <a:rPr lang="en-US" sz="1600" dirty="0">
                <a:solidFill>
                  <a:schemeClr val="tx1"/>
                </a:solidFill>
              </a:rPr>
              <a:t>Nguồn nào mang lại nhiều ứng viên tốt nhất</a:t>
            </a:r>
            <a:endParaRPr lang="en-US" sz="16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Dữ liệu tuyển dụng đến từ đâu?</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04</a:t>
            </a:r>
            <a:endParaRPr lang="en-US" sz="2000" dirty="0"/>
          </a:p>
        </p:txBody>
      </p:sp>
      <p:graphicFrame>
        <p:nvGraphicFramePr>
          <p:cNvPr id="5" name="Data sourc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840480"/>
                <a:gridCol w="2377440"/>
                <a:gridCol w="4873752"/>
              </a:tblGrid>
              <a:tr h="566928">
                <a:tc>
                  <a:txBody>
                    <a:bodyPr/>
                    <a:lstStyle/>
                    <a:p>
                      <a:pPr indent="0" marL="0">
                        <a:buNone/>
                      </a:pPr>
                      <a:r>
                        <a:rPr lang="en-US" sz="1600" b="1" dirty="0">
                          <a:solidFill>
                            <a:schemeClr val="bg1"/>
                          </a:solidFill>
                        </a:rPr>
                        <a:t>Nguồn dữ liệu</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Dạng dữ liệu</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Lỗi hay gặp</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tr>
              <a:tr h="566928">
                <a:tc>
                  <a:txBody>
                    <a:bodyPr/>
                    <a:lstStyle/>
                    <a:p>
                      <a:pPr indent="0" marL="0">
                        <a:buNone/>
                      </a:pPr>
                      <a:r>
                        <a:rPr lang="en-US" sz="1600" b="1" dirty="0">
                          <a:solidFill>
                            <a:schemeClr val="tx2"/>
                          </a:solidFill>
                        </a:rPr>
                        <a:t>File Excel của HR</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Excel, CSV</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Ngày ghi kiểu 15/06/2026, tên viết HOA</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2"/>
                          </a:solidFill>
                        </a:rPr>
                        <a:t>Web tuyển dụng (TopCV, VietnamWorks…)</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Dữ liệu JSON</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Số điện thoại dạng +84, trạng thái tiếng Anh</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2"/>
                          </a:solidFill>
                        </a:rPr>
                        <a:t>Google Form</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Bảng tính</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Email gõ thiếu @, có lượt gửi bị trống</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2"/>
                          </a:solidFill>
                        </a:rPr>
                        <a:t>CV của ứng viên</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File PDF, Word</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Chữ viết tự do, khó lấy thông tin</a:t>
                      </a:r>
                      <a:endParaRPr lang="en-US" sz="1600" dirty="0"/>
                    </a:p>
                  </a:txBody>
                  <a:tcPr marL="109728" marR="109728" marT="54864" marB="54864"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r>
            </a:tbl>
          </a:graphicData>
        </a:graphic>
      </p:graphicFrame>
      <p:sp>
        <p:nvSpPr>
          <p:cNvPr id="6" name="Chip 1"/>
          <p:cNvSpPr/>
          <p:nvPr/>
        </p:nvSpPr>
        <p:spPr>
          <a:xfrm>
            <a:off x="548640" y="4709160"/>
            <a:ext cx="3447288" cy="1234440"/>
          </a:xfrm>
          <a:prstGeom prst="rect">
            <a:avLst>
              <a:gd name="adj" fmla="val 8889"/>
            </a:avLst>
          </a:prstGeom>
          <a:solidFill>
            <a:schemeClr val="bg2"/>
          </a:solidFill>
          <a:ln w="12700">
            <a:solidFill>
              <a:schemeClr val="bg2"/>
            </a:solidFill>
            <a:prstDash val="solid"/>
          </a:ln>
        </p:spPr>
      </p:sp>
      <p:sp>
        <p:nvSpPr>
          <p:cNvPr id="7" name="Chip icon 1 circle"/>
          <p:cNvSpPr/>
          <p:nvPr/>
        </p:nvSpPr>
        <p:spPr>
          <a:xfrm>
            <a:off x="777240" y="5001768"/>
            <a:ext cx="640080" cy="640080"/>
          </a:xfrm>
          <a:prstGeom prst="rect">
            <a:avLst/>
          </a:prstGeom>
          <a:solidFill>
            <a:schemeClr val="accent1"/>
          </a:solidFill>
          <a:ln w="12700">
            <a:solidFill>
              <a:schemeClr val="accent1"/>
            </a:solidFill>
            <a:prstDash val="solid"/>
          </a:ln>
        </p:spPr>
      </p:sp>
      <p:pic>
        <p:nvPicPr>
          <p:cNvPr id="8" name="Chip icon 1 icon" descr="Chip icon 1">    </p:cNvPr>
          <p:cNvPicPr>
            <a:picLocks noChangeAspect="1"/>
          </p:cNvPicPr>
          <p:nvPr/>
        </p:nvPicPr>
        <p:blipFill>
          <a:blip r:embed="rId1"/>
          <a:stretch>
            <a:fillRect/>
          </a:stretch>
        </p:blipFill>
        <p:spPr>
          <a:xfrm>
            <a:off x="937260" y="5161788"/>
            <a:ext cx="320040" cy="320040"/>
          </a:xfrm>
          <a:prstGeom prst="rect">
            <a:avLst/>
          </a:prstGeom>
        </p:spPr>
      </p:pic>
      <p:sp>
        <p:nvSpPr>
          <p:cNvPr id="9" name="Chip text 1"/>
          <p:cNvSpPr txBox="1"/>
          <p:nvPr/>
        </p:nvSpPr>
        <p:spPr>
          <a:xfrm>
            <a:off x="1554480" y="4754880"/>
            <a:ext cx="2331720" cy="1143000"/>
          </a:xfrm>
          <a:prstGeom prst="rect">
            <a:avLst/>
          </a:prstGeom>
          <a:noFill/>
          <a:ln/>
        </p:spPr>
        <p:txBody>
          <a:bodyPr wrap="square" lIns="0" tIns="0" rIns="0" bIns="0" rtlCol="0" anchor="ctr"/>
          <a:lstStyle/>
          <a:p>
            <a:pPr indent="0" marL="0">
              <a:buNone/>
            </a:pPr>
            <a:r>
              <a:rPr lang="en-US" sz="2000" b="1" dirty="0">
                <a:solidFill>
                  <a:schemeClr val="tx2"/>
                </a:solidFill>
              </a:rPr>
              <a:t>4 nguồn</a:t>
            </a:r>
            <a:endParaRPr lang="en-US" sz="2000" dirty="0"/>
          </a:p>
          <a:p>
            <a:pPr indent="0" marL="0">
              <a:buNone/>
            </a:pPr>
            <a:r>
              <a:rPr lang="en-US" sz="1400" dirty="0">
                <a:solidFill>
                  <a:schemeClr val="accent4"/>
                </a:solidFill>
              </a:rPr>
              <a:t>mỗi nguồn một cách lấy</a:t>
            </a:r>
            <a:endParaRPr lang="en-US" sz="2000" dirty="0"/>
          </a:p>
        </p:txBody>
      </p:sp>
      <p:sp>
        <p:nvSpPr>
          <p:cNvPr id="10" name="Chip 2"/>
          <p:cNvSpPr/>
          <p:nvPr/>
        </p:nvSpPr>
        <p:spPr>
          <a:xfrm>
            <a:off x="4370832" y="4709160"/>
            <a:ext cx="3447288" cy="1234440"/>
          </a:xfrm>
          <a:prstGeom prst="rect">
            <a:avLst>
              <a:gd name="adj" fmla="val 8889"/>
            </a:avLst>
          </a:prstGeom>
          <a:solidFill>
            <a:schemeClr val="bg2"/>
          </a:solidFill>
          <a:ln w="12700">
            <a:solidFill>
              <a:schemeClr val="bg2"/>
            </a:solidFill>
            <a:prstDash val="solid"/>
          </a:ln>
        </p:spPr>
      </p:sp>
      <p:sp>
        <p:nvSpPr>
          <p:cNvPr id="11" name="Chip icon 2 circle"/>
          <p:cNvSpPr/>
          <p:nvPr/>
        </p:nvSpPr>
        <p:spPr>
          <a:xfrm>
            <a:off x="4599432" y="5001768"/>
            <a:ext cx="640080" cy="640080"/>
          </a:xfrm>
          <a:prstGeom prst="rect">
            <a:avLst/>
          </a:prstGeom>
          <a:solidFill>
            <a:schemeClr val="accent1"/>
          </a:solidFill>
          <a:ln w="12700">
            <a:solidFill>
              <a:schemeClr val="accent1"/>
            </a:solidFill>
            <a:prstDash val="solid"/>
          </a:ln>
        </p:spPr>
      </p:sp>
      <p:pic>
        <p:nvPicPr>
          <p:cNvPr id="12" name="Chip icon 2 icon" descr="Chip icon 2">    </p:cNvPr>
          <p:cNvPicPr>
            <a:picLocks noChangeAspect="1"/>
          </p:cNvPicPr>
          <p:nvPr/>
        </p:nvPicPr>
        <p:blipFill>
          <a:blip r:embed="rId2"/>
          <a:stretch>
            <a:fillRect/>
          </a:stretch>
        </p:blipFill>
        <p:spPr>
          <a:xfrm>
            <a:off x="4759452" y="5161788"/>
            <a:ext cx="320040" cy="320040"/>
          </a:xfrm>
          <a:prstGeom prst="rect">
            <a:avLst/>
          </a:prstGeom>
        </p:spPr>
      </p:pic>
      <p:sp>
        <p:nvSpPr>
          <p:cNvPr id="13" name="Chip text 2"/>
          <p:cNvSpPr txBox="1"/>
          <p:nvPr/>
        </p:nvSpPr>
        <p:spPr>
          <a:xfrm>
            <a:off x="5376672" y="4754880"/>
            <a:ext cx="2331720" cy="1143000"/>
          </a:xfrm>
          <a:prstGeom prst="rect">
            <a:avLst/>
          </a:prstGeom>
          <a:noFill/>
          <a:ln/>
        </p:spPr>
        <p:txBody>
          <a:bodyPr wrap="square" lIns="0" tIns="0" rIns="0" bIns="0" rtlCol="0" anchor="ctr"/>
          <a:lstStyle/>
          <a:p>
            <a:pPr indent="0" marL="0">
              <a:buNone/>
            </a:pPr>
            <a:r>
              <a:rPr lang="en-US" sz="2000" b="1" dirty="0">
                <a:solidFill>
                  <a:schemeClr val="tx2"/>
                </a:solidFill>
              </a:rPr>
              <a:t>Nhiều kiểu ghi</a:t>
            </a:r>
            <a:endParaRPr lang="en-US" sz="2000" dirty="0"/>
          </a:p>
          <a:p>
            <a:pPr indent="0" marL="0">
              <a:buNone/>
            </a:pPr>
            <a:r>
              <a:rPr lang="en-US" sz="1400" dirty="0">
                <a:solidFill>
                  <a:schemeClr val="accent4"/>
                </a:solidFill>
              </a:rPr>
              <a:t>ngày, SĐT, trạng thái khác nhau</a:t>
            </a:r>
            <a:endParaRPr lang="en-US" sz="2000" dirty="0"/>
          </a:p>
        </p:txBody>
      </p:sp>
      <p:sp>
        <p:nvSpPr>
          <p:cNvPr id="14" name="Chip 3"/>
          <p:cNvSpPr/>
          <p:nvPr/>
        </p:nvSpPr>
        <p:spPr>
          <a:xfrm>
            <a:off x="8193024" y="4709160"/>
            <a:ext cx="3447288" cy="1234440"/>
          </a:xfrm>
          <a:prstGeom prst="rect">
            <a:avLst>
              <a:gd name="adj" fmla="val 8889"/>
            </a:avLst>
          </a:prstGeom>
          <a:solidFill>
            <a:schemeClr val="bg2"/>
          </a:solidFill>
          <a:ln w="12700">
            <a:solidFill>
              <a:schemeClr val="bg2"/>
            </a:solidFill>
            <a:prstDash val="solid"/>
          </a:ln>
        </p:spPr>
      </p:sp>
      <p:sp>
        <p:nvSpPr>
          <p:cNvPr id="15" name="Chip icon 3 circle"/>
          <p:cNvSpPr/>
          <p:nvPr/>
        </p:nvSpPr>
        <p:spPr>
          <a:xfrm>
            <a:off x="8421624" y="5001768"/>
            <a:ext cx="640080" cy="640080"/>
          </a:xfrm>
          <a:prstGeom prst="rect">
            <a:avLst/>
          </a:prstGeom>
          <a:solidFill>
            <a:schemeClr val="accent2"/>
          </a:solidFill>
          <a:ln w="12700">
            <a:solidFill>
              <a:schemeClr val="accent2"/>
            </a:solidFill>
            <a:prstDash val="solid"/>
          </a:ln>
        </p:spPr>
      </p:sp>
      <p:pic>
        <p:nvPicPr>
          <p:cNvPr id="16" name="Chip icon 3 icon" descr="Chip icon 3">    </p:cNvPr>
          <p:cNvPicPr>
            <a:picLocks noChangeAspect="1"/>
          </p:cNvPicPr>
          <p:nvPr/>
        </p:nvPicPr>
        <p:blipFill>
          <a:blip r:embed="rId3"/>
          <a:stretch>
            <a:fillRect/>
          </a:stretch>
        </p:blipFill>
        <p:spPr>
          <a:xfrm>
            <a:off x="8581644" y="5161788"/>
            <a:ext cx="320040" cy="320040"/>
          </a:xfrm>
          <a:prstGeom prst="rect">
            <a:avLst/>
          </a:prstGeom>
        </p:spPr>
      </p:pic>
      <p:sp>
        <p:nvSpPr>
          <p:cNvPr id="17" name="Chip text 3"/>
          <p:cNvSpPr txBox="1"/>
          <p:nvPr/>
        </p:nvSpPr>
        <p:spPr>
          <a:xfrm>
            <a:off x="9198864" y="4754880"/>
            <a:ext cx="2331720" cy="1143000"/>
          </a:xfrm>
          <a:prstGeom prst="rect">
            <a:avLst/>
          </a:prstGeom>
          <a:noFill/>
          <a:ln/>
        </p:spPr>
        <p:txBody>
          <a:bodyPr wrap="square" lIns="0" tIns="0" rIns="0" bIns="0" rtlCol="0" anchor="ctr"/>
          <a:lstStyle/>
          <a:p>
            <a:pPr indent="0" marL="0">
              <a:buNone/>
            </a:pPr>
            <a:r>
              <a:rPr lang="en-US" sz="2000" b="1" dirty="0">
                <a:solidFill>
                  <a:schemeClr val="tx2"/>
                </a:solidFill>
              </a:rPr>
              <a:t>1 mẫu chung</a:t>
            </a:r>
            <a:endParaRPr lang="en-US" sz="2000" dirty="0"/>
          </a:p>
          <a:p>
            <a:pPr indent="0" marL="0">
              <a:buNone/>
            </a:pPr>
            <a:r>
              <a:rPr lang="en-US" sz="1400" dirty="0">
                <a:solidFill>
                  <a:schemeClr val="accent4"/>
                </a:solidFill>
              </a:rPr>
              <a:t>đưa tất cả về cùng một dạng</a:t>
            </a:r>
            <a:endParaRPr lang="en-US" sz="20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ETL: Lấy – Làm sạch – Lưu</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05</a:t>
            </a:r>
            <a:endParaRPr lang="en-US" sz="2000" dirty="0"/>
          </a:p>
        </p:txBody>
      </p:sp>
      <p:sp>
        <p:nvSpPr>
          <p:cNvPr id="5" name="Flow box 1"/>
          <p:cNvSpPr/>
          <p:nvPr/>
        </p:nvSpPr>
        <p:spPr>
          <a:xfrm>
            <a:off x="548640" y="1371600"/>
            <a:ext cx="3291840" cy="2468880"/>
          </a:xfrm>
          <a:prstGeom prst="rect">
            <a:avLst>
              <a:gd name="adj" fmla="val 4444"/>
            </a:avLst>
          </a:prstGeom>
          <a:solidFill>
            <a:schemeClr val="bg2"/>
          </a:solidFill>
          <a:ln w="12700">
            <a:solidFill>
              <a:schemeClr val="bg2"/>
            </a:solidFill>
            <a:prstDash val="solid"/>
          </a:ln>
        </p:spPr>
      </p:sp>
      <p:sp>
        <p:nvSpPr>
          <p:cNvPr id="6" name="Flow icon 1 circle"/>
          <p:cNvSpPr/>
          <p:nvPr/>
        </p:nvSpPr>
        <p:spPr>
          <a:xfrm>
            <a:off x="822960" y="1600200"/>
            <a:ext cx="777240" cy="777240"/>
          </a:xfrm>
          <a:prstGeom prst="rect">
            <a:avLst/>
          </a:prstGeom>
          <a:solidFill>
            <a:schemeClr val="accent1"/>
          </a:solidFill>
          <a:ln w="12700">
            <a:solidFill>
              <a:schemeClr val="accent1"/>
            </a:solidFill>
            <a:prstDash val="solid"/>
          </a:ln>
        </p:spPr>
      </p:sp>
      <p:pic>
        <p:nvPicPr>
          <p:cNvPr id="7" name="Flow icon 1 icon" descr="Flow icon 1">    </p:cNvPr>
          <p:cNvPicPr>
            <a:picLocks noChangeAspect="1"/>
          </p:cNvPicPr>
          <p:nvPr/>
        </p:nvPicPr>
        <p:blipFill>
          <a:blip r:embed="rId1"/>
          <a:stretch>
            <a:fillRect/>
          </a:stretch>
        </p:blipFill>
        <p:spPr>
          <a:xfrm>
            <a:off x="1017270" y="1794510"/>
            <a:ext cx="388620" cy="388620"/>
          </a:xfrm>
          <a:prstGeom prst="rect">
            <a:avLst/>
          </a:prstGeom>
        </p:spPr>
      </p:pic>
      <p:sp>
        <p:nvSpPr>
          <p:cNvPr id="8" name="Flow title 1"/>
          <p:cNvSpPr txBox="1"/>
          <p:nvPr/>
        </p:nvSpPr>
        <p:spPr>
          <a:xfrm>
            <a:off x="1783080" y="1554480"/>
            <a:ext cx="1965960" cy="868680"/>
          </a:xfrm>
          <a:prstGeom prst="rect">
            <a:avLst/>
          </a:prstGeom>
          <a:noFill/>
          <a:ln/>
        </p:spPr>
        <p:txBody>
          <a:bodyPr wrap="square" lIns="0" tIns="0" rIns="0" bIns="0" rtlCol="0" anchor="ctr"/>
          <a:lstStyle/>
          <a:p>
            <a:pPr indent="0" marL="0">
              <a:buNone/>
            </a:pPr>
            <a:r>
              <a:rPr lang="en-US" sz="1400" b="1" dirty="0">
                <a:solidFill>
                  <a:schemeClr val="accent1"/>
                </a:solidFill>
              </a:rPr>
              <a:t>E · Extract</a:t>
            </a:r>
            <a:endParaRPr lang="en-US" sz="1400" dirty="0"/>
          </a:p>
          <a:p>
            <a:pPr indent="0" marL="0">
              <a:buNone/>
            </a:pPr>
            <a:r>
              <a:rPr lang="en-US" sz="2400" b="1" dirty="0">
                <a:solidFill>
                  <a:schemeClr val="tx2"/>
                </a:solidFill>
              </a:rPr>
              <a:t>Lấy dữ liệu</a:t>
            </a:r>
            <a:endParaRPr lang="en-US" sz="1400" dirty="0"/>
          </a:p>
        </p:txBody>
      </p:sp>
      <p:sp>
        <p:nvSpPr>
          <p:cNvPr id="9" name="Flow desc 1"/>
          <p:cNvSpPr txBox="1"/>
          <p:nvPr/>
        </p:nvSpPr>
        <p:spPr>
          <a:xfrm>
            <a:off x="822960" y="2651760"/>
            <a:ext cx="2788920" cy="1051560"/>
          </a:xfrm>
          <a:prstGeom prst="rect">
            <a:avLst/>
          </a:prstGeom>
          <a:noFill/>
          <a:ln/>
        </p:spPr>
        <p:txBody>
          <a:bodyPr wrap="square" lIns="0" tIns="0" rIns="0" bIns="0" rtlCol="0" anchor="t"/>
          <a:lstStyle/>
          <a:p>
            <a:pPr indent="0" marL="0">
              <a:buNone/>
            </a:pPr>
            <a:r>
              <a:rPr lang="en-US" sz="1700" dirty="0">
                <a:solidFill>
                  <a:schemeClr val="tx1"/>
                </a:solidFill>
              </a:rPr>
              <a:t>Python đọc file Excel, Google Form và dữ liệu từ web tuyển dụng</a:t>
            </a:r>
            <a:endParaRPr lang="en-US" sz="1700" dirty="0"/>
          </a:p>
        </p:txBody>
      </p:sp>
      <p:sp>
        <p:nvSpPr>
          <p:cNvPr id="10" name="Flow arrow 1"/>
          <p:cNvSpPr/>
          <p:nvPr/>
        </p:nvSpPr>
        <p:spPr>
          <a:xfrm>
            <a:off x="3977640" y="2414016"/>
            <a:ext cx="338328" cy="384048"/>
          </a:xfrm>
          <a:prstGeom prst="rightArrow">
            <a:avLst/>
          </a:prstGeom>
          <a:solidFill>
            <a:schemeClr val="accent2"/>
          </a:solidFill>
          <a:ln w="12700">
            <a:solidFill>
              <a:schemeClr val="accent2"/>
            </a:solidFill>
            <a:prstDash val="solid"/>
          </a:ln>
        </p:spPr>
      </p:sp>
      <p:sp>
        <p:nvSpPr>
          <p:cNvPr id="11" name="Flow box 2"/>
          <p:cNvSpPr/>
          <p:nvPr/>
        </p:nvSpPr>
        <p:spPr>
          <a:xfrm>
            <a:off x="4448556" y="1371600"/>
            <a:ext cx="3291840" cy="2468880"/>
          </a:xfrm>
          <a:prstGeom prst="rect">
            <a:avLst>
              <a:gd name="adj" fmla="val 4444"/>
            </a:avLst>
          </a:prstGeom>
          <a:solidFill>
            <a:schemeClr val="tx2"/>
          </a:solidFill>
          <a:ln w="12700">
            <a:solidFill>
              <a:schemeClr val="tx2"/>
            </a:solidFill>
            <a:prstDash val="solid"/>
          </a:ln>
        </p:spPr>
      </p:sp>
      <p:sp>
        <p:nvSpPr>
          <p:cNvPr id="12" name="Flow icon 2 circle"/>
          <p:cNvSpPr/>
          <p:nvPr/>
        </p:nvSpPr>
        <p:spPr>
          <a:xfrm>
            <a:off x="4722876" y="1600200"/>
            <a:ext cx="777240" cy="777240"/>
          </a:xfrm>
          <a:prstGeom prst="rect">
            <a:avLst/>
          </a:prstGeom>
          <a:solidFill>
            <a:schemeClr val="accent2"/>
          </a:solidFill>
          <a:ln w="12700">
            <a:solidFill>
              <a:schemeClr val="accent2"/>
            </a:solidFill>
            <a:prstDash val="solid"/>
          </a:ln>
        </p:spPr>
      </p:sp>
      <p:pic>
        <p:nvPicPr>
          <p:cNvPr id="13" name="Flow icon 2 icon" descr="Flow icon 2">    </p:cNvPr>
          <p:cNvPicPr>
            <a:picLocks noChangeAspect="1"/>
          </p:cNvPicPr>
          <p:nvPr/>
        </p:nvPicPr>
        <p:blipFill>
          <a:blip r:embed="rId2"/>
          <a:stretch>
            <a:fillRect/>
          </a:stretch>
        </p:blipFill>
        <p:spPr>
          <a:xfrm>
            <a:off x="4917186" y="1794510"/>
            <a:ext cx="388620" cy="388620"/>
          </a:xfrm>
          <a:prstGeom prst="rect">
            <a:avLst/>
          </a:prstGeom>
        </p:spPr>
      </p:pic>
      <p:sp>
        <p:nvSpPr>
          <p:cNvPr id="14" name="Flow title 2"/>
          <p:cNvSpPr txBox="1"/>
          <p:nvPr/>
        </p:nvSpPr>
        <p:spPr>
          <a:xfrm>
            <a:off x="5682996" y="1554480"/>
            <a:ext cx="1965960" cy="868680"/>
          </a:xfrm>
          <a:prstGeom prst="rect">
            <a:avLst/>
          </a:prstGeom>
          <a:noFill/>
          <a:ln/>
        </p:spPr>
        <p:txBody>
          <a:bodyPr wrap="square" lIns="0" tIns="0" rIns="0" bIns="0" rtlCol="0" anchor="ctr"/>
          <a:lstStyle/>
          <a:p>
            <a:pPr indent="0" marL="0">
              <a:buNone/>
            </a:pPr>
            <a:r>
              <a:rPr lang="en-US" sz="1400" b="1" dirty="0">
                <a:solidFill>
                  <a:schemeClr val="accent2"/>
                </a:solidFill>
              </a:rPr>
              <a:t>T · Transform</a:t>
            </a:r>
            <a:endParaRPr lang="en-US" sz="1400" dirty="0"/>
          </a:p>
          <a:p>
            <a:pPr indent="0" marL="0">
              <a:buNone/>
            </a:pPr>
            <a:r>
              <a:rPr lang="en-US" sz="2400" b="1" dirty="0">
                <a:solidFill>
                  <a:schemeClr val="bg1"/>
                </a:solidFill>
              </a:rPr>
              <a:t>Làm sạch</a:t>
            </a:r>
            <a:endParaRPr lang="en-US" sz="1400" dirty="0"/>
          </a:p>
        </p:txBody>
      </p:sp>
      <p:sp>
        <p:nvSpPr>
          <p:cNvPr id="15" name="Flow desc 2"/>
          <p:cNvSpPr txBox="1"/>
          <p:nvPr/>
        </p:nvSpPr>
        <p:spPr>
          <a:xfrm>
            <a:off x="4722876" y="2651760"/>
            <a:ext cx="2788920" cy="1051560"/>
          </a:xfrm>
          <a:prstGeom prst="rect">
            <a:avLst/>
          </a:prstGeom>
          <a:noFill/>
          <a:ln/>
        </p:spPr>
        <p:txBody>
          <a:bodyPr wrap="square" lIns="0" tIns="0" rIns="0" bIns="0" rtlCol="0" anchor="t"/>
          <a:lstStyle/>
          <a:p>
            <a:pPr indent="0" marL="0">
              <a:buNone/>
            </a:pPr>
            <a:r>
              <a:rPr lang="en-US" sz="1700" dirty="0">
                <a:solidFill>
                  <a:schemeClr val="accent6"/>
                </a:solidFill>
              </a:rPr>
              <a:t>Sửa lỗi, đưa về cùng một mẫu, xóa hồ sơ bị trùng</a:t>
            </a:r>
            <a:endParaRPr lang="en-US" sz="1700" dirty="0"/>
          </a:p>
        </p:txBody>
      </p:sp>
      <p:sp>
        <p:nvSpPr>
          <p:cNvPr id="16" name="Flow arrow 2"/>
          <p:cNvSpPr/>
          <p:nvPr/>
        </p:nvSpPr>
        <p:spPr>
          <a:xfrm>
            <a:off x="7877556" y="2414016"/>
            <a:ext cx="338328" cy="384048"/>
          </a:xfrm>
          <a:prstGeom prst="rightArrow">
            <a:avLst/>
          </a:prstGeom>
          <a:solidFill>
            <a:schemeClr val="accent2"/>
          </a:solidFill>
          <a:ln w="12700">
            <a:solidFill>
              <a:schemeClr val="accent2"/>
            </a:solidFill>
            <a:prstDash val="solid"/>
          </a:ln>
        </p:spPr>
      </p:sp>
      <p:sp>
        <p:nvSpPr>
          <p:cNvPr id="17" name="Flow box 3"/>
          <p:cNvSpPr/>
          <p:nvPr/>
        </p:nvSpPr>
        <p:spPr>
          <a:xfrm>
            <a:off x="8348472" y="1371600"/>
            <a:ext cx="3291840" cy="2468880"/>
          </a:xfrm>
          <a:prstGeom prst="rect">
            <a:avLst>
              <a:gd name="adj" fmla="val 4444"/>
            </a:avLst>
          </a:prstGeom>
          <a:solidFill>
            <a:schemeClr val="bg2"/>
          </a:solidFill>
          <a:ln w="12700">
            <a:solidFill>
              <a:schemeClr val="bg2"/>
            </a:solidFill>
            <a:prstDash val="solid"/>
          </a:ln>
        </p:spPr>
      </p:sp>
      <p:sp>
        <p:nvSpPr>
          <p:cNvPr id="18" name="Flow icon 3 circle"/>
          <p:cNvSpPr/>
          <p:nvPr/>
        </p:nvSpPr>
        <p:spPr>
          <a:xfrm>
            <a:off x="8622792" y="1600200"/>
            <a:ext cx="777240" cy="777240"/>
          </a:xfrm>
          <a:prstGeom prst="rect">
            <a:avLst/>
          </a:prstGeom>
          <a:solidFill>
            <a:schemeClr val="accent1"/>
          </a:solidFill>
          <a:ln w="12700">
            <a:solidFill>
              <a:schemeClr val="accent1"/>
            </a:solidFill>
            <a:prstDash val="solid"/>
          </a:ln>
        </p:spPr>
      </p:sp>
      <p:pic>
        <p:nvPicPr>
          <p:cNvPr id="19" name="Flow icon 3 icon" descr="Flow icon 3">    </p:cNvPr>
          <p:cNvPicPr>
            <a:picLocks noChangeAspect="1"/>
          </p:cNvPicPr>
          <p:nvPr/>
        </p:nvPicPr>
        <p:blipFill>
          <a:blip r:embed="rId3"/>
          <a:stretch>
            <a:fillRect/>
          </a:stretch>
        </p:blipFill>
        <p:spPr>
          <a:xfrm>
            <a:off x="8817102" y="1794510"/>
            <a:ext cx="388620" cy="388620"/>
          </a:xfrm>
          <a:prstGeom prst="rect">
            <a:avLst/>
          </a:prstGeom>
        </p:spPr>
      </p:pic>
      <p:sp>
        <p:nvSpPr>
          <p:cNvPr id="20" name="Flow title 3"/>
          <p:cNvSpPr txBox="1"/>
          <p:nvPr/>
        </p:nvSpPr>
        <p:spPr>
          <a:xfrm>
            <a:off x="9582912" y="1554480"/>
            <a:ext cx="1965960" cy="868680"/>
          </a:xfrm>
          <a:prstGeom prst="rect">
            <a:avLst/>
          </a:prstGeom>
          <a:noFill/>
          <a:ln/>
        </p:spPr>
        <p:txBody>
          <a:bodyPr wrap="square" lIns="0" tIns="0" rIns="0" bIns="0" rtlCol="0" anchor="ctr"/>
          <a:lstStyle/>
          <a:p>
            <a:pPr indent="0" marL="0">
              <a:buNone/>
            </a:pPr>
            <a:r>
              <a:rPr lang="en-US" sz="1400" b="1" dirty="0">
                <a:solidFill>
                  <a:schemeClr val="accent1"/>
                </a:solidFill>
              </a:rPr>
              <a:t>L · Load</a:t>
            </a:r>
            <a:endParaRPr lang="en-US" sz="1400" dirty="0"/>
          </a:p>
          <a:p>
            <a:pPr indent="0" marL="0">
              <a:buNone/>
            </a:pPr>
            <a:r>
              <a:rPr lang="en-US" sz="2400" b="1" dirty="0">
                <a:solidFill>
                  <a:schemeClr val="tx2"/>
                </a:solidFill>
              </a:rPr>
              <a:t>Lưu vào kho</a:t>
            </a:r>
            <a:endParaRPr lang="en-US" sz="1400" dirty="0"/>
          </a:p>
        </p:txBody>
      </p:sp>
      <p:sp>
        <p:nvSpPr>
          <p:cNvPr id="21" name="Flow desc 3"/>
          <p:cNvSpPr txBox="1"/>
          <p:nvPr/>
        </p:nvSpPr>
        <p:spPr>
          <a:xfrm>
            <a:off x="8622792" y="2651760"/>
            <a:ext cx="2788920" cy="1051560"/>
          </a:xfrm>
          <a:prstGeom prst="rect">
            <a:avLst/>
          </a:prstGeom>
          <a:noFill/>
          <a:ln/>
        </p:spPr>
        <p:txBody>
          <a:bodyPr wrap="square" lIns="0" tIns="0" rIns="0" bIns="0" rtlCol="0" anchor="t"/>
          <a:lstStyle/>
          <a:p>
            <a:pPr indent="0" marL="0">
              <a:buNone/>
            </a:pPr>
            <a:r>
              <a:rPr lang="en-US" sz="1700" dirty="0">
                <a:solidFill>
                  <a:schemeClr val="tx1"/>
                </a:solidFill>
              </a:rPr>
              <a:t>Ghi dữ liệu sạch vào PostgreSQL để cả nhóm cùng dùng</a:t>
            </a:r>
            <a:endParaRPr lang="en-US" sz="1700" dirty="0"/>
          </a:p>
        </p:txBody>
      </p:sp>
      <p:sp>
        <p:nvSpPr>
          <p:cNvPr id="22" name="ETL note card 1"/>
          <p:cNvSpPr/>
          <p:nvPr/>
        </p:nvSpPr>
        <p:spPr>
          <a:xfrm>
            <a:off x="548640" y="4206240"/>
            <a:ext cx="3447288" cy="1554480"/>
          </a:xfrm>
          <a:prstGeom prst="rect">
            <a:avLst>
              <a:gd name="adj" fmla="val 7059"/>
            </a:avLst>
          </a:prstGeom>
          <a:solidFill>
            <a:schemeClr val="bg1"/>
          </a:solidFill>
          <a:ln w="12700">
            <a:solidFill>
              <a:schemeClr val="accent6"/>
            </a:solidFill>
            <a:prstDash val="solid"/>
          </a:ln>
        </p:spPr>
      </p:sp>
      <p:sp>
        <p:nvSpPr>
          <p:cNvPr id="23" name="ETL note 1 circle"/>
          <p:cNvSpPr/>
          <p:nvPr/>
        </p:nvSpPr>
        <p:spPr>
          <a:xfrm>
            <a:off x="777240" y="4686300"/>
            <a:ext cx="594360" cy="594360"/>
          </a:xfrm>
          <a:prstGeom prst="rect">
            <a:avLst/>
          </a:prstGeom>
          <a:solidFill>
            <a:schemeClr val="accent1"/>
          </a:solidFill>
          <a:ln w="12700">
            <a:solidFill>
              <a:schemeClr val="accent1"/>
            </a:solidFill>
            <a:prstDash val="solid"/>
          </a:ln>
        </p:spPr>
      </p:sp>
      <p:pic>
        <p:nvPicPr>
          <p:cNvPr id="24" name="ETL note 1 icon" descr="ETL note 1">    </p:cNvPr>
          <p:cNvPicPr>
            <a:picLocks noChangeAspect="1"/>
          </p:cNvPicPr>
          <p:nvPr/>
        </p:nvPicPr>
        <p:blipFill>
          <a:blip r:embed="rId4"/>
          <a:stretch>
            <a:fillRect/>
          </a:stretch>
        </p:blipFill>
        <p:spPr>
          <a:xfrm>
            <a:off x="925830" y="4834890"/>
            <a:ext cx="297180" cy="297180"/>
          </a:xfrm>
          <a:prstGeom prst="rect">
            <a:avLst/>
          </a:prstGeom>
        </p:spPr>
      </p:pic>
      <p:sp>
        <p:nvSpPr>
          <p:cNvPr id="25" name="ETL note text 1"/>
          <p:cNvSpPr txBox="1"/>
          <p:nvPr/>
        </p:nvSpPr>
        <p:spPr>
          <a:xfrm>
            <a:off x="1536192" y="4343400"/>
            <a:ext cx="2286000" cy="128016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Tự động</a:t>
            </a:r>
            <a:endParaRPr lang="en-US" sz="1800" dirty="0"/>
          </a:p>
          <a:p>
            <a:pPr indent="0" marL="0">
              <a:spcAft>
                <a:spcPts val="400"/>
              </a:spcAft>
              <a:buNone/>
            </a:pPr>
            <a:r>
              <a:rPr lang="en-US" sz="1500" dirty="0">
                <a:solidFill>
                  <a:schemeClr val="tx1"/>
                </a:solidFill>
              </a:rPr>
              <a:t>Hệ thống tự chạy mỗi đêm, không phải làm bằng tay</a:t>
            </a:r>
            <a:endParaRPr lang="en-US" sz="1800" dirty="0"/>
          </a:p>
        </p:txBody>
      </p:sp>
      <p:sp>
        <p:nvSpPr>
          <p:cNvPr id="26" name="ETL note card 2"/>
          <p:cNvSpPr/>
          <p:nvPr/>
        </p:nvSpPr>
        <p:spPr>
          <a:xfrm>
            <a:off x="4370832" y="4206240"/>
            <a:ext cx="3447288" cy="1554480"/>
          </a:xfrm>
          <a:prstGeom prst="rect">
            <a:avLst>
              <a:gd name="adj" fmla="val 7059"/>
            </a:avLst>
          </a:prstGeom>
          <a:solidFill>
            <a:schemeClr val="bg1"/>
          </a:solidFill>
          <a:ln w="12700">
            <a:solidFill>
              <a:schemeClr val="accent6"/>
            </a:solidFill>
            <a:prstDash val="solid"/>
          </a:ln>
        </p:spPr>
      </p:sp>
      <p:sp>
        <p:nvSpPr>
          <p:cNvPr id="27" name="ETL note 2 circle"/>
          <p:cNvSpPr/>
          <p:nvPr/>
        </p:nvSpPr>
        <p:spPr>
          <a:xfrm>
            <a:off x="4599432" y="4686300"/>
            <a:ext cx="594360" cy="594360"/>
          </a:xfrm>
          <a:prstGeom prst="rect">
            <a:avLst/>
          </a:prstGeom>
          <a:solidFill>
            <a:schemeClr val="accent1"/>
          </a:solidFill>
          <a:ln w="12700">
            <a:solidFill>
              <a:schemeClr val="accent1"/>
            </a:solidFill>
            <a:prstDash val="solid"/>
          </a:ln>
        </p:spPr>
      </p:sp>
      <p:pic>
        <p:nvPicPr>
          <p:cNvPr id="28" name="ETL note 2 icon" descr="ETL note 2">    </p:cNvPr>
          <p:cNvPicPr>
            <a:picLocks noChangeAspect="1"/>
          </p:cNvPicPr>
          <p:nvPr/>
        </p:nvPicPr>
        <p:blipFill>
          <a:blip r:embed="rId5"/>
          <a:stretch>
            <a:fillRect/>
          </a:stretch>
        </p:blipFill>
        <p:spPr>
          <a:xfrm>
            <a:off x="4748022" y="4834890"/>
            <a:ext cx="297180" cy="297180"/>
          </a:xfrm>
          <a:prstGeom prst="rect">
            <a:avLst/>
          </a:prstGeom>
        </p:spPr>
      </p:pic>
      <p:sp>
        <p:nvSpPr>
          <p:cNvPr id="29" name="ETL note text 2"/>
          <p:cNvSpPr txBox="1"/>
          <p:nvPr/>
        </p:nvSpPr>
        <p:spPr>
          <a:xfrm>
            <a:off x="5358384" y="4343400"/>
            <a:ext cx="2286000" cy="128016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Có nhật ký</a:t>
            </a:r>
            <a:endParaRPr lang="en-US" sz="1800" dirty="0"/>
          </a:p>
          <a:p>
            <a:pPr indent="0" marL="0">
              <a:spcAft>
                <a:spcPts val="400"/>
              </a:spcAft>
              <a:buNone/>
            </a:pPr>
            <a:r>
              <a:rPr lang="en-US" sz="1500" dirty="0">
                <a:solidFill>
                  <a:schemeClr val="tx1"/>
                </a:solidFill>
              </a:rPr>
              <a:t>Ghi lại mỗi lần chạy: đọc bao nhiêu dòng, lỗi gì</a:t>
            </a:r>
            <a:endParaRPr lang="en-US" sz="1800" dirty="0"/>
          </a:p>
        </p:txBody>
      </p:sp>
      <p:sp>
        <p:nvSpPr>
          <p:cNvPr id="30" name="ETL note card 3"/>
          <p:cNvSpPr/>
          <p:nvPr/>
        </p:nvSpPr>
        <p:spPr>
          <a:xfrm>
            <a:off x="8193024" y="4206240"/>
            <a:ext cx="3447288" cy="1554480"/>
          </a:xfrm>
          <a:prstGeom prst="rect">
            <a:avLst>
              <a:gd name="adj" fmla="val 7059"/>
            </a:avLst>
          </a:prstGeom>
          <a:solidFill>
            <a:schemeClr val="bg1"/>
          </a:solidFill>
          <a:ln w="12700">
            <a:solidFill>
              <a:schemeClr val="accent6"/>
            </a:solidFill>
            <a:prstDash val="solid"/>
          </a:ln>
        </p:spPr>
      </p:sp>
      <p:sp>
        <p:nvSpPr>
          <p:cNvPr id="31" name="ETL note 3 circle"/>
          <p:cNvSpPr/>
          <p:nvPr/>
        </p:nvSpPr>
        <p:spPr>
          <a:xfrm>
            <a:off x="8421624" y="4686300"/>
            <a:ext cx="594360" cy="594360"/>
          </a:xfrm>
          <a:prstGeom prst="rect">
            <a:avLst/>
          </a:prstGeom>
          <a:solidFill>
            <a:schemeClr val="accent1"/>
          </a:solidFill>
          <a:ln w="12700">
            <a:solidFill>
              <a:schemeClr val="accent1"/>
            </a:solidFill>
            <a:prstDash val="solid"/>
          </a:ln>
        </p:spPr>
      </p:sp>
      <p:pic>
        <p:nvPicPr>
          <p:cNvPr id="32" name="ETL note 3 icon" descr="ETL note 3">    </p:cNvPr>
          <p:cNvPicPr>
            <a:picLocks noChangeAspect="1"/>
          </p:cNvPicPr>
          <p:nvPr/>
        </p:nvPicPr>
        <p:blipFill>
          <a:blip r:embed="rId6"/>
          <a:stretch>
            <a:fillRect/>
          </a:stretch>
        </p:blipFill>
        <p:spPr>
          <a:xfrm>
            <a:off x="8570214" y="4834890"/>
            <a:ext cx="297180" cy="297180"/>
          </a:xfrm>
          <a:prstGeom prst="rect">
            <a:avLst/>
          </a:prstGeom>
        </p:spPr>
      </p:pic>
      <p:sp>
        <p:nvSpPr>
          <p:cNvPr id="33" name="ETL note text 3"/>
          <p:cNvSpPr txBox="1"/>
          <p:nvPr/>
        </p:nvSpPr>
        <p:spPr>
          <a:xfrm>
            <a:off x="9180576" y="4343400"/>
            <a:ext cx="2286000" cy="128016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Chạy lại an toàn</a:t>
            </a:r>
            <a:endParaRPr lang="en-US" sz="1800" dirty="0"/>
          </a:p>
          <a:p>
            <a:pPr indent="0" marL="0">
              <a:spcAft>
                <a:spcPts val="400"/>
              </a:spcAft>
              <a:buNone/>
            </a:pPr>
            <a:r>
              <a:rPr lang="en-US" sz="1500" dirty="0">
                <a:solidFill>
                  <a:schemeClr val="tx1"/>
                </a:solidFill>
              </a:rPr>
              <a:t>Chạy lại nhiều lần cũng không bị nhân đôi dữ liệu</a:t>
            </a:r>
            <a:endParaRPr lang="en-US" sz="18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Làm sạch dữ liệu (Transform)</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06</a:t>
            </a:r>
            <a:endParaRPr lang="en-US" sz="2000" dirty="0"/>
          </a:p>
        </p:txBody>
      </p:sp>
      <p:sp>
        <p:nvSpPr>
          <p:cNvPr id="5" name="Transform bullets"/>
          <p:cNvSpPr txBox="1"/>
          <p:nvPr/>
        </p:nvSpPr>
        <p:spPr>
          <a:xfrm>
            <a:off x="548640" y="1371600"/>
            <a:ext cx="4846320" cy="2103120"/>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chemeClr val="tx2"/>
                </a:solidFill>
              </a:rPr>
              <a:t>Tên: </a:t>
            </a:r>
            <a:r>
              <a:rPr lang="en-US" sz="1700" dirty="0">
                <a:solidFill>
                  <a:schemeClr val="tx1"/>
                </a:solidFill>
              </a:rPr>
              <a:t>bỏ khoảng trắng thừa, viết hoa chữ cái đầu</a:t>
            </a:r>
            <a:endParaRPr lang="en-US" sz="1700" dirty="0"/>
          </a:p>
          <a:p>
            <a:pPr marL="228600" indent="-228600">
              <a:spcAft>
                <a:spcPts val="1200"/>
              </a:spcAft>
              <a:buSzPct val="100000"/>
              <a:buChar char="•"/>
            </a:pPr>
            <a:r>
              <a:rPr lang="en-US" sz="1700" b="1" dirty="0">
                <a:solidFill>
                  <a:schemeClr val="tx2"/>
                </a:solidFill>
              </a:rPr>
              <a:t>Email, SĐT: </a:t>
            </a:r>
            <a:r>
              <a:rPr lang="en-US" sz="1700" dirty="0">
                <a:solidFill>
                  <a:schemeClr val="tx1"/>
                </a:solidFill>
              </a:rPr>
              <a:t>chữ thường, số điện thoại đúng 10 số</a:t>
            </a:r>
            <a:endParaRPr lang="en-US" sz="1700" dirty="0"/>
          </a:p>
          <a:p>
            <a:pPr marL="228600" indent="-228600">
              <a:spcAft>
                <a:spcPts val="1200"/>
              </a:spcAft>
              <a:buSzPct val="100000"/>
              <a:buChar char="•"/>
            </a:pPr>
            <a:r>
              <a:rPr lang="en-US" sz="1700" b="1" dirty="0">
                <a:solidFill>
                  <a:schemeClr val="tx2"/>
                </a:solidFill>
              </a:rPr>
              <a:t>Trạng thái: </a:t>
            </a:r>
            <a:r>
              <a:rPr lang="en-US" sz="1700" dirty="0">
                <a:solidFill>
                  <a:schemeClr val="tx1"/>
                </a:solidFill>
              </a:rPr>
              <a:t>tiếng Anh/Việt đổi về 5 vòng chuẩn</a:t>
            </a:r>
            <a:endParaRPr lang="en-US" sz="1700" dirty="0"/>
          </a:p>
          <a:p>
            <a:pPr marL="228600" indent="-228600">
              <a:spcAft>
                <a:spcPts val="1200"/>
              </a:spcAft>
              <a:buSzPct val="100000"/>
              <a:buChar char="•"/>
            </a:pPr>
            <a:r>
              <a:rPr lang="en-US" sz="1700" b="1" dirty="0">
                <a:solidFill>
                  <a:schemeClr val="tx2"/>
                </a:solidFill>
              </a:rPr>
              <a:t>Bỏ đi: </a:t>
            </a:r>
            <a:r>
              <a:rPr lang="en-US" sz="1700" dirty="0">
                <a:solidFill>
                  <a:schemeClr val="tx1"/>
                </a:solidFill>
              </a:rPr>
              <a:t>dòng trống, email sai, hồ sơ bị trùng</a:t>
            </a:r>
            <a:endParaRPr lang="en-US" sz="1700" dirty="0"/>
          </a:p>
        </p:txBody>
      </p:sp>
      <p:graphicFrame>
        <p:nvGraphicFramePr>
          <p:cNvPr id="7" name="Before after table"/>
          <p:cNvGraphicFramePr>
            <a:graphicFrameLocks noGrp="1"/>
          </p:cNvGraphicFramePr>
          <p:nvPr>
            <p:extLst>
              <p:ext uri="{D42A27DB-BD31-4B8C-83A1-F6EECF244321}">
                <p14:modId xmlns:p14="http://schemas.microsoft.com/office/powerpoint/2010/main" val="1579011935"/>
              </p:ext>
            </p:extLst>
          </p:nvPr>
        </p:nvGraphicFramePr>
        <p:xfrm>
          <a:off x="548640" y="3291840"/>
          <a:ext cx="4846320" cy="914400"/>
        </p:xfrm>
        <a:graphic>
          <a:graphicData uri="http://schemas.openxmlformats.org/drawingml/2006/table">
            <a:tbl>
              <a:tblPr/>
              <a:tblGrid>
                <a:gridCol w="1280160"/>
                <a:gridCol w="1783080"/>
                <a:gridCol w="1783080"/>
              </a:tblGrid>
              <a:tr h="457200">
                <a:tc>
                  <a:txBody>
                    <a:bodyPr/>
                    <a:lstStyle/>
                    <a:p>
                      <a:pPr indent="0" marL="0">
                        <a:buNone/>
                      </a:pPr>
                      <a:r>
                        <a:rPr lang="en-US" sz="1500" b="1" dirty="0">
                          <a:solidFill>
                            <a:schemeClr val="bg1"/>
                          </a:solidFill>
                        </a:rPr>
                        <a:t>Thông tin</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Trước</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Sau</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accent1"/>
                    </a:solidFill>
                  </a:tcPr>
                </a:tc>
              </a:tr>
              <a:tr h="457200">
                <a:tc>
                  <a:txBody>
                    <a:bodyPr/>
                    <a:lstStyle/>
                    <a:p>
                      <a:pPr indent="0" marL="0">
                        <a:buNone/>
                      </a:pPr>
                      <a:r>
                        <a:rPr lang="en-US" sz="1500" b="1" dirty="0">
                          <a:solidFill>
                            <a:schemeClr val="tx2"/>
                          </a:solidFill>
                        </a:rPr>
                        <a:t>Họ tên</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NGUYỄN MINH HUY</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Nguyễn Minh Huy</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2"/>
                          </a:solidFill>
                        </a:rPr>
                        <a:t>SĐT</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+84906609544</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0906609544</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2"/>
                          </a:solidFill>
                        </a:rPr>
                        <a:t>Ngày nộp</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15/06/2026</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2026-06-15</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2"/>
                          </a:solidFill>
                        </a:rPr>
                        <a:t>Trạng thái</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interview</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Phỏng vấn</a:t>
                      </a:r>
                      <a:endParaRPr lang="en-US" sz="1500" dirty="0"/>
                    </a:p>
                  </a:txBody>
                  <a:tcPr marL="91440" marR="91440" marT="36576" marB="36576"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bg1"/>
                    </a:solidFill>
                  </a:tcPr>
                </a:tc>
              </a:tr>
            </a:tbl>
          </a:graphicData>
        </a:graphic>
      </p:graphicFrame>
      <p:sp>
        <p:nvSpPr>
          <p:cNvPr id="7" name="Code card"/>
          <p:cNvSpPr/>
          <p:nvPr/>
        </p:nvSpPr>
        <p:spPr>
          <a:xfrm>
            <a:off x="5715000" y="1371600"/>
            <a:ext cx="5925312" cy="4206240"/>
          </a:xfrm>
          <a:prstGeom prst="rect">
            <a:avLst>
              <a:gd name="adj" fmla="val 2609"/>
            </a:avLst>
          </a:prstGeom>
          <a:solidFill>
            <a:schemeClr val="tx2"/>
          </a:solidFill>
          <a:ln w="12700">
            <a:solidFill>
              <a:schemeClr val="tx2"/>
            </a:solidFill>
            <a:prstDash val="solid"/>
          </a:ln>
        </p:spPr>
      </p:sp>
      <p:sp>
        <p:nvSpPr>
          <p:cNvPr id="8" name="Code snippet"/>
          <p:cNvSpPr txBox="1"/>
          <p:nvPr/>
        </p:nvSpPr>
        <p:spPr>
          <a:xfrm>
            <a:off x="5989320" y="1600200"/>
            <a:ext cx="5440680" cy="379476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 1. Tên: bỏ khoảng trắng, viết hoa chữ cái đầu</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df["ho_ten"] = df["ho_ten"].str.strip().str.title()</a:t>
            </a:r>
            <a:endParaRPr lang="en-US" sz="1300" dirty="0"/>
          </a:p>
          <a:p>
            <a:pPr indent="0" marL="0">
              <a:spcBef>
                <a:spcPts val="1200"/>
              </a:spcBef>
              <a:buNone/>
            </a:pPr>
            <a:r>
              <a:rPr lang="en-US" sz="1300" dirty="0">
                <a:solidFill>
                  <a:schemeClr val="accent2"/>
                </a:solidFill>
                <a:latin typeface="Courier New" pitchFamily="34" charset="0"/>
                <a:ea typeface="Courier New" pitchFamily="34" charset="-122"/>
                <a:cs typeface="Courier New" pitchFamily="34" charset="-120"/>
              </a:rPr>
              <a:t># 2. Email: đổi hết về chữ thường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df["email"] = df["email"].str.strip().str.lower()</a:t>
            </a:r>
            <a:endParaRPr lang="en-US" sz="1300" dirty="0"/>
          </a:p>
          <a:p>
            <a:pPr indent="0" marL="0">
              <a:spcBef>
                <a:spcPts val="1200"/>
              </a:spcBef>
              <a:buNone/>
            </a:pPr>
            <a:r>
              <a:rPr lang="en-US" sz="1300" dirty="0">
                <a:solidFill>
                  <a:schemeClr val="accent2"/>
                </a:solidFill>
                <a:latin typeface="Courier New" pitchFamily="34" charset="0"/>
                <a:ea typeface="Courier New" pitchFamily="34" charset="-122"/>
                <a:cs typeface="Courier New" pitchFamily="34" charset="-120"/>
              </a:rPr>
              <a:t># 3. SĐT: "+84906609544" -&gt; "0906609544"</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df["sdt"] = df["sdt"].apply(chuan_hoa_sdt)</a:t>
            </a:r>
            <a:endParaRPr lang="en-US" sz="1300" dirty="0"/>
          </a:p>
          <a:p>
            <a:pPr indent="0" marL="0">
              <a:spcBef>
                <a:spcPts val="1200"/>
              </a:spcBef>
              <a:buNone/>
            </a:pPr>
            <a:r>
              <a:rPr lang="en-US" sz="1300" dirty="0">
                <a:solidFill>
                  <a:schemeClr val="accent2"/>
                </a:solidFill>
                <a:latin typeface="Courier New" pitchFamily="34" charset="0"/>
                <a:ea typeface="Courier New" pitchFamily="34" charset="-122"/>
                <a:cs typeface="Courier New" pitchFamily="34" charset="-120"/>
              </a:rPr>
              <a:t># 4. Trạng thái: đổi về 5 vòng chuẩn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df["vong"] = df["vong"].map(DOI_TEN_VONG)</a:t>
            </a:r>
            <a:endParaRPr lang="en-US" sz="1300" dirty="0"/>
          </a:p>
          <a:p>
            <a:pPr indent="0" marL="0">
              <a:spcBef>
                <a:spcPts val="1200"/>
              </a:spcBef>
              <a:buNone/>
            </a:pPr>
            <a:r>
              <a:rPr lang="en-US" sz="1300" dirty="0">
                <a:solidFill>
                  <a:schemeClr val="accent2"/>
                </a:solidFill>
                <a:latin typeface="Courier New" pitchFamily="34" charset="0"/>
                <a:ea typeface="Courier New" pitchFamily="34" charset="-122"/>
                <a:cs typeface="Courier New" pitchFamily="34" charset="-120"/>
              </a:rPr>
              <a:t># 5. Bỏ email sai (thiếu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 = df[df["email"].str.contains("@")]</a:t>
            </a:r>
            <a:endParaRPr lang="en-US" sz="1300" dirty="0"/>
          </a:p>
          <a:p>
            <a:pPr indent="0" marL="0">
              <a:spcBef>
                <a:spcPts val="1200"/>
              </a:spcBef>
              <a:buNone/>
            </a:pPr>
            <a:r>
              <a:rPr lang="en-US" sz="1300" dirty="0">
                <a:solidFill>
                  <a:schemeClr val="accent2"/>
                </a:solidFill>
                <a:latin typeface="Courier New" pitchFamily="34" charset="0"/>
                <a:ea typeface="Courier New" pitchFamily="34" charset="-122"/>
                <a:cs typeface="Courier New" pitchFamily="34" charset="-120"/>
              </a:rPr>
              <a:t># 6. Xóa hồ sơ trùng (cùng email, cùng vị trí)</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df = df.drop_duplicates(["email", "vi_tri"])</a:t>
            </a:r>
            <a:endParaRPr lang="en-US" sz="1300" dirty="0"/>
          </a:p>
        </p:txBody>
      </p:sp>
      <p:sp>
        <p:nvSpPr>
          <p:cNvPr id="9" name="Code caption"/>
          <p:cNvSpPr txBox="1"/>
          <p:nvPr/>
        </p:nvSpPr>
        <p:spPr>
          <a:xfrm>
            <a:off x="5715000" y="5669280"/>
            <a:ext cx="5925312" cy="320040"/>
          </a:xfrm>
          <a:prstGeom prst="rect">
            <a:avLst/>
          </a:prstGeom>
          <a:noFill/>
          <a:ln/>
        </p:spPr>
        <p:txBody>
          <a:bodyPr wrap="square" lIns="0" tIns="0" rIns="0" bIns="0" rtlCol="0" anchor="ctr"/>
          <a:lstStyle/>
          <a:p>
            <a:pPr algn="r" indent="0" marL="0">
              <a:buNone/>
            </a:pPr>
            <a:r>
              <a:rPr lang="en-US" sz="1200" i="1" dirty="0">
                <a:solidFill>
                  <a:schemeClr val="accent4"/>
                </a:solidFill>
              </a:rPr>
              <a:t>Code Python dùng thư viện pandas (rút gọn từ etl_demo.py)</a:t>
            </a:r>
            <a:endParaRPr lang="en-US" sz="1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Sơ đồ ERD của cơ sở dữ liệu (mức khái niệm)</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07</a:t>
            </a:r>
            <a:endParaRPr lang="en-US" sz="2000" dirty="0"/>
          </a:p>
        </p:txBody>
      </p:sp>
      <p:sp>
        <p:nvSpPr>
          <p:cNvPr id="5" name="Relationship line nộp"/>
          <p:cNvSpPr/>
          <p:nvPr/>
        </p:nvSpPr>
        <p:spPr>
          <a:xfrm>
            <a:off x="2926080" y="2029968"/>
            <a:ext cx="1828800" cy="896112"/>
          </a:xfrm>
          <a:prstGeom prst="line">
            <a:avLst/>
          </a:prstGeom>
          <a:noFill/>
          <a:ln w="19050">
            <a:solidFill>
              <a:schemeClr val="accent4"/>
            </a:solidFill>
            <a:prstDash val="solid"/>
          </a:ln>
        </p:spPr>
      </p:sp>
      <p:sp>
        <p:nvSpPr>
          <p:cNvPr id="6" name="Relationship nộp"/>
          <p:cNvSpPr/>
          <p:nvPr/>
        </p:nvSpPr>
        <p:spPr>
          <a:xfrm>
            <a:off x="3246120" y="2194560"/>
            <a:ext cx="1188720" cy="566928"/>
          </a:xfrm>
          <a:prstGeom prst="diamond">
            <a:avLst/>
          </a:prstGeom>
          <a:solidFill>
            <a:schemeClr val="bg1"/>
          </a:solidFill>
          <a:ln w="19050">
            <a:solidFill>
              <a:schemeClr val="accent1"/>
            </a:solidFill>
            <a:prstDash val="solid"/>
          </a:ln>
        </p:spPr>
      </p:sp>
      <p:sp>
        <p:nvSpPr>
          <p:cNvPr id="7" name="Relationship label nộp"/>
          <p:cNvSpPr txBox="1"/>
          <p:nvPr/>
        </p:nvSpPr>
        <p:spPr>
          <a:xfrm>
            <a:off x="3246120" y="2194560"/>
            <a:ext cx="1188720" cy="566928"/>
          </a:xfrm>
          <a:prstGeom prst="rect">
            <a:avLst/>
          </a:prstGeom>
          <a:noFill/>
          <a:ln/>
        </p:spPr>
        <p:txBody>
          <a:bodyPr wrap="square" lIns="0" tIns="0" rIns="0" bIns="0" rtlCol="0" anchor="ctr"/>
          <a:lstStyle/>
          <a:p>
            <a:pPr algn="ctr" indent="0" marL="0">
              <a:buNone/>
            </a:pPr>
            <a:r>
              <a:rPr lang="en-US" sz="1400" b="1" i="1" dirty="0">
                <a:solidFill>
                  <a:schemeClr val="tx2"/>
                </a:solidFill>
              </a:rPr>
              <a:t>nộp</a:t>
            </a:r>
            <a:endParaRPr lang="en-US" sz="1400" dirty="0"/>
          </a:p>
        </p:txBody>
      </p:sp>
      <p:sp>
        <p:nvSpPr>
          <p:cNvPr id="8" name="Cardinality 1"/>
          <p:cNvSpPr txBox="1"/>
          <p:nvPr/>
        </p:nvSpPr>
        <p:spPr>
          <a:xfrm>
            <a:off x="2971800" y="1783080"/>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9" name="Cardinality n"/>
          <p:cNvSpPr txBox="1"/>
          <p:nvPr/>
        </p:nvSpPr>
        <p:spPr>
          <a:xfrm>
            <a:off x="4526280" y="2578608"/>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n</a:t>
            </a:r>
            <a:endParaRPr lang="en-US" sz="1400" dirty="0"/>
          </a:p>
        </p:txBody>
      </p:sp>
      <p:sp>
        <p:nvSpPr>
          <p:cNvPr id="10" name="Relationship line mang về"/>
          <p:cNvSpPr/>
          <p:nvPr/>
        </p:nvSpPr>
        <p:spPr>
          <a:xfrm flipV="1">
            <a:off x="2926080" y="3383280"/>
            <a:ext cx="1828800" cy="1024128"/>
          </a:xfrm>
          <a:prstGeom prst="line">
            <a:avLst/>
          </a:prstGeom>
          <a:noFill/>
          <a:ln w="19050">
            <a:solidFill>
              <a:schemeClr val="accent4"/>
            </a:solidFill>
            <a:prstDash val="solid"/>
          </a:ln>
        </p:spPr>
      </p:sp>
      <p:sp>
        <p:nvSpPr>
          <p:cNvPr id="11" name="Relationship mang về"/>
          <p:cNvSpPr/>
          <p:nvPr/>
        </p:nvSpPr>
        <p:spPr>
          <a:xfrm>
            <a:off x="3246120" y="3611880"/>
            <a:ext cx="1188720" cy="566928"/>
          </a:xfrm>
          <a:prstGeom prst="diamond">
            <a:avLst/>
          </a:prstGeom>
          <a:solidFill>
            <a:schemeClr val="bg1"/>
          </a:solidFill>
          <a:ln w="19050">
            <a:solidFill>
              <a:schemeClr val="accent1"/>
            </a:solidFill>
            <a:prstDash val="solid"/>
          </a:ln>
        </p:spPr>
      </p:sp>
      <p:sp>
        <p:nvSpPr>
          <p:cNvPr id="12" name="Relationship label mang về"/>
          <p:cNvSpPr txBox="1"/>
          <p:nvPr/>
        </p:nvSpPr>
        <p:spPr>
          <a:xfrm>
            <a:off x="3246120" y="3611880"/>
            <a:ext cx="1188720" cy="566928"/>
          </a:xfrm>
          <a:prstGeom prst="rect">
            <a:avLst/>
          </a:prstGeom>
          <a:noFill/>
          <a:ln/>
        </p:spPr>
        <p:txBody>
          <a:bodyPr wrap="square" lIns="0" tIns="0" rIns="0" bIns="0" rtlCol="0" anchor="ctr"/>
          <a:lstStyle/>
          <a:p>
            <a:pPr algn="ctr" indent="0" marL="0">
              <a:buNone/>
            </a:pPr>
            <a:r>
              <a:rPr lang="en-US" sz="1400" b="1" i="1" dirty="0">
                <a:solidFill>
                  <a:schemeClr val="tx2"/>
                </a:solidFill>
              </a:rPr>
              <a:t>mang về</a:t>
            </a:r>
            <a:endParaRPr lang="en-US" sz="1400" dirty="0"/>
          </a:p>
        </p:txBody>
      </p:sp>
      <p:sp>
        <p:nvSpPr>
          <p:cNvPr id="13" name="Cardinality 1"/>
          <p:cNvSpPr txBox="1"/>
          <p:nvPr/>
        </p:nvSpPr>
        <p:spPr>
          <a:xfrm>
            <a:off x="2971800" y="4453128"/>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4" name="Cardinality n"/>
          <p:cNvSpPr txBox="1"/>
          <p:nvPr/>
        </p:nvSpPr>
        <p:spPr>
          <a:xfrm>
            <a:off x="4526280" y="3547872"/>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n</a:t>
            </a:r>
            <a:endParaRPr lang="en-US" sz="1400" dirty="0"/>
          </a:p>
        </p:txBody>
      </p:sp>
      <p:sp>
        <p:nvSpPr>
          <p:cNvPr id="15" name="Relationship line nhận"/>
          <p:cNvSpPr/>
          <p:nvPr/>
        </p:nvSpPr>
        <p:spPr>
          <a:xfrm flipV="1">
            <a:off x="7452360" y="2029968"/>
            <a:ext cx="1810512" cy="896112"/>
          </a:xfrm>
          <a:prstGeom prst="line">
            <a:avLst/>
          </a:prstGeom>
          <a:noFill/>
          <a:ln w="19050">
            <a:solidFill>
              <a:schemeClr val="accent4"/>
            </a:solidFill>
            <a:prstDash val="solid"/>
          </a:ln>
        </p:spPr>
      </p:sp>
      <p:sp>
        <p:nvSpPr>
          <p:cNvPr id="16" name="Relationship nhận"/>
          <p:cNvSpPr/>
          <p:nvPr/>
        </p:nvSpPr>
        <p:spPr>
          <a:xfrm>
            <a:off x="7763256" y="2194560"/>
            <a:ext cx="1188720" cy="566928"/>
          </a:xfrm>
          <a:prstGeom prst="diamond">
            <a:avLst/>
          </a:prstGeom>
          <a:solidFill>
            <a:schemeClr val="bg1"/>
          </a:solidFill>
          <a:ln w="19050">
            <a:solidFill>
              <a:schemeClr val="accent1"/>
            </a:solidFill>
            <a:prstDash val="solid"/>
          </a:ln>
        </p:spPr>
      </p:sp>
      <p:sp>
        <p:nvSpPr>
          <p:cNvPr id="17" name="Relationship label nhận"/>
          <p:cNvSpPr txBox="1"/>
          <p:nvPr/>
        </p:nvSpPr>
        <p:spPr>
          <a:xfrm>
            <a:off x="7763256" y="2194560"/>
            <a:ext cx="1188720" cy="566928"/>
          </a:xfrm>
          <a:prstGeom prst="rect">
            <a:avLst/>
          </a:prstGeom>
          <a:noFill/>
          <a:ln/>
        </p:spPr>
        <p:txBody>
          <a:bodyPr wrap="square" lIns="0" tIns="0" rIns="0" bIns="0" rtlCol="0" anchor="ctr"/>
          <a:lstStyle/>
          <a:p>
            <a:pPr algn="ctr" indent="0" marL="0">
              <a:buNone/>
            </a:pPr>
            <a:r>
              <a:rPr lang="en-US" sz="1400" b="1" i="1" dirty="0">
                <a:solidFill>
                  <a:schemeClr val="tx2"/>
                </a:solidFill>
              </a:rPr>
              <a:t>nhận</a:t>
            </a:r>
            <a:endParaRPr lang="en-US" sz="1400" dirty="0"/>
          </a:p>
        </p:txBody>
      </p:sp>
      <p:sp>
        <p:nvSpPr>
          <p:cNvPr id="18" name="Cardinality 1"/>
          <p:cNvSpPr txBox="1"/>
          <p:nvPr/>
        </p:nvSpPr>
        <p:spPr>
          <a:xfrm>
            <a:off x="9034272" y="1810512"/>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9" name="Cardinality n"/>
          <p:cNvSpPr txBox="1"/>
          <p:nvPr/>
        </p:nvSpPr>
        <p:spPr>
          <a:xfrm>
            <a:off x="7479792" y="2578608"/>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n</a:t>
            </a:r>
            <a:endParaRPr lang="en-US" sz="1400" dirty="0"/>
          </a:p>
        </p:txBody>
      </p:sp>
      <p:sp>
        <p:nvSpPr>
          <p:cNvPr id="20" name="Relationship line có"/>
          <p:cNvSpPr/>
          <p:nvPr/>
        </p:nvSpPr>
        <p:spPr>
          <a:xfrm>
            <a:off x="7452360" y="3383280"/>
            <a:ext cx="1810512" cy="1161288"/>
          </a:xfrm>
          <a:prstGeom prst="line">
            <a:avLst/>
          </a:prstGeom>
          <a:noFill/>
          <a:ln w="19050">
            <a:solidFill>
              <a:schemeClr val="accent4"/>
            </a:solidFill>
            <a:prstDash val="solid"/>
          </a:ln>
        </p:spPr>
      </p:sp>
      <p:sp>
        <p:nvSpPr>
          <p:cNvPr id="21" name="Relationship có"/>
          <p:cNvSpPr/>
          <p:nvPr/>
        </p:nvSpPr>
        <p:spPr>
          <a:xfrm>
            <a:off x="7763256" y="3680460"/>
            <a:ext cx="1188720" cy="566928"/>
          </a:xfrm>
          <a:prstGeom prst="diamond">
            <a:avLst/>
          </a:prstGeom>
          <a:solidFill>
            <a:schemeClr val="bg1"/>
          </a:solidFill>
          <a:ln w="19050">
            <a:solidFill>
              <a:schemeClr val="accent1"/>
            </a:solidFill>
            <a:prstDash val="solid"/>
          </a:ln>
        </p:spPr>
      </p:sp>
      <p:sp>
        <p:nvSpPr>
          <p:cNvPr id="22" name="Relationship label có"/>
          <p:cNvSpPr txBox="1"/>
          <p:nvPr/>
        </p:nvSpPr>
        <p:spPr>
          <a:xfrm>
            <a:off x="7763256" y="3680460"/>
            <a:ext cx="1188720" cy="566928"/>
          </a:xfrm>
          <a:prstGeom prst="rect">
            <a:avLst/>
          </a:prstGeom>
          <a:noFill/>
          <a:ln/>
        </p:spPr>
        <p:txBody>
          <a:bodyPr wrap="square" lIns="0" tIns="0" rIns="0" bIns="0" rtlCol="0" anchor="ctr"/>
          <a:lstStyle/>
          <a:p>
            <a:pPr algn="ctr" indent="0" marL="0">
              <a:buNone/>
            </a:pPr>
            <a:r>
              <a:rPr lang="en-US" sz="1400" b="1" i="1" dirty="0">
                <a:solidFill>
                  <a:schemeClr val="tx2"/>
                </a:solidFill>
              </a:rPr>
              <a:t>có</a:t>
            </a:r>
            <a:endParaRPr lang="en-US" sz="1400" dirty="0"/>
          </a:p>
        </p:txBody>
      </p:sp>
      <p:sp>
        <p:nvSpPr>
          <p:cNvPr id="23" name="Cardinality 1"/>
          <p:cNvSpPr txBox="1"/>
          <p:nvPr/>
        </p:nvSpPr>
        <p:spPr>
          <a:xfrm>
            <a:off x="9034272" y="4169664"/>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4" name="Cardinality n"/>
          <p:cNvSpPr txBox="1"/>
          <p:nvPr/>
        </p:nvSpPr>
        <p:spPr>
          <a:xfrm>
            <a:off x="7479792" y="3154680"/>
            <a:ext cx="201168" cy="201168"/>
          </a:xfrm>
          <a:prstGeom prst="rect">
            <a:avLst/>
          </a:prstGeom>
          <a:noFill/>
          <a:ln/>
        </p:spPr>
        <p:txBody>
          <a:bodyPr wrap="square" lIns="0" tIns="0" rIns="0" bIns="0" rtlCol="0" anchor="ctr"/>
          <a:lstStyle/>
          <a:p>
            <a:pPr algn="ctr" indent="0" marL="0">
              <a:buNone/>
            </a:pPr>
            <a:r>
              <a:rPr lang="en-US" sz="1400" b="1" dirty="0">
                <a:solidFill>
                  <a:schemeClr val="tx2"/>
                </a:solidFill>
              </a:rPr>
              <a:t>n</a:t>
            </a:r>
            <a:endParaRPr lang="en-US" sz="1400" dirty="0"/>
          </a:p>
        </p:txBody>
      </p:sp>
      <p:sp>
        <p:nvSpPr>
          <p:cNvPr id="25" name="Ứng viên entity"/>
          <p:cNvSpPr/>
          <p:nvPr/>
        </p:nvSpPr>
        <p:spPr>
          <a:xfrm>
            <a:off x="548640" y="1371600"/>
            <a:ext cx="2377440" cy="1316736"/>
          </a:xfrm>
          <a:prstGeom prst="rect">
            <a:avLst/>
          </a:prstGeom>
          <a:solidFill>
            <a:schemeClr val="bg2"/>
          </a:solidFill>
          <a:ln w="15875">
            <a:solidFill>
              <a:schemeClr val="accent1"/>
            </a:solidFill>
            <a:prstDash val="solid"/>
          </a:ln>
        </p:spPr>
      </p:sp>
      <p:sp>
        <p:nvSpPr>
          <p:cNvPr id="26" name="Ứng viên header"/>
          <p:cNvSpPr txBox="1"/>
          <p:nvPr/>
        </p:nvSpPr>
        <p:spPr>
          <a:xfrm>
            <a:off x="548640" y="1371600"/>
            <a:ext cx="2377440" cy="384048"/>
          </a:xfrm>
          <a:prstGeom prst="rect">
            <a:avLst/>
          </a:prstGeom>
          <a:solidFill>
            <a:schemeClr val="accent1"/>
          </a:solidFill>
          <a:ln/>
        </p:spPr>
        <p:txBody>
          <a:bodyPr wrap="square" lIns="0" tIns="0" rIns="0" bIns="0" rtlCol="0" anchor="ctr"/>
          <a:lstStyle/>
          <a:p>
            <a:pPr algn="ctr" indent="0" marL="0">
              <a:buNone/>
            </a:pPr>
            <a:r>
              <a:rPr lang="en-US" sz="1500" b="1" dirty="0">
                <a:solidFill>
                  <a:schemeClr val="bg1"/>
                </a:solidFill>
              </a:rPr>
              <a:t>Ứng viên</a:t>
            </a:r>
            <a:endParaRPr lang="en-US" sz="1500" dirty="0"/>
          </a:p>
        </p:txBody>
      </p:sp>
      <p:sp>
        <p:nvSpPr>
          <p:cNvPr id="27" name="Ứng viên attr 1"/>
          <p:cNvSpPr txBox="1"/>
          <p:nvPr/>
        </p:nvSpPr>
        <p:spPr>
          <a:xfrm>
            <a:off x="685800" y="1810512"/>
            <a:ext cx="2103120" cy="274320"/>
          </a:xfrm>
          <a:prstGeom prst="rect">
            <a:avLst/>
          </a:prstGeom>
          <a:noFill/>
          <a:ln/>
        </p:spPr>
        <p:txBody>
          <a:bodyPr wrap="square" lIns="0" tIns="0" rIns="0" bIns="0" rtlCol="0" anchor="ctr"/>
          <a:lstStyle/>
          <a:p>
            <a:pPr indent="0" marL="0">
              <a:buNone/>
            </a:pPr>
            <a:r>
              <a:rPr lang="en-US" sz="1300" b="1" dirty="0">
                <a:solidFill>
                  <a:schemeClr val="accent3"/>
                </a:solidFill>
              </a:rPr>
              <a:t>PK  </a:t>
            </a:r>
            <a:r>
              <a:rPr lang="en-US" sz="1300" b="1" dirty="0">
                <a:solidFill>
                  <a:schemeClr val="tx1"/>
                </a:solidFill>
              </a:rPr>
              <a:t>Mã ứng viên</a:t>
            </a:r>
            <a:endParaRPr lang="en-US" sz="1300" dirty="0"/>
          </a:p>
        </p:txBody>
      </p:sp>
      <p:sp>
        <p:nvSpPr>
          <p:cNvPr id="28" name="Ứng viên attr 2"/>
          <p:cNvSpPr txBox="1"/>
          <p:nvPr/>
        </p:nvSpPr>
        <p:spPr>
          <a:xfrm>
            <a:off x="685800" y="2084832"/>
            <a:ext cx="2103120" cy="274320"/>
          </a:xfrm>
          <a:prstGeom prst="rect">
            <a:avLst/>
          </a:prstGeom>
          <a:noFill/>
          <a:ln/>
        </p:spPr>
        <p:txBody>
          <a:bodyPr wrap="square" lIns="0" tIns="0" rIns="0" bIns="0" rtlCol="0" anchor="ctr"/>
          <a:lstStyle/>
          <a:p>
            <a:pPr indent="0" marL="0">
              <a:buNone/>
            </a:pPr>
            <a:r>
              <a:rPr lang="en-US" sz="1300" dirty="0">
                <a:solidFill>
                  <a:schemeClr val="tx1"/>
                </a:solidFill>
              </a:rPr>
              <a:t>Họ tên</a:t>
            </a:r>
            <a:endParaRPr lang="en-US" sz="1300" dirty="0"/>
          </a:p>
        </p:txBody>
      </p:sp>
      <p:sp>
        <p:nvSpPr>
          <p:cNvPr id="29" name="Ứng viên attr 3"/>
          <p:cNvSpPr txBox="1"/>
          <p:nvPr/>
        </p:nvSpPr>
        <p:spPr>
          <a:xfrm>
            <a:off x="685800" y="2359152"/>
            <a:ext cx="2103120" cy="274320"/>
          </a:xfrm>
          <a:prstGeom prst="rect">
            <a:avLst/>
          </a:prstGeom>
          <a:noFill/>
          <a:ln/>
        </p:spPr>
        <p:txBody>
          <a:bodyPr wrap="square" lIns="0" tIns="0" rIns="0" bIns="0" rtlCol="0" anchor="ctr"/>
          <a:lstStyle/>
          <a:p>
            <a:pPr indent="0" marL="0">
              <a:buNone/>
            </a:pPr>
            <a:r>
              <a:rPr lang="en-US" sz="1300" dirty="0">
                <a:solidFill>
                  <a:schemeClr val="tx1"/>
                </a:solidFill>
              </a:rPr>
              <a:t>Email, SĐT</a:t>
            </a:r>
            <a:endParaRPr lang="en-US" sz="1300" dirty="0"/>
          </a:p>
        </p:txBody>
      </p:sp>
      <p:sp>
        <p:nvSpPr>
          <p:cNvPr id="30" name="Nguồn hồ sơ entity"/>
          <p:cNvSpPr/>
          <p:nvPr/>
        </p:nvSpPr>
        <p:spPr>
          <a:xfrm>
            <a:off x="548640" y="3886200"/>
            <a:ext cx="2377440" cy="1042416"/>
          </a:xfrm>
          <a:prstGeom prst="rect">
            <a:avLst/>
          </a:prstGeom>
          <a:solidFill>
            <a:schemeClr val="bg2"/>
          </a:solidFill>
          <a:ln w="15875">
            <a:solidFill>
              <a:schemeClr val="accent1"/>
            </a:solidFill>
            <a:prstDash val="solid"/>
          </a:ln>
        </p:spPr>
      </p:sp>
      <p:sp>
        <p:nvSpPr>
          <p:cNvPr id="31" name="Nguồn hồ sơ header"/>
          <p:cNvSpPr txBox="1"/>
          <p:nvPr/>
        </p:nvSpPr>
        <p:spPr>
          <a:xfrm>
            <a:off x="548640" y="3886200"/>
            <a:ext cx="2377440" cy="384048"/>
          </a:xfrm>
          <a:prstGeom prst="rect">
            <a:avLst/>
          </a:prstGeom>
          <a:solidFill>
            <a:schemeClr val="accent1"/>
          </a:solidFill>
          <a:ln/>
        </p:spPr>
        <p:txBody>
          <a:bodyPr wrap="square" lIns="0" tIns="0" rIns="0" bIns="0" rtlCol="0" anchor="ctr"/>
          <a:lstStyle/>
          <a:p>
            <a:pPr algn="ctr" indent="0" marL="0">
              <a:buNone/>
            </a:pPr>
            <a:r>
              <a:rPr lang="en-US" sz="1500" b="1" dirty="0">
                <a:solidFill>
                  <a:schemeClr val="bg1"/>
                </a:solidFill>
              </a:rPr>
              <a:t>Nguồn hồ sơ</a:t>
            </a:r>
            <a:endParaRPr lang="en-US" sz="1500" dirty="0"/>
          </a:p>
        </p:txBody>
      </p:sp>
      <p:sp>
        <p:nvSpPr>
          <p:cNvPr id="32" name="Nguồn hồ sơ attr 1"/>
          <p:cNvSpPr txBox="1"/>
          <p:nvPr/>
        </p:nvSpPr>
        <p:spPr>
          <a:xfrm>
            <a:off x="685800" y="4325112"/>
            <a:ext cx="2103120" cy="274320"/>
          </a:xfrm>
          <a:prstGeom prst="rect">
            <a:avLst/>
          </a:prstGeom>
          <a:noFill/>
          <a:ln/>
        </p:spPr>
        <p:txBody>
          <a:bodyPr wrap="square" lIns="0" tIns="0" rIns="0" bIns="0" rtlCol="0" anchor="ctr"/>
          <a:lstStyle/>
          <a:p>
            <a:pPr indent="0" marL="0">
              <a:buNone/>
            </a:pPr>
            <a:r>
              <a:rPr lang="en-US" sz="1300" b="1" dirty="0">
                <a:solidFill>
                  <a:schemeClr val="accent3"/>
                </a:solidFill>
              </a:rPr>
              <a:t>PK  </a:t>
            </a:r>
            <a:r>
              <a:rPr lang="en-US" sz="1300" b="1" dirty="0">
                <a:solidFill>
                  <a:schemeClr val="tx1"/>
                </a:solidFill>
              </a:rPr>
              <a:t>Mã nguồn</a:t>
            </a:r>
            <a:endParaRPr lang="en-US" sz="1300" dirty="0"/>
          </a:p>
        </p:txBody>
      </p:sp>
      <p:sp>
        <p:nvSpPr>
          <p:cNvPr id="33" name="Nguồn hồ sơ attr 2"/>
          <p:cNvSpPr txBox="1"/>
          <p:nvPr/>
        </p:nvSpPr>
        <p:spPr>
          <a:xfrm>
            <a:off x="685800" y="4599432"/>
            <a:ext cx="2103120" cy="274320"/>
          </a:xfrm>
          <a:prstGeom prst="rect">
            <a:avLst/>
          </a:prstGeom>
          <a:noFill/>
          <a:ln/>
        </p:spPr>
        <p:txBody>
          <a:bodyPr wrap="square" lIns="0" tIns="0" rIns="0" bIns="0" rtlCol="0" anchor="ctr"/>
          <a:lstStyle/>
          <a:p>
            <a:pPr indent="0" marL="0">
              <a:buNone/>
            </a:pPr>
            <a:r>
              <a:rPr lang="en-US" sz="1300" dirty="0">
                <a:solidFill>
                  <a:schemeClr val="tx1"/>
                </a:solidFill>
              </a:rPr>
              <a:t>Tên nguồn</a:t>
            </a:r>
            <a:endParaRPr lang="en-US" sz="1300" dirty="0"/>
          </a:p>
        </p:txBody>
      </p:sp>
      <p:sp>
        <p:nvSpPr>
          <p:cNvPr id="34" name="Vị trí tuyển entity"/>
          <p:cNvSpPr/>
          <p:nvPr/>
        </p:nvSpPr>
        <p:spPr>
          <a:xfrm>
            <a:off x="9262872" y="1371600"/>
            <a:ext cx="2377440" cy="1316736"/>
          </a:xfrm>
          <a:prstGeom prst="rect">
            <a:avLst/>
          </a:prstGeom>
          <a:solidFill>
            <a:schemeClr val="bg2"/>
          </a:solidFill>
          <a:ln w="15875">
            <a:solidFill>
              <a:schemeClr val="accent1"/>
            </a:solidFill>
            <a:prstDash val="solid"/>
          </a:ln>
        </p:spPr>
      </p:sp>
      <p:sp>
        <p:nvSpPr>
          <p:cNvPr id="35" name="Vị trí tuyển header"/>
          <p:cNvSpPr txBox="1"/>
          <p:nvPr/>
        </p:nvSpPr>
        <p:spPr>
          <a:xfrm>
            <a:off x="9262872" y="1371600"/>
            <a:ext cx="2377440" cy="384048"/>
          </a:xfrm>
          <a:prstGeom prst="rect">
            <a:avLst/>
          </a:prstGeom>
          <a:solidFill>
            <a:schemeClr val="accent1"/>
          </a:solidFill>
          <a:ln/>
        </p:spPr>
        <p:txBody>
          <a:bodyPr wrap="square" lIns="0" tIns="0" rIns="0" bIns="0" rtlCol="0" anchor="ctr"/>
          <a:lstStyle/>
          <a:p>
            <a:pPr algn="ctr" indent="0" marL="0">
              <a:buNone/>
            </a:pPr>
            <a:r>
              <a:rPr lang="en-US" sz="1500" b="1" dirty="0">
                <a:solidFill>
                  <a:schemeClr val="bg1"/>
                </a:solidFill>
              </a:rPr>
              <a:t>Vị trí tuyển</a:t>
            </a:r>
            <a:endParaRPr lang="en-US" sz="1500" dirty="0"/>
          </a:p>
        </p:txBody>
      </p:sp>
      <p:sp>
        <p:nvSpPr>
          <p:cNvPr id="36" name="Vị trí tuyển attr 1"/>
          <p:cNvSpPr txBox="1"/>
          <p:nvPr/>
        </p:nvSpPr>
        <p:spPr>
          <a:xfrm>
            <a:off x="9400032" y="1810512"/>
            <a:ext cx="2103120" cy="274320"/>
          </a:xfrm>
          <a:prstGeom prst="rect">
            <a:avLst/>
          </a:prstGeom>
          <a:noFill/>
          <a:ln/>
        </p:spPr>
        <p:txBody>
          <a:bodyPr wrap="square" lIns="0" tIns="0" rIns="0" bIns="0" rtlCol="0" anchor="ctr"/>
          <a:lstStyle/>
          <a:p>
            <a:pPr indent="0" marL="0">
              <a:buNone/>
            </a:pPr>
            <a:r>
              <a:rPr lang="en-US" sz="1300" b="1" dirty="0">
                <a:solidFill>
                  <a:schemeClr val="accent3"/>
                </a:solidFill>
              </a:rPr>
              <a:t>PK  </a:t>
            </a:r>
            <a:r>
              <a:rPr lang="en-US" sz="1300" b="1" dirty="0">
                <a:solidFill>
                  <a:schemeClr val="tx1"/>
                </a:solidFill>
              </a:rPr>
              <a:t>Mã vị trí</a:t>
            </a:r>
            <a:endParaRPr lang="en-US" sz="1300" dirty="0"/>
          </a:p>
        </p:txBody>
      </p:sp>
      <p:sp>
        <p:nvSpPr>
          <p:cNvPr id="37" name="Vị trí tuyển attr 2"/>
          <p:cNvSpPr txBox="1"/>
          <p:nvPr/>
        </p:nvSpPr>
        <p:spPr>
          <a:xfrm>
            <a:off x="9400032" y="2084832"/>
            <a:ext cx="2103120" cy="274320"/>
          </a:xfrm>
          <a:prstGeom prst="rect">
            <a:avLst/>
          </a:prstGeom>
          <a:noFill/>
          <a:ln/>
        </p:spPr>
        <p:txBody>
          <a:bodyPr wrap="square" lIns="0" tIns="0" rIns="0" bIns="0" rtlCol="0" anchor="ctr"/>
          <a:lstStyle/>
          <a:p>
            <a:pPr indent="0" marL="0">
              <a:buNone/>
            </a:pPr>
            <a:r>
              <a:rPr lang="en-US" sz="1300" dirty="0">
                <a:solidFill>
                  <a:schemeClr val="tx1"/>
                </a:solidFill>
              </a:rPr>
              <a:t>Tên vị trí</a:t>
            </a:r>
            <a:endParaRPr lang="en-US" sz="1300" dirty="0"/>
          </a:p>
        </p:txBody>
      </p:sp>
      <p:sp>
        <p:nvSpPr>
          <p:cNvPr id="38" name="Vị trí tuyển attr 3"/>
          <p:cNvSpPr txBox="1"/>
          <p:nvPr/>
        </p:nvSpPr>
        <p:spPr>
          <a:xfrm>
            <a:off x="9400032" y="2359152"/>
            <a:ext cx="2103120" cy="274320"/>
          </a:xfrm>
          <a:prstGeom prst="rect">
            <a:avLst/>
          </a:prstGeom>
          <a:noFill/>
          <a:ln/>
        </p:spPr>
        <p:txBody>
          <a:bodyPr wrap="square" lIns="0" tIns="0" rIns="0" bIns="0" rtlCol="0" anchor="ctr"/>
          <a:lstStyle/>
          <a:p>
            <a:pPr indent="0" marL="0">
              <a:buNone/>
            </a:pPr>
            <a:r>
              <a:rPr lang="en-US" sz="1300" dirty="0">
                <a:solidFill>
                  <a:schemeClr val="tx1"/>
                </a:solidFill>
              </a:rPr>
              <a:t>Phòng ban</a:t>
            </a:r>
            <a:endParaRPr lang="en-US" sz="1300" dirty="0"/>
          </a:p>
        </p:txBody>
      </p:sp>
      <p:sp>
        <p:nvSpPr>
          <p:cNvPr id="39" name="Vòng tuyển entity"/>
          <p:cNvSpPr/>
          <p:nvPr/>
        </p:nvSpPr>
        <p:spPr>
          <a:xfrm>
            <a:off x="9262872" y="3886200"/>
            <a:ext cx="2377440" cy="1316736"/>
          </a:xfrm>
          <a:prstGeom prst="rect">
            <a:avLst/>
          </a:prstGeom>
          <a:solidFill>
            <a:schemeClr val="bg2"/>
          </a:solidFill>
          <a:ln w="15875">
            <a:solidFill>
              <a:schemeClr val="accent1"/>
            </a:solidFill>
            <a:prstDash val="solid"/>
          </a:ln>
        </p:spPr>
      </p:sp>
      <p:sp>
        <p:nvSpPr>
          <p:cNvPr id="40" name="Vòng tuyển header"/>
          <p:cNvSpPr txBox="1"/>
          <p:nvPr/>
        </p:nvSpPr>
        <p:spPr>
          <a:xfrm>
            <a:off x="9262872" y="3886200"/>
            <a:ext cx="2377440" cy="384048"/>
          </a:xfrm>
          <a:prstGeom prst="rect">
            <a:avLst/>
          </a:prstGeom>
          <a:solidFill>
            <a:schemeClr val="accent1"/>
          </a:solidFill>
          <a:ln/>
        </p:spPr>
        <p:txBody>
          <a:bodyPr wrap="square" lIns="0" tIns="0" rIns="0" bIns="0" rtlCol="0" anchor="ctr"/>
          <a:lstStyle/>
          <a:p>
            <a:pPr algn="ctr" indent="0" marL="0">
              <a:buNone/>
            </a:pPr>
            <a:r>
              <a:rPr lang="en-US" sz="1500" b="1" dirty="0">
                <a:solidFill>
                  <a:schemeClr val="bg1"/>
                </a:solidFill>
              </a:rPr>
              <a:t>Vòng tuyển</a:t>
            </a:r>
            <a:endParaRPr lang="en-US" sz="1500" dirty="0"/>
          </a:p>
        </p:txBody>
      </p:sp>
      <p:sp>
        <p:nvSpPr>
          <p:cNvPr id="41" name="Vòng tuyển attr 1"/>
          <p:cNvSpPr txBox="1"/>
          <p:nvPr/>
        </p:nvSpPr>
        <p:spPr>
          <a:xfrm>
            <a:off x="9400032" y="4325112"/>
            <a:ext cx="2103120" cy="274320"/>
          </a:xfrm>
          <a:prstGeom prst="rect">
            <a:avLst/>
          </a:prstGeom>
          <a:noFill/>
          <a:ln/>
        </p:spPr>
        <p:txBody>
          <a:bodyPr wrap="square" lIns="0" tIns="0" rIns="0" bIns="0" rtlCol="0" anchor="ctr"/>
          <a:lstStyle/>
          <a:p>
            <a:pPr indent="0" marL="0">
              <a:buNone/>
            </a:pPr>
            <a:r>
              <a:rPr lang="en-US" sz="1300" b="1" dirty="0">
                <a:solidFill>
                  <a:schemeClr val="accent3"/>
                </a:solidFill>
              </a:rPr>
              <a:t>PK  </a:t>
            </a:r>
            <a:r>
              <a:rPr lang="en-US" sz="1300" b="1" dirty="0">
                <a:solidFill>
                  <a:schemeClr val="tx1"/>
                </a:solidFill>
              </a:rPr>
              <a:t>Mã vòng</a:t>
            </a:r>
            <a:endParaRPr lang="en-US" sz="1300" dirty="0"/>
          </a:p>
        </p:txBody>
      </p:sp>
      <p:sp>
        <p:nvSpPr>
          <p:cNvPr id="42" name="Vòng tuyển attr 2"/>
          <p:cNvSpPr txBox="1"/>
          <p:nvPr/>
        </p:nvSpPr>
        <p:spPr>
          <a:xfrm>
            <a:off x="9400032" y="4599432"/>
            <a:ext cx="2103120" cy="274320"/>
          </a:xfrm>
          <a:prstGeom prst="rect">
            <a:avLst/>
          </a:prstGeom>
          <a:noFill/>
          <a:ln/>
        </p:spPr>
        <p:txBody>
          <a:bodyPr wrap="square" lIns="0" tIns="0" rIns="0" bIns="0" rtlCol="0" anchor="ctr"/>
          <a:lstStyle/>
          <a:p>
            <a:pPr indent="0" marL="0">
              <a:buNone/>
            </a:pPr>
            <a:r>
              <a:rPr lang="en-US" sz="1300" dirty="0">
                <a:solidFill>
                  <a:schemeClr val="tx1"/>
                </a:solidFill>
              </a:rPr>
              <a:t>Tên vòng</a:t>
            </a:r>
            <a:endParaRPr lang="en-US" sz="1300" dirty="0"/>
          </a:p>
        </p:txBody>
      </p:sp>
      <p:sp>
        <p:nvSpPr>
          <p:cNvPr id="43" name="Vòng tuyển attr 3"/>
          <p:cNvSpPr txBox="1"/>
          <p:nvPr/>
        </p:nvSpPr>
        <p:spPr>
          <a:xfrm>
            <a:off x="9400032" y="4873752"/>
            <a:ext cx="2103120" cy="274320"/>
          </a:xfrm>
          <a:prstGeom prst="rect">
            <a:avLst/>
          </a:prstGeom>
          <a:noFill/>
          <a:ln/>
        </p:spPr>
        <p:txBody>
          <a:bodyPr wrap="square" lIns="0" tIns="0" rIns="0" bIns="0" rtlCol="0" anchor="ctr"/>
          <a:lstStyle/>
          <a:p>
            <a:pPr indent="0" marL="0">
              <a:buNone/>
            </a:pPr>
            <a:r>
              <a:rPr lang="en-US" sz="1300" dirty="0">
                <a:solidFill>
                  <a:schemeClr val="tx1"/>
                </a:solidFill>
              </a:rPr>
              <a:t>Thứ tự (1 → 5)</a:t>
            </a:r>
            <a:endParaRPr lang="en-US" sz="1300" dirty="0"/>
          </a:p>
        </p:txBody>
      </p:sp>
      <p:sp>
        <p:nvSpPr>
          <p:cNvPr id="44" name="Hồ sơ ứng tuyển entity"/>
          <p:cNvSpPr/>
          <p:nvPr/>
        </p:nvSpPr>
        <p:spPr>
          <a:xfrm>
            <a:off x="4754880" y="2468880"/>
            <a:ext cx="2697480" cy="1316736"/>
          </a:xfrm>
          <a:prstGeom prst="rect">
            <a:avLst/>
          </a:prstGeom>
          <a:solidFill>
            <a:schemeClr val="bg1"/>
          </a:solidFill>
          <a:ln w="25400">
            <a:solidFill>
              <a:schemeClr val="accent2"/>
            </a:solidFill>
            <a:prstDash val="solid"/>
          </a:ln>
        </p:spPr>
      </p:sp>
      <p:sp>
        <p:nvSpPr>
          <p:cNvPr id="45" name="Hồ sơ ứng tuyển header"/>
          <p:cNvSpPr txBox="1"/>
          <p:nvPr/>
        </p:nvSpPr>
        <p:spPr>
          <a:xfrm>
            <a:off x="4754880" y="2468880"/>
            <a:ext cx="2697480" cy="384048"/>
          </a:xfrm>
          <a:prstGeom prst="rect">
            <a:avLst/>
          </a:prstGeom>
          <a:solidFill>
            <a:schemeClr val="accent2"/>
          </a:solidFill>
          <a:ln/>
        </p:spPr>
        <p:txBody>
          <a:bodyPr wrap="square" lIns="0" tIns="0" rIns="0" bIns="0" rtlCol="0" anchor="ctr"/>
          <a:lstStyle/>
          <a:p>
            <a:pPr algn="ctr" indent="0" marL="0">
              <a:buNone/>
            </a:pPr>
            <a:r>
              <a:rPr lang="en-US" sz="1500" b="1" dirty="0">
                <a:solidFill>
                  <a:schemeClr val="tx2"/>
                </a:solidFill>
              </a:rPr>
              <a:t>Hồ sơ ứng tuyển</a:t>
            </a:r>
            <a:endParaRPr lang="en-US" sz="1500" dirty="0"/>
          </a:p>
        </p:txBody>
      </p:sp>
      <p:sp>
        <p:nvSpPr>
          <p:cNvPr id="46" name="Hồ sơ ứng tuyển attr 1"/>
          <p:cNvSpPr txBox="1"/>
          <p:nvPr/>
        </p:nvSpPr>
        <p:spPr>
          <a:xfrm>
            <a:off x="4892040" y="2907792"/>
            <a:ext cx="2423160" cy="274320"/>
          </a:xfrm>
          <a:prstGeom prst="rect">
            <a:avLst/>
          </a:prstGeom>
          <a:noFill/>
          <a:ln/>
        </p:spPr>
        <p:txBody>
          <a:bodyPr wrap="square" lIns="0" tIns="0" rIns="0" bIns="0" rtlCol="0" anchor="ctr"/>
          <a:lstStyle/>
          <a:p>
            <a:pPr indent="0" marL="0">
              <a:buNone/>
            </a:pPr>
            <a:r>
              <a:rPr lang="en-US" sz="1300" b="1" dirty="0">
                <a:solidFill>
                  <a:schemeClr val="accent3"/>
                </a:solidFill>
              </a:rPr>
              <a:t>PK  </a:t>
            </a:r>
            <a:r>
              <a:rPr lang="en-US" sz="1300" b="1" dirty="0">
                <a:solidFill>
                  <a:schemeClr val="tx1"/>
                </a:solidFill>
              </a:rPr>
              <a:t>Mã hồ sơ</a:t>
            </a:r>
            <a:endParaRPr lang="en-US" sz="1300" dirty="0"/>
          </a:p>
        </p:txBody>
      </p:sp>
      <p:sp>
        <p:nvSpPr>
          <p:cNvPr id="47" name="Hồ sơ ứng tuyển attr 2"/>
          <p:cNvSpPr txBox="1"/>
          <p:nvPr/>
        </p:nvSpPr>
        <p:spPr>
          <a:xfrm>
            <a:off x="4892040" y="3182112"/>
            <a:ext cx="2423160" cy="274320"/>
          </a:xfrm>
          <a:prstGeom prst="rect">
            <a:avLst/>
          </a:prstGeom>
          <a:noFill/>
          <a:ln/>
        </p:spPr>
        <p:txBody>
          <a:bodyPr wrap="square" lIns="0" tIns="0" rIns="0" bIns="0" rtlCol="0" anchor="ctr"/>
          <a:lstStyle/>
          <a:p>
            <a:pPr indent="0" marL="0">
              <a:buNone/>
            </a:pPr>
            <a:r>
              <a:rPr lang="en-US" sz="1300" dirty="0">
                <a:solidFill>
                  <a:schemeClr val="tx1"/>
                </a:solidFill>
              </a:rPr>
              <a:t>Ngày nộp</a:t>
            </a:r>
            <a:endParaRPr lang="en-US" sz="1300" dirty="0"/>
          </a:p>
        </p:txBody>
      </p:sp>
      <p:sp>
        <p:nvSpPr>
          <p:cNvPr id="48" name="Hồ sơ ứng tuyển attr 3"/>
          <p:cNvSpPr txBox="1"/>
          <p:nvPr/>
        </p:nvSpPr>
        <p:spPr>
          <a:xfrm>
            <a:off x="4892040" y="3456432"/>
            <a:ext cx="2423160" cy="274320"/>
          </a:xfrm>
          <a:prstGeom prst="rect">
            <a:avLst/>
          </a:prstGeom>
          <a:noFill/>
          <a:ln/>
        </p:spPr>
        <p:txBody>
          <a:bodyPr wrap="square" lIns="0" tIns="0" rIns="0" bIns="0" rtlCol="0" anchor="ctr"/>
          <a:lstStyle/>
          <a:p>
            <a:pPr indent="0" marL="0">
              <a:buNone/>
            </a:pPr>
            <a:r>
              <a:rPr lang="en-US" sz="1300" dirty="0">
                <a:solidFill>
                  <a:schemeClr val="tx1"/>
                </a:solidFill>
              </a:rPr>
              <a:t>Điểm AI chấm</a:t>
            </a:r>
            <a:endParaRPr lang="en-US" sz="1300" dirty="0"/>
          </a:p>
        </p:txBody>
      </p:sp>
      <p:sp>
        <p:nvSpPr>
          <p:cNvPr id="49" name="Legend card"/>
          <p:cNvSpPr/>
          <p:nvPr/>
        </p:nvSpPr>
        <p:spPr>
          <a:xfrm>
            <a:off x="548640" y="5440680"/>
            <a:ext cx="11091672" cy="658368"/>
          </a:xfrm>
          <a:prstGeom prst="rect">
            <a:avLst>
              <a:gd name="adj" fmla="val 13889"/>
            </a:avLst>
          </a:prstGeom>
          <a:solidFill>
            <a:schemeClr val="bg2"/>
          </a:solidFill>
          <a:ln w="12700">
            <a:solidFill>
              <a:schemeClr val="bg2"/>
            </a:solidFill>
            <a:prstDash val="solid"/>
          </a:ln>
        </p:spPr>
      </p:sp>
      <p:sp>
        <p:nvSpPr>
          <p:cNvPr id="50" name="Legend text"/>
          <p:cNvSpPr txBox="1"/>
          <p:nvPr/>
        </p:nvSpPr>
        <p:spPr>
          <a:xfrm>
            <a:off x="777240" y="5440680"/>
            <a:ext cx="10698480" cy="658368"/>
          </a:xfrm>
          <a:prstGeom prst="rect">
            <a:avLst/>
          </a:prstGeom>
          <a:noFill/>
          <a:ln/>
        </p:spPr>
        <p:txBody>
          <a:bodyPr wrap="square" lIns="0" tIns="0" rIns="0" bIns="0" rtlCol="0" anchor="ctr"/>
          <a:lstStyle/>
          <a:p>
            <a:pPr indent="0" marL="0">
              <a:buNone/>
            </a:pPr>
            <a:r>
              <a:rPr lang="en-US" sz="1400" b="1" dirty="0">
                <a:solidFill>
                  <a:schemeClr val="tx2"/>
                </a:solidFill>
              </a:rPr>
              <a:t>Ký hiệu: </a:t>
            </a:r>
            <a:r>
              <a:rPr lang="en-US" sz="1400" dirty="0">
                <a:solidFill>
                  <a:schemeClr val="tx1"/>
                </a:solidFill>
              </a:rPr>
              <a:t>hình chữ nhật = thực thể · hình thoi = mối liên kết · 1 – n = quan hệ một – nhiều · PK = khóa chính</a:t>
            </a:r>
            <a:endParaRPr lang="en-US" sz="1400" dirty="0"/>
          </a:p>
          <a:p>
            <a:pPr indent="0" marL="0">
              <a:buNone/>
            </a:pPr>
            <a:r>
              <a:rPr lang="en-US" sz="1300" i="1" dirty="0">
                <a:solidFill>
                  <a:schemeClr val="accent1"/>
                </a:solidFill>
              </a:rPr>
              <a:t>Thiết kế hình ngôi sao (star schema). ERD chi tiết với từng cột và khóa ngoại: xem Task 2 của Trần Phúc Hoàng.</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Kiến trúc công nghệ của hệ thống</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08</a:t>
            </a:r>
            <a:endParaRPr lang="en-US" sz="2000" dirty="0"/>
          </a:p>
        </p:txBody>
      </p:sp>
      <p:sp>
        <p:nvSpPr>
          <p:cNvPr id="5" name="Arch box 1"/>
          <p:cNvSpPr/>
          <p:nvPr/>
        </p:nvSpPr>
        <p:spPr>
          <a:xfrm>
            <a:off x="548640" y="1371600"/>
            <a:ext cx="1889150" cy="1828800"/>
          </a:xfrm>
          <a:prstGeom prst="rect">
            <a:avLst>
              <a:gd name="adj" fmla="val 6000"/>
            </a:avLst>
          </a:prstGeom>
          <a:solidFill>
            <a:schemeClr val="bg2"/>
          </a:solidFill>
          <a:ln w="12700">
            <a:solidFill>
              <a:schemeClr val="bg2"/>
            </a:solidFill>
            <a:prstDash val="solid"/>
          </a:ln>
        </p:spPr>
      </p:sp>
      <p:sp>
        <p:nvSpPr>
          <p:cNvPr id="6" name="Arch icon 1 circle"/>
          <p:cNvSpPr/>
          <p:nvPr/>
        </p:nvSpPr>
        <p:spPr>
          <a:xfrm>
            <a:off x="1218895" y="1481328"/>
            <a:ext cx="548640" cy="548640"/>
          </a:xfrm>
          <a:prstGeom prst="rect">
            <a:avLst/>
          </a:prstGeom>
          <a:solidFill>
            <a:schemeClr val="accent1"/>
          </a:solidFill>
          <a:ln w="12700">
            <a:solidFill>
              <a:schemeClr val="accent1"/>
            </a:solidFill>
            <a:prstDash val="solid"/>
          </a:ln>
        </p:spPr>
      </p:sp>
      <p:pic>
        <p:nvPicPr>
          <p:cNvPr id="7" name="Arch icon 1 icon" descr="Arch icon 1">    </p:cNvPr>
          <p:cNvPicPr>
            <a:picLocks noChangeAspect="1"/>
          </p:cNvPicPr>
          <p:nvPr/>
        </p:nvPicPr>
        <p:blipFill>
          <a:blip r:embed="rId1"/>
          <a:stretch>
            <a:fillRect/>
          </a:stretch>
        </p:blipFill>
        <p:spPr>
          <a:xfrm>
            <a:off x="1356055" y="1618488"/>
            <a:ext cx="274320" cy="274320"/>
          </a:xfrm>
          <a:prstGeom prst="rect">
            <a:avLst/>
          </a:prstGeom>
        </p:spPr>
      </p:pic>
      <p:sp>
        <p:nvSpPr>
          <p:cNvPr id="8" name="Arch name 1"/>
          <p:cNvSpPr txBox="1"/>
          <p:nvPr/>
        </p:nvSpPr>
        <p:spPr>
          <a:xfrm>
            <a:off x="594360" y="2075688"/>
            <a:ext cx="1797710" cy="365760"/>
          </a:xfrm>
          <a:prstGeom prst="rect">
            <a:avLst/>
          </a:prstGeom>
          <a:noFill/>
          <a:ln/>
        </p:spPr>
        <p:txBody>
          <a:bodyPr wrap="square" lIns="0" tIns="0" rIns="0" bIns="0" rtlCol="0" anchor="ctr"/>
          <a:lstStyle/>
          <a:p>
            <a:pPr algn="ctr" indent="0" marL="0">
              <a:buNone/>
            </a:pPr>
            <a:r>
              <a:rPr lang="en-US" sz="1600" b="1" dirty="0">
                <a:solidFill>
                  <a:schemeClr val="tx2"/>
                </a:solidFill>
              </a:rPr>
              <a:t>Dữ liệu nguồn</a:t>
            </a:r>
            <a:endParaRPr lang="en-US" sz="1600" dirty="0"/>
          </a:p>
        </p:txBody>
      </p:sp>
      <p:sp>
        <p:nvSpPr>
          <p:cNvPr id="9" name="Arch role 1"/>
          <p:cNvSpPr txBox="1"/>
          <p:nvPr/>
        </p:nvSpPr>
        <p:spPr>
          <a:xfrm>
            <a:off x="594360" y="2450592"/>
            <a:ext cx="1797710" cy="658368"/>
          </a:xfrm>
          <a:prstGeom prst="rect">
            <a:avLst/>
          </a:prstGeom>
          <a:noFill/>
          <a:ln/>
        </p:spPr>
        <p:txBody>
          <a:bodyPr wrap="square" lIns="0" tIns="0" rIns="0" bIns="0" rtlCol="0" anchor="t"/>
          <a:lstStyle/>
          <a:p>
            <a:pPr algn="ctr" indent="0" marL="0">
              <a:buNone/>
            </a:pPr>
            <a:r>
              <a:rPr lang="en-US" sz="1300" dirty="0">
                <a:solidFill>
                  <a:schemeClr val="tx1"/>
                </a:solidFill>
              </a:rPr>
              <a:t>Excel, web,</a:t>
            </a:r>
            <a:endParaRPr lang="en-US" sz="1300" dirty="0"/>
          </a:p>
          <a:p>
            <a:pPr algn="ctr" indent="0" marL="0">
              <a:buNone/>
            </a:pPr>
            <a:r>
              <a:rPr lang="en-US" sz="1300" dirty="0">
                <a:solidFill>
                  <a:schemeClr val="tx1"/>
                </a:solidFill>
              </a:rPr>
              <a:t>Google Form</a:t>
            </a:r>
            <a:endParaRPr lang="en-US" sz="1300" dirty="0"/>
          </a:p>
        </p:txBody>
      </p:sp>
      <p:sp>
        <p:nvSpPr>
          <p:cNvPr id="10" name="Arch arrow 1"/>
          <p:cNvSpPr/>
          <p:nvPr/>
        </p:nvSpPr>
        <p:spPr>
          <a:xfrm>
            <a:off x="2510942" y="2130552"/>
            <a:ext cx="265176" cy="292608"/>
          </a:xfrm>
          <a:prstGeom prst="rightArrow">
            <a:avLst/>
          </a:prstGeom>
          <a:solidFill>
            <a:schemeClr val="accent2"/>
          </a:solidFill>
          <a:ln w="12700">
            <a:solidFill>
              <a:schemeClr val="accent2"/>
            </a:solidFill>
            <a:prstDash val="solid"/>
          </a:ln>
        </p:spPr>
      </p:sp>
      <p:sp>
        <p:nvSpPr>
          <p:cNvPr id="11" name="Arch box 2"/>
          <p:cNvSpPr/>
          <p:nvPr/>
        </p:nvSpPr>
        <p:spPr>
          <a:xfrm>
            <a:off x="2849270" y="1371600"/>
            <a:ext cx="1889150" cy="1828800"/>
          </a:xfrm>
          <a:prstGeom prst="rect">
            <a:avLst>
              <a:gd name="adj" fmla="val 6000"/>
            </a:avLst>
          </a:prstGeom>
          <a:solidFill>
            <a:schemeClr val="bg2"/>
          </a:solidFill>
          <a:ln w="12700">
            <a:solidFill>
              <a:schemeClr val="bg2"/>
            </a:solidFill>
            <a:prstDash val="solid"/>
          </a:ln>
        </p:spPr>
      </p:sp>
      <p:sp>
        <p:nvSpPr>
          <p:cNvPr id="12" name="Arch icon 2 circle"/>
          <p:cNvSpPr/>
          <p:nvPr/>
        </p:nvSpPr>
        <p:spPr>
          <a:xfrm>
            <a:off x="3519526" y="1481328"/>
            <a:ext cx="548640" cy="548640"/>
          </a:xfrm>
          <a:prstGeom prst="rect">
            <a:avLst/>
          </a:prstGeom>
          <a:solidFill>
            <a:schemeClr val="accent1"/>
          </a:solidFill>
          <a:ln w="12700">
            <a:solidFill>
              <a:schemeClr val="accent1"/>
            </a:solidFill>
            <a:prstDash val="solid"/>
          </a:ln>
        </p:spPr>
      </p:sp>
      <p:pic>
        <p:nvPicPr>
          <p:cNvPr id="13" name="Arch icon 2 icon" descr="Arch icon 2">    </p:cNvPr>
          <p:cNvPicPr>
            <a:picLocks noChangeAspect="1"/>
          </p:cNvPicPr>
          <p:nvPr/>
        </p:nvPicPr>
        <p:blipFill>
          <a:blip r:embed="rId2"/>
          <a:stretch>
            <a:fillRect/>
          </a:stretch>
        </p:blipFill>
        <p:spPr>
          <a:xfrm>
            <a:off x="3656686" y="1618488"/>
            <a:ext cx="274320" cy="274320"/>
          </a:xfrm>
          <a:prstGeom prst="rect">
            <a:avLst/>
          </a:prstGeom>
        </p:spPr>
      </p:pic>
      <p:sp>
        <p:nvSpPr>
          <p:cNvPr id="14" name="Arch name 2"/>
          <p:cNvSpPr txBox="1"/>
          <p:nvPr/>
        </p:nvSpPr>
        <p:spPr>
          <a:xfrm>
            <a:off x="2894990" y="2075688"/>
            <a:ext cx="1797710" cy="365760"/>
          </a:xfrm>
          <a:prstGeom prst="rect">
            <a:avLst/>
          </a:prstGeom>
          <a:noFill/>
          <a:ln/>
        </p:spPr>
        <p:txBody>
          <a:bodyPr wrap="square" lIns="0" tIns="0" rIns="0" bIns="0" rtlCol="0" anchor="ctr"/>
          <a:lstStyle/>
          <a:p>
            <a:pPr algn="ctr" indent="0" marL="0">
              <a:buNone/>
            </a:pPr>
            <a:r>
              <a:rPr lang="en-US" sz="1600" b="1" dirty="0">
                <a:solidFill>
                  <a:schemeClr val="tx2"/>
                </a:solidFill>
              </a:rPr>
              <a:t>Python</a:t>
            </a:r>
            <a:endParaRPr lang="en-US" sz="1600" dirty="0"/>
          </a:p>
        </p:txBody>
      </p:sp>
      <p:sp>
        <p:nvSpPr>
          <p:cNvPr id="15" name="Arch role 2"/>
          <p:cNvSpPr txBox="1"/>
          <p:nvPr/>
        </p:nvSpPr>
        <p:spPr>
          <a:xfrm>
            <a:off x="2894990" y="2450592"/>
            <a:ext cx="1797710" cy="658368"/>
          </a:xfrm>
          <a:prstGeom prst="rect">
            <a:avLst/>
          </a:prstGeom>
          <a:noFill/>
          <a:ln/>
        </p:spPr>
        <p:txBody>
          <a:bodyPr wrap="square" lIns="0" tIns="0" rIns="0" bIns="0" rtlCol="0" anchor="t"/>
          <a:lstStyle/>
          <a:p>
            <a:pPr algn="ctr" indent="0" marL="0">
              <a:buNone/>
            </a:pPr>
            <a:r>
              <a:rPr lang="en-US" sz="1300" dirty="0">
                <a:solidFill>
                  <a:schemeClr val="tx1"/>
                </a:solidFill>
              </a:rPr>
              <a:t>Gom và làm sạch</a:t>
            </a:r>
            <a:endParaRPr lang="en-US" sz="1300" dirty="0"/>
          </a:p>
          <a:p>
            <a:pPr algn="ctr" indent="0" marL="0">
              <a:buNone/>
            </a:pPr>
            <a:r>
              <a:rPr lang="en-US" sz="1300" dirty="0">
                <a:solidFill>
                  <a:schemeClr val="tx1"/>
                </a:solidFill>
              </a:rPr>
              <a:t>(ETL)</a:t>
            </a:r>
            <a:endParaRPr lang="en-US" sz="1300" dirty="0"/>
          </a:p>
        </p:txBody>
      </p:sp>
      <p:sp>
        <p:nvSpPr>
          <p:cNvPr id="16" name="Arch arrow 2"/>
          <p:cNvSpPr/>
          <p:nvPr/>
        </p:nvSpPr>
        <p:spPr>
          <a:xfrm>
            <a:off x="4811573" y="2130552"/>
            <a:ext cx="265176" cy="292608"/>
          </a:xfrm>
          <a:prstGeom prst="rightArrow">
            <a:avLst/>
          </a:prstGeom>
          <a:solidFill>
            <a:schemeClr val="accent2"/>
          </a:solidFill>
          <a:ln w="12700">
            <a:solidFill>
              <a:schemeClr val="accent2"/>
            </a:solidFill>
            <a:prstDash val="solid"/>
          </a:ln>
        </p:spPr>
      </p:sp>
      <p:sp>
        <p:nvSpPr>
          <p:cNvPr id="17" name="Arch box 3"/>
          <p:cNvSpPr/>
          <p:nvPr/>
        </p:nvSpPr>
        <p:spPr>
          <a:xfrm>
            <a:off x="5149901" y="1371600"/>
            <a:ext cx="1889150" cy="1828800"/>
          </a:xfrm>
          <a:prstGeom prst="rect">
            <a:avLst>
              <a:gd name="adj" fmla="val 6000"/>
            </a:avLst>
          </a:prstGeom>
          <a:solidFill>
            <a:schemeClr val="tx2"/>
          </a:solidFill>
          <a:ln w="12700">
            <a:solidFill>
              <a:schemeClr val="tx2"/>
            </a:solidFill>
            <a:prstDash val="solid"/>
          </a:ln>
        </p:spPr>
      </p:sp>
      <p:sp>
        <p:nvSpPr>
          <p:cNvPr id="18" name="Arch icon 3 circle"/>
          <p:cNvSpPr/>
          <p:nvPr/>
        </p:nvSpPr>
        <p:spPr>
          <a:xfrm>
            <a:off x="5820156" y="1481328"/>
            <a:ext cx="548640" cy="548640"/>
          </a:xfrm>
          <a:prstGeom prst="rect">
            <a:avLst/>
          </a:prstGeom>
          <a:solidFill>
            <a:schemeClr val="accent1"/>
          </a:solidFill>
          <a:ln w="12700">
            <a:solidFill>
              <a:schemeClr val="accent1"/>
            </a:solidFill>
            <a:prstDash val="solid"/>
          </a:ln>
        </p:spPr>
      </p:sp>
      <p:pic>
        <p:nvPicPr>
          <p:cNvPr id="19" name="Arch icon 3 icon" descr="Arch icon 3">    </p:cNvPr>
          <p:cNvPicPr>
            <a:picLocks noChangeAspect="1"/>
          </p:cNvPicPr>
          <p:nvPr/>
        </p:nvPicPr>
        <p:blipFill>
          <a:blip r:embed="rId3"/>
          <a:stretch>
            <a:fillRect/>
          </a:stretch>
        </p:blipFill>
        <p:spPr>
          <a:xfrm>
            <a:off x="5957316" y="1618488"/>
            <a:ext cx="274320" cy="274320"/>
          </a:xfrm>
          <a:prstGeom prst="rect">
            <a:avLst/>
          </a:prstGeom>
        </p:spPr>
      </p:pic>
      <p:sp>
        <p:nvSpPr>
          <p:cNvPr id="20" name="Arch name 3"/>
          <p:cNvSpPr txBox="1"/>
          <p:nvPr/>
        </p:nvSpPr>
        <p:spPr>
          <a:xfrm>
            <a:off x="5195621" y="2075688"/>
            <a:ext cx="1797710" cy="365760"/>
          </a:xfrm>
          <a:prstGeom prst="rect">
            <a:avLst/>
          </a:prstGeom>
          <a:noFill/>
          <a:ln/>
        </p:spPr>
        <p:txBody>
          <a:bodyPr wrap="square" lIns="0" tIns="0" rIns="0" bIns="0" rtlCol="0" anchor="ctr"/>
          <a:lstStyle/>
          <a:p>
            <a:pPr algn="ctr" indent="0" marL="0">
              <a:buNone/>
            </a:pPr>
            <a:r>
              <a:rPr lang="en-US" sz="1600" b="1" dirty="0">
                <a:solidFill>
                  <a:schemeClr val="bg1"/>
                </a:solidFill>
              </a:rPr>
              <a:t>PostgreSQL</a:t>
            </a:r>
            <a:endParaRPr lang="en-US" sz="1600" dirty="0"/>
          </a:p>
        </p:txBody>
      </p:sp>
      <p:sp>
        <p:nvSpPr>
          <p:cNvPr id="21" name="Arch role 3"/>
          <p:cNvSpPr txBox="1"/>
          <p:nvPr/>
        </p:nvSpPr>
        <p:spPr>
          <a:xfrm>
            <a:off x="5195621" y="2450592"/>
            <a:ext cx="1797710" cy="658368"/>
          </a:xfrm>
          <a:prstGeom prst="rect">
            <a:avLst/>
          </a:prstGeom>
          <a:noFill/>
          <a:ln/>
        </p:spPr>
        <p:txBody>
          <a:bodyPr wrap="square" lIns="0" tIns="0" rIns="0" bIns="0" rtlCol="0" anchor="t"/>
          <a:lstStyle/>
          <a:p>
            <a:pPr algn="ctr" indent="0" marL="0">
              <a:buNone/>
            </a:pPr>
            <a:r>
              <a:rPr lang="en-US" sz="1300" dirty="0">
                <a:solidFill>
                  <a:schemeClr val="accent6"/>
                </a:solidFill>
              </a:rPr>
              <a:t>Lưu toàn bộ</a:t>
            </a:r>
            <a:endParaRPr lang="en-US" sz="1300" dirty="0"/>
          </a:p>
          <a:p>
            <a:pPr algn="ctr" indent="0" marL="0">
              <a:buNone/>
            </a:pPr>
            <a:r>
              <a:rPr lang="en-US" sz="1300" dirty="0">
                <a:solidFill>
                  <a:schemeClr val="accent6"/>
                </a:solidFill>
              </a:rPr>
              <a:t>dữ liệu</a:t>
            </a:r>
            <a:endParaRPr lang="en-US" sz="1300" dirty="0"/>
          </a:p>
        </p:txBody>
      </p:sp>
      <p:sp>
        <p:nvSpPr>
          <p:cNvPr id="22" name="Arch arrow 3"/>
          <p:cNvSpPr/>
          <p:nvPr/>
        </p:nvSpPr>
        <p:spPr>
          <a:xfrm>
            <a:off x="7112203" y="2130552"/>
            <a:ext cx="265176" cy="292608"/>
          </a:xfrm>
          <a:prstGeom prst="rightArrow">
            <a:avLst/>
          </a:prstGeom>
          <a:solidFill>
            <a:schemeClr val="accent2"/>
          </a:solidFill>
          <a:ln w="12700">
            <a:solidFill>
              <a:schemeClr val="accent2"/>
            </a:solidFill>
            <a:prstDash val="solid"/>
          </a:ln>
        </p:spPr>
      </p:sp>
      <p:sp>
        <p:nvSpPr>
          <p:cNvPr id="23" name="Arch box 4"/>
          <p:cNvSpPr/>
          <p:nvPr/>
        </p:nvSpPr>
        <p:spPr>
          <a:xfrm>
            <a:off x="7450531" y="1371600"/>
            <a:ext cx="1889150" cy="1828800"/>
          </a:xfrm>
          <a:prstGeom prst="rect">
            <a:avLst>
              <a:gd name="adj" fmla="val 6000"/>
            </a:avLst>
          </a:prstGeom>
          <a:solidFill>
            <a:schemeClr val="bg2"/>
          </a:solidFill>
          <a:ln w="12700">
            <a:solidFill>
              <a:schemeClr val="bg2"/>
            </a:solidFill>
            <a:prstDash val="solid"/>
          </a:ln>
        </p:spPr>
      </p:sp>
      <p:sp>
        <p:nvSpPr>
          <p:cNvPr id="24" name="Arch icon 4 circle"/>
          <p:cNvSpPr/>
          <p:nvPr/>
        </p:nvSpPr>
        <p:spPr>
          <a:xfrm>
            <a:off x="8120786" y="1481328"/>
            <a:ext cx="548640" cy="548640"/>
          </a:xfrm>
          <a:prstGeom prst="rect">
            <a:avLst/>
          </a:prstGeom>
          <a:solidFill>
            <a:schemeClr val="accent1"/>
          </a:solidFill>
          <a:ln w="12700">
            <a:solidFill>
              <a:schemeClr val="accent1"/>
            </a:solidFill>
            <a:prstDash val="solid"/>
          </a:ln>
        </p:spPr>
      </p:sp>
      <p:pic>
        <p:nvPicPr>
          <p:cNvPr id="25" name="Arch icon 4 icon" descr="Arch icon 4">    </p:cNvPr>
          <p:cNvPicPr>
            <a:picLocks noChangeAspect="1"/>
          </p:cNvPicPr>
          <p:nvPr/>
        </p:nvPicPr>
        <p:blipFill>
          <a:blip r:embed="rId4"/>
          <a:stretch>
            <a:fillRect/>
          </a:stretch>
        </p:blipFill>
        <p:spPr>
          <a:xfrm>
            <a:off x="8257946" y="1618488"/>
            <a:ext cx="274320" cy="274320"/>
          </a:xfrm>
          <a:prstGeom prst="rect">
            <a:avLst/>
          </a:prstGeom>
        </p:spPr>
      </p:pic>
      <p:sp>
        <p:nvSpPr>
          <p:cNvPr id="26" name="Arch name 4"/>
          <p:cNvSpPr txBox="1"/>
          <p:nvPr/>
        </p:nvSpPr>
        <p:spPr>
          <a:xfrm>
            <a:off x="7496251" y="2075688"/>
            <a:ext cx="1797710" cy="365760"/>
          </a:xfrm>
          <a:prstGeom prst="rect">
            <a:avLst/>
          </a:prstGeom>
          <a:noFill/>
          <a:ln/>
        </p:spPr>
        <p:txBody>
          <a:bodyPr wrap="square" lIns="0" tIns="0" rIns="0" bIns="0" rtlCol="0" anchor="ctr"/>
          <a:lstStyle/>
          <a:p>
            <a:pPr algn="ctr" indent="0" marL="0">
              <a:buNone/>
            </a:pPr>
            <a:r>
              <a:rPr lang="en-US" sz="1600" b="1" dirty="0">
                <a:solidFill>
                  <a:schemeClr val="tx2"/>
                </a:solidFill>
              </a:rPr>
              <a:t>FastAPI</a:t>
            </a:r>
            <a:endParaRPr lang="en-US" sz="1600" dirty="0"/>
          </a:p>
        </p:txBody>
      </p:sp>
      <p:sp>
        <p:nvSpPr>
          <p:cNvPr id="27" name="Arch role 4"/>
          <p:cNvSpPr txBox="1"/>
          <p:nvPr/>
        </p:nvSpPr>
        <p:spPr>
          <a:xfrm>
            <a:off x="7496251" y="2450592"/>
            <a:ext cx="1797710" cy="658368"/>
          </a:xfrm>
          <a:prstGeom prst="rect">
            <a:avLst/>
          </a:prstGeom>
          <a:noFill/>
          <a:ln/>
        </p:spPr>
        <p:txBody>
          <a:bodyPr wrap="square" lIns="0" tIns="0" rIns="0" bIns="0" rtlCol="0" anchor="t"/>
          <a:lstStyle/>
          <a:p>
            <a:pPr algn="ctr" indent="0" marL="0">
              <a:buNone/>
            </a:pPr>
            <a:r>
              <a:rPr lang="en-US" sz="1300" dirty="0">
                <a:solidFill>
                  <a:schemeClr val="tx1"/>
                </a:solidFill>
              </a:rPr>
              <a:t>Cầu nối,</a:t>
            </a:r>
            <a:endParaRPr lang="en-US" sz="1300" dirty="0"/>
          </a:p>
          <a:p>
            <a:pPr algn="ctr" indent="0" marL="0">
              <a:buNone/>
            </a:pPr>
            <a:r>
              <a:rPr lang="en-US" sz="1300" dirty="0">
                <a:solidFill>
                  <a:schemeClr val="tx1"/>
                </a:solidFill>
              </a:rPr>
              <a:t>kiểm tra đăng nhập</a:t>
            </a:r>
            <a:endParaRPr lang="en-US" sz="1300" dirty="0"/>
          </a:p>
        </p:txBody>
      </p:sp>
      <p:sp>
        <p:nvSpPr>
          <p:cNvPr id="28" name="Arch arrow 4"/>
          <p:cNvSpPr/>
          <p:nvPr/>
        </p:nvSpPr>
        <p:spPr>
          <a:xfrm>
            <a:off x="9412834" y="2130552"/>
            <a:ext cx="265176" cy="292608"/>
          </a:xfrm>
          <a:prstGeom prst="rightArrow">
            <a:avLst/>
          </a:prstGeom>
          <a:solidFill>
            <a:schemeClr val="accent2"/>
          </a:solidFill>
          <a:ln w="12700">
            <a:solidFill>
              <a:schemeClr val="accent2"/>
            </a:solidFill>
            <a:prstDash val="solid"/>
          </a:ln>
        </p:spPr>
      </p:sp>
      <p:sp>
        <p:nvSpPr>
          <p:cNvPr id="29" name="Arch box 5"/>
          <p:cNvSpPr/>
          <p:nvPr/>
        </p:nvSpPr>
        <p:spPr>
          <a:xfrm>
            <a:off x="9751162" y="1371600"/>
            <a:ext cx="1889150" cy="1828800"/>
          </a:xfrm>
          <a:prstGeom prst="rect">
            <a:avLst>
              <a:gd name="adj" fmla="val 6000"/>
            </a:avLst>
          </a:prstGeom>
          <a:solidFill>
            <a:schemeClr val="bg2"/>
          </a:solidFill>
          <a:ln w="12700">
            <a:solidFill>
              <a:schemeClr val="bg2"/>
            </a:solidFill>
            <a:prstDash val="solid"/>
          </a:ln>
        </p:spPr>
      </p:sp>
      <p:sp>
        <p:nvSpPr>
          <p:cNvPr id="30" name="Arch icon 5 circle"/>
          <p:cNvSpPr/>
          <p:nvPr/>
        </p:nvSpPr>
        <p:spPr>
          <a:xfrm>
            <a:off x="10421417" y="1481328"/>
            <a:ext cx="548640" cy="548640"/>
          </a:xfrm>
          <a:prstGeom prst="rect">
            <a:avLst/>
          </a:prstGeom>
          <a:solidFill>
            <a:schemeClr val="accent1"/>
          </a:solidFill>
          <a:ln w="12700">
            <a:solidFill>
              <a:schemeClr val="accent1"/>
            </a:solidFill>
            <a:prstDash val="solid"/>
          </a:ln>
        </p:spPr>
      </p:sp>
      <p:pic>
        <p:nvPicPr>
          <p:cNvPr id="31" name="Arch icon 5 icon" descr="Arch icon 5">    </p:cNvPr>
          <p:cNvPicPr>
            <a:picLocks noChangeAspect="1"/>
          </p:cNvPicPr>
          <p:nvPr/>
        </p:nvPicPr>
        <p:blipFill>
          <a:blip r:embed="rId5"/>
          <a:stretch>
            <a:fillRect/>
          </a:stretch>
        </p:blipFill>
        <p:spPr>
          <a:xfrm>
            <a:off x="10558577" y="1618488"/>
            <a:ext cx="274320" cy="274320"/>
          </a:xfrm>
          <a:prstGeom prst="rect">
            <a:avLst/>
          </a:prstGeom>
        </p:spPr>
      </p:pic>
      <p:sp>
        <p:nvSpPr>
          <p:cNvPr id="32" name="Arch name 5"/>
          <p:cNvSpPr txBox="1"/>
          <p:nvPr/>
        </p:nvSpPr>
        <p:spPr>
          <a:xfrm>
            <a:off x="9796882" y="2075688"/>
            <a:ext cx="1797710" cy="365760"/>
          </a:xfrm>
          <a:prstGeom prst="rect">
            <a:avLst/>
          </a:prstGeom>
          <a:noFill/>
          <a:ln/>
        </p:spPr>
        <p:txBody>
          <a:bodyPr wrap="square" lIns="0" tIns="0" rIns="0" bIns="0" rtlCol="0" anchor="ctr"/>
          <a:lstStyle/>
          <a:p>
            <a:pPr algn="ctr" indent="0" marL="0">
              <a:buNone/>
            </a:pPr>
            <a:r>
              <a:rPr lang="en-US" sz="1600" b="1" dirty="0">
                <a:solidFill>
                  <a:schemeClr val="tx2"/>
                </a:solidFill>
              </a:rPr>
              <a:t>Streamlit</a:t>
            </a:r>
            <a:endParaRPr lang="en-US" sz="1600" dirty="0"/>
          </a:p>
        </p:txBody>
      </p:sp>
      <p:sp>
        <p:nvSpPr>
          <p:cNvPr id="33" name="Arch role 5"/>
          <p:cNvSpPr txBox="1"/>
          <p:nvPr/>
        </p:nvSpPr>
        <p:spPr>
          <a:xfrm>
            <a:off x="9796882" y="2450592"/>
            <a:ext cx="1797710" cy="658368"/>
          </a:xfrm>
          <a:prstGeom prst="rect">
            <a:avLst/>
          </a:prstGeom>
          <a:noFill/>
          <a:ln/>
        </p:spPr>
        <p:txBody>
          <a:bodyPr wrap="square" lIns="0" tIns="0" rIns="0" bIns="0" rtlCol="0" anchor="t"/>
          <a:lstStyle/>
          <a:p>
            <a:pPr algn="ctr" indent="0" marL="0">
              <a:buNone/>
            </a:pPr>
            <a:r>
              <a:rPr lang="en-US" sz="1300" dirty="0">
                <a:solidFill>
                  <a:schemeClr val="tx1"/>
                </a:solidFill>
              </a:rPr>
              <a:t>Giao diện web,</a:t>
            </a:r>
            <a:endParaRPr lang="en-US" sz="1300" dirty="0"/>
          </a:p>
          <a:p>
            <a:pPr algn="ctr" indent="0" marL="0">
              <a:buNone/>
            </a:pPr>
            <a:r>
              <a:rPr lang="en-US" sz="1300" dirty="0">
                <a:solidFill>
                  <a:schemeClr val="tx1"/>
                </a:solidFill>
              </a:rPr>
              <a:t>biểu đồ</a:t>
            </a:r>
            <a:endParaRPr lang="en-US" sz="1300" dirty="0"/>
          </a:p>
        </p:txBody>
      </p:sp>
      <p:sp>
        <p:nvSpPr>
          <p:cNvPr id="34" name="AI link db"/>
          <p:cNvSpPr/>
          <p:nvPr/>
        </p:nvSpPr>
        <p:spPr>
          <a:xfrm>
            <a:off x="6094476" y="3200400"/>
            <a:ext cx="0" cy="320040"/>
          </a:xfrm>
          <a:prstGeom prst="line">
            <a:avLst/>
          </a:prstGeom>
          <a:noFill/>
          <a:ln w="25400">
            <a:solidFill>
              <a:schemeClr val="accent2"/>
            </a:solidFill>
            <a:prstDash val="solid"/>
          </a:ln>
        </p:spPr>
      </p:sp>
      <p:sp>
        <p:nvSpPr>
          <p:cNvPr id="35" name="AI link api"/>
          <p:cNvSpPr/>
          <p:nvPr/>
        </p:nvSpPr>
        <p:spPr>
          <a:xfrm>
            <a:off x="8395106" y="3200400"/>
            <a:ext cx="0" cy="320040"/>
          </a:xfrm>
          <a:prstGeom prst="line">
            <a:avLst/>
          </a:prstGeom>
          <a:noFill/>
          <a:ln w="25400">
            <a:solidFill>
              <a:schemeClr val="accent2"/>
            </a:solidFill>
            <a:prstDash val="solid"/>
          </a:ln>
        </p:spPr>
      </p:sp>
      <p:sp>
        <p:nvSpPr>
          <p:cNvPr id="36" name="AI module"/>
          <p:cNvSpPr/>
          <p:nvPr/>
        </p:nvSpPr>
        <p:spPr>
          <a:xfrm>
            <a:off x="5180076" y="3520440"/>
            <a:ext cx="4129430" cy="566928"/>
          </a:xfrm>
          <a:prstGeom prst="rect">
            <a:avLst>
              <a:gd name="adj" fmla="val 16129"/>
            </a:avLst>
          </a:prstGeom>
          <a:solidFill>
            <a:schemeClr val="accent2"/>
          </a:solidFill>
          <a:ln w="12700">
            <a:solidFill>
              <a:schemeClr val="accent2"/>
            </a:solidFill>
            <a:prstDash val="solid"/>
          </a:ln>
        </p:spPr>
      </p:sp>
      <p:sp>
        <p:nvSpPr>
          <p:cNvPr id="37" name="AI module text"/>
          <p:cNvSpPr txBox="1"/>
          <p:nvPr/>
        </p:nvSpPr>
        <p:spPr>
          <a:xfrm>
            <a:off x="5225796" y="3520440"/>
            <a:ext cx="4037990" cy="566928"/>
          </a:xfrm>
          <a:prstGeom prst="rect">
            <a:avLst/>
          </a:prstGeom>
          <a:noFill/>
          <a:ln/>
        </p:spPr>
        <p:txBody>
          <a:bodyPr wrap="square" lIns="0" tIns="0" rIns="0" bIns="0" rtlCol="0" anchor="ctr"/>
          <a:lstStyle/>
          <a:p>
            <a:pPr algn="ctr" indent="0" marL="0">
              <a:buNone/>
            </a:pPr>
            <a:r>
              <a:rPr lang="en-US" sz="1400" b="1" dirty="0">
                <a:solidFill>
                  <a:schemeClr val="tx2"/>
                </a:solidFill>
              </a:rPr>
              <a:t>Phần AI: </a:t>
            </a:r>
            <a:r>
              <a:rPr lang="en-US" sz="1400" dirty="0">
                <a:solidFill>
                  <a:schemeClr val="tx2"/>
                </a:solidFill>
              </a:rPr>
              <a:t>chấm điểm hồ sơ, gợi ý ứng viên phù hợp</a:t>
            </a:r>
            <a:endParaRPr lang="en-US" sz="1400" dirty="0"/>
          </a:p>
        </p:txBody>
      </p:sp>
      <p:sp>
        <p:nvSpPr>
          <p:cNvPr id="38" name="Why header"/>
          <p:cNvSpPr txBox="1"/>
          <p:nvPr/>
        </p:nvSpPr>
        <p:spPr>
          <a:xfrm>
            <a:off x="548640" y="434340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Vì sao chọn?</a:t>
            </a:r>
            <a:endParaRPr lang="en-US" sz="1800" dirty="0"/>
          </a:p>
        </p:txBody>
      </p:sp>
      <p:sp>
        <p:nvSpPr>
          <p:cNvPr id="39" name="Why card 1"/>
          <p:cNvSpPr/>
          <p:nvPr/>
        </p:nvSpPr>
        <p:spPr>
          <a:xfrm>
            <a:off x="548640" y="4773168"/>
            <a:ext cx="2606040" cy="1261872"/>
          </a:xfrm>
          <a:prstGeom prst="rect">
            <a:avLst>
              <a:gd name="adj" fmla="val 7246"/>
            </a:avLst>
          </a:prstGeom>
          <a:solidFill>
            <a:schemeClr val="bg1"/>
          </a:solidFill>
          <a:ln w="12700">
            <a:solidFill>
              <a:schemeClr val="accent6"/>
            </a:solidFill>
            <a:prstDash val="solid"/>
          </a:ln>
        </p:spPr>
      </p:sp>
      <p:sp>
        <p:nvSpPr>
          <p:cNvPr id="40" name="Why text 1"/>
          <p:cNvSpPr txBox="1"/>
          <p:nvPr/>
        </p:nvSpPr>
        <p:spPr>
          <a:xfrm>
            <a:off x="685800" y="4864608"/>
            <a:ext cx="2331720" cy="10972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PostgreSQL</a:t>
            </a:r>
            <a:endParaRPr lang="en-US" sz="1600" dirty="0"/>
          </a:p>
          <a:p>
            <a:pPr indent="0" marL="0">
              <a:spcAft>
                <a:spcPts val="300"/>
              </a:spcAft>
              <a:buNone/>
            </a:pPr>
            <a:r>
              <a:rPr lang="en-US" sz="1400" dirty="0">
                <a:solidFill>
                  <a:schemeClr val="tx1"/>
                </a:solidFill>
              </a:rPr>
              <a:t>Miễn phí, phổ biến, lưu và tìm dữ liệu nhanh</a:t>
            </a:r>
            <a:endParaRPr lang="en-US" sz="1600" dirty="0"/>
          </a:p>
        </p:txBody>
      </p:sp>
      <p:sp>
        <p:nvSpPr>
          <p:cNvPr id="41" name="Why card 2"/>
          <p:cNvSpPr/>
          <p:nvPr/>
        </p:nvSpPr>
        <p:spPr>
          <a:xfrm>
            <a:off x="3376879" y="4773168"/>
            <a:ext cx="2606040" cy="1261872"/>
          </a:xfrm>
          <a:prstGeom prst="rect">
            <a:avLst>
              <a:gd name="adj" fmla="val 7246"/>
            </a:avLst>
          </a:prstGeom>
          <a:solidFill>
            <a:schemeClr val="bg1"/>
          </a:solidFill>
          <a:ln w="12700">
            <a:solidFill>
              <a:schemeClr val="accent6"/>
            </a:solidFill>
            <a:prstDash val="solid"/>
          </a:ln>
        </p:spPr>
      </p:sp>
      <p:sp>
        <p:nvSpPr>
          <p:cNvPr id="42" name="Why text 2"/>
          <p:cNvSpPr txBox="1"/>
          <p:nvPr/>
        </p:nvSpPr>
        <p:spPr>
          <a:xfrm>
            <a:off x="3514039" y="4864608"/>
            <a:ext cx="2331720" cy="10972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FastAPI</a:t>
            </a:r>
            <a:endParaRPr lang="en-US" sz="1600" dirty="0"/>
          </a:p>
          <a:p>
            <a:pPr indent="0" marL="0">
              <a:spcAft>
                <a:spcPts val="300"/>
              </a:spcAft>
              <a:buNone/>
            </a:pPr>
            <a:r>
              <a:rPr lang="en-US" sz="1400" dirty="0">
                <a:solidFill>
                  <a:schemeClr val="tx1"/>
                </a:solidFill>
              </a:rPr>
              <a:t>Viết bằng Python, chạy nhanh, tự tạo trang thử API</a:t>
            </a:r>
            <a:endParaRPr lang="en-US" sz="1600" dirty="0"/>
          </a:p>
        </p:txBody>
      </p:sp>
      <p:sp>
        <p:nvSpPr>
          <p:cNvPr id="43" name="Why card 3"/>
          <p:cNvSpPr/>
          <p:nvPr/>
        </p:nvSpPr>
        <p:spPr>
          <a:xfrm>
            <a:off x="6205118" y="4773168"/>
            <a:ext cx="2606040" cy="1261872"/>
          </a:xfrm>
          <a:prstGeom prst="rect">
            <a:avLst>
              <a:gd name="adj" fmla="val 7246"/>
            </a:avLst>
          </a:prstGeom>
          <a:solidFill>
            <a:schemeClr val="bg1"/>
          </a:solidFill>
          <a:ln w="12700">
            <a:solidFill>
              <a:schemeClr val="accent6"/>
            </a:solidFill>
            <a:prstDash val="solid"/>
          </a:ln>
        </p:spPr>
      </p:sp>
      <p:sp>
        <p:nvSpPr>
          <p:cNvPr id="44" name="Why text 3"/>
          <p:cNvSpPr txBox="1"/>
          <p:nvPr/>
        </p:nvSpPr>
        <p:spPr>
          <a:xfrm>
            <a:off x="6342278" y="4864608"/>
            <a:ext cx="2331720" cy="10972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Streamlit</a:t>
            </a:r>
            <a:endParaRPr lang="en-US" sz="1600" dirty="0"/>
          </a:p>
          <a:p>
            <a:pPr indent="0" marL="0">
              <a:spcAft>
                <a:spcPts val="300"/>
              </a:spcAft>
              <a:buNone/>
            </a:pPr>
            <a:r>
              <a:rPr lang="en-US" sz="1400" dirty="0">
                <a:solidFill>
                  <a:schemeClr val="tx1"/>
                </a:solidFill>
              </a:rPr>
              <a:t>Làm giao diện web chỉ bằng vài dòng Python</a:t>
            </a:r>
            <a:endParaRPr lang="en-US" sz="1600" dirty="0"/>
          </a:p>
        </p:txBody>
      </p:sp>
      <p:sp>
        <p:nvSpPr>
          <p:cNvPr id="45" name="Why card 4"/>
          <p:cNvSpPr/>
          <p:nvPr/>
        </p:nvSpPr>
        <p:spPr>
          <a:xfrm>
            <a:off x="9033358" y="4773168"/>
            <a:ext cx="2606040" cy="1261872"/>
          </a:xfrm>
          <a:prstGeom prst="rect">
            <a:avLst>
              <a:gd name="adj" fmla="val 7246"/>
            </a:avLst>
          </a:prstGeom>
          <a:solidFill>
            <a:schemeClr val="bg1"/>
          </a:solidFill>
          <a:ln w="12700">
            <a:solidFill>
              <a:schemeClr val="accent6"/>
            </a:solidFill>
            <a:prstDash val="solid"/>
          </a:ln>
        </p:spPr>
      </p:sp>
      <p:sp>
        <p:nvSpPr>
          <p:cNvPr id="46" name="Why text 4"/>
          <p:cNvSpPr txBox="1"/>
          <p:nvPr/>
        </p:nvSpPr>
        <p:spPr>
          <a:xfrm>
            <a:off x="9170518" y="4864608"/>
            <a:ext cx="2331720" cy="109728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Cùng là Python</a:t>
            </a:r>
            <a:endParaRPr lang="en-US" sz="1600" dirty="0"/>
          </a:p>
          <a:p>
            <a:pPr indent="0" marL="0">
              <a:spcAft>
                <a:spcPts val="300"/>
              </a:spcAft>
              <a:buNone/>
            </a:pPr>
            <a:r>
              <a:rPr lang="en-US" sz="1400" dirty="0">
                <a:solidFill>
                  <a:schemeClr val="tx1"/>
                </a:solidFill>
              </a:rPr>
              <a:t>Cả nhóm dễ phối hợp, dễ đưa lên mạng</a:t>
            </a:r>
            <a:endParaRPr lang="en-US" sz="16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Kết quả chạy thử và liên kết với sản phẩm</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09</a:t>
            </a:r>
            <a:endParaRPr lang="en-US" sz="2000" dirty="0"/>
          </a:p>
        </p:txBody>
      </p:sp>
      <p:graphicFrame>
        <p:nvGraphicFramePr>
          <p:cNvPr id="5" name="Funnel chart" descr=""/>
          <p:cNvGraphicFramePr/>
          <p:nvPr/>
        </p:nvGraphicFramePr>
        <p:xfrm>
          <a:off x="548640" y="1371600"/>
          <a:ext cx="5760720" cy="4663440"/>
        </p:xfrm>
        <a:graphic xmlns:a="http://schemas.openxmlformats.org/drawingml/2006/main">
          <a:graphicData uri="http://schemas.openxmlformats.org/drawingml/2006/chart">
            <c:chart xmlns:c="http://schemas.openxmlformats.org/drawingml/2006/chart" r:id="rId1"/>
          </a:graphicData>
        </a:graphic>
      </p:graphicFrame>
      <p:sp>
        <p:nvSpPr>
          <p:cNvPr id="6" name="Stat tile 1"/>
          <p:cNvSpPr/>
          <p:nvPr/>
        </p:nvSpPr>
        <p:spPr>
          <a:xfrm>
            <a:off x="6675120" y="1371600"/>
            <a:ext cx="2414016" cy="1161288"/>
          </a:xfrm>
          <a:prstGeom prst="rect">
            <a:avLst>
              <a:gd name="adj" fmla="val 7874"/>
            </a:avLst>
          </a:prstGeom>
          <a:solidFill>
            <a:schemeClr val="bg2"/>
          </a:solidFill>
          <a:ln w="12700">
            <a:solidFill>
              <a:schemeClr val="bg2"/>
            </a:solidFill>
            <a:prstDash val="solid"/>
          </a:ln>
        </p:spPr>
      </p:sp>
      <p:sp>
        <p:nvSpPr>
          <p:cNvPr id="7" name="Stat text 1"/>
          <p:cNvSpPr txBox="1"/>
          <p:nvPr/>
        </p:nvSpPr>
        <p:spPr>
          <a:xfrm>
            <a:off x="6839712" y="1417320"/>
            <a:ext cx="2148840" cy="1069848"/>
          </a:xfrm>
          <a:prstGeom prst="rect">
            <a:avLst/>
          </a:prstGeom>
          <a:noFill/>
          <a:ln/>
        </p:spPr>
        <p:txBody>
          <a:bodyPr wrap="square" lIns="0" tIns="0" rIns="0" bIns="0" rtlCol="0" anchor="ctr"/>
          <a:lstStyle/>
          <a:p>
            <a:pPr indent="0" marL="0">
              <a:buNone/>
            </a:pPr>
            <a:r>
              <a:rPr lang="en-US" sz="3200" b="1" dirty="0">
                <a:solidFill>
                  <a:schemeClr val="tx2"/>
                </a:solidFill>
              </a:rPr>
              <a:t>315</a:t>
            </a:r>
            <a:endParaRPr lang="en-US" sz="3200" dirty="0"/>
          </a:p>
          <a:p>
            <a:pPr indent="0" marL="0">
              <a:buNone/>
            </a:pPr>
            <a:r>
              <a:rPr lang="en-US" sz="1300" dirty="0">
                <a:solidFill>
                  <a:schemeClr val="accent4"/>
                </a:solidFill>
              </a:rPr>
              <a:t>dòng đọc vào từ 3 nguồn</a:t>
            </a:r>
            <a:endParaRPr lang="en-US" sz="3200" dirty="0"/>
          </a:p>
        </p:txBody>
      </p:sp>
      <p:sp>
        <p:nvSpPr>
          <p:cNvPr id="8" name="Stat tile 2"/>
          <p:cNvSpPr/>
          <p:nvPr/>
        </p:nvSpPr>
        <p:spPr>
          <a:xfrm>
            <a:off x="9226296" y="1371600"/>
            <a:ext cx="2414016" cy="1161288"/>
          </a:xfrm>
          <a:prstGeom prst="rect">
            <a:avLst>
              <a:gd name="adj" fmla="val 7874"/>
            </a:avLst>
          </a:prstGeom>
          <a:solidFill>
            <a:schemeClr val="bg2"/>
          </a:solidFill>
          <a:ln w="12700">
            <a:solidFill>
              <a:schemeClr val="bg2"/>
            </a:solidFill>
            <a:prstDash val="solid"/>
          </a:ln>
        </p:spPr>
      </p:sp>
      <p:sp>
        <p:nvSpPr>
          <p:cNvPr id="9" name="Stat text 2"/>
          <p:cNvSpPr txBox="1"/>
          <p:nvPr/>
        </p:nvSpPr>
        <p:spPr>
          <a:xfrm>
            <a:off x="9390888" y="1417320"/>
            <a:ext cx="2148840" cy="1069848"/>
          </a:xfrm>
          <a:prstGeom prst="rect">
            <a:avLst/>
          </a:prstGeom>
          <a:noFill/>
          <a:ln/>
        </p:spPr>
        <p:txBody>
          <a:bodyPr wrap="square" lIns="0" tIns="0" rIns="0" bIns="0" rtlCol="0" anchor="ctr"/>
          <a:lstStyle/>
          <a:p>
            <a:pPr indent="0" marL="0">
              <a:buNone/>
            </a:pPr>
            <a:r>
              <a:rPr lang="en-US" sz="3200" b="1" dirty="0">
                <a:solidFill>
                  <a:schemeClr val="tx2"/>
                </a:solidFill>
              </a:rPr>
              <a:t>13</a:t>
            </a:r>
            <a:endParaRPr lang="en-US" sz="3200" dirty="0"/>
          </a:p>
          <a:p>
            <a:pPr indent="0" marL="0">
              <a:buNone/>
            </a:pPr>
            <a:r>
              <a:rPr lang="en-US" sz="1300" dirty="0">
                <a:solidFill>
                  <a:schemeClr val="accent4"/>
                </a:solidFill>
              </a:rPr>
              <a:t>hồ sơ trùng bị xóa</a:t>
            </a:r>
            <a:endParaRPr lang="en-US" sz="3200" dirty="0"/>
          </a:p>
        </p:txBody>
      </p:sp>
      <p:sp>
        <p:nvSpPr>
          <p:cNvPr id="10" name="Stat tile 3"/>
          <p:cNvSpPr/>
          <p:nvPr/>
        </p:nvSpPr>
        <p:spPr>
          <a:xfrm>
            <a:off x="6675120" y="2670048"/>
            <a:ext cx="2414016" cy="1161288"/>
          </a:xfrm>
          <a:prstGeom prst="rect">
            <a:avLst>
              <a:gd name="adj" fmla="val 7874"/>
            </a:avLst>
          </a:prstGeom>
          <a:solidFill>
            <a:schemeClr val="bg2"/>
          </a:solidFill>
          <a:ln w="12700">
            <a:solidFill>
              <a:schemeClr val="bg2"/>
            </a:solidFill>
            <a:prstDash val="solid"/>
          </a:ln>
        </p:spPr>
      </p:sp>
      <p:sp>
        <p:nvSpPr>
          <p:cNvPr id="11" name="Stat text 3"/>
          <p:cNvSpPr txBox="1"/>
          <p:nvPr/>
        </p:nvSpPr>
        <p:spPr>
          <a:xfrm>
            <a:off x="6839712" y="2715768"/>
            <a:ext cx="2148840" cy="1069848"/>
          </a:xfrm>
          <a:prstGeom prst="rect">
            <a:avLst/>
          </a:prstGeom>
          <a:noFill/>
          <a:ln/>
        </p:spPr>
        <p:txBody>
          <a:bodyPr wrap="square" lIns="0" tIns="0" rIns="0" bIns="0" rtlCol="0" anchor="ctr"/>
          <a:lstStyle/>
          <a:p>
            <a:pPr indent="0" marL="0">
              <a:buNone/>
            </a:pPr>
            <a:r>
              <a:rPr lang="en-US" sz="3200" b="1" dirty="0">
                <a:solidFill>
                  <a:schemeClr val="tx2"/>
                </a:solidFill>
              </a:rPr>
              <a:t>9</a:t>
            </a:r>
            <a:endParaRPr lang="en-US" sz="3200" dirty="0"/>
          </a:p>
          <a:p>
            <a:pPr indent="0" marL="0">
              <a:buNone/>
            </a:pPr>
            <a:r>
              <a:rPr lang="en-US" sz="1300" dirty="0">
                <a:solidFill>
                  <a:schemeClr val="accent4"/>
                </a:solidFill>
              </a:rPr>
              <a:t>dòng lỗi: 4 trống, 5 email sai</a:t>
            </a:r>
            <a:endParaRPr lang="en-US" sz="3200" dirty="0"/>
          </a:p>
        </p:txBody>
      </p:sp>
      <p:sp>
        <p:nvSpPr>
          <p:cNvPr id="12" name="Stat tile 4"/>
          <p:cNvSpPr/>
          <p:nvPr/>
        </p:nvSpPr>
        <p:spPr>
          <a:xfrm>
            <a:off x="9226296" y="2670048"/>
            <a:ext cx="2414016" cy="1161288"/>
          </a:xfrm>
          <a:prstGeom prst="rect">
            <a:avLst>
              <a:gd name="adj" fmla="val 7874"/>
            </a:avLst>
          </a:prstGeom>
          <a:solidFill>
            <a:schemeClr val="tx2"/>
          </a:solidFill>
          <a:ln w="12700">
            <a:solidFill>
              <a:schemeClr val="tx2"/>
            </a:solidFill>
            <a:prstDash val="solid"/>
          </a:ln>
        </p:spPr>
      </p:sp>
      <p:sp>
        <p:nvSpPr>
          <p:cNvPr id="13" name="Stat text 4"/>
          <p:cNvSpPr txBox="1"/>
          <p:nvPr/>
        </p:nvSpPr>
        <p:spPr>
          <a:xfrm>
            <a:off x="9390888" y="2715768"/>
            <a:ext cx="2148840" cy="1069848"/>
          </a:xfrm>
          <a:prstGeom prst="rect">
            <a:avLst/>
          </a:prstGeom>
          <a:noFill/>
          <a:ln/>
        </p:spPr>
        <p:txBody>
          <a:bodyPr wrap="square" lIns="0" tIns="0" rIns="0" bIns="0" rtlCol="0" anchor="ctr"/>
          <a:lstStyle/>
          <a:p>
            <a:pPr indent="0" marL="0">
              <a:buNone/>
            </a:pPr>
            <a:r>
              <a:rPr lang="en-US" sz="3200" b="1" dirty="0">
                <a:solidFill>
                  <a:schemeClr val="accent2"/>
                </a:solidFill>
              </a:rPr>
              <a:t>293</a:t>
            </a:r>
            <a:endParaRPr lang="en-US" sz="3200" dirty="0"/>
          </a:p>
          <a:p>
            <a:pPr indent="0" marL="0">
              <a:buNone/>
            </a:pPr>
            <a:r>
              <a:rPr lang="en-US" sz="1300" dirty="0">
                <a:solidFill>
                  <a:schemeClr val="bg1"/>
                </a:solidFill>
              </a:rPr>
              <a:t>hồ sơ sạch lưu vào kho</a:t>
            </a:r>
            <a:endParaRPr lang="en-US" sz="3200" dirty="0"/>
          </a:p>
        </p:txBody>
      </p:sp>
      <p:sp>
        <p:nvSpPr>
          <p:cNvPr id="14" name="Link card"/>
          <p:cNvSpPr/>
          <p:nvPr/>
        </p:nvSpPr>
        <p:spPr>
          <a:xfrm>
            <a:off x="6675120" y="4041648"/>
            <a:ext cx="4965192" cy="1993392"/>
          </a:xfrm>
          <a:prstGeom prst="rect">
            <a:avLst>
              <a:gd name="adj" fmla="val 4587"/>
            </a:avLst>
          </a:prstGeom>
          <a:solidFill>
            <a:schemeClr val="bg1"/>
          </a:solidFill>
          <a:ln w="12700">
            <a:solidFill>
              <a:schemeClr val="accent6"/>
            </a:solidFill>
            <a:prstDash val="solid"/>
          </a:ln>
        </p:spPr>
      </p:sp>
      <p:sp>
        <p:nvSpPr>
          <p:cNvPr id="15" name="Run command"/>
          <p:cNvSpPr txBox="1"/>
          <p:nvPr/>
        </p:nvSpPr>
        <p:spPr>
          <a:xfrm>
            <a:off x="6858000" y="4160520"/>
            <a:ext cx="45720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python etl_demo.py</a:t>
            </a:r>
            <a:endParaRPr lang="en-US" sz="1400" dirty="0"/>
          </a:p>
        </p:txBody>
      </p:sp>
      <p:sp>
        <p:nvSpPr>
          <p:cNvPr id="16" name="Link bullets"/>
          <p:cNvSpPr txBox="1"/>
          <p:nvPr/>
        </p:nvSpPr>
        <p:spPr>
          <a:xfrm>
            <a:off x="6858000" y="4617720"/>
            <a:ext cx="4617720" cy="13258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tx1"/>
                </a:solidFill>
              </a:rPr>
              <a:t>Dữ liệu sạch là đầu vào cho phần AI của nhóm</a:t>
            </a:r>
            <a:endParaRPr lang="en-US" sz="1500" dirty="0"/>
          </a:p>
          <a:p>
            <a:pPr marL="228600" indent="-228600">
              <a:spcAft>
                <a:spcPts val="900"/>
              </a:spcAft>
              <a:buSzPct val="100000"/>
              <a:buChar char="•"/>
            </a:pPr>
            <a:r>
              <a:rPr lang="en-US" sz="1500" dirty="0">
                <a:solidFill>
                  <a:schemeClr val="tx1"/>
                </a:solidFill>
              </a:rPr>
              <a:t>Dashboard của nhóm đọc dữ liệu này để vẽ biểu đồ</a:t>
            </a:r>
            <a:endParaRPr lang="en-US" sz="1500" dirty="0"/>
          </a:p>
          <a:p>
            <a:pPr marL="228600" indent="-228600">
              <a:spcAft>
                <a:spcPts val="900"/>
              </a:spcAft>
              <a:buSzPct val="100000"/>
              <a:buChar char="•"/>
            </a:pPr>
            <a:r>
              <a:rPr lang="en-US" sz="1500" dirty="0">
                <a:solidFill>
                  <a:schemeClr val="tx1"/>
                </a:solidFill>
              </a:rPr>
              <a:t>Chạy lại nhiều lần vẫn ra cùng một kết quả</a:t>
            </a:r>
            <a:endParaRPr lang="en-US" sz="15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417320" y="320040"/>
            <a:ext cx="10222992"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Khó khăn, hướng cải thiện và tham khảo</a:t>
            </a:r>
            <a:endParaRPr lang="en-US" sz="3200" dirty="0"/>
          </a:p>
        </p:txBody>
      </p:sp>
      <p:sp>
        <p:nvSpPr>
          <p:cNvPr id="3" name="Slide tag"/>
          <p:cNvSpPr/>
          <p:nvPr/>
        </p:nvSpPr>
        <p:spPr>
          <a:xfrm>
            <a:off x="548640" y="457200"/>
            <a:ext cx="685800" cy="502920"/>
          </a:xfrm>
          <a:prstGeom prst="rect">
            <a:avLst/>
          </a:prstGeom>
          <a:solidFill>
            <a:schemeClr val="accent2"/>
          </a:solidFill>
          <a:ln w="12700">
            <a:solidFill>
              <a:schemeClr val="accent2"/>
            </a:solidFill>
            <a:prstDash val="solid"/>
          </a:ln>
        </p:spPr>
      </p:sp>
      <p:sp>
        <p:nvSpPr>
          <p:cNvPr id="4" name="Slide tag number"/>
          <p:cNvSpPr txBox="1"/>
          <p:nvPr/>
        </p:nvSpPr>
        <p:spPr>
          <a:xfrm>
            <a:off x="548640" y="457200"/>
            <a:ext cx="685800" cy="502920"/>
          </a:xfrm>
          <a:prstGeom prst="rect">
            <a:avLst/>
          </a:prstGeom>
          <a:noFill/>
          <a:ln/>
        </p:spPr>
        <p:txBody>
          <a:bodyPr wrap="square" lIns="0" tIns="0" rIns="0" bIns="0" rtlCol="0" anchor="ctr"/>
          <a:lstStyle/>
          <a:p>
            <a:pPr algn="ctr" indent="0" marL="0">
              <a:buNone/>
            </a:pPr>
            <a:r>
              <a:rPr lang="en-US" sz="2000" b="1" dirty="0">
                <a:solidFill>
                  <a:schemeClr val="tx2"/>
                </a:solidFill>
                <a:latin typeface="Arial" pitchFamily="34" charset="0"/>
                <a:ea typeface="Arial" pitchFamily="34" charset="-122"/>
                <a:cs typeface="Arial" pitchFamily="34" charset="-120"/>
              </a:rPr>
              <a:t>10</a:t>
            </a:r>
            <a:endParaRPr lang="en-US" sz="2000" dirty="0"/>
          </a:p>
        </p:txBody>
      </p:sp>
      <p:sp>
        <p:nvSpPr>
          <p:cNvPr id="5" name="Khó khăn card"/>
          <p:cNvSpPr/>
          <p:nvPr/>
        </p:nvSpPr>
        <p:spPr>
          <a:xfrm>
            <a:off x="548640" y="1371600"/>
            <a:ext cx="3520440" cy="4343400"/>
          </a:xfrm>
          <a:prstGeom prst="rect">
            <a:avLst>
              <a:gd name="adj" fmla="val 3117"/>
            </a:avLst>
          </a:prstGeom>
          <a:solidFill>
            <a:schemeClr val="bg1">
              <a:alpha val="10000"/>
            </a:schemeClr>
          </a:solidFill>
          <a:ln w="9525">
            <a:solidFill>
              <a:schemeClr val="accent6">
                <a:alpha val="40000"/>
              </a:schemeClr>
            </a:solidFill>
            <a:prstDash val="solid"/>
          </a:ln>
        </p:spPr>
      </p:sp>
      <p:sp>
        <p:nvSpPr>
          <p:cNvPr id="6" name="Khó khăn circle"/>
          <p:cNvSpPr/>
          <p:nvPr/>
        </p:nvSpPr>
        <p:spPr>
          <a:xfrm>
            <a:off x="822960" y="1600200"/>
            <a:ext cx="594360" cy="594360"/>
          </a:xfrm>
          <a:prstGeom prst="rect">
            <a:avLst/>
          </a:prstGeom>
          <a:solidFill>
            <a:schemeClr val="accent3"/>
          </a:solidFill>
          <a:ln w="12700">
            <a:solidFill>
              <a:schemeClr val="accent3"/>
            </a:solidFill>
            <a:prstDash val="solid"/>
          </a:ln>
        </p:spPr>
      </p:sp>
      <p:pic>
        <p:nvPicPr>
          <p:cNvPr id="7" name="Khó khăn icon" descr="Khó khăn">    </p:cNvPr>
          <p:cNvPicPr>
            <a:picLocks noChangeAspect="1"/>
          </p:cNvPicPr>
          <p:nvPr/>
        </p:nvPicPr>
        <p:blipFill>
          <a:blip r:embed="rId1"/>
          <a:stretch>
            <a:fillRect/>
          </a:stretch>
        </p:blipFill>
        <p:spPr>
          <a:xfrm>
            <a:off x="971550" y="1748790"/>
            <a:ext cx="297180" cy="297180"/>
          </a:xfrm>
          <a:prstGeom prst="rect">
            <a:avLst/>
          </a:prstGeom>
        </p:spPr>
      </p:pic>
      <p:sp>
        <p:nvSpPr>
          <p:cNvPr id="8" name="Khó khăn header"/>
          <p:cNvSpPr txBox="1"/>
          <p:nvPr/>
        </p:nvSpPr>
        <p:spPr>
          <a:xfrm>
            <a:off x="1554480"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Khó khăn</a:t>
            </a:r>
            <a:endParaRPr lang="en-US" sz="1900" dirty="0"/>
          </a:p>
        </p:txBody>
      </p:sp>
      <p:sp>
        <p:nvSpPr>
          <p:cNvPr id="9" name="Khó khăn body"/>
          <p:cNvSpPr txBox="1"/>
          <p:nvPr/>
        </p:nvSpPr>
        <p:spPr>
          <a:xfrm>
            <a:off x="822960" y="2423160"/>
            <a:ext cx="301752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Mỗi nguồn ghi dữ liệu một kiểu, phải xử lý riêng</a:t>
            </a:r>
            <a:endParaRPr lang="en-US" sz="1600" dirty="0"/>
          </a:p>
          <a:p>
            <a:pPr marL="228600" indent="-228600">
              <a:spcAft>
                <a:spcPts val="1000"/>
              </a:spcAft>
              <a:buSzPct val="100000"/>
              <a:buChar char="•"/>
            </a:pPr>
            <a:r>
              <a:rPr lang="en-US" sz="1600" dirty="0">
                <a:solidFill>
                  <a:schemeClr val="bg1"/>
                </a:solidFill>
              </a:rPr>
              <a:t>Khó nhận ra hồ sơ trùng khi thông tin ghi khác nhau</a:t>
            </a:r>
            <a:endParaRPr lang="en-US" sz="1600" dirty="0"/>
          </a:p>
          <a:p>
            <a:pPr marL="228600" indent="-228600">
              <a:spcAft>
                <a:spcPts val="1000"/>
              </a:spcAft>
              <a:buSzPct val="100000"/>
              <a:buChar char="•"/>
            </a:pPr>
            <a:r>
              <a:rPr lang="en-US" sz="1600" dirty="0">
                <a:solidFill>
                  <a:schemeClr val="bg1"/>
                </a:solidFill>
              </a:rPr>
              <a:t>Thông tin cá nhân ứng viên cần được bảo mật</a:t>
            </a:r>
            <a:endParaRPr lang="en-US" sz="1600" dirty="0"/>
          </a:p>
          <a:p>
            <a:pPr marL="228600" indent="-228600">
              <a:spcAft>
                <a:spcPts val="1000"/>
              </a:spcAft>
              <a:buSzPct val="100000"/>
              <a:buChar char="•"/>
            </a:pPr>
            <a:r>
              <a:rPr lang="en-US" sz="1600" dirty="0">
                <a:solidFill>
                  <a:schemeClr val="bg1"/>
                </a:solidFill>
              </a:rPr>
              <a:t>Phải thống nhất cách lưu dữ liệu với cả nhóm</a:t>
            </a:r>
            <a:endParaRPr lang="en-US" sz="1600" dirty="0"/>
          </a:p>
        </p:txBody>
      </p:sp>
      <p:sp>
        <p:nvSpPr>
          <p:cNvPr id="10" name="Hướng cải thiện card"/>
          <p:cNvSpPr/>
          <p:nvPr/>
        </p:nvSpPr>
        <p:spPr>
          <a:xfrm>
            <a:off x="4334256" y="1371600"/>
            <a:ext cx="3520440" cy="4343400"/>
          </a:xfrm>
          <a:prstGeom prst="rect">
            <a:avLst>
              <a:gd name="adj" fmla="val 3117"/>
            </a:avLst>
          </a:prstGeom>
          <a:solidFill>
            <a:schemeClr val="bg1">
              <a:alpha val="10000"/>
            </a:schemeClr>
          </a:solidFill>
          <a:ln w="9525">
            <a:solidFill>
              <a:schemeClr val="accent6">
                <a:alpha val="40000"/>
              </a:schemeClr>
            </a:solidFill>
            <a:prstDash val="solid"/>
          </a:ln>
        </p:spPr>
      </p:sp>
      <p:sp>
        <p:nvSpPr>
          <p:cNvPr id="11" name="Hướng cải thiện circle"/>
          <p:cNvSpPr/>
          <p:nvPr/>
        </p:nvSpPr>
        <p:spPr>
          <a:xfrm>
            <a:off x="4608576" y="1600200"/>
            <a:ext cx="594360" cy="594360"/>
          </a:xfrm>
          <a:prstGeom prst="rect">
            <a:avLst/>
          </a:prstGeom>
          <a:solidFill>
            <a:schemeClr val="accent2"/>
          </a:solidFill>
          <a:ln w="12700">
            <a:solidFill>
              <a:schemeClr val="accent2"/>
            </a:solidFill>
            <a:prstDash val="solid"/>
          </a:ln>
        </p:spPr>
      </p:sp>
      <p:pic>
        <p:nvPicPr>
          <p:cNvPr id="12" name="Hướng cải thiện icon" descr="Hướng cải thiện">    </p:cNvPr>
          <p:cNvPicPr>
            <a:picLocks noChangeAspect="1"/>
          </p:cNvPicPr>
          <p:nvPr/>
        </p:nvPicPr>
        <p:blipFill>
          <a:blip r:embed="rId2"/>
          <a:stretch>
            <a:fillRect/>
          </a:stretch>
        </p:blipFill>
        <p:spPr>
          <a:xfrm>
            <a:off x="4757166" y="1748790"/>
            <a:ext cx="297180" cy="297180"/>
          </a:xfrm>
          <a:prstGeom prst="rect">
            <a:avLst/>
          </a:prstGeom>
        </p:spPr>
      </p:pic>
      <p:sp>
        <p:nvSpPr>
          <p:cNvPr id="13" name="Hướng cải thiện header"/>
          <p:cNvSpPr txBox="1"/>
          <p:nvPr/>
        </p:nvSpPr>
        <p:spPr>
          <a:xfrm>
            <a:off x="5340096"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Hướng cải thiện</a:t>
            </a:r>
            <a:endParaRPr lang="en-US" sz="1900" dirty="0"/>
          </a:p>
        </p:txBody>
      </p:sp>
      <p:sp>
        <p:nvSpPr>
          <p:cNvPr id="14" name="Hướng cải thiện body"/>
          <p:cNvSpPr txBox="1"/>
          <p:nvPr/>
        </p:nvSpPr>
        <p:spPr>
          <a:xfrm>
            <a:off x="4608576" y="2423160"/>
            <a:ext cx="301752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Nhận diện hồ sơ trùng thông minh hơn</a:t>
            </a:r>
            <a:endParaRPr lang="en-US" sz="1600" dirty="0"/>
          </a:p>
          <a:p>
            <a:pPr marL="228600" indent="-228600">
              <a:spcAft>
                <a:spcPts val="1000"/>
              </a:spcAft>
              <a:buSzPct val="100000"/>
              <a:buChar char="•"/>
            </a:pPr>
            <a:r>
              <a:rPr lang="en-US" sz="1600" dirty="0">
                <a:solidFill>
                  <a:schemeClr val="bg1"/>
                </a:solidFill>
              </a:rPr>
              <a:t>Tự động đọc kỹ năng từ file CV</a:t>
            </a:r>
            <a:endParaRPr lang="en-US" sz="1600" dirty="0"/>
          </a:p>
          <a:p>
            <a:pPr marL="228600" indent="-228600">
              <a:spcAft>
                <a:spcPts val="1000"/>
              </a:spcAft>
              <a:buSzPct val="100000"/>
              <a:buChar char="•"/>
            </a:pPr>
            <a:r>
              <a:rPr lang="en-US" sz="1600" dirty="0">
                <a:solidFill>
                  <a:schemeClr val="bg1"/>
                </a:solidFill>
              </a:rPr>
              <a:t>Gửi cảnh báo khi quá trình ETL bị lỗi</a:t>
            </a:r>
            <a:endParaRPr lang="en-US" sz="1600" dirty="0"/>
          </a:p>
          <a:p>
            <a:pPr marL="228600" indent="-228600">
              <a:spcAft>
                <a:spcPts val="1000"/>
              </a:spcAft>
              <a:buSzPct val="100000"/>
              <a:buChar char="•"/>
            </a:pPr>
            <a:r>
              <a:rPr lang="en-US" sz="1600" dirty="0">
                <a:solidFill>
                  <a:schemeClr val="bg1"/>
                </a:solidFill>
              </a:rPr>
              <a:t>Ẩn bớt thông tin cá nhân theo Luật Bảo vệ dữ liệu cá nhân 2025</a:t>
            </a:r>
            <a:endParaRPr lang="en-US" sz="1600" dirty="0"/>
          </a:p>
        </p:txBody>
      </p:sp>
      <p:sp>
        <p:nvSpPr>
          <p:cNvPr id="15" name="Nguồn tham khảo card"/>
          <p:cNvSpPr/>
          <p:nvPr/>
        </p:nvSpPr>
        <p:spPr>
          <a:xfrm>
            <a:off x="8119872" y="1371600"/>
            <a:ext cx="3520440" cy="4343400"/>
          </a:xfrm>
          <a:prstGeom prst="rect">
            <a:avLst>
              <a:gd name="adj" fmla="val 3117"/>
            </a:avLst>
          </a:prstGeom>
          <a:solidFill>
            <a:schemeClr val="bg1">
              <a:alpha val="10000"/>
            </a:schemeClr>
          </a:solidFill>
          <a:ln w="9525">
            <a:solidFill>
              <a:schemeClr val="accent6">
                <a:alpha val="40000"/>
              </a:schemeClr>
            </a:solidFill>
            <a:prstDash val="solid"/>
          </a:ln>
        </p:spPr>
      </p:sp>
      <p:sp>
        <p:nvSpPr>
          <p:cNvPr id="16" name="Nguồn tham khảo circle"/>
          <p:cNvSpPr/>
          <p:nvPr/>
        </p:nvSpPr>
        <p:spPr>
          <a:xfrm>
            <a:off x="8394192" y="1600200"/>
            <a:ext cx="594360" cy="594360"/>
          </a:xfrm>
          <a:prstGeom prst="rect">
            <a:avLst/>
          </a:prstGeom>
          <a:solidFill>
            <a:schemeClr val="accent1"/>
          </a:solidFill>
          <a:ln w="12700">
            <a:solidFill>
              <a:schemeClr val="accent1"/>
            </a:solidFill>
            <a:prstDash val="solid"/>
          </a:ln>
        </p:spPr>
      </p:sp>
      <p:pic>
        <p:nvPicPr>
          <p:cNvPr id="17" name="Nguồn tham khảo icon" descr="Nguồn tham khảo">    </p:cNvPr>
          <p:cNvPicPr>
            <a:picLocks noChangeAspect="1"/>
          </p:cNvPicPr>
          <p:nvPr/>
        </p:nvPicPr>
        <p:blipFill>
          <a:blip r:embed="rId3"/>
          <a:stretch>
            <a:fillRect/>
          </a:stretch>
        </p:blipFill>
        <p:spPr>
          <a:xfrm>
            <a:off x="8542782" y="1748790"/>
            <a:ext cx="297180" cy="297180"/>
          </a:xfrm>
          <a:prstGeom prst="rect">
            <a:avLst/>
          </a:prstGeom>
        </p:spPr>
      </p:pic>
      <p:sp>
        <p:nvSpPr>
          <p:cNvPr id="18" name="Nguồn tham khảo header"/>
          <p:cNvSpPr txBox="1"/>
          <p:nvPr/>
        </p:nvSpPr>
        <p:spPr>
          <a:xfrm>
            <a:off x="9125712" y="1600200"/>
            <a:ext cx="2377440" cy="594360"/>
          </a:xfrm>
          <a:prstGeom prst="rect">
            <a:avLst/>
          </a:prstGeom>
          <a:noFill/>
          <a:ln/>
        </p:spPr>
        <p:txBody>
          <a:bodyPr wrap="square" lIns="0" tIns="0" rIns="0" bIns="0" rtlCol="0" anchor="ctr"/>
          <a:lstStyle/>
          <a:p>
            <a:pPr indent="0" marL="0">
              <a:buNone/>
            </a:pPr>
            <a:r>
              <a:rPr lang="en-US" sz="1900" b="1" dirty="0">
                <a:solidFill>
                  <a:schemeClr val="bg1"/>
                </a:solidFill>
              </a:rPr>
              <a:t>Nguồn tham khảo</a:t>
            </a:r>
            <a:endParaRPr lang="en-US" sz="1900" dirty="0"/>
          </a:p>
        </p:txBody>
      </p:sp>
      <p:sp>
        <p:nvSpPr>
          <p:cNvPr id="19" name="Nguồn tham khảo body"/>
          <p:cNvSpPr txBox="1"/>
          <p:nvPr/>
        </p:nvSpPr>
        <p:spPr>
          <a:xfrm>
            <a:off x="8394192" y="2423160"/>
            <a:ext cx="3017520" cy="3154680"/>
          </a:xfrm>
          <a:prstGeom prst="rect">
            <a:avLst/>
          </a:prstGeom>
          <a:noFill/>
          <a:ln/>
        </p:spPr>
        <p:txBody>
          <a:bodyPr wrap="square" lIns="0" tIns="0" rIns="0" bIns="0" rtlCol="0" anchor="t"/>
          <a:lstStyle/>
          <a:p>
            <a:pPr marL="228600" indent="-228600">
              <a:spcAft>
                <a:spcPts val="600"/>
              </a:spcAft>
              <a:buSzPct val="100000"/>
              <a:buChar char="•"/>
            </a:pPr>
            <a:r>
              <a:rPr lang="en-US" sz="1300" dirty="0">
                <a:solidFill>
                  <a:schemeClr val="bg1"/>
                </a:solidFill>
              </a:rPr>
              <a:t>PostgreSQL Docs – postgresql.org/docs</a:t>
            </a:r>
            <a:endParaRPr lang="en-US" sz="1300" dirty="0"/>
          </a:p>
          <a:p>
            <a:pPr marL="228600" indent="-228600">
              <a:spcAft>
                <a:spcPts val="600"/>
              </a:spcAft>
              <a:buSzPct val="100000"/>
              <a:buChar char="•"/>
            </a:pPr>
            <a:r>
              <a:rPr lang="en-US" sz="1300" dirty="0">
                <a:solidFill>
                  <a:schemeClr val="bg1"/>
                </a:solidFill>
              </a:rPr>
              <a:t>FastAPI Docs – fastapi.tiangolo.com</a:t>
            </a:r>
            <a:endParaRPr lang="en-US" sz="1300" dirty="0"/>
          </a:p>
          <a:p>
            <a:pPr marL="228600" indent="-228600">
              <a:spcAft>
                <a:spcPts val="600"/>
              </a:spcAft>
              <a:buSzPct val="100000"/>
              <a:buChar char="•"/>
            </a:pPr>
            <a:r>
              <a:rPr lang="en-US" sz="1300" dirty="0">
                <a:solidFill>
                  <a:schemeClr val="bg1"/>
                </a:solidFill>
              </a:rPr>
              <a:t>pandas User Guide – pandas.pydata.org/docs</a:t>
            </a:r>
            <a:endParaRPr lang="en-US" sz="1300" dirty="0"/>
          </a:p>
          <a:p>
            <a:pPr marL="228600" indent="-228600">
              <a:spcAft>
                <a:spcPts val="600"/>
              </a:spcAft>
              <a:buSzPct val="100000"/>
              <a:buChar char="•"/>
            </a:pPr>
            <a:r>
              <a:rPr lang="en-US" sz="1300" dirty="0">
                <a:solidFill>
                  <a:schemeClr val="bg1"/>
                </a:solidFill>
              </a:rPr>
              <a:t>Streamlit Docs – docs.streamlit.io</a:t>
            </a:r>
            <a:endParaRPr lang="en-US" sz="1300" dirty="0"/>
          </a:p>
          <a:p>
            <a:pPr marL="228600" indent="-228600">
              <a:spcAft>
                <a:spcPts val="600"/>
              </a:spcAft>
              <a:buSzPct val="100000"/>
              <a:buChar char="•"/>
            </a:pPr>
            <a:r>
              <a:rPr lang="en-US" sz="1300" dirty="0">
                <a:solidFill>
                  <a:schemeClr val="bg1"/>
                </a:solidFill>
              </a:rPr>
              <a:t>Kimball &amp; Ross, The Data Warehouse Toolkit, 3rd ed., Wiley, 2013</a:t>
            </a:r>
            <a:endParaRPr lang="en-US" sz="1300" dirty="0"/>
          </a:p>
          <a:p>
            <a:pPr marL="228600" indent="-228600">
              <a:spcAft>
                <a:spcPts val="600"/>
              </a:spcAft>
              <a:buSzPct val="100000"/>
              <a:buChar char="•"/>
            </a:pPr>
            <a:r>
              <a:rPr lang="en-US" sz="1300" dirty="0">
                <a:solidFill>
                  <a:schemeClr val="bg1"/>
                </a:solidFill>
              </a:rPr>
              <a:t>Luật Bảo vệ dữ liệu cá nhân 2025 (hiệu lực 01/01/2026)</a:t>
            </a:r>
            <a:endParaRPr lang="en-US" sz="1300" dirty="0"/>
          </a:p>
        </p:txBody>
      </p:sp>
      <p:sp>
        <p:nvSpPr>
          <p:cNvPr id="20" name="Thanks"/>
          <p:cNvSpPr txBox="1"/>
          <p:nvPr/>
        </p:nvSpPr>
        <p:spPr>
          <a:xfrm>
            <a:off x="548640" y="5897880"/>
            <a:ext cx="9144000" cy="411480"/>
          </a:xfrm>
          <a:prstGeom prst="rect">
            <a:avLst/>
          </a:prstGeom>
          <a:noFill/>
          <a:ln/>
        </p:spPr>
        <p:txBody>
          <a:bodyPr wrap="square" lIns="0" tIns="0" rIns="0" bIns="0" rtlCol="0" anchor="ctr"/>
          <a:lstStyle/>
          <a:p>
            <a:pPr indent="0" marL="0">
              <a:buNone/>
            </a:pPr>
            <a:r>
              <a:rPr lang="en-US" sz="1800" b="1" i="1" dirty="0">
                <a:solidFill>
                  <a:schemeClr val="accent2"/>
                </a:solidFill>
              </a:rPr>
              <a:t>Cảm ơn thầy cô và các bạn đã lắng nghe!</a:t>
            </a:r>
            <a:endParaRPr lang="en-US" sz="18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Recruitment Charcoal">
  <a:themeElements>
    <a:clrScheme name="Recruitment Charcoal">
      <a:dk1>
        <a:srgbClr val="22252E"/>
      </a:dk1>
      <a:lt1>
        <a:srgbClr val="FFFFFF"/>
      </a:lt1>
      <a:dk2>
        <a:srgbClr val="2D3142"/>
      </a:dk2>
      <a:lt2>
        <a:srgbClr val="F4F4F6"/>
      </a:lt2>
      <a:accent1>
        <a:srgbClr val="4F5D75"/>
      </a:accent1>
      <a:accent2>
        <a:srgbClr val="EF8354"/>
      </a:accent2>
      <a:accent3>
        <a:srgbClr val="C0392B"/>
      </a:accent3>
      <a:accent4>
        <a:srgbClr val="6B7280"/>
      </a:accent4>
      <a:accent5>
        <a:srgbClr val="237A4B"/>
      </a:accent5>
      <a:accent6>
        <a:srgbClr val="D9DCE3"/>
      </a:accent6>
      <a:hlink>
        <a:srgbClr val="4F5D75"/>
      </a:hlink>
      <a:folHlink>
        <a:srgbClr val="6B7280"/>
      </a:folHlink>
    </a:clrScheme>
    <a:fontScheme name="Recruitment Charco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 Phân tích bài toán, ETL và kiến trúc công nghệ</dc:title>
  <dc:subject>PptxGenJS Presentation</dc:subject>
  <dc:creator>Nguyễn Phan Khánh Vy</dc:creator>
  <cp:lastModifiedBy>Nguyễn Phan Khánh Vy</cp:lastModifiedBy>
  <cp:revision>1</cp:revision>
  <dcterms:created xsi:type="dcterms:W3CDTF">2026-10-23T05:27:34Z</dcterms:created>
  <dcterms:modified xsi:type="dcterms:W3CDTF">2026-10-23T05:27:34Z</dcterms:modified>
</cp:coreProperties>
</file>